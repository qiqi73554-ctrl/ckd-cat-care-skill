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6"/>
  </p:notesMasterIdLst>
  <p:sldIdLst>
    <p:sldId id="256" r:id="rId2"/>
    <p:sldId id="257" r:id="rId3"/>
    <p:sldId id="258" r:id="rId4"/>
    <p:sldId id="262" r:id="rId5"/>
    <p:sldId id="370" r:id="rId6"/>
    <p:sldId id="369" r:id="rId7"/>
    <p:sldId id="381" r:id="rId8"/>
    <p:sldId id="376" r:id="rId9"/>
    <p:sldId id="374" r:id="rId10"/>
    <p:sldId id="375" r:id="rId11"/>
    <p:sldId id="378" r:id="rId12"/>
    <p:sldId id="379" r:id="rId13"/>
    <p:sldId id="377" r:id="rId14"/>
    <p:sldId id="266" r:id="rId15"/>
    <p:sldId id="371" r:id="rId16"/>
    <p:sldId id="263" r:id="rId17"/>
    <p:sldId id="259" r:id="rId18"/>
    <p:sldId id="267" r:id="rId19"/>
    <p:sldId id="384" r:id="rId20"/>
    <p:sldId id="269" r:id="rId21"/>
    <p:sldId id="412" r:id="rId22"/>
    <p:sldId id="398" r:id="rId23"/>
    <p:sldId id="385" r:id="rId24"/>
    <p:sldId id="394" r:id="rId25"/>
    <p:sldId id="268" r:id="rId26"/>
    <p:sldId id="391" r:id="rId27"/>
    <p:sldId id="388" r:id="rId28"/>
    <p:sldId id="383" r:id="rId29"/>
    <p:sldId id="400" r:id="rId30"/>
    <p:sldId id="386" r:id="rId31"/>
    <p:sldId id="387" r:id="rId32"/>
    <p:sldId id="389" r:id="rId33"/>
    <p:sldId id="390" r:id="rId34"/>
    <p:sldId id="392" r:id="rId35"/>
    <p:sldId id="396" r:id="rId36"/>
    <p:sldId id="401" r:id="rId37"/>
    <p:sldId id="402" r:id="rId38"/>
    <p:sldId id="403" r:id="rId39"/>
    <p:sldId id="393" r:id="rId40"/>
    <p:sldId id="405" r:id="rId41"/>
    <p:sldId id="406" r:id="rId42"/>
    <p:sldId id="399" r:id="rId43"/>
    <p:sldId id="407" r:id="rId44"/>
    <p:sldId id="411" r:id="rId45"/>
    <p:sldId id="410" r:id="rId46"/>
    <p:sldId id="261" r:id="rId47"/>
    <p:sldId id="426" r:id="rId48"/>
    <p:sldId id="380" r:id="rId49"/>
    <p:sldId id="453" r:id="rId50"/>
    <p:sldId id="457" r:id="rId51"/>
    <p:sldId id="422" r:id="rId52"/>
    <p:sldId id="430" r:id="rId53"/>
    <p:sldId id="458" r:id="rId54"/>
    <p:sldId id="435" r:id="rId55"/>
    <p:sldId id="436" r:id="rId56"/>
    <p:sldId id="437" r:id="rId57"/>
    <p:sldId id="438" r:id="rId58"/>
    <p:sldId id="440" r:id="rId59"/>
    <p:sldId id="441" r:id="rId60"/>
    <p:sldId id="439" r:id="rId61"/>
    <p:sldId id="442" r:id="rId62"/>
    <p:sldId id="444" r:id="rId63"/>
    <p:sldId id="446" r:id="rId64"/>
    <p:sldId id="427" r:id="rId65"/>
    <p:sldId id="429" r:id="rId66"/>
    <p:sldId id="433" r:id="rId67"/>
    <p:sldId id="428" r:id="rId68"/>
    <p:sldId id="431" r:id="rId69"/>
    <p:sldId id="432" r:id="rId70"/>
    <p:sldId id="443" r:id="rId71"/>
    <p:sldId id="434" r:id="rId72"/>
    <p:sldId id="424" r:id="rId73"/>
    <p:sldId id="488" r:id="rId74"/>
    <p:sldId id="264" r:id="rId75"/>
    <p:sldId id="459" r:id="rId76"/>
    <p:sldId id="450" r:id="rId77"/>
    <p:sldId id="448" r:id="rId78"/>
    <p:sldId id="454" r:id="rId79"/>
    <p:sldId id="449" r:id="rId80"/>
    <p:sldId id="447" r:id="rId81"/>
    <p:sldId id="452" r:id="rId82"/>
    <p:sldId id="451" r:id="rId83"/>
    <p:sldId id="456" r:id="rId84"/>
    <p:sldId id="460" r:id="rId85"/>
    <p:sldId id="461" r:id="rId86"/>
    <p:sldId id="469" r:id="rId87"/>
    <p:sldId id="470" r:id="rId88"/>
    <p:sldId id="463" r:id="rId89"/>
    <p:sldId id="464" r:id="rId90"/>
    <p:sldId id="465" r:id="rId91"/>
    <p:sldId id="466" r:id="rId92"/>
    <p:sldId id="467" r:id="rId93"/>
    <p:sldId id="489" r:id="rId94"/>
    <p:sldId id="493" r:id="rId95"/>
    <p:sldId id="462" r:id="rId96"/>
    <p:sldId id="468" r:id="rId97"/>
    <p:sldId id="471" r:id="rId98"/>
    <p:sldId id="472" r:id="rId99"/>
    <p:sldId id="474" r:id="rId100"/>
    <p:sldId id="473" r:id="rId101"/>
    <p:sldId id="478" r:id="rId102"/>
    <p:sldId id="475" r:id="rId103"/>
    <p:sldId id="479" r:id="rId104"/>
    <p:sldId id="455" r:id="rId105"/>
    <p:sldId id="486" r:id="rId106"/>
    <p:sldId id="487" r:id="rId107"/>
    <p:sldId id="480" r:id="rId108"/>
    <p:sldId id="483" r:id="rId109"/>
    <p:sldId id="481" r:id="rId110"/>
    <p:sldId id="484" r:id="rId111"/>
    <p:sldId id="477" r:id="rId112"/>
    <p:sldId id="485" r:id="rId113"/>
    <p:sldId id="273" r:id="rId114"/>
    <p:sldId id="260" r:id="rId115"/>
  </p:sldIdLst>
  <p:sldSz cx="12192000" cy="6858000"/>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modifyVerifier cryptProviderType="rsaAES" cryptAlgorithmClass="hash" cryptAlgorithmType="typeAny" cryptAlgorithmSid="14" spinCount="100000" saltData="eB2OKVSgY8Mnn3sdFtuHJg==" hashData="jyrqHCN2fZ4JV75DUQuMO3Ae5mUKKRP2jT1UuJK0ANqPh/fURUkKoh1oIBKl3TaVBgDCwO6O5+c+awp34a+drg=="/>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8640"/>
    <a:srgbClr val="0F0F0F"/>
    <a:srgbClr val="FFFF00"/>
    <a:srgbClr val="FF2929"/>
    <a:srgbClr val="FFCC00"/>
    <a:srgbClr val="959595"/>
    <a:srgbClr val="010101"/>
    <a:srgbClr val="040404"/>
    <a:srgbClr val="2121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659" autoAdjust="0"/>
    <p:restoredTop sz="94660"/>
  </p:normalViewPr>
  <p:slideViewPr>
    <p:cSldViewPr>
      <p:cViewPr varScale="1">
        <p:scale>
          <a:sx n="114" d="100"/>
          <a:sy n="114" d="100"/>
        </p:scale>
        <p:origin x="318" y="114"/>
      </p:cViewPr>
      <p:guideLst>
        <p:guide orient="horz" pos="2160"/>
        <p:guide pos="3840"/>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presProps" Target="pres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slide" Target="slides/slide114.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zh-CN" altLang="en-US" b="1">
                <a:solidFill>
                  <a:schemeClr val="bg1"/>
                </a:solidFill>
              </a:rPr>
              <a:t>尿素氮 </a:t>
            </a:r>
            <a:r>
              <a:rPr lang="en-US" altLang="zh-CN" b="1">
                <a:solidFill>
                  <a:schemeClr val="bg1"/>
                </a:solidFill>
              </a:rPr>
              <a:t>mmol/L </a:t>
            </a:r>
          </a:p>
        </c:rich>
      </c:tx>
      <c:layout>
        <c:manualLayout>
          <c:xMode val="edge"/>
          <c:yMode val="edge"/>
          <c:x val="0.2663697936001691"/>
          <c:y val="3.1435767594736645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bar"/>
        <c:grouping val="clustered"/>
        <c:varyColors val="0"/>
        <c:ser>
          <c:idx val="0"/>
          <c:order val="0"/>
          <c:tx>
            <c:strRef>
              <c:f>Sheet1!$A$1</c:f>
              <c:strCache>
                <c:ptCount val="1"/>
                <c:pt idx="0">
                  <c:v>尿素氮 mmol/L</c:v>
                </c:pt>
              </c:strCache>
            </c:strRef>
          </c:tx>
          <c:spPr>
            <a:solidFill>
              <a:srgbClr val="92D050"/>
            </a:solidFill>
            <a:ln>
              <a:solidFill>
                <a:srgbClr val="92D050"/>
              </a:solidFill>
            </a:ln>
            <a:effectLst/>
          </c:spPr>
          <c:invertIfNegative val="0"/>
          <c:dPt>
            <c:idx val="2"/>
            <c:invertIfNegative val="0"/>
            <c:bubble3D val="0"/>
            <c:spPr>
              <a:solidFill>
                <a:schemeClr val="accent4">
                  <a:lumMod val="20000"/>
                  <a:lumOff val="80000"/>
                </a:schemeClr>
              </a:solidFill>
              <a:ln>
                <a:solidFill>
                  <a:schemeClr val="accent4">
                    <a:lumMod val="75000"/>
                  </a:schemeClr>
                </a:solidFill>
              </a:ln>
              <a:effectLst/>
            </c:spPr>
            <c:extLst>
              <c:ext xmlns:c16="http://schemas.microsoft.com/office/drawing/2014/chart" uri="{C3380CC4-5D6E-409C-BE32-E72D297353CC}">
                <c16:uniqueId val="{00000007-98EE-4E7E-86AE-CAC2E5A41366}"/>
              </c:ext>
            </c:extLst>
          </c:dPt>
          <c:dPt>
            <c:idx val="3"/>
            <c:invertIfNegative val="0"/>
            <c:bubble3D val="0"/>
            <c:spPr>
              <a:solidFill>
                <a:schemeClr val="accent4">
                  <a:lumMod val="20000"/>
                  <a:lumOff val="80000"/>
                </a:schemeClr>
              </a:solidFill>
              <a:ln>
                <a:solidFill>
                  <a:schemeClr val="accent4">
                    <a:lumMod val="75000"/>
                  </a:schemeClr>
                </a:solidFill>
              </a:ln>
              <a:effectLst/>
            </c:spPr>
            <c:extLst>
              <c:ext xmlns:c16="http://schemas.microsoft.com/office/drawing/2014/chart" uri="{C3380CC4-5D6E-409C-BE32-E72D297353CC}">
                <c16:uniqueId val="{00000006-98EE-4E7E-86AE-CAC2E5A41366}"/>
              </c:ext>
            </c:extLst>
          </c:dPt>
          <c:dPt>
            <c:idx val="4"/>
            <c:invertIfNegative val="0"/>
            <c:bubble3D val="0"/>
            <c:spPr>
              <a:solidFill>
                <a:schemeClr val="accent2">
                  <a:lumMod val="75000"/>
                </a:schemeClr>
              </a:solidFill>
              <a:ln>
                <a:solidFill>
                  <a:schemeClr val="accent2">
                    <a:lumMod val="60000"/>
                    <a:lumOff val="40000"/>
                  </a:schemeClr>
                </a:solidFill>
              </a:ln>
              <a:effectLst/>
            </c:spPr>
            <c:extLst>
              <c:ext xmlns:c16="http://schemas.microsoft.com/office/drawing/2014/chart" uri="{C3380CC4-5D6E-409C-BE32-E72D297353CC}">
                <c16:uniqueId val="{00000005-98EE-4E7E-86AE-CAC2E5A41366}"/>
              </c:ext>
            </c:extLst>
          </c:dPt>
          <c:dPt>
            <c:idx val="5"/>
            <c:invertIfNegative val="0"/>
            <c:bubble3D val="0"/>
            <c:spPr>
              <a:solidFill>
                <a:schemeClr val="accent2">
                  <a:lumMod val="75000"/>
                </a:schemeClr>
              </a:solidFill>
              <a:ln>
                <a:solidFill>
                  <a:schemeClr val="accent4">
                    <a:lumMod val="60000"/>
                    <a:lumOff val="40000"/>
                  </a:schemeClr>
                </a:solidFill>
              </a:ln>
              <a:effectLst/>
            </c:spPr>
            <c:extLst>
              <c:ext xmlns:c16="http://schemas.microsoft.com/office/drawing/2014/chart" uri="{C3380CC4-5D6E-409C-BE32-E72D297353CC}">
                <c16:uniqueId val="{00000008-98EE-4E7E-86AE-CAC2E5A41366}"/>
              </c:ext>
            </c:extLst>
          </c:dPt>
          <c:dPt>
            <c:idx val="6"/>
            <c:invertIfNegative val="0"/>
            <c:bubble3D val="0"/>
            <c:spPr>
              <a:solidFill>
                <a:srgbClr val="C00000"/>
              </a:solidFill>
              <a:ln>
                <a:solidFill>
                  <a:srgbClr val="FFC000"/>
                </a:solidFill>
              </a:ln>
              <a:effectLst/>
            </c:spPr>
            <c:extLst>
              <c:ext xmlns:c16="http://schemas.microsoft.com/office/drawing/2014/chart" uri="{C3380CC4-5D6E-409C-BE32-E72D297353CC}">
                <c16:uniqueId val="{00000009-98EE-4E7E-86AE-CAC2E5A41366}"/>
              </c:ext>
            </c:extLst>
          </c:dPt>
          <c:dPt>
            <c:idx val="7"/>
            <c:invertIfNegative val="0"/>
            <c:bubble3D val="0"/>
            <c:spPr>
              <a:solidFill>
                <a:srgbClr val="C00000"/>
              </a:solidFill>
              <a:ln>
                <a:solidFill>
                  <a:srgbClr val="FFC000"/>
                </a:solidFill>
              </a:ln>
              <a:effectLst/>
            </c:spPr>
            <c:extLst>
              <c:ext xmlns:c16="http://schemas.microsoft.com/office/drawing/2014/chart" uri="{C3380CC4-5D6E-409C-BE32-E72D297353CC}">
                <c16:uniqueId val="{0000000A-98EE-4E7E-86AE-CAC2E5A41366}"/>
              </c:ext>
            </c:extLst>
          </c:dPt>
          <c:val>
            <c:numRef>
              <c:f>Sheet1!$A$2:$A$9</c:f>
              <c:numCache>
                <c:formatCode>General</c:formatCode>
                <c:ptCount val="8"/>
                <c:pt idx="0">
                  <c:v>7</c:v>
                </c:pt>
                <c:pt idx="1">
                  <c:v>12.5</c:v>
                </c:pt>
                <c:pt idx="2">
                  <c:v>14</c:v>
                </c:pt>
                <c:pt idx="3">
                  <c:v>17.8</c:v>
                </c:pt>
                <c:pt idx="4">
                  <c:v>21.4</c:v>
                </c:pt>
                <c:pt idx="5">
                  <c:v>25</c:v>
                </c:pt>
                <c:pt idx="6">
                  <c:v>28.5</c:v>
                </c:pt>
                <c:pt idx="7">
                  <c:v>35</c:v>
                </c:pt>
              </c:numCache>
            </c:numRef>
          </c:val>
          <c:extLst>
            <c:ext xmlns:c16="http://schemas.microsoft.com/office/drawing/2014/chart" uri="{C3380CC4-5D6E-409C-BE32-E72D297353CC}">
              <c16:uniqueId val="{00000000-98EE-4E7E-86AE-CAC2E5A41366}"/>
            </c:ext>
          </c:extLst>
        </c:ser>
        <c:dLbls>
          <c:showLegendKey val="0"/>
          <c:showVal val="0"/>
          <c:showCatName val="0"/>
          <c:showSerName val="0"/>
          <c:showPercent val="0"/>
          <c:showBubbleSize val="0"/>
        </c:dLbls>
        <c:gapWidth val="182"/>
        <c:axId val="1245159688"/>
        <c:axId val="1245158376"/>
      </c:barChart>
      <c:catAx>
        <c:axId val="124515968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zh-CN"/>
          </a:p>
        </c:txPr>
        <c:crossAx val="1245158376"/>
        <c:crosses val="autoZero"/>
        <c:auto val="1"/>
        <c:lblAlgn val="ctr"/>
        <c:lblOffset val="100"/>
        <c:noMultiLvlLbl val="0"/>
      </c:catAx>
      <c:valAx>
        <c:axId val="124515837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310" b="1" i="0" u="dotted" strike="noStrike" kern="1200" baseline="0">
                <a:solidFill>
                  <a:schemeClr val="bg1">
                    <a:lumMod val="95000"/>
                  </a:schemeClr>
                </a:solidFill>
                <a:latin typeface="+mn-lt"/>
                <a:ea typeface="+mn-ea"/>
                <a:cs typeface="+mn-cs"/>
              </a:defRPr>
            </a:pPr>
            <a:endParaRPr lang="zh-CN"/>
          </a:p>
        </c:txPr>
        <c:crossAx val="124515968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15"/>
      <c:rotY val="2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5.2552434501873264E-3"/>
          <c:y val="6.9544805518681502E-2"/>
          <c:w val="0.88274692421259837"/>
          <c:h val="0.83316081242859175"/>
        </c:manualLayout>
      </c:layout>
      <c:bar3DChart>
        <c:barDir val="col"/>
        <c:grouping val="clustered"/>
        <c:varyColors val="0"/>
        <c:ser>
          <c:idx val="0"/>
          <c:order val="0"/>
          <c:tx>
            <c:strRef>
              <c:f>Sheet1!$B$1</c:f>
              <c:strCache>
                <c:ptCount val="1"/>
                <c:pt idx="0">
                  <c:v>每100kcal含磷</c:v>
                </c:pt>
              </c:strCache>
            </c:strRef>
          </c:tx>
          <c:spPr>
            <a:solidFill>
              <a:schemeClr val="accent1"/>
            </a:solidFill>
            <a:ln>
              <a:noFill/>
            </a:ln>
            <a:effectLst/>
            <a:sp3d/>
          </c:spPr>
          <c:invertIfNegative val="0"/>
          <c:cat>
            <c:strRef>
              <c:f>Sheet1!$A$2:$A$5</c:f>
              <c:strCache>
                <c:ptCount val="4"/>
                <c:pt idx="0">
                  <c:v>处方粮/罐</c:v>
                </c:pt>
                <c:pt idx="1">
                  <c:v>动物肌肉</c:v>
                </c:pt>
                <c:pt idx="2">
                  <c:v>猫粮</c:v>
                </c:pt>
                <c:pt idx="3">
                  <c:v>猫罐头</c:v>
                </c:pt>
              </c:strCache>
            </c:strRef>
          </c:cat>
          <c:val>
            <c:numRef>
              <c:f>Sheet1!$B$2:$B$5</c:f>
              <c:numCache>
                <c:formatCode>General</c:formatCode>
                <c:ptCount val="4"/>
                <c:pt idx="0">
                  <c:v>0.11</c:v>
                </c:pt>
                <c:pt idx="1">
                  <c:v>0.17</c:v>
                </c:pt>
                <c:pt idx="2">
                  <c:v>0.23</c:v>
                </c:pt>
                <c:pt idx="3">
                  <c:v>0.22</c:v>
                </c:pt>
              </c:numCache>
            </c:numRef>
          </c:val>
          <c:extLst>
            <c:ext xmlns:c16="http://schemas.microsoft.com/office/drawing/2014/chart" uri="{C3380CC4-5D6E-409C-BE32-E72D297353CC}">
              <c16:uniqueId val="{00000000-D4DC-49CE-B395-976A79594175}"/>
            </c:ext>
          </c:extLst>
        </c:ser>
        <c:ser>
          <c:idx val="1"/>
          <c:order val="1"/>
          <c:tx>
            <c:strRef>
              <c:f>Sheet1!$C$1</c:f>
              <c:strCache>
                <c:ptCount val="1"/>
                <c:pt idx="0">
                  <c:v>磷含量/10克蛋白</c:v>
                </c:pt>
              </c:strCache>
            </c:strRef>
          </c:tx>
          <c:spPr>
            <a:solidFill>
              <a:schemeClr val="accent2"/>
            </a:solidFill>
            <a:ln>
              <a:noFill/>
            </a:ln>
            <a:effectLst/>
            <a:sp3d/>
          </c:spPr>
          <c:invertIfNegative val="0"/>
          <c:cat>
            <c:strRef>
              <c:f>Sheet1!$A$2:$A$5</c:f>
              <c:strCache>
                <c:ptCount val="4"/>
                <c:pt idx="0">
                  <c:v>处方粮/罐</c:v>
                </c:pt>
                <c:pt idx="1">
                  <c:v>动物肌肉</c:v>
                </c:pt>
                <c:pt idx="2">
                  <c:v>猫粮</c:v>
                </c:pt>
                <c:pt idx="3">
                  <c:v>猫罐头</c:v>
                </c:pt>
              </c:strCache>
            </c:strRef>
          </c:cat>
          <c:val>
            <c:numRef>
              <c:f>Sheet1!$C$2:$C$5</c:f>
              <c:numCache>
                <c:formatCode>General</c:formatCode>
                <c:ptCount val="4"/>
                <c:pt idx="0">
                  <c:v>0.14699999999999999</c:v>
                </c:pt>
                <c:pt idx="1">
                  <c:v>0.11600000000000001</c:v>
                </c:pt>
                <c:pt idx="2">
                  <c:v>0.28000000000000003</c:v>
                </c:pt>
                <c:pt idx="3">
                  <c:v>0.19800000000000001</c:v>
                </c:pt>
              </c:numCache>
            </c:numRef>
          </c:val>
          <c:extLst>
            <c:ext xmlns:c16="http://schemas.microsoft.com/office/drawing/2014/chart" uri="{C3380CC4-5D6E-409C-BE32-E72D297353CC}">
              <c16:uniqueId val="{00000003-D4DC-49CE-B395-976A79594175}"/>
            </c:ext>
          </c:extLst>
        </c:ser>
        <c:dLbls>
          <c:showLegendKey val="0"/>
          <c:showVal val="0"/>
          <c:showCatName val="0"/>
          <c:showSerName val="0"/>
          <c:showPercent val="0"/>
          <c:showBubbleSize val="0"/>
        </c:dLbls>
        <c:gapWidth val="219"/>
        <c:shape val="box"/>
        <c:axId val="1452535032"/>
        <c:axId val="1452541592"/>
        <c:axId val="0"/>
      </c:bar3DChart>
      <c:catAx>
        <c:axId val="14525350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452541592"/>
        <c:crosses val="autoZero"/>
        <c:auto val="1"/>
        <c:lblAlgn val="ctr"/>
        <c:lblOffset val="100"/>
        <c:noMultiLvlLbl val="0"/>
      </c:catAx>
      <c:valAx>
        <c:axId val="1452541592"/>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452535032"/>
        <c:crosses val="autoZero"/>
        <c:crossBetween val="between"/>
      </c:valAx>
      <c:spPr>
        <a:noFill/>
        <a:ln>
          <a:noFill/>
        </a:ln>
        <a:effectLst/>
      </c:spPr>
    </c:plotArea>
    <c:legend>
      <c:legendPos val="b"/>
      <c:layout>
        <c:manualLayout>
          <c:xMode val="edge"/>
          <c:yMode val="edge"/>
          <c:x val="0.18518795150610312"/>
          <c:y val="5.386199876099286E-2"/>
          <c:w val="0.60648398065371445"/>
          <c:h val="5.2491815275874133E-2"/>
        </c:manualLayout>
      </c:layout>
      <c:overlay val="0"/>
      <c:spPr>
        <a:solidFill>
          <a:schemeClr val="accent2">
            <a:lumMod val="20000"/>
            <a:lumOff val="80000"/>
          </a:schemeClr>
        </a:solid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png"/></Relationships>
</file>

<file path=ppt/drawings/drawing1.xml><?xml version="1.0" encoding="utf-8"?>
<c:userShapes xmlns:c="http://schemas.openxmlformats.org/drawingml/2006/chart">
  <cdr:relSizeAnchor xmlns:cdr="http://schemas.openxmlformats.org/drawingml/2006/chartDrawing">
    <cdr:from>
      <cdr:x>0.84514</cdr:x>
      <cdr:y>0.34491</cdr:y>
    </cdr:from>
    <cdr:to>
      <cdr:x>1</cdr:x>
      <cdr:y>0.56918</cdr:y>
    </cdr:to>
    <cdr:sp macro="" textlink="">
      <cdr:nvSpPr>
        <cdr:cNvPr id="3" name="文本框 2"/>
        <cdr:cNvSpPr txBox="1"/>
      </cdr:nvSpPr>
      <cdr:spPr>
        <a:xfrm xmlns:a="http://schemas.openxmlformats.org/drawingml/2006/main">
          <a:off x="5112568" y="1406245"/>
          <a:ext cx="914400" cy="9144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zh-CN" altLang="en-US" sz="110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vl1pPr>
          </a:lstStyle>
          <a:p>
            <a:pPr>
              <a:defRPr/>
            </a:pPr>
            <a:endParaRPr lang="zh-CN" altLang="en-US"/>
          </a:p>
        </p:txBody>
      </p:sp>
      <p:sp>
        <p:nvSpPr>
          <p:cNvPr id="3" name="日期占位符 2">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defRPr sz="1200"/>
            </a:lvl1pPr>
          </a:lstStyle>
          <a:p>
            <a:pPr>
              <a:defRPr/>
            </a:pPr>
            <a:fld id="{6B627B64-A1EB-4EB8-87AE-238308B6C788}" type="datetimeFigureOut">
              <a:rPr lang="zh-CN" altLang="en-US"/>
              <a:pPr>
                <a:defRPr/>
              </a:pPr>
              <a:t>2018/10/22</a:t>
            </a:fld>
            <a:endParaRPr lang="zh-CN" altLang="en-US"/>
          </a:p>
        </p:txBody>
      </p:sp>
      <p:sp>
        <p:nvSpPr>
          <p:cNvPr id="4" name="幻灯片图像占位符 3">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hangingPunct="1">
              <a:defRPr sz="1200"/>
            </a:lvl1pPr>
          </a:lstStyle>
          <a:p>
            <a:pPr>
              <a:defRPr/>
            </a:pPr>
            <a:endParaRPr lang="zh-CN" altLang="en-US"/>
          </a:p>
        </p:txBody>
      </p:sp>
      <p:sp>
        <p:nvSpPr>
          <p:cNvPr id="7" name="灯片编号占位符 6">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hangingPunct="1">
              <a:defRPr sz="1200"/>
            </a:lvl1pPr>
          </a:lstStyle>
          <a:p>
            <a:pPr>
              <a:defRPr/>
            </a:pPr>
            <a:fld id="{69910FED-214E-4BD8-953C-CE7D96AB7F1D}"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112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D352C45-C31D-4BA3-AB01-281076A1CF4F}"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1536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6C7F49A-087B-4359-85C3-D594BD0E75AA}" type="slidenum">
              <a:rPr lang="zh-CN" altLang="en-US" smtClean="0"/>
              <a:pPr/>
              <a:t>4</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29700"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107CABD-E598-445E-AEE8-638FB0AC2F95}" type="slidenum">
              <a:rPr lang="zh-CN" altLang="en-US" smtClean="0"/>
              <a:pPr/>
              <a:t>18</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174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291EF7D-07A8-4C8C-B5D5-1368750B4E85}" type="slidenum">
              <a:rPr lang="zh-CN" altLang="en-US" smtClean="0"/>
              <a:pPr/>
              <a:t>20</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379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B338EAC-3EAB-41C4-ADD3-AEE7D7B6DE3B}" type="slidenum">
              <a:rPr lang="zh-CN" altLang="en-US" smtClean="0"/>
              <a:pPr/>
              <a:t>21</a:t>
            </a:fld>
            <a:endParaRPr lang="zh-CN" altLang="en-US"/>
          </a:p>
        </p:txBody>
      </p:sp>
    </p:spTree>
    <p:extLst>
      <p:ext uri="{BB962C8B-B14F-4D97-AF65-F5344CB8AC3E}">
        <p14:creationId xmlns:p14="http://schemas.microsoft.com/office/powerpoint/2010/main" val="208032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69910FED-214E-4BD8-953C-CE7D96AB7F1D}" type="slidenum">
              <a:rPr lang="zh-CN" altLang="en-US" smtClean="0"/>
              <a:pPr>
                <a:defRPr/>
              </a:pPr>
              <a:t>22</a:t>
            </a:fld>
            <a:endParaRPr lang="zh-CN" altLang="en-US"/>
          </a:p>
        </p:txBody>
      </p:sp>
    </p:spTree>
    <p:extLst>
      <p:ext uri="{BB962C8B-B14F-4D97-AF65-F5344CB8AC3E}">
        <p14:creationId xmlns:p14="http://schemas.microsoft.com/office/powerpoint/2010/main" val="25652561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379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B338EAC-3EAB-41C4-ADD3-AEE7D7B6DE3B}" type="slidenum">
              <a:rPr lang="zh-CN" altLang="en-US" smtClean="0"/>
              <a:pPr/>
              <a:t>25</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174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291EF7D-07A8-4C8C-B5D5-1368750B4E85}" type="slidenum">
              <a:rPr lang="zh-CN" altLang="en-US" smtClean="0"/>
              <a:pPr/>
              <a:t>26</a:t>
            </a:fld>
            <a:endParaRPr lang="zh-CN" altLang="en-US"/>
          </a:p>
        </p:txBody>
      </p:sp>
    </p:spTree>
    <p:extLst>
      <p:ext uri="{BB962C8B-B14F-4D97-AF65-F5344CB8AC3E}">
        <p14:creationId xmlns:p14="http://schemas.microsoft.com/office/powerpoint/2010/main" val="29732709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174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291EF7D-07A8-4C8C-B5D5-1368750B4E85}" type="slidenum">
              <a:rPr lang="zh-CN" altLang="en-US" smtClean="0"/>
              <a:pPr/>
              <a:t>28</a:t>
            </a:fld>
            <a:endParaRPr lang="zh-CN" altLang="en-US"/>
          </a:p>
        </p:txBody>
      </p:sp>
    </p:spTree>
    <p:extLst>
      <p:ext uri="{BB962C8B-B14F-4D97-AF65-F5344CB8AC3E}">
        <p14:creationId xmlns:p14="http://schemas.microsoft.com/office/powerpoint/2010/main" val="8168466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174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291EF7D-07A8-4C8C-B5D5-1368750B4E85}" type="slidenum">
              <a:rPr lang="zh-CN" altLang="en-US" smtClean="0"/>
              <a:pPr/>
              <a:t>29</a:t>
            </a:fld>
            <a:endParaRPr lang="zh-CN" altLang="en-US"/>
          </a:p>
        </p:txBody>
      </p:sp>
    </p:spTree>
    <p:extLst>
      <p:ext uri="{BB962C8B-B14F-4D97-AF65-F5344CB8AC3E}">
        <p14:creationId xmlns:p14="http://schemas.microsoft.com/office/powerpoint/2010/main" val="14197615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69910FED-214E-4BD8-953C-CE7D96AB7F1D}" type="slidenum">
              <a:rPr lang="zh-CN" altLang="en-US" smtClean="0"/>
              <a:pPr>
                <a:defRPr/>
              </a:pPr>
              <a:t>30</a:t>
            </a:fld>
            <a:endParaRPr lang="zh-CN" altLang="en-US"/>
          </a:p>
        </p:txBody>
      </p:sp>
    </p:spTree>
    <p:extLst>
      <p:ext uri="{BB962C8B-B14F-4D97-AF65-F5344CB8AC3E}">
        <p14:creationId xmlns:p14="http://schemas.microsoft.com/office/powerpoint/2010/main" val="36525642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69910FED-214E-4BD8-953C-CE7D96AB7F1D}" type="slidenum">
              <a:rPr lang="zh-CN" altLang="en-US" smtClean="0"/>
              <a:pPr>
                <a:defRPr/>
              </a:pPr>
              <a:t>31</a:t>
            </a:fld>
            <a:endParaRPr lang="zh-CN" altLang="en-US"/>
          </a:p>
        </p:txBody>
      </p:sp>
    </p:spTree>
    <p:extLst>
      <p:ext uri="{BB962C8B-B14F-4D97-AF65-F5344CB8AC3E}">
        <p14:creationId xmlns:p14="http://schemas.microsoft.com/office/powerpoint/2010/main" val="17268728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69910FED-214E-4BD8-953C-CE7D96AB7F1D}" type="slidenum">
              <a:rPr lang="zh-CN" altLang="en-US" smtClean="0"/>
              <a:pPr>
                <a:defRPr/>
              </a:pPr>
              <a:t>32</a:t>
            </a:fld>
            <a:endParaRPr lang="zh-CN" altLang="en-US"/>
          </a:p>
        </p:txBody>
      </p:sp>
    </p:spTree>
    <p:extLst>
      <p:ext uri="{BB962C8B-B14F-4D97-AF65-F5344CB8AC3E}">
        <p14:creationId xmlns:p14="http://schemas.microsoft.com/office/powerpoint/2010/main" val="16325498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174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291EF7D-07A8-4C8C-B5D5-1368750B4E85}" type="slidenum">
              <a:rPr lang="zh-CN" altLang="en-US" smtClean="0"/>
              <a:pPr/>
              <a:t>34</a:t>
            </a:fld>
            <a:endParaRPr lang="zh-CN" altLang="en-US"/>
          </a:p>
        </p:txBody>
      </p:sp>
    </p:spTree>
    <p:extLst>
      <p:ext uri="{BB962C8B-B14F-4D97-AF65-F5344CB8AC3E}">
        <p14:creationId xmlns:p14="http://schemas.microsoft.com/office/powerpoint/2010/main" val="23662032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174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291EF7D-07A8-4C8C-B5D5-1368750B4E85}" type="slidenum">
              <a:rPr lang="zh-CN" altLang="en-US" smtClean="0"/>
              <a:pPr/>
              <a:t>39</a:t>
            </a:fld>
            <a:endParaRPr lang="zh-CN" altLang="en-US"/>
          </a:p>
        </p:txBody>
      </p:sp>
    </p:spTree>
    <p:extLst>
      <p:ext uri="{BB962C8B-B14F-4D97-AF65-F5344CB8AC3E}">
        <p14:creationId xmlns:p14="http://schemas.microsoft.com/office/powerpoint/2010/main" val="16631742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1536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6C7F49A-087B-4359-85C3-D594BD0E75AA}" type="slidenum">
              <a:rPr lang="zh-CN" altLang="en-US" smtClean="0"/>
              <a:pPr/>
              <a:t>48</a:t>
            </a:fld>
            <a:endParaRPr lang="zh-CN" altLang="en-US"/>
          </a:p>
        </p:txBody>
      </p:sp>
    </p:spTree>
    <p:extLst>
      <p:ext uri="{BB962C8B-B14F-4D97-AF65-F5344CB8AC3E}">
        <p14:creationId xmlns:p14="http://schemas.microsoft.com/office/powerpoint/2010/main" val="39297784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379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B338EAC-3EAB-41C4-ADD3-AEE7D7B6DE3B}" type="slidenum">
              <a:rPr lang="zh-CN" altLang="en-US" smtClean="0"/>
              <a:pPr/>
              <a:t>49</a:t>
            </a:fld>
            <a:endParaRPr lang="zh-CN" altLang="en-US"/>
          </a:p>
        </p:txBody>
      </p:sp>
    </p:spTree>
    <p:extLst>
      <p:ext uri="{BB962C8B-B14F-4D97-AF65-F5344CB8AC3E}">
        <p14:creationId xmlns:p14="http://schemas.microsoft.com/office/powerpoint/2010/main" val="3463831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379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B338EAC-3EAB-41C4-ADD3-AEE7D7B6DE3B}" type="slidenum">
              <a:rPr lang="zh-CN" altLang="en-US" smtClean="0"/>
              <a:pPr/>
              <a:t>50</a:t>
            </a:fld>
            <a:endParaRPr lang="zh-CN" altLang="en-US"/>
          </a:p>
        </p:txBody>
      </p:sp>
    </p:spTree>
    <p:extLst>
      <p:ext uri="{BB962C8B-B14F-4D97-AF65-F5344CB8AC3E}">
        <p14:creationId xmlns:p14="http://schemas.microsoft.com/office/powerpoint/2010/main" val="36273593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89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7F4D7B-F15B-47DF-AC3C-6D6D4DB8D33B}" type="slidenum">
              <a:rPr lang="zh-CN" altLang="en-US" smtClean="0"/>
              <a:pPr/>
              <a:t>52</a:t>
            </a:fld>
            <a:endParaRPr lang="zh-CN" altLang="en-US"/>
          </a:p>
        </p:txBody>
      </p:sp>
    </p:spTree>
    <p:extLst>
      <p:ext uri="{BB962C8B-B14F-4D97-AF65-F5344CB8AC3E}">
        <p14:creationId xmlns:p14="http://schemas.microsoft.com/office/powerpoint/2010/main" val="25173848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686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7516780-0549-4753-8313-6D3F20EEB0D4}" type="slidenum">
              <a:rPr lang="zh-CN" altLang="en-US" smtClean="0"/>
              <a:pPr/>
              <a:t>53</a:t>
            </a:fld>
            <a:endParaRPr lang="zh-CN" altLang="en-US"/>
          </a:p>
        </p:txBody>
      </p:sp>
    </p:spTree>
    <p:extLst>
      <p:ext uri="{BB962C8B-B14F-4D97-AF65-F5344CB8AC3E}">
        <p14:creationId xmlns:p14="http://schemas.microsoft.com/office/powerpoint/2010/main" val="16930308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174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291EF7D-07A8-4C8C-B5D5-1368750B4E85}" type="slidenum">
              <a:rPr lang="zh-CN" altLang="en-US" smtClean="0"/>
              <a:pPr/>
              <a:t>54</a:t>
            </a:fld>
            <a:endParaRPr lang="zh-CN" altLang="en-US"/>
          </a:p>
        </p:txBody>
      </p:sp>
    </p:spTree>
    <p:extLst>
      <p:ext uri="{BB962C8B-B14F-4D97-AF65-F5344CB8AC3E}">
        <p14:creationId xmlns:p14="http://schemas.microsoft.com/office/powerpoint/2010/main" val="11260490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89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7F4D7B-F15B-47DF-AC3C-6D6D4DB8D33B}" type="slidenum">
              <a:rPr lang="zh-CN" altLang="en-US" smtClean="0"/>
              <a:pPr/>
              <a:t>55</a:t>
            </a:fld>
            <a:endParaRPr lang="zh-CN" altLang="en-US"/>
          </a:p>
        </p:txBody>
      </p:sp>
    </p:spTree>
    <p:extLst>
      <p:ext uri="{BB962C8B-B14F-4D97-AF65-F5344CB8AC3E}">
        <p14:creationId xmlns:p14="http://schemas.microsoft.com/office/powerpoint/2010/main" val="4424614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89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7F4D7B-F15B-47DF-AC3C-6D6D4DB8D33B}" type="slidenum">
              <a:rPr lang="zh-CN" altLang="en-US" smtClean="0"/>
              <a:pPr/>
              <a:t>56</a:t>
            </a:fld>
            <a:endParaRPr lang="zh-CN" altLang="en-US"/>
          </a:p>
        </p:txBody>
      </p:sp>
    </p:spTree>
    <p:extLst>
      <p:ext uri="{BB962C8B-B14F-4D97-AF65-F5344CB8AC3E}">
        <p14:creationId xmlns:p14="http://schemas.microsoft.com/office/powerpoint/2010/main" val="18551560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89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7F4D7B-F15B-47DF-AC3C-6D6D4DB8D33B}" type="slidenum">
              <a:rPr lang="zh-CN" altLang="en-US" smtClean="0"/>
              <a:pPr/>
              <a:t>57</a:t>
            </a:fld>
            <a:endParaRPr lang="zh-CN" altLang="en-US"/>
          </a:p>
        </p:txBody>
      </p:sp>
    </p:spTree>
    <p:extLst>
      <p:ext uri="{BB962C8B-B14F-4D97-AF65-F5344CB8AC3E}">
        <p14:creationId xmlns:p14="http://schemas.microsoft.com/office/powerpoint/2010/main" val="1887788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89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7F4D7B-F15B-47DF-AC3C-6D6D4DB8D33B}" type="slidenum">
              <a:rPr lang="zh-CN" altLang="en-US" smtClean="0"/>
              <a:pPr/>
              <a:t>58</a:t>
            </a:fld>
            <a:endParaRPr lang="zh-CN" altLang="en-US"/>
          </a:p>
        </p:txBody>
      </p:sp>
    </p:spTree>
    <p:extLst>
      <p:ext uri="{BB962C8B-B14F-4D97-AF65-F5344CB8AC3E}">
        <p14:creationId xmlns:p14="http://schemas.microsoft.com/office/powerpoint/2010/main" val="32941704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89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7F4D7B-F15B-47DF-AC3C-6D6D4DB8D33B}" type="slidenum">
              <a:rPr lang="zh-CN" altLang="en-US" smtClean="0"/>
              <a:pPr/>
              <a:t>59</a:t>
            </a:fld>
            <a:endParaRPr lang="zh-CN" altLang="en-US"/>
          </a:p>
        </p:txBody>
      </p:sp>
    </p:spTree>
    <p:extLst>
      <p:ext uri="{BB962C8B-B14F-4D97-AF65-F5344CB8AC3E}">
        <p14:creationId xmlns:p14="http://schemas.microsoft.com/office/powerpoint/2010/main" val="6946480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89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7F4D7B-F15B-47DF-AC3C-6D6D4DB8D33B}" type="slidenum">
              <a:rPr lang="zh-CN" altLang="en-US" smtClean="0"/>
              <a:pPr/>
              <a:t>60</a:t>
            </a:fld>
            <a:endParaRPr lang="zh-CN" altLang="en-US"/>
          </a:p>
        </p:txBody>
      </p:sp>
    </p:spTree>
    <p:extLst>
      <p:ext uri="{BB962C8B-B14F-4D97-AF65-F5344CB8AC3E}">
        <p14:creationId xmlns:p14="http://schemas.microsoft.com/office/powerpoint/2010/main" val="32771999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174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291EF7D-07A8-4C8C-B5D5-1368750B4E85}" type="slidenum">
              <a:rPr lang="zh-CN" altLang="en-US" smtClean="0"/>
              <a:pPr/>
              <a:t>61</a:t>
            </a:fld>
            <a:endParaRPr lang="zh-CN" altLang="en-US"/>
          </a:p>
        </p:txBody>
      </p:sp>
    </p:spTree>
    <p:extLst>
      <p:ext uri="{BB962C8B-B14F-4D97-AF65-F5344CB8AC3E}">
        <p14:creationId xmlns:p14="http://schemas.microsoft.com/office/powerpoint/2010/main" val="15933089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89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7F4D7B-F15B-47DF-AC3C-6D6D4DB8D33B}" type="slidenum">
              <a:rPr lang="zh-CN" altLang="en-US" smtClean="0"/>
              <a:pPr/>
              <a:t>62</a:t>
            </a:fld>
            <a:endParaRPr lang="zh-CN" altLang="en-US"/>
          </a:p>
        </p:txBody>
      </p:sp>
    </p:spTree>
    <p:extLst>
      <p:ext uri="{BB962C8B-B14F-4D97-AF65-F5344CB8AC3E}">
        <p14:creationId xmlns:p14="http://schemas.microsoft.com/office/powerpoint/2010/main" val="40695226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89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7F4D7B-F15B-47DF-AC3C-6D6D4DB8D33B}" type="slidenum">
              <a:rPr lang="zh-CN" altLang="en-US" smtClean="0"/>
              <a:pPr/>
              <a:t>63</a:t>
            </a:fld>
            <a:endParaRPr lang="zh-CN" altLang="en-US"/>
          </a:p>
        </p:txBody>
      </p:sp>
    </p:spTree>
    <p:extLst>
      <p:ext uri="{BB962C8B-B14F-4D97-AF65-F5344CB8AC3E}">
        <p14:creationId xmlns:p14="http://schemas.microsoft.com/office/powerpoint/2010/main" val="18341147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174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291EF7D-07A8-4C8C-B5D5-1368750B4E85}" type="slidenum">
              <a:rPr lang="zh-CN" altLang="en-US" smtClean="0"/>
              <a:pPr/>
              <a:t>64</a:t>
            </a:fld>
            <a:endParaRPr lang="zh-CN" altLang="en-US"/>
          </a:p>
        </p:txBody>
      </p:sp>
    </p:spTree>
    <p:extLst>
      <p:ext uri="{BB962C8B-B14F-4D97-AF65-F5344CB8AC3E}">
        <p14:creationId xmlns:p14="http://schemas.microsoft.com/office/powerpoint/2010/main" val="300834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89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7F4D7B-F15B-47DF-AC3C-6D6D4DB8D33B}" type="slidenum">
              <a:rPr lang="zh-CN" altLang="en-US" smtClean="0"/>
              <a:pPr/>
              <a:t>65</a:t>
            </a:fld>
            <a:endParaRPr lang="zh-CN" altLang="en-US"/>
          </a:p>
        </p:txBody>
      </p:sp>
    </p:spTree>
    <p:extLst>
      <p:ext uri="{BB962C8B-B14F-4D97-AF65-F5344CB8AC3E}">
        <p14:creationId xmlns:p14="http://schemas.microsoft.com/office/powerpoint/2010/main" val="29907850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89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7F4D7B-F15B-47DF-AC3C-6D6D4DB8D33B}" type="slidenum">
              <a:rPr lang="zh-CN" altLang="en-US" smtClean="0"/>
              <a:pPr/>
              <a:t>66</a:t>
            </a:fld>
            <a:endParaRPr lang="zh-CN" altLang="en-US"/>
          </a:p>
        </p:txBody>
      </p:sp>
    </p:spTree>
    <p:extLst>
      <p:ext uri="{BB962C8B-B14F-4D97-AF65-F5344CB8AC3E}">
        <p14:creationId xmlns:p14="http://schemas.microsoft.com/office/powerpoint/2010/main" val="17648910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174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291EF7D-07A8-4C8C-B5D5-1368750B4E85}" type="slidenum">
              <a:rPr lang="zh-CN" altLang="en-US" smtClean="0"/>
              <a:pPr/>
              <a:t>67</a:t>
            </a:fld>
            <a:endParaRPr lang="zh-CN" altLang="en-US"/>
          </a:p>
        </p:txBody>
      </p:sp>
    </p:spTree>
    <p:extLst>
      <p:ext uri="{BB962C8B-B14F-4D97-AF65-F5344CB8AC3E}">
        <p14:creationId xmlns:p14="http://schemas.microsoft.com/office/powerpoint/2010/main" val="39537423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89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7F4D7B-F15B-47DF-AC3C-6D6D4DB8D33B}" type="slidenum">
              <a:rPr lang="zh-CN" altLang="en-US" smtClean="0"/>
              <a:pPr/>
              <a:t>68</a:t>
            </a:fld>
            <a:endParaRPr lang="zh-CN" altLang="en-US"/>
          </a:p>
        </p:txBody>
      </p:sp>
    </p:spTree>
    <p:extLst>
      <p:ext uri="{BB962C8B-B14F-4D97-AF65-F5344CB8AC3E}">
        <p14:creationId xmlns:p14="http://schemas.microsoft.com/office/powerpoint/2010/main" val="2795907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174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291EF7D-07A8-4C8C-B5D5-1368750B4E85}" type="slidenum">
              <a:rPr lang="zh-CN" altLang="en-US" smtClean="0"/>
              <a:pPr/>
              <a:t>69</a:t>
            </a:fld>
            <a:endParaRPr lang="zh-CN" altLang="en-US"/>
          </a:p>
        </p:txBody>
      </p:sp>
    </p:spTree>
    <p:extLst>
      <p:ext uri="{BB962C8B-B14F-4D97-AF65-F5344CB8AC3E}">
        <p14:creationId xmlns:p14="http://schemas.microsoft.com/office/powerpoint/2010/main" val="23514113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89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7F4D7B-F15B-47DF-AC3C-6D6D4DB8D33B}" type="slidenum">
              <a:rPr lang="zh-CN" altLang="en-US" smtClean="0"/>
              <a:pPr/>
              <a:t>70</a:t>
            </a:fld>
            <a:endParaRPr lang="zh-CN" altLang="en-US"/>
          </a:p>
        </p:txBody>
      </p:sp>
    </p:spTree>
    <p:extLst>
      <p:ext uri="{BB962C8B-B14F-4D97-AF65-F5344CB8AC3E}">
        <p14:creationId xmlns:p14="http://schemas.microsoft.com/office/powerpoint/2010/main" val="65713590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89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7F4D7B-F15B-47DF-AC3C-6D6D4DB8D33B}" type="slidenum">
              <a:rPr lang="zh-CN" altLang="en-US" smtClean="0"/>
              <a:pPr/>
              <a:t>71</a:t>
            </a:fld>
            <a:endParaRPr lang="zh-CN" altLang="en-US"/>
          </a:p>
        </p:txBody>
      </p:sp>
    </p:spTree>
    <p:extLst>
      <p:ext uri="{BB962C8B-B14F-4D97-AF65-F5344CB8AC3E}">
        <p14:creationId xmlns:p14="http://schemas.microsoft.com/office/powerpoint/2010/main" val="378668031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379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B338EAC-3EAB-41C4-ADD3-AEE7D7B6DE3B}" type="slidenum">
              <a:rPr lang="zh-CN" altLang="en-US" smtClean="0"/>
              <a:pPr/>
              <a:t>72</a:t>
            </a:fld>
            <a:endParaRPr lang="zh-CN" altLang="en-US"/>
          </a:p>
        </p:txBody>
      </p:sp>
    </p:spTree>
    <p:extLst>
      <p:ext uri="{BB962C8B-B14F-4D97-AF65-F5344CB8AC3E}">
        <p14:creationId xmlns:p14="http://schemas.microsoft.com/office/powerpoint/2010/main" val="279284106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89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7F4D7B-F15B-47DF-AC3C-6D6D4DB8D33B}" type="slidenum">
              <a:rPr lang="zh-CN" altLang="en-US" smtClean="0"/>
              <a:pPr/>
              <a:t>73</a:t>
            </a:fld>
            <a:endParaRPr lang="zh-CN" altLang="en-US"/>
          </a:p>
        </p:txBody>
      </p:sp>
    </p:spTree>
    <p:extLst>
      <p:ext uri="{BB962C8B-B14F-4D97-AF65-F5344CB8AC3E}">
        <p14:creationId xmlns:p14="http://schemas.microsoft.com/office/powerpoint/2010/main" val="14746968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686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7516780-0549-4753-8313-6D3F20EEB0D4}" type="slidenum">
              <a:rPr lang="zh-CN" altLang="en-US" smtClean="0"/>
              <a:pPr/>
              <a:t>74</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686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7516780-0549-4753-8313-6D3F20EEB0D4}" type="slidenum">
              <a:rPr lang="zh-CN" altLang="en-US" smtClean="0"/>
              <a:pPr/>
              <a:t>75</a:t>
            </a:fld>
            <a:endParaRPr lang="zh-CN" altLang="en-US"/>
          </a:p>
        </p:txBody>
      </p:sp>
    </p:spTree>
    <p:extLst>
      <p:ext uri="{BB962C8B-B14F-4D97-AF65-F5344CB8AC3E}">
        <p14:creationId xmlns:p14="http://schemas.microsoft.com/office/powerpoint/2010/main" val="7236533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174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291EF7D-07A8-4C8C-B5D5-1368750B4E85}" type="slidenum">
              <a:rPr lang="zh-CN" altLang="en-US" smtClean="0"/>
              <a:pPr/>
              <a:t>76</a:t>
            </a:fld>
            <a:endParaRPr lang="zh-CN" altLang="en-US"/>
          </a:p>
        </p:txBody>
      </p:sp>
    </p:spTree>
    <p:extLst>
      <p:ext uri="{BB962C8B-B14F-4D97-AF65-F5344CB8AC3E}">
        <p14:creationId xmlns:p14="http://schemas.microsoft.com/office/powerpoint/2010/main" val="157777044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89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7F4D7B-F15B-47DF-AC3C-6D6D4DB8D33B}" type="slidenum">
              <a:rPr lang="zh-CN" altLang="en-US" smtClean="0"/>
              <a:pPr/>
              <a:t>77</a:t>
            </a:fld>
            <a:endParaRPr lang="zh-CN" altLang="en-US"/>
          </a:p>
        </p:txBody>
      </p:sp>
    </p:spTree>
    <p:extLst>
      <p:ext uri="{BB962C8B-B14F-4D97-AF65-F5344CB8AC3E}">
        <p14:creationId xmlns:p14="http://schemas.microsoft.com/office/powerpoint/2010/main" val="1038252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89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7F4D7B-F15B-47DF-AC3C-6D6D4DB8D33B}" type="slidenum">
              <a:rPr lang="zh-CN" altLang="en-US" smtClean="0"/>
              <a:pPr/>
              <a:t>78</a:t>
            </a:fld>
            <a:endParaRPr lang="zh-CN" altLang="en-US"/>
          </a:p>
        </p:txBody>
      </p:sp>
    </p:spTree>
    <p:extLst>
      <p:ext uri="{BB962C8B-B14F-4D97-AF65-F5344CB8AC3E}">
        <p14:creationId xmlns:p14="http://schemas.microsoft.com/office/powerpoint/2010/main" val="335354920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89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7F4D7B-F15B-47DF-AC3C-6D6D4DB8D33B}" type="slidenum">
              <a:rPr lang="zh-CN" altLang="en-US" smtClean="0"/>
              <a:pPr/>
              <a:t>79</a:t>
            </a:fld>
            <a:endParaRPr lang="zh-CN" altLang="en-US"/>
          </a:p>
        </p:txBody>
      </p:sp>
    </p:spTree>
    <p:extLst>
      <p:ext uri="{BB962C8B-B14F-4D97-AF65-F5344CB8AC3E}">
        <p14:creationId xmlns:p14="http://schemas.microsoft.com/office/powerpoint/2010/main" val="134051682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174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291EF7D-07A8-4C8C-B5D5-1368750B4E85}" type="slidenum">
              <a:rPr lang="zh-CN" altLang="en-US" smtClean="0"/>
              <a:pPr/>
              <a:t>80</a:t>
            </a:fld>
            <a:endParaRPr lang="zh-CN" altLang="en-US"/>
          </a:p>
        </p:txBody>
      </p:sp>
    </p:spTree>
    <p:extLst>
      <p:ext uri="{BB962C8B-B14F-4D97-AF65-F5344CB8AC3E}">
        <p14:creationId xmlns:p14="http://schemas.microsoft.com/office/powerpoint/2010/main" val="4404996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89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7F4D7B-F15B-47DF-AC3C-6D6D4DB8D33B}" type="slidenum">
              <a:rPr lang="zh-CN" altLang="en-US" smtClean="0"/>
              <a:pPr/>
              <a:t>81</a:t>
            </a:fld>
            <a:endParaRPr lang="zh-CN" altLang="en-US"/>
          </a:p>
        </p:txBody>
      </p:sp>
    </p:spTree>
    <p:extLst>
      <p:ext uri="{BB962C8B-B14F-4D97-AF65-F5344CB8AC3E}">
        <p14:creationId xmlns:p14="http://schemas.microsoft.com/office/powerpoint/2010/main" val="87393238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89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7F4D7B-F15B-47DF-AC3C-6D6D4DB8D33B}" type="slidenum">
              <a:rPr lang="zh-CN" altLang="en-US" smtClean="0"/>
              <a:pPr/>
              <a:t>82</a:t>
            </a:fld>
            <a:endParaRPr lang="zh-CN" altLang="en-US"/>
          </a:p>
        </p:txBody>
      </p:sp>
    </p:spTree>
    <p:extLst>
      <p:ext uri="{BB962C8B-B14F-4D97-AF65-F5344CB8AC3E}">
        <p14:creationId xmlns:p14="http://schemas.microsoft.com/office/powerpoint/2010/main" val="37173439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89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7F4D7B-F15B-47DF-AC3C-6D6D4DB8D33B}" type="slidenum">
              <a:rPr lang="zh-CN" altLang="en-US" smtClean="0"/>
              <a:pPr/>
              <a:t>83</a:t>
            </a:fld>
            <a:endParaRPr lang="zh-CN" altLang="en-US"/>
          </a:p>
        </p:txBody>
      </p:sp>
    </p:spTree>
    <p:extLst>
      <p:ext uri="{BB962C8B-B14F-4D97-AF65-F5344CB8AC3E}">
        <p14:creationId xmlns:p14="http://schemas.microsoft.com/office/powerpoint/2010/main" val="167954993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174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291EF7D-07A8-4C8C-B5D5-1368750B4E85}" type="slidenum">
              <a:rPr lang="zh-CN" altLang="en-US" smtClean="0"/>
              <a:pPr/>
              <a:t>84</a:t>
            </a:fld>
            <a:endParaRPr lang="zh-CN" altLang="en-US"/>
          </a:p>
        </p:txBody>
      </p:sp>
    </p:spTree>
    <p:extLst>
      <p:ext uri="{BB962C8B-B14F-4D97-AF65-F5344CB8AC3E}">
        <p14:creationId xmlns:p14="http://schemas.microsoft.com/office/powerpoint/2010/main" val="71961766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89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7F4D7B-F15B-47DF-AC3C-6D6D4DB8D33B}" type="slidenum">
              <a:rPr lang="zh-CN" altLang="en-US" smtClean="0"/>
              <a:pPr/>
              <a:t>85</a:t>
            </a:fld>
            <a:endParaRPr lang="zh-CN" altLang="en-US"/>
          </a:p>
        </p:txBody>
      </p:sp>
    </p:spTree>
    <p:extLst>
      <p:ext uri="{BB962C8B-B14F-4D97-AF65-F5344CB8AC3E}">
        <p14:creationId xmlns:p14="http://schemas.microsoft.com/office/powerpoint/2010/main" val="243052420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174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291EF7D-07A8-4C8C-B5D5-1368750B4E85}" type="slidenum">
              <a:rPr lang="zh-CN" altLang="en-US" smtClean="0"/>
              <a:pPr/>
              <a:t>86</a:t>
            </a:fld>
            <a:endParaRPr lang="zh-CN" altLang="en-US"/>
          </a:p>
        </p:txBody>
      </p:sp>
    </p:spTree>
    <p:extLst>
      <p:ext uri="{BB962C8B-B14F-4D97-AF65-F5344CB8AC3E}">
        <p14:creationId xmlns:p14="http://schemas.microsoft.com/office/powerpoint/2010/main" val="264422879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89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7F4D7B-F15B-47DF-AC3C-6D6D4DB8D33B}" type="slidenum">
              <a:rPr lang="zh-CN" altLang="en-US" smtClean="0"/>
              <a:pPr/>
              <a:t>87</a:t>
            </a:fld>
            <a:endParaRPr lang="zh-CN" altLang="en-US"/>
          </a:p>
        </p:txBody>
      </p:sp>
    </p:spTree>
    <p:extLst>
      <p:ext uri="{BB962C8B-B14F-4D97-AF65-F5344CB8AC3E}">
        <p14:creationId xmlns:p14="http://schemas.microsoft.com/office/powerpoint/2010/main" val="226962028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174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291EF7D-07A8-4C8C-B5D5-1368750B4E85}" type="slidenum">
              <a:rPr lang="zh-CN" altLang="en-US" smtClean="0"/>
              <a:pPr/>
              <a:t>88</a:t>
            </a:fld>
            <a:endParaRPr lang="zh-CN" altLang="en-US"/>
          </a:p>
        </p:txBody>
      </p:sp>
    </p:spTree>
    <p:extLst>
      <p:ext uri="{BB962C8B-B14F-4D97-AF65-F5344CB8AC3E}">
        <p14:creationId xmlns:p14="http://schemas.microsoft.com/office/powerpoint/2010/main" val="203706446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89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7F4D7B-F15B-47DF-AC3C-6D6D4DB8D33B}" type="slidenum">
              <a:rPr lang="zh-CN" altLang="en-US" smtClean="0"/>
              <a:pPr/>
              <a:t>89</a:t>
            </a:fld>
            <a:endParaRPr lang="zh-CN" altLang="en-US"/>
          </a:p>
        </p:txBody>
      </p:sp>
    </p:spTree>
    <p:extLst>
      <p:ext uri="{BB962C8B-B14F-4D97-AF65-F5344CB8AC3E}">
        <p14:creationId xmlns:p14="http://schemas.microsoft.com/office/powerpoint/2010/main" val="423313289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89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7F4D7B-F15B-47DF-AC3C-6D6D4DB8D33B}" type="slidenum">
              <a:rPr lang="zh-CN" altLang="en-US" smtClean="0"/>
              <a:pPr/>
              <a:t>90</a:t>
            </a:fld>
            <a:endParaRPr lang="zh-CN" altLang="en-US"/>
          </a:p>
        </p:txBody>
      </p:sp>
    </p:spTree>
    <p:extLst>
      <p:ext uri="{BB962C8B-B14F-4D97-AF65-F5344CB8AC3E}">
        <p14:creationId xmlns:p14="http://schemas.microsoft.com/office/powerpoint/2010/main" val="343604771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89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7F4D7B-F15B-47DF-AC3C-6D6D4DB8D33B}" type="slidenum">
              <a:rPr lang="zh-CN" altLang="en-US" smtClean="0"/>
              <a:pPr/>
              <a:t>91</a:t>
            </a:fld>
            <a:endParaRPr lang="zh-CN" altLang="en-US"/>
          </a:p>
        </p:txBody>
      </p:sp>
    </p:spTree>
    <p:extLst>
      <p:ext uri="{BB962C8B-B14F-4D97-AF65-F5344CB8AC3E}">
        <p14:creationId xmlns:p14="http://schemas.microsoft.com/office/powerpoint/2010/main" val="95575047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89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7F4D7B-F15B-47DF-AC3C-6D6D4DB8D33B}" type="slidenum">
              <a:rPr lang="zh-CN" altLang="en-US" smtClean="0"/>
              <a:pPr/>
              <a:t>92</a:t>
            </a:fld>
            <a:endParaRPr lang="zh-CN" altLang="en-US"/>
          </a:p>
        </p:txBody>
      </p:sp>
    </p:spTree>
    <p:extLst>
      <p:ext uri="{BB962C8B-B14F-4D97-AF65-F5344CB8AC3E}">
        <p14:creationId xmlns:p14="http://schemas.microsoft.com/office/powerpoint/2010/main" val="305342078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89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7F4D7B-F15B-47DF-AC3C-6D6D4DB8D33B}" type="slidenum">
              <a:rPr lang="zh-CN" altLang="en-US" smtClean="0"/>
              <a:pPr/>
              <a:t>93</a:t>
            </a:fld>
            <a:endParaRPr lang="zh-CN" altLang="en-US"/>
          </a:p>
        </p:txBody>
      </p:sp>
    </p:spTree>
    <p:extLst>
      <p:ext uri="{BB962C8B-B14F-4D97-AF65-F5344CB8AC3E}">
        <p14:creationId xmlns:p14="http://schemas.microsoft.com/office/powerpoint/2010/main" val="54761105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89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7F4D7B-F15B-47DF-AC3C-6D6D4DB8D33B}" type="slidenum">
              <a:rPr lang="zh-CN" altLang="en-US" smtClean="0"/>
              <a:pPr/>
              <a:t>94</a:t>
            </a:fld>
            <a:endParaRPr lang="zh-CN" altLang="en-US"/>
          </a:p>
        </p:txBody>
      </p:sp>
    </p:spTree>
    <p:extLst>
      <p:ext uri="{BB962C8B-B14F-4D97-AF65-F5344CB8AC3E}">
        <p14:creationId xmlns:p14="http://schemas.microsoft.com/office/powerpoint/2010/main" val="262221898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4096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F6ED0A0-54DE-4E77-9F5A-F2780A0A79D3}" type="slidenum">
              <a:rPr lang="zh-CN" altLang="en-US" smtClean="0"/>
              <a:pPr/>
              <a:t>97</a:t>
            </a:fld>
            <a:endParaRPr lang="zh-CN" altLang="en-US"/>
          </a:p>
        </p:txBody>
      </p:sp>
    </p:spTree>
    <p:extLst>
      <p:ext uri="{BB962C8B-B14F-4D97-AF65-F5344CB8AC3E}">
        <p14:creationId xmlns:p14="http://schemas.microsoft.com/office/powerpoint/2010/main" val="99929257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89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7F4D7B-F15B-47DF-AC3C-6D6D4DB8D33B}" type="slidenum">
              <a:rPr lang="zh-CN" altLang="en-US" smtClean="0"/>
              <a:pPr/>
              <a:t>98</a:t>
            </a:fld>
            <a:endParaRPr lang="zh-CN" altLang="en-US"/>
          </a:p>
        </p:txBody>
      </p:sp>
    </p:spTree>
    <p:extLst>
      <p:ext uri="{BB962C8B-B14F-4D97-AF65-F5344CB8AC3E}">
        <p14:creationId xmlns:p14="http://schemas.microsoft.com/office/powerpoint/2010/main" val="164841349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89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7F4D7B-F15B-47DF-AC3C-6D6D4DB8D33B}" type="slidenum">
              <a:rPr lang="zh-CN" altLang="en-US" smtClean="0"/>
              <a:pPr/>
              <a:t>99</a:t>
            </a:fld>
            <a:endParaRPr lang="zh-CN" altLang="en-US"/>
          </a:p>
        </p:txBody>
      </p:sp>
    </p:spTree>
    <p:extLst>
      <p:ext uri="{BB962C8B-B14F-4D97-AF65-F5344CB8AC3E}">
        <p14:creationId xmlns:p14="http://schemas.microsoft.com/office/powerpoint/2010/main" val="252100793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686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7516780-0549-4753-8313-6D3F20EEB0D4}" type="slidenum">
              <a:rPr lang="zh-CN" altLang="en-US" smtClean="0"/>
              <a:pPr/>
              <a:t>100</a:t>
            </a:fld>
            <a:endParaRPr lang="zh-CN" altLang="en-US"/>
          </a:p>
        </p:txBody>
      </p:sp>
    </p:spTree>
    <p:extLst>
      <p:ext uri="{BB962C8B-B14F-4D97-AF65-F5344CB8AC3E}">
        <p14:creationId xmlns:p14="http://schemas.microsoft.com/office/powerpoint/2010/main" val="174709006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4096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F6ED0A0-54DE-4E77-9F5A-F2780A0A79D3}" type="slidenum">
              <a:rPr lang="zh-CN" altLang="en-US" smtClean="0"/>
              <a:pPr/>
              <a:t>101</a:t>
            </a:fld>
            <a:endParaRPr lang="zh-CN" altLang="en-US"/>
          </a:p>
        </p:txBody>
      </p:sp>
    </p:spTree>
    <p:extLst>
      <p:ext uri="{BB962C8B-B14F-4D97-AF65-F5344CB8AC3E}">
        <p14:creationId xmlns:p14="http://schemas.microsoft.com/office/powerpoint/2010/main" val="417992874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89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7F4D7B-F15B-47DF-AC3C-6D6D4DB8D33B}" type="slidenum">
              <a:rPr lang="zh-CN" altLang="en-US" smtClean="0"/>
              <a:pPr/>
              <a:t>102</a:t>
            </a:fld>
            <a:endParaRPr lang="zh-CN" altLang="en-US"/>
          </a:p>
        </p:txBody>
      </p:sp>
    </p:spTree>
    <p:extLst>
      <p:ext uri="{BB962C8B-B14F-4D97-AF65-F5344CB8AC3E}">
        <p14:creationId xmlns:p14="http://schemas.microsoft.com/office/powerpoint/2010/main" val="37057177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89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7F4D7B-F15B-47DF-AC3C-6D6D4DB8D33B}" type="slidenum">
              <a:rPr lang="zh-CN" altLang="en-US" smtClean="0"/>
              <a:pPr/>
              <a:t>103</a:t>
            </a:fld>
            <a:endParaRPr lang="zh-CN" altLang="en-US"/>
          </a:p>
        </p:txBody>
      </p:sp>
    </p:spTree>
    <p:extLst>
      <p:ext uri="{BB962C8B-B14F-4D97-AF65-F5344CB8AC3E}">
        <p14:creationId xmlns:p14="http://schemas.microsoft.com/office/powerpoint/2010/main" val="131389195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89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7F4D7B-F15B-47DF-AC3C-6D6D4DB8D33B}" type="slidenum">
              <a:rPr lang="zh-CN" altLang="en-US" smtClean="0"/>
              <a:pPr/>
              <a:t>104</a:t>
            </a:fld>
            <a:endParaRPr lang="zh-CN" altLang="en-US"/>
          </a:p>
        </p:txBody>
      </p:sp>
    </p:spTree>
    <p:extLst>
      <p:ext uri="{BB962C8B-B14F-4D97-AF65-F5344CB8AC3E}">
        <p14:creationId xmlns:p14="http://schemas.microsoft.com/office/powerpoint/2010/main" val="324031845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4096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F6ED0A0-54DE-4E77-9F5A-F2780A0A79D3}" type="slidenum">
              <a:rPr lang="zh-CN" altLang="en-US" smtClean="0"/>
              <a:pPr/>
              <a:t>105</a:t>
            </a:fld>
            <a:endParaRPr lang="zh-CN" altLang="en-US"/>
          </a:p>
        </p:txBody>
      </p:sp>
    </p:spTree>
    <p:extLst>
      <p:ext uri="{BB962C8B-B14F-4D97-AF65-F5344CB8AC3E}">
        <p14:creationId xmlns:p14="http://schemas.microsoft.com/office/powerpoint/2010/main" val="25422192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89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7F4D7B-F15B-47DF-AC3C-6D6D4DB8D33B}" type="slidenum">
              <a:rPr lang="zh-CN" altLang="en-US" smtClean="0"/>
              <a:pPr/>
              <a:t>106</a:t>
            </a:fld>
            <a:endParaRPr lang="zh-CN" altLang="en-US"/>
          </a:p>
        </p:txBody>
      </p:sp>
    </p:spTree>
    <p:extLst>
      <p:ext uri="{BB962C8B-B14F-4D97-AF65-F5344CB8AC3E}">
        <p14:creationId xmlns:p14="http://schemas.microsoft.com/office/powerpoint/2010/main" val="351267232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4096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F6ED0A0-54DE-4E77-9F5A-F2780A0A79D3}" type="slidenum">
              <a:rPr lang="zh-CN" altLang="en-US" smtClean="0"/>
              <a:pPr/>
              <a:t>107</a:t>
            </a:fld>
            <a:endParaRPr lang="zh-CN" altLang="en-US"/>
          </a:p>
        </p:txBody>
      </p:sp>
    </p:spTree>
    <p:extLst>
      <p:ext uri="{BB962C8B-B14F-4D97-AF65-F5344CB8AC3E}">
        <p14:creationId xmlns:p14="http://schemas.microsoft.com/office/powerpoint/2010/main" val="52762346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686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7516780-0549-4753-8313-6D3F20EEB0D4}" type="slidenum">
              <a:rPr lang="zh-CN" altLang="en-US" smtClean="0"/>
              <a:pPr/>
              <a:t>108</a:t>
            </a:fld>
            <a:endParaRPr lang="zh-CN" altLang="en-US"/>
          </a:p>
        </p:txBody>
      </p:sp>
    </p:spTree>
    <p:extLst>
      <p:ext uri="{BB962C8B-B14F-4D97-AF65-F5344CB8AC3E}">
        <p14:creationId xmlns:p14="http://schemas.microsoft.com/office/powerpoint/2010/main" val="416675371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89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7F4D7B-F15B-47DF-AC3C-6D6D4DB8D33B}" type="slidenum">
              <a:rPr lang="zh-CN" altLang="en-US" smtClean="0"/>
              <a:pPr/>
              <a:t>109</a:t>
            </a:fld>
            <a:endParaRPr lang="zh-CN" altLang="en-US"/>
          </a:p>
        </p:txBody>
      </p:sp>
    </p:spTree>
    <p:extLst>
      <p:ext uri="{BB962C8B-B14F-4D97-AF65-F5344CB8AC3E}">
        <p14:creationId xmlns:p14="http://schemas.microsoft.com/office/powerpoint/2010/main" val="92611969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89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7F4D7B-F15B-47DF-AC3C-6D6D4DB8D33B}" type="slidenum">
              <a:rPr lang="zh-CN" altLang="en-US" smtClean="0"/>
              <a:pPr/>
              <a:t>110</a:t>
            </a:fld>
            <a:endParaRPr lang="zh-CN" altLang="en-US"/>
          </a:p>
        </p:txBody>
      </p:sp>
    </p:spTree>
    <p:extLst>
      <p:ext uri="{BB962C8B-B14F-4D97-AF65-F5344CB8AC3E}">
        <p14:creationId xmlns:p14="http://schemas.microsoft.com/office/powerpoint/2010/main" val="316618443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891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7F4D7B-F15B-47DF-AC3C-6D6D4DB8D33B}" type="slidenum">
              <a:rPr lang="zh-CN" altLang="en-US" smtClean="0"/>
              <a:pPr/>
              <a:t>111</a:t>
            </a:fld>
            <a:endParaRPr lang="zh-CN" altLang="en-US"/>
          </a:p>
        </p:txBody>
      </p:sp>
    </p:spTree>
    <p:extLst>
      <p:ext uri="{BB962C8B-B14F-4D97-AF65-F5344CB8AC3E}">
        <p14:creationId xmlns:p14="http://schemas.microsoft.com/office/powerpoint/2010/main" val="56887072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686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7516780-0549-4753-8313-6D3F20EEB0D4}" type="slidenum">
              <a:rPr lang="zh-CN" altLang="en-US" smtClean="0"/>
              <a:pPr/>
              <a:t>112</a:t>
            </a:fld>
            <a:endParaRPr lang="zh-CN" altLang="en-US"/>
          </a:p>
        </p:txBody>
      </p:sp>
    </p:spTree>
    <p:extLst>
      <p:ext uri="{BB962C8B-B14F-4D97-AF65-F5344CB8AC3E}">
        <p14:creationId xmlns:p14="http://schemas.microsoft.com/office/powerpoint/2010/main" val="32159025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a:extLst/>
          </p:cNvPr>
          <p:cNvSpPr>
            <a:spLocks noGrp="1"/>
          </p:cNvSpPr>
          <p:nvPr>
            <p:ph type="dt" sz="half" idx="10"/>
          </p:nvPr>
        </p:nvSpPr>
        <p:spPr/>
        <p:txBody>
          <a:bodyPr/>
          <a:lstStyle>
            <a:lvl1pPr>
              <a:defRPr/>
            </a:lvl1pPr>
          </a:lstStyle>
          <a:p>
            <a:pPr>
              <a:defRPr/>
            </a:pPr>
            <a:endParaRPr lang="zh-CN" altLang="zh-CN"/>
          </a:p>
        </p:txBody>
      </p:sp>
      <p:sp>
        <p:nvSpPr>
          <p:cNvPr id="5" name="Footer Placeholder 4">
            <a:extLst/>
          </p:cNvPr>
          <p:cNvSpPr>
            <a:spLocks noGrp="1"/>
          </p:cNvSpPr>
          <p:nvPr>
            <p:ph type="ftr" sz="quarter" idx="11"/>
          </p:nvPr>
        </p:nvSpPr>
        <p:spPr/>
        <p:txBody>
          <a:bodyPr/>
          <a:lstStyle>
            <a:lvl1pPr>
              <a:defRPr/>
            </a:lvl1pPr>
          </a:lstStyle>
          <a:p>
            <a:pPr>
              <a:defRPr/>
            </a:pPr>
            <a:endParaRPr lang="zh-CN" altLang="zh-CN"/>
          </a:p>
        </p:txBody>
      </p:sp>
      <p:sp>
        <p:nvSpPr>
          <p:cNvPr id="6" name="Slide Number Placeholder 5">
            <a:extLst/>
          </p:cNvPr>
          <p:cNvSpPr>
            <a:spLocks noGrp="1"/>
          </p:cNvSpPr>
          <p:nvPr>
            <p:ph type="sldNum" sz="quarter" idx="12"/>
          </p:nvPr>
        </p:nvSpPr>
        <p:spPr/>
        <p:txBody>
          <a:bodyPr/>
          <a:lstStyle>
            <a:lvl1pPr>
              <a:defRPr/>
            </a:lvl1pPr>
          </a:lstStyle>
          <a:p>
            <a:pPr>
              <a:defRPr/>
            </a:pPr>
            <a:fld id="{AE52CC05-F4BE-45ED-BBC4-2BF119412A0E}" type="slidenum">
              <a:rPr lang="zh-CN" altLang="zh-CN"/>
              <a:pPr>
                <a:defRPr/>
              </a:pPr>
              <a:t>‹#›</a:t>
            </a:fld>
            <a:endParaRPr lang="zh-CN" altLang="zh-CN"/>
          </a:p>
        </p:txBody>
      </p:sp>
    </p:spTree>
    <p:extLst>
      <p:ext uri="{BB962C8B-B14F-4D97-AF65-F5344CB8AC3E}">
        <p14:creationId xmlns:p14="http://schemas.microsoft.com/office/powerpoint/2010/main" val="3247064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a:extLst/>
          </p:cNvPr>
          <p:cNvSpPr>
            <a:spLocks noGrp="1"/>
          </p:cNvSpPr>
          <p:nvPr>
            <p:ph type="dt" sz="half" idx="10"/>
          </p:nvPr>
        </p:nvSpPr>
        <p:spPr/>
        <p:txBody>
          <a:bodyPr/>
          <a:lstStyle>
            <a:lvl1pPr>
              <a:defRPr/>
            </a:lvl1pPr>
          </a:lstStyle>
          <a:p>
            <a:pPr>
              <a:defRPr/>
            </a:pPr>
            <a:endParaRPr lang="zh-CN" altLang="zh-CN"/>
          </a:p>
        </p:txBody>
      </p:sp>
      <p:sp>
        <p:nvSpPr>
          <p:cNvPr id="5" name="Footer Placeholder 4">
            <a:extLst/>
          </p:cNvPr>
          <p:cNvSpPr>
            <a:spLocks noGrp="1"/>
          </p:cNvSpPr>
          <p:nvPr>
            <p:ph type="ftr" sz="quarter" idx="11"/>
          </p:nvPr>
        </p:nvSpPr>
        <p:spPr/>
        <p:txBody>
          <a:bodyPr/>
          <a:lstStyle>
            <a:lvl1pPr>
              <a:defRPr/>
            </a:lvl1pPr>
          </a:lstStyle>
          <a:p>
            <a:pPr>
              <a:defRPr/>
            </a:pPr>
            <a:endParaRPr lang="zh-CN" altLang="zh-CN"/>
          </a:p>
        </p:txBody>
      </p:sp>
      <p:sp>
        <p:nvSpPr>
          <p:cNvPr id="6" name="Slide Number Placeholder 5">
            <a:extLst/>
          </p:cNvPr>
          <p:cNvSpPr>
            <a:spLocks noGrp="1"/>
          </p:cNvSpPr>
          <p:nvPr>
            <p:ph type="sldNum" sz="quarter" idx="12"/>
          </p:nvPr>
        </p:nvSpPr>
        <p:spPr/>
        <p:txBody>
          <a:bodyPr/>
          <a:lstStyle>
            <a:lvl1pPr>
              <a:defRPr/>
            </a:lvl1pPr>
          </a:lstStyle>
          <a:p>
            <a:pPr>
              <a:defRPr/>
            </a:pPr>
            <a:fld id="{31BBFA5E-E646-433C-81F6-A94F2B4BE647}" type="slidenum">
              <a:rPr lang="zh-CN" altLang="zh-CN"/>
              <a:pPr>
                <a:defRPr/>
              </a:pPr>
              <a:t>‹#›</a:t>
            </a:fld>
            <a:endParaRPr lang="zh-CN" altLang="zh-CN"/>
          </a:p>
        </p:txBody>
      </p:sp>
    </p:spTree>
    <p:extLst>
      <p:ext uri="{BB962C8B-B14F-4D97-AF65-F5344CB8AC3E}">
        <p14:creationId xmlns:p14="http://schemas.microsoft.com/office/powerpoint/2010/main" val="18836919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a:extLst/>
          </p:cNvPr>
          <p:cNvSpPr>
            <a:spLocks noGrp="1"/>
          </p:cNvSpPr>
          <p:nvPr>
            <p:ph type="dt" sz="half" idx="10"/>
          </p:nvPr>
        </p:nvSpPr>
        <p:spPr/>
        <p:txBody>
          <a:bodyPr/>
          <a:lstStyle>
            <a:lvl1pPr>
              <a:defRPr/>
            </a:lvl1pPr>
          </a:lstStyle>
          <a:p>
            <a:pPr>
              <a:defRPr/>
            </a:pPr>
            <a:endParaRPr lang="zh-CN" altLang="zh-CN"/>
          </a:p>
        </p:txBody>
      </p:sp>
      <p:sp>
        <p:nvSpPr>
          <p:cNvPr id="5" name="Footer Placeholder 4">
            <a:extLst/>
          </p:cNvPr>
          <p:cNvSpPr>
            <a:spLocks noGrp="1"/>
          </p:cNvSpPr>
          <p:nvPr>
            <p:ph type="ftr" sz="quarter" idx="11"/>
          </p:nvPr>
        </p:nvSpPr>
        <p:spPr/>
        <p:txBody>
          <a:bodyPr/>
          <a:lstStyle>
            <a:lvl1pPr>
              <a:defRPr/>
            </a:lvl1pPr>
          </a:lstStyle>
          <a:p>
            <a:pPr>
              <a:defRPr/>
            </a:pPr>
            <a:endParaRPr lang="zh-CN" altLang="zh-CN"/>
          </a:p>
        </p:txBody>
      </p:sp>
      <p:sp>
        <p:nvSpPr>
          <p:cNvPr id="6" name="Slide Number Placeholder 5">
            <a:extLst/>
          </p:cNvPr>
          <p:cNvSpPr>
            <a:spLocks noGrp="1"/>
          </p:cNvSpPr>
          <p:nvPr>
            <p:ph type="sldNum" sz="quarter" idx="12"/>
          </p:nvPr>
        </p:nvSpPr>
        <p:spPr/>
        <p:txBody>
          <a:bodyPr/>
          <a:lstStyle>
            <a:lvl1pPr>
              <a:defRPr/>
            </a:lvl1pPr>
          </a:lstStyle>
          <a:p>
            <a:pPr>
              <a:defRPr/>
            </a:pPr>
            <a:fld id="{6BA92CF9-4271-4D4A-9236-51D513C2A458}" type="slidenum">
              <a:rPr lang="zh-CN" altLang="zh-CN"/>
              <a:pPr>
                <a:defRPr/>
              </a:pPr>
              <a:t>‹#›</a:t>
            </a:fld>
            <a:endParaRPr lang="zh-CN" altLang="zh-CN"/>
          </a:p>
        </p:txBody>
      </p:sp>
    </p:spTree>
    <p:extLst>
      <p:ext uri="{BB962C8B-B14F-4D97-AF65-F5344CB8AC3E}">
        <p14:creationId xmlns:p14="http://schemas.microsoft.com/office/powerpoint/2010/main" val="24518150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3">
            <a:extLst/>
          </p:cNvPr>
          <p:cNvSpPr>
            <a:spLocks noGrp="1"/>
          </p:cNvSpPr>
          <p:nvPr>
            <p:ph type="dt" sz="half" idx="10"/>
          </p:nvPr>
        </p:nvSpPr>
        <p:spPr/>
        <p:txBody>
          <a:bodyPr/>
          <a:lstStyle>
            <a:lvl1pPr>
              <a:defRPr/>
            </a:lvl1pPr>
          </a:lstStyle>
          <a:p>
            <a:pPr>
              <a:defRPr/>
            </a:pPr>
            <a:endParaRPr lang="zh-CN" altLang="zh-CN"/>
          </a:p>
        </p:txBody>
      </p:sp>
      <p:sp>
        <p:nvSpPr>
          <p:cNvPr id="6" name="Footer Placeholder 4">
            <a:extLst/>
          </p:cNvPr>
          <p:cNvSpPr>
            <a:spLocks noGrp="1"/>
          </p:cNvSpPr>
          <p:nvPr>
            <p:ph type="ftr" sz="quarter" idx="11"/>
          </p:nvPr>
        </p:nvSpPr>
        <p:spPr/>
        <p:txBody>
          <a:bodyPr/>
          <a:lstStyle>
            <a:lvl1pPr>
              <a:defRPr/>
            </a:lvl1pPr>
          </a:lstStyle>
          <a:p>
            <a:pPr>
              <a:defRPr/>
            </a:pPr>
            <a:endParaRPr lang="zh-CN" altLang="zh-CN"/>
          </a:p>
        </p:txBody>
      </p:sp>
      <p:sp>
        <p:nvSpPr>
          <p:cNvPr id="7" name="Slide Number Placeholder 5">
            <a:extLst/>
          </p:cNvPr>
          <p:cNvSpPr>
            <a:spLocks noGrp="1"/>
          </p:cNvSpPr>
          <p:nvPr>
            <p:ph type="sldNum" sz="quarter" idx="12"/>
          </p:nvPr>
        </p:nvSpPr>
        <p:spPr/>
        <p:txBody>
          <a:bodyPr/>
          <a:lstStyle>
            <a:lvl1pPr>
              <a:defRPr/>
            </a:lvl1pPr>
          </a:lstStyle>
          <a:p>
            <a:pPr>
              <a:defRPr/>
            </a:pPr>
            <a:fld id="{7630DEED-7E11-4C79-8E86-144A389EC285}" type="slidenum">
              <a:rPr lang="zh-CN" altLang="zh-CN"/>
              <a:pPr>
                <a:defRPr/>
              </a:pPr>
              <a:t>‹#›</a:t>
            </a:fld>
            <a:endParaRPr lang="zh-CN" altLang="zh-CN"/>
          </a:p>
        </p:txBody>
      </p:sp>
    </p:spTree>
    <p:extLst>
      <p:ext uri="{BB962C8B-B14F-4D97-AF65-F5344CB8AC3E}">
        <p14:creationId xmlns:p14="http://schemas.microsoft.com/office/powerpoint/2010/main" val="17809161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3">
            <a:extLst/>
          </p:cNvPr>
          <p:cNvSpPr>
            <a:spLocks noGrp="1"/>
          </p:cNvSpPr>
          <p:nvPr>
            <p:ph type="dt" sz="half" idx="10"/>
          </p:nvPr>
        </p:nvSpPr>
        <p:spPr/>
        <p:txBody>
          <a:bodyPr/>
          <a:lstStyle>
            <a:lvl1pPr>
              <a:defRPr/>
            </a:lvl1pPr>
          </a:lstStyle>
          <a:p>
            <a:pPr>
              <a:defRPr/>
            </a:pPr>
            <a:endParaRPr lang="zh-CN" altLang="zh-CN"/>
          </a:p>
        </p:txBody>
      </p:sp>
      <p:sp>
        <p:nvSpPr>
          <p:cNvPr id="8" name="Footer Placeholder 4">
            <a:extLst/>
          </p:cNvPr>
          <p:cNvSpPr>
            <a:spLocks noGrp="1"/>
          </p:cNvSpPr>
          <p:nvPr>
            <p:ph type="ftr" sz="quarter" idx="11"/>
          </p:nvPr>
        </p:nvSpPr>
        <p:spPr/>
        <p:txBody>
          <a:bodyPr/>
          <a:lstStyle>
            <a:lvl1pPr>
              <a:defRPr/>
            </a:lvl1pPr>
          </a:lstStyle>
          <a:p>
            <a:pPr>
              <a:defRPr/>
            </a:pPr>
            <a:endParaRPr lang="zh-CN" altLang="zh-CN"/>
          </a:p>
        </p:txBody>
      </p:sp>
      <p:sp>
        <p:nvSpPr>
          <p:cNvPr id="9" name="Slide Number Placeholder 5">
            <a:extLst/>
          </p:cNvPr>
          <p:cNvSpPr>
            <a:spLocks noGrp="1"/>
          </p:cNvSpPr>
          <p:nvPr>
            <p:ph type="sldNum" sz="quarter" idx="12"/>
          </p:nvPr>
        </p:nvSpPr>
        <p:spPr/>
        <p:txBody>
          <a:bodyPr/>
          <a:lstStyle>
            <a:lvl1pPr>
              <a:defRPr/>
            </a:lvl1pPr>
          </a:lstStyle>
          <a:p>
            <a:pPr>
              <a:defRPr/>
            </a:pPr>
            <a:fld id="{A9AC6752-7DCC-4613-984B-BA6FDE219F3F}" type="slidenum">
              <a:rPr lang="zh-CN" altLang="zh-CN"/>
              <a:pPr>
                <a:defRPr/>
              </a:pPr>
              <a:t>‹#›</a:t>
            </a:fld>
            <a:endParaRPr lang="zh-CN" altLang="zh-CN"/>
          </a:p>
        </p:txBody>
      </p:sp>
    </p:spTree>
    <p:extLst>
      <p:ext uri="{BB962C8B-B14F-4D97-AF65-F5344CB8AC3E}">
        <p14:creationId xmlns:p14="http://schemas.microsoft.com/office/powerpoint/2010/main" val="1196894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3">
            <a:extLst/>
          </p:cNvPr>
          <p:cNvSpPr>
            <a:spLocks noGrp="1"/>
          </p:cNvSpPr>
          <p:nvPr>
            <p:ph type="dt" sz="half" idx="10"/>
          </p:nvPr>
        </p:nvSpPr>
        <p:spPr/>
        <p:txBody>
          <a:bodyPr/>
          <a:lstStyle>
            <a:lvl1pPr>
              <a:defRPr/>
            </a:lvl1pPr>
          </a:lstStyle>
          <a:p>
            <a:pPr>
              <a:defRPr/>
            </a:pPr>
            <a:endParaRPr lang="zh-CN" altLang="zh-CN"/>
          </a:p>
        </p:txBody>
      </p:sp>
      <p:sp>
        <p:nvSpPr>
          <p:cNvPr id="4" name="Footer Placeholder 4">
            <a:extLst/>
          </p:cNvPr>
          <p:cNvSpPr>
            <a:spLocks noGrp="1"/>
          </p:cNvSpPr>
          <p:nvPr>
            <p:ph type="ftr" sz="quarter" idx="11"/>
          </p:nvPr>
        </p:nvSpPr>
        <p:spPr/>
        <p:txBody>
          <a:bodyPr/>
          <a:lstStyle>
            <a:lvl1pPr>
              <a:defRPr/>
            </a:lvl1pPr>
          </a:lstStyle>
          <a:p>
            <a:pPr>
              <a:defRPr/>
            </a:pPr>
            <a:endParaRPr lang="zh-CN" altLang="zh-CN"/>
          </a:p>
        </p:txBody>
      </p:sp>
      <p:sp>
        <p:nvSpPr>
          <p:cNvPr id="5" name="Slide Number Placeholder 5">
            <a:extLst/>
          </p:cNvPr>
          <p:cNvSpPr>
            <a:spLocks noGrp="1"/>
          </p:cNvSpPr>
          <p:nvPr>
            <p:ph type="sldNum" sz="quarter" idx="12"/>
          </p:nvPr>
        </p:nvSpPr>
        <p:spPr/>
        <p:txBody>
          <a:bodyPr/>
          <a:lstStyle>
            <a:lvl1pPr>
              <a:defRPr/>
            </a:lvl1pPr>
          </a:lstStyle>
          <a:p>
            <a:pPr>
              <a:defRPr/>
            </a:pPr>
            <a:fld id="{1B3F046A-1A12-4453-9F5F-D3D0250EE151}" type="slidenum">
              <a:rPr lang="zh-CN" altLang="zh-CN"/>
              <a:pPr>
                <a:defRPr/>
              </a:pPr>
              <a:t>‹#›</a:t>
            </a:fld>
            <a:endParaRPr lang="zh-CN" altLang="zh-CN"/>
          </a:p>
        </p:txBody>
      </p:sp>
    </p:spTree>
    <p:extLst>
      <p:ext uri="{BB962C8B-B14F-4D97-AF65-F5344CB8AC3E}">
        <p14:creationId xmlns:p14="http://schemas.microsoft.com/office/powerpoint/2010/main" val="3444928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a:extLst/>
          </p:cNvPr>
          <p:cNvSpPr>
            <a:spLocks noGrp="1"/>
          </p:cNvSpPr>
          <p:nvPr>
            <p:ph type="dt" sz="half" idx="10"/>
          </p:nvPr>
        </p:nvSpPr>
        <p:spPr/>
        <p:txBody>
          <a:bodyPr/>
          <a:lstStyle>
            <a:lvl1pPr>
              <a:defRPr/>
            </a:lvl1pPr>
          </a:lstStyle>
          <a:p>
            <a:pPr>
              <a:defRPr/>
            </a:pPr>
            <a:endParaRPr lang="zh-CN" altLang="zh-CN"/>
          </a:p>
        </p:txBody>
      </p:sp>
      <p:sp>
        <p:nvSpPr>
          <p:cNvPr id="3" name="Footer Placeholder 4">
            <a:extLst/>
          </p:cNvPr>
          <p:cNvSpPr>
            <a:spLocks noGrp="1"/>
          </p:cNvSpPr>
          <p:nvPr>
            <p:ph type="ftr" sz="quarter" idx="11"/>
          </p:nvPr>
        </p:nvSpPr>
        <p:spPr/>
        <p:txBody>
          <a:bodyPr/>
          <a:lstStyle>
            <a:lvl1pPr>
              <a:defRPr/>
            </a:lvl1pPr>
          </a:lstStyle>
          <a:p>
            <a:pPr>
              <a:defRPr/>
            </a:pPr>
            <a:endParaRPr lang="zh-CN" altLang="zh-CN"/>
          </a:p>
        </p:txBody>
      </p:sp>
      <p:sp>
        <p:nvSpPr>
          <p:cNvPr id="4" name="Slide Number Placeholder 5">
            <a:extLst/>
          </p:cNvPr>
          <p:cNvSpPr>
            <a:spLocks noGrp="1"/>
          </p:cNvSpPr>
          <p:nvPr>
            <p:ph type="sldNum" sz="quarter" idx="12"/>
          </p:nvPr>
        </p:nvSpPr>
        <p:spPr/>
        <p:txBody>
          <a:bodyPr/>
          <a:lstStyle>
            <a:lvl1pPr>
              <a:defRPr/>
            </a:lvl1pPr>
          </a:lstStyle>
          <a:p>
            <a:pPr>
              <a:defRPr/>
            </a:pPr>
            <a:fld id="{472024DD-3EEB-44E2-B74D-AB1DD49931F9}" type="slidenum">
              <a:rPr lang="zh-CN" altLang="zh-CN"/>
              <a:pPr>
                <a:defRPr/>
              </a:pPr>
              <a:t>‹#›</a:t>
            </a:fld>
            <a:endParaRPr lang="zh-CN" altLang="zh-CN"/>
          </a:p>
        </p:txBody>
      </p:sp>
    </p:spTree>
    <p:extLst>
      <p:ext uri="{BB962C8B-B14F-4D97-AF65-F5344CB8AC3E}">
        <p14:creationId xmlns:p14="http://schemas.microsoft.com/office/powerpoint/2010/main" val="27515526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3">
            <a:extLst/>
          </p:cNvPr>
          <p:cNvSpPr>
            <a:spLocks noGrp="1"/>
          </p:cNvSpPr>
          <p:nvPr>
            <p:ph type="dt" sz="half" idx="10"/>
          </p:nvPr>
        </p:nvSpPr>
        <p:spPr/>
        <p:txBody>
          <a:bodyPr/>
          <a:lstStyle>
            <a:lvl1pPr>
              <a:defRPr/>
            </a:lvl1pPr>
          </a:lstStyle>
          <a:p>
            <a:pPr>
              <a:defRPr/>
            </a:pPr>
            <a:endParaRPr lang="zh-CN" altLang="zh-CN"/>
          </a:p>
        </p:txBody>
      </p:sp>
      <p:sp>
        <p:nvSpPr>
          <p:cNvPr id="6" name="Footer Placeholder 4">
            <a:extLst/>
          </p:cNvPr>
          <p:cNvSpPr>
            <a:spLocks noGrp="1"/>
          </p:cNvSpPr>
          <p:nvPr>
            <p:ph type="ftr" sz="quarter" idx="11"/>
          </p:nvPr>
        </p:nvSpPr>
        <p:spPr/>
        <p:txBody>
          <a:bodyPr/>
          <a:lstStyle>
            <a:lvl1pPr>
              <a:defRPr/>
            </a:lvl1pPr>
          </a:lstStyle>
          <a:p>
            <a:pPr>
              <a:defRPr/>
            </a:pPr>
            <a:endParaRPr lang="zh-CN" altLang="zh-CN"/>
          </a:p>
        </p:txBody>
      </p:sp>
      <p:sp>
        <p:nvSpPr>
          <p:cNvPr id="7" name="Slide Number Placeholder 5">
            <a:extLst/>
          </p:cNvPr>
          <p:cNvSpPr>
            <a:spLocks noGrp="1"/>
          </p:cNvSpPr>
          <p:nvPr>
            <p:ph type="sldNum" sz="quarter" idx="12"/>
          </p:nvPr>
        </p:nvSpPr>
        <p:spPr/>
        <p:txBody>
          <a:bodyPr/>
          <a:lstStyle>
            <a:lvl1pPr>
              <a:defRPr/>
            </a:lvl1pPr>
          </a:lstStyle>
          <a:p>
            <a:pPr>
              <a:defRPr/>
            </a:pPr>
            <a:fld id="{373F3D72-715D-44BC-98B8-5E3383E65561}" type="slidenum">
              <a:rPr lang="zh-CN" altLang="zh-CN"/>
              <a:pPr>
                <a:defRPr/>
              </a:pPr>
              <a:t>‹#›</a:t>
            </a:fld>
            <a:endParaRPr lang="zh-CN" altLang="zh-CN"/>
          </a:p>
        </p:txBody>
      </p:sp>
    </p:spTree>
    <p:extLst>
      <p:ext uri="{BB962C8B-B14F-4D97-AF65-F5344CB8AC3E}">
        <p14:creationId xmlns:p14="http://schemas.microsoft.com/office/powerpoint/2010/main" val="773662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en-US"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3">
            <a:extLst/>
          </p:cNvPr>
          <p:cNvSpPr>
            <a:spLocks noGrp="1"/>
          </p:cNvSpPr>
          <p:nvPr>
            <p:ph type="dt" sz="half" idx="10"/>
          </p:nvPr>
        </p:nvSpPr>
        <p:spPr/>
        <p:txBody>
          <a:bodyPr/>
          <a:lstStyle>
            <a:lvl1pPr>
              <a:defRPr/>
            </a:lvl1pPr>
          </a:lstStyle>
          <a:p>
            <a:pPr>
              <a:defRPr/>
            </a:pPr>
            <a:endParaRPr lang="zh-CN" altLang="zh-CN"/>
          </a:p>
        </p:txBody>
      </p:sp>
      <p:sp>
        <p:nvSpPr>
          <p:cNvPr id="6" name="Footer Placeholder 4">
            <a:extLst/>
          </p:cNvPr>
          <p:cNvSpPr>
            <a:spLocks noGrp="1"/>
          </p:cNvSpPr>
          <p:nvPr>
            <p:ph type="ftr" sz="quarter" idx="11"/>
          </p:nvPr>
        </p:nvSpPr>
        <p:spPr/>
        <p:txBody>
          <a:bodyPr/>
          <a:lstStyle>
            <a:lvl1pPr>
              <a:defRPr/>
            </a:lvl1pPr>
          </a:lstStyle>
          <a:p>
            <a:pPr>
              <a:defRPr/>
            </a:pPr>
            <a:endParaRPr lang="zh-CN" altLang="zh-CN"/>
          </a:p>
        </p:txBody>
      </p:sp>
      <p:sp>
        <p:nvSpPr>
          <p:cNvPr id="7" name="Slide Number Placeholder 5">
            <a:extLst/>
          </p:cNvPr>
          <p:cNvSpPr>
            <a:spLocks noGrp="1"/>
          </p:cNvSpPr>
          <p:nvPr>
            <p:ph type="sldNum" sz="quarter" idx="12"/>
          </p:nvPr>
        </p:nvSpPr>
        <p:spPr/>
        <p:txBody>
          <a:bodyPr/>
          <a:lstStyle>
            <a:lvl1pPr>
              <a:defRPr/>
            </a:lvl1pPr>
          </a:lstStyle>
          <a:p>
            <a:pPr>
              <a:defRPr/>
            </a:pPr>
            <a:fld id="{A7DA4750-3412-40E0-B4E1-AD8DC2180E06}" type="slidenum">
              <a:rPr lang="zh-CN" altLang="zh-CN"/>
              <a:pPr>
                <a:defRPr/>
              </a:pPr>
              <a:t>‹#›</a:t>
            </a:fld>
            <a:endParaRPr lang="zh-CN" altLang="zh-CN"/>
          </a:p>
        </p:txBody>
      </p:sp>
    </p:spTree>
    <p:extLst>
      <p:ext uri="{BB962C8B-B14F-4D97-AF65-F5344CB8AC3E}">
        <p14:creationId xmlns:p14="http://schemas.microsoft.com/office/powerpoint/2010/main" val="10553984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a:extLst/>
          </p:cNvPr>
          <p:cNvSpPr>
            <a:spLocks noGrp="1"/>
          </p:cNvSpPr>
          <p:nvPr>
            <p:ph type="dt" sz="half" idx="10"/>
          </p:nvPr>
        </p:nvSpPr>
        <p:spPr/>
        <p:txBody>
          <a:bodyPr/>
          <a:lstStyle>
            <a:lvl1pPr>
              <a:defRPr/>
            </a:lvl1pPr>
          </a:lstStyle>
          <a:p>
            <a:pPr>
              <a:defRPr/>
            </a:pPr>
            <a:endParaRPr lang="zh-CN" altLang="zh-CN"/>
          </a:p>
        </p:txBody>
      </p:sp>
      <p:sp>
        <p:nvSpPr>
          <p:cNvPr id="5" name="Footer Placeholder 4">
            <a:extLst/>
          </p:cNvPr>
          <p:cNvSpPr>
            <a:spLocks noGrp="1"/>
          </p:cNvSpPr>
          <p:nvPr>
            <p:ph type="ftr" sz="quarter" idx="11"/>
          </p:nvPr>
        </p:nvSpPr>
        <p:spPr/>
        <p:txBody>
          <a:bodyPr/>
          <a:lstStyle>
            <a:lvl1pPr>
              <a:defRPr/>
            </a:lvl1pPr>
          </a:lstStyle>
          <a:p>
            <a:pPr>
              <a:defRPr/>
            </a:pPr>
            <a:endParaRPr lang="zh-CN" altLang="zh-CN"/>
          </a:p>
        </p:txBody>
      </p:sp>
      <p:sp>
        <p:nvSpPr>
          <p:cNvPr id="6" name="Slide Number Placeholder 5">
            <a:extLst/>
          </p:cNvPr>
          <p:cNvSpPr>
            <a:spLocks noGrp="1"/>
          </p:cNvSpPr>
          <p:nvPr>
            <p:ph type="sldNum" sz="quarter" idx="12"/>
          </p:nvPr>
        </p:nvSpPr>
        <p:spPr/>
        <p:txBody>
          <a:bodyPr/>
          <a:lstStyle>
            <a:lvl1pPr>
              <a:defRPr/>
            </a:lvl1pPr>
          </a:lstStyle>
          <a:p>
            <a:pPr>
              <a:defRPr/>
            </a:pPr>
            <a:fld id="{55EF3674-14AC-45D2-967A-C6E9904FF04E}" type="slidenum">
              <a:rPr lang="zh-CN" altLang="zh-CN"/>
              <a:pPr>
                <a:defRPr/>
              </a:pPr>
              <a:t>‹#›</a:t>
            </a:fld>
            <a:endParaRPr lang="zh-CN" altLang="zh-CN"/>
          </a:p>
        </p:txBody>
      </p:sp>
    </p:spTree>
    <p:extLst>
      <p:ext uri="{BB962C8B-B14F-4D97-AF65-F5344CB8AC3E}">
        <p14:creationId xmlns:p14="http://schemas.microsoft.com/office/powerpoint/2010/main" val="3732100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a:extLst/>
          </p:cNvPr>
          <p:cNvSpPr>
            <a:spLocks noGrp="1"/>
          </p:cNvSpPr>
          <p:nvPr>
            <p:ph type="dt" sz="half" idx="10"/>
          </p:nvPr>
        </p:nvSpPr>
        <p:spPr/>
        <p:txBody>
          <a:bodyPr/>
          <a:lstStyle>
            <a:lvl1pPr>
              <a:defRPr/>
            </a:lvl1pPr>
          </a:lstStyle>
          <a:p>
            <a:pPr>
              <a:defRPr/>
            </a:pPr>
            <a:endParaRPr lang="zh-CN" altLang="zh-CN"/>
          </a:p>
        </p:txBody>
      </p:sp>
      <p:sp>
        <p:nvSpPr>
          <p:cNvPr id="5" name="Footer Placeholder 4">
            <a:extLst/>
          </p:cNvPr>
          <p:cNvSpPr>
            <a:spLocks noGrp="1"/>
          </p:cNvSpPr>
          <p:nvPr>
            <p:ph type="ftr" sz="quarter" idx="11"/>
          </p:nvPr>
        </p:nvSpPr>
        <p:spPr/>
        <p:txBody>
          <a:bodyPr/>
          <a:lstStyle>
            <a:lvl1pPr>
              <a:defRPr/>
            </a:lvl1pPr>
          </a:lstStyle>
          <a:p>
            <a:pPr>
              <a:defRPr/>
            </a:pPr>
            <a:endParaRPr lang="zh-CN" altLang="zh-CN"/>
          </a:p>
        </p:txBody>
      </p:sp>
      <p:sp>
        <p:nvSpPr>
          <p:cNvPr id="6" name="Slide Number Placeholder 5">
            <a:extLst/>
          </p:cNvPr>
          <p:cNvSpPr>
            <a:spLocks noGrp="1"/>
          </p:cNvSpPr>
          <p:nvPr>
            <p:ph type="sldNum" sz="quarter" idx="12"/>
          </p:nvPr>
        </p:nvSpPr>
        <p:spPr/>
        <p:txBody>
          <a:bodyPr/>
          <a:lstStyle>
            <a:lvl1pPr>
              <a:defRPr/>
            </a:lvl1pPr>
          </a:lstStyle>
          <a:p>
            <a:pPr>
              <a:defRPr/>
            </a:pPr>
            <a:fld id="{B9EB6C73-1E87-45F8-9D89-1D3CE8C15C42}" type="slidenum">
              <a:rPr lang="zh-CN" altLang="zh-CN"/>
              <a:pPr>
                <a:defRPr/>
              </a:pPr>
              <a:t>‹#›</a:t>
            </a:fld>
            <a:endParaRPr lang="zh-CN" altLang="zh-CN"/>
          </a:p>
        </p:txBody>
      </p:sp>
    </p:spTree>
    <p:extLst>
      <p:ext uri="{BB962C8B-B14F-4D97-AF65-F5344CB8AC3E}">
        <p14:creationId xmlns:p14="http://schemas.microsoft.com/office/powerpoint/2010/main" val="12368692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hangingPunct="1">
              <a:defRPr sz="1200">
                <a:solidFill>
                  <a:schemeClr val="tx1">
                    <a:tint val="75000"/>
                  </a:schemeClr>
                </a:solidFill>
              </a:defRPr>
            </a:lvl1pPr>
          </a:lstStyle>
          <a:p>
            <a:pPr>
              <a:defRPr/>
            </a:pPr>
            <a:endParaRPr lang="zh-CN" altLang="zh-CN"/>
          </a:p>
        </p:txBody>
      </p:sp>
      <p:sp>
        <p:nvSpPr>
          <p:cNvPr id="5" name="Footer Placeholder 4">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hangingPunct="1">
              <a:defRPr sz="1200">
                <a:solidFill>
                  <a:schemeClr val="tx1">
                    <a:tint val="75000"/>
                  </a:schemeClr>
                </a:solidFill>
              </a:defRPr>
            </a:lvl1pPr>
          </a:lstStyle>
          <a:p>
            <a:pPr>
              <a:defRPr/>
            </a:pPr>
            <a:endParaRPr lang="zh-CN" altLang="zh-CN"/>
          </a:p>
        </p:txBody>
      </p:sp>
      <p:sp>
        <p:nvSpPr>
          <p:cNvPr id="6" name="Slide Number Placeholder 5">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hangingPunct="1">
              <a:defRPr sz="1200">
                <a:solidFill>
                  <a:schemeClr val="tx1">
                    <a:tint val="75000"/>
                  </a:schemeClr>
                </a:solidFill>
              </a:defRPr>
            </a:lvl1pPr>
          </a:lstStyle>
          <a:p>
            <a:pPr>
              <a:defRPr/>
            </a:pPr>
            <a:fld id="{D36EAB03-1CD1-4370-84C0-99D640F884B3}" type="slidenum">
              <a:rPr lang="zh-CN" altLang="zh-CN"/>
              <a:pPr>
                <a:defRPr/>
              </a:pPr>
              <a:t>‹#›</a:t>
            </a:fld>
            <a:endParaRPr lang="zh-CN" altLang="zh-CN"/>
          </a:p>
        </p:txBody>
      </p:sp>
    </p:spTree>
  </p:cSld>
  <p:clrMap bg1="lt1" tx1="dk1" bg2="lt2" tx2="dk2" accent1="accent1" accent2="accent2" accent3="accent3" accent4="accent4" accent5="accent5" accent6="accent6" hlink="hlink" folHlink="folHlink"/>
  <p:sldLayoutIdLst>
    <p:sldLayoutId id="2147483872" r:id="rId1"/>
    <p:sldLayoutId id="2147483873" r:id="rId2"/>
    <p:sldLayoutId id="2147483874" r:id="rId3"/>
    <p:sldLayoutId id="2147483875" r:id="rId4"/>
    <p:sldLayoutId id="2147483876" r:id="rId5"/>
    <p:sldLayoutId id="2147483877" r:id="rId6"/>
    <p:sldLayoutId id="2147483878" r:id="rId7"/>
    <p:sldLayoutId id="2147483879" r:id="rId8"/>
    <p:sldLayoutId id="2147483880" r:id="rId9"/>
    <p:sldLayoutId id="2147483881" r:id="rId10"/>
    <p:sldLayoutId id="2147483882"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微软雅黑" panose="020B0503020204020204" pitchFamily="34" charset="-122"/>
          <a:cs typeface="+mj-cs"/>
        </a:defRPr>
      </a:lvl1pPr>
      <a:lvl2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png"/><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5.png"/><Relationship Id="rId5" Type="http://schemas.openxmlformats.org/officeDocument/2006/relationships/oleObject" Target="../embeddings/oleObject2.bin"/><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7.png"/><Relationship Id="rId4" Type="http://schemas.openxmlformats.org/officeDocument/2006/relationships/oleObject" Target="../embeddings/oleObject3.bin"/></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7.jpeg"/><Relationship Id="rId4" Type="http://schemas.openxmlformats.org/officeDocument/2006/relationships/image" Target="../media/image16.jpeg"/></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3.jp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8.jp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7.jpg"/><Relationship Id="rId5" Type="http://schemas.openxmlformats.org/officeDocument/2006/relationships/image" Target="../media/image26.png"/><Relationship Id="rId4" Type="http://schemas.openxmlformats.org/officeDocument/2006/relationships/image" Target="../media/image25.jpg"/></Relationships>
</file>

<file path=ppt/slides/_rels/slide23.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30.JPG"/></Relationships>
</file>

<file path=ppt/slides/_rels/slide24.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2.jpg"/></Relationships>
</file>

<file path=ppt/slides/_rels/slide27.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8.jpeg"/></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39.jpeg"/><Relationship Id="rId4" Type="http://schemas.openxmlformats.org/officeDocument/2006/relationships/image" Target="../media/image41.JPG"/></Relationships>
</file>

<file path=ppt/slides/_rels/slide45.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3.JPG"/></Relationships>
</file>

<file path=ppt/slides/_rels/slide4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5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5.jpeg"/><Relationship Id="rId7" Type="http://schemas.openxmlformats.org/officeDocument/2006/relationships/image" Target="../media/image49.jp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8.jpeg"/><Relationship Id="rId5" Type="http://schemas.openxmlformats.org/officeDocument/2006/relationships/image" Target="../media/image47.jpeg"/><Relationship Id="rId4" Type="http://schemas.openxmlformats.org/officeDocument/2006/relationships/image" Target="../media/image46.jpeg"/></Relationships>
</file>

<file path=ppt/slides/_rels/slide5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55.jpg"/><Relationship Id="rId5" Type="http://schemas.openxmlformats.org/officeDocument/2006/relationships/image" Target="../media/image54.jpg"/><Relationship Id="rId4" Type="http://schemas.openxmlformats.org/officeDocument/2006/relationships/image" Target="../media/image53.jpg"/></Relationships>
</file>

<file path=ppt/slides/_rels/slide58.xml.rels><?xml version="1.0" encoding="UTF-8" standalone="yes"?>
<Relationships xmlns="http://schemas.openxmlformats.org/package/2006/relationships"><Relationship Id="rId3" Type="http://schemas.openxmlformats.org/officeDocument/2006/relationships/image" Target="../media/image56.jp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59.jpg"/><Relationship Id="rId5" Type="http://schemas.openxmlformats.org/officeDocument/2006/relationships/image" Target="../media/image58.jpeg"/><Relationship Id="rId4" Type="http://schemas.openxmlformats.org/officeDocument/2006/relationships/image" Target="../media/image57.jpg"/></Relationships>
</file>

<file path=ppt/slides/_rels/slide59.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7.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60.jpeg"/></Relationships>
</file>

<file path=ppt/slides/_rels/slide65.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62.jpg"/></Relationships>
</file>

<file path=ppt/slides/_rels/slide66.xml.rels><?xml version="1.0" encoding="UTF-8" standalone="yes"?>
<Relationships xmlns="http://schemas.openxmlformats.org/package/2006/relationships"><Relationship Id="rId3" Type="http://schemas.openxmlformats.org/officeDocument/2006/relationships/image" Target="../media/image63.jp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4.jp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5.jp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66.jpeg"/></Relationships>
</file>

<file path=ppt/slides/_rels/slide71.xml.rels><?xml version="1.0" encoding="UTF-8" standalone="yes"?>
<Relationships xmlns="http://schemas.openxmlformats.org/package/2006/relationships"><Relationship Id="rId3" Type="http://schemas.openxmlformats.org/officeDocument/2006/relationships/image" Target="../media/image67.jp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70.JPG"/><Relationship Id="rId4" Type="http://schemas.openxmlformats.org/officeDocument/2006/relationships/image" Target="../media/image69.jpg"/></Relationships>
</file>

<file path=ppt/slides/_rels/slide7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hyperlink" Target="https://www.ncbi.nlm.nih.gov/pubmed/9255718" TargetMode="External"/><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71.jpg"/></Relationships>
</file>

<file path=ppt/slides/_rels/slide78.xml.rels><?xml version="1.0" encoding="UTF-8" standalone="yes"?>
<Relationships xmlns="http://schemas.openxmlformats.org/package/2006/relationships"><Relationship Id="rId3" Type="http://schemas.openxmlformats.org/officeDocument/2006/relationships/image" Target="../media/image72.jp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73.jpeg"/></Relationships>
</file>

<file path=ppt/slides/_rels/slide79.xml.rels><?xml version="1.0" encoding="UTF-8" standalone="yes"?>
<Relationships xmlns="http://schemas.openxmlformats.org/package/2006/relationships"><Relationship Id="rId3" Type="http://schemas.openxmlformats.org/officeDocument/2006/relationships/image" Target="../media/image74.jp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5.jp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76.jp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77.jp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78.jpg"/></Relationships>
</file>

<file path=ppt/slides/_rels/slide8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79.jpg"/></Relationships>
</file>

<file path=ppt/slides/_rels/slide85.xml.rels><?xml version="1.0" encoding="UTF-8" standalone="yes"?>
<Relationships xmlns="http://schemas.openxmlformats.org/package/2006/relationships"><Relationship Id="rId3" Type="http://schemas.openxmlformats.org/officeDocument/2006/relationships/image" Target="../media/image80.JP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81.jpg"/></Relationships>
</file>

<file path=ppt/slides/_rels/slide87.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67.jpg"/></Relationships>
</file>

<file path=ppt/slides/_rels/slide8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83.jpg"/></Relationships>
</file>

<file path=ppt/slides/_rels/slide89.xml.rels><?xml version="1.0" encoding="UTF-8" standalone="yes"?>
<Relationships xmlns="http://schemas.openxmlformats.org/package/2006/relationships"><Relationship Id="rId3" Type="http://schemas.openxmlformats.org/officeDocument/2006/relationships/image" Target="../media/image84.jp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85.jp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85.jp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86.JP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87.jp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88.jpg"/></Relationships>
</file>

<file path=ppt/slides/_rels/slide96.xml.rels><?xml version="1.0" encoding="UTF-8" standalone="yes"?>
<Relationships xmlns="http://schemas.openxmlformats.org/package/2006/relationships"><Relationship Id="rId3" Type="http://schemas.openxmlformats.org/officeDocument/2006/relationships/image" Target="../media/image89.jp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90.jpg"/></Relationships>
</file>

<file path=ppt/slides/_rels/slide97.xml.rels><?xml version="1.0" encoding="UTF-8" standalone="yes"?>
<Relationships xmlns="http://schemas.openxmlformats.org/package/2006/relationships"><Relationship Id="rId3" Type="http://schemas.openxmlformats.org/officeDocument/2006/relationships/image" Target="../media/image91.jp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92.jp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93.jpg"/></Relationships>
</file>

<file path=ppt/slides/_rels/slide99.xml.rels><?xml version="1.0" encoding="UTF-8" standalone="yes"?>
<Relationships xmlns="http://schemas.openxmlformats.org/package/2006/relationships"><Relationship Id="rId3" Type="http://schemas.openxmlformats.org/officeDocument/2006/relationships/image" Target="../media/image94.JP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95.jpg"/></Relationships>
</file>

<file path=ppt/slides/_rels/slide101.xml.rels><?xml version="1.0" encoding="UTF-8" standalone="yes"?>
<Relationships xmlns="http://schemas.openxmlformats.org/package/2006/relationships"><Relationship Id="rId3" Type="http://schemas.openxmlformats.org/officeDocument/2006/relationships/image" Target="../media/image96.jp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97.jp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98.JP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00.jp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02.jp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03.jp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75.xml"/><Relationship Id="rId1" Type="http://schemas.openxmlformats.org/officeDocument/2006/relationships/slideLayout" Target="../slideLayouts/slideLayout2.xml"/><Relationship Id="rId5" Type="http://schemas.openxmlformats.org/officeDocument/2006/relationships/image" Target="../media/image106.jpeg"/><Relationship Id="rId4" Type="http://schemas.openxmlformats.org/officeDocument/2006/relationships/image" Target="../media/image105.JPG"/></Relationships>
</file>

<file path=ppt/slides/_rels/slide111.xml.rels><?xml version="1.0" encoding="UTF-8" standalone="yes"?>
<Relationships xmlns="http://schemas.openxmlformats.org/package/2006/relationships"><Relationship Id="rId3" Type="http://schemas.openxmlformats.org/officeDocument/2006/relationships/image" Target="../media/image107.jpg"/><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108.jpg"/></Relationships>
</file>

<file path=ppt/slides/_rels/slide11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1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bwMode="auto">
      <p:bgPr>
        <a:solidFill>
          <a:srgbClr val="0D0D0D"/>
        </a:solidFill>
        <a:effectLst/>
      </p:bgPr>
    </p:bg>
    <p:spTree>
      <p:nvGrpSpPr>
        <p:cNvPr id="1" name=""/>
        <p:cNvGrpSpPr/>
        <p:nvPr/>
      </p:nvGrpSpPr>
      <p:grpSpPr>
        <a:xfrm>
          <a:off x="0" y="0"/>
          <a:ext cx="0" cy="0"/>
          <a:chOff x="0" y="0"/>
          <a:chExt cx="0" cy="0"/>
        </a:xfrm>
      </p:grpSpPr>
      <p:pic>
        <p:nvPicPr>
          <p:cNvPr id="10242" name="图片 1"/>
          <p:cNvPicPr>
            <a:picLocks noChangeAspect="1"/>
          </p:cNvPicPr>
          <p:nvPr/>
        </p:nvPicPr>
        <p:blipFill>
          <a:blip r:embed="rId3">
            <a:extLst>
              <a:ext uri="{28A0092B-C50C-407E-A947-70E740481C1C}">
                <a14:useLocalDpi xmlns:a14="http://schemas.microsoft.com/office/drawing/2010/main" val="0"/>
              </a:ext>
            </a:extLst>
          </a:blip>
          <a:srcRect l="15356"/>
          <a:stretch>
            <a:fillRect/>
          </a:stretch>
        </p:blipFill>
        <p:spPr bwMode="auto">
          <a:xfrm>
            <a:off x="-25400" y="0"/>
            <a:ext cx="10320338" cy="685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箭头: 五边形 6">
            <a:extLst/>
          </p:cNvPr>
          <p:cNvSpPr/>
          <p:nvPr/>
        </p:nvSpPr>
        <p:spPr>
          <a:xfrm flipH="1">
            <a:off x="3863975" y="-9525"/>
            <a:ext cx="8328025" cy="6858000"/>
          </a:xfrm>
          <a:prstGeom prst="homePlate">
            <a:avLst>
              <a:gd name="adj" fmla="val 32692"/>
            </a:avLst>
          </a:prstGeom>
          <a:solidFill>
            <a:schemeClr val="bg1">
              <a:lumMod val="95000"/>
              <a:alpha val="60000"/>
            </a:scheme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sp>
        <p:nvSpPr>
          <p:cNvPr id="10" name="箭头: 五边形 6">
            <a:extLst/>
          </p:cNvPr>
          <p:cNvSpPr/>
          <p:nvPr/>
        </p:nvSpPr>
        <p:spPr>
          <a:xfrm flipH="1">
            <a:off x="4954588" y="3175"/>
            <a:ext cx="7061200" cy="6858000"/>
          </a:xfrm>
          <a:prstGeom prst="homePlate">
            <a:avLst>
              <a:gd name="adj" fmla="val 32692"/>
            </a:avLst>
          </a:prstGeom>
          <a:solidFill>
            <a:schemeClr val="bg1">
              <a:lumMod val="95000"/>
              <a:alpha val="80000"/>
            </a:scheme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sp>
        <p:nvSpPr>
          <p:cNvPr id="6" name="箭头: 五边形 6">
            <a:extLst/>
          </p:cNvPr>
          <p:cNvSpPr/>
          <p:nvPr/>
        </p:nvSpPr>
        <p:spPr>
          <a:xfrm flipH="1">
            <a:off x="6235700" y="0"/>
            <a:ext cx="5956300" cy="6858000"/>
          </a:xfrm>
          <a:prstGeom prst="homePlate">
            <a:avLst>
              <a:gd name="adj" fmla="val 32692"/>
            </a:avLst>
          </a:prstGeom>
          <a:solidFill>
            <a:srgbClr val="FFFF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sp>
        <p:nvSpPr>
          <p:cNvPr id="10246" name="文本框 13">
            <a:extLst/>
          </p:cNvPr>
          <p:cNvSpPr txBox="1">
            <a:spLocks noChangeArrowheads="1"/>
          </p:cNvSpPr>
          <p:nvPr/>
        </p:nvSpPr>
        <p:spPr bwMode="auto">
          <a:xfrm>
            <a:off x="4511675" y="2133600"/>
            <a:ext cx="7367588"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r" eaLnBrk="1" hangingPunct="1">
              <a:lnSpc>
                <a:spcPct val="150000"/>
              </a:lnSpc>
              <a:spcBef>
                <a:spcPct val="0"/>
              </a:spcBef>
              <a:buFontTx/>
              <a:buNone/>
              <a:defRPr/>
            </a:pPr>
            <a:r>
              <a:rPr lang="en-US" altLang="zh-CN" sz="3600" b="1">
                <a:solidFill>
                  <a:schemeClr val="tx1">
                    <a:lumMod val="85000"/>
                    <a:lumOff val="15000"/>
                  </a:schemeClr>
                </a:solidFill>
                <a:latin typeface="+mn-lt"/>
                <a:ea typeface="+mn-ea"/>
                <a:cs typeface="+mn-ea"/>
                <a:sym typeface="+mn-lt"/>
              </a:rPr>
              <a:t> </a:t>
            </a:r>
            <a:r>
              <a:rPr lang="en-US" altLang="zh-CN" sz="3200" b="1">
                <a:solidFill>
                  <a:schemeClr val="bg2">
                    <a:lumMod val="25000"/>
                  </a:schemeClr>
                </a:solidFill>
                <a:latin typeface="+mn-lt"/>
                <a:ea typeface="+mn-ea"/>
                <a:cs typeface="+mn-ea"/>
                <a:sym typeface="+mn-lt"/>
              </a:rPr>
              <a:t>Raw Meat </a:t>
            </a:r>
            <a:r>
              <a:rPr lang="zh-CN" altLang="en-US" sz="3200" b="1">
                <a:solidFill>
                  <a:schemeClr val="bg2">
                    <a:lumMod val="25000"/>
                  </a:schemeClr>
                </a:solidFill>
                <a:latin typeface="+mn-lt"/>
                <a:ea typeface="+mn-ea"/>
                <a:cs typeface="+mn-ea"/>
                <a:sym typeface="+mn-lt"/>
              </a:rPr>
              <a:t>猫慢性肾病专题</a:t>
            </a:r>
            <a:endParaRPr lang="en-US" altLang="zh-CN" sz="3200" b="1">
              <a:solidFill>
                <a:schemeClr val="bg2">
                  <a:lumMod val="25000"/>
                </a:schemeClr>
              </a:solidFill>
              <a:latin typeface="+mn-lt"/>
              <a:ea typeface="+mn-ea"/>
              <a:cs typeface="+mn-ea"/>
              <a:sym typeface="+mn-lt"/>
            </a:endParaRPr>
          </a:p>
          <a:p>
            <a:pPr algn="r" eaLnBrk="1" hangingPunct="1">
              <a:lnSpc>
                <a:spcPct val="150000"/>
              </a:lnSpc>
              <a:spcBef>
                <a:spcPct val="0"/>
              </a:spcBef>
              <a:buFontTx/>
              <a:buNone/>
              <a:defRPr/>
            </a:pPr>
            <a:r>
              <a:rPr lang="zh-CN" altLang="en-US" sz="2000" b="1">
                <a:solidFill>
                  <a:schemeClr val="bg2">
                    <a:lumMod val="50000"/>
                  </a:schemeClr>
                </a:solidFill>
                <a:latin typeface="+mn-lt"/>
                <a:ea typeface="+mn-ea"/>
                <a:cs typeface="+mn-ea"/>
                <a:sym typeface="+mn-lt"/>
              </a:rPr>
              <a:t>危险因素、诊断、饮食、养护 </a:t>
            </a:r>
            <a:endParaRPr lang="zh-CN" altLang="zh-CN" sz="2000" b="1">
              <a:solidFill>
                <a:schemeClr val="bg2">
                  <a:lumMod val="50000"/>
                </a:schemeClr>
              </a:solidFill>
              <a:latin typeface="+mn-lt"/>
              <a:ea typeface="+mn-ea"/>
              <a:cs typeface="+mn-ea"/>
              <a:sym typeface="+mn-lt"/>
            </a:endParaRPr>
          </a:p>
        </p:txBody>
      </p:sp>
      <p:sp>
        <p:nvSpPr>
          <p:cNvPr id="10247" name="文本框 21">
            <a:extLst/>
          </p:cNvPr>
          <p:cNvSpPr txBox="1">
            <a:spLocks noChangeArrowheads="1"/>
          </p:cNvSpPr>
          <p:nvPr/>
        </p:nvSpPr>
        <p:spPr bwMode="auto">
          <a:xfrm>
            <a:off x="9080500" y="5648325"/>
            <a:ext cx="2782888" cy="88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r" eaLnBrk="1" hangingPunct="1">
              <a:lnSpc>
                <a:spcPct val="150000"/>
              </a:lnSpc>
              <a:spcBef>
                <a:spcPct val="0"/>
              </a:spcBef>
              <a:buFontTx/>
              <a:buNone/>
              <a:defRPr/>
            </a:pPr>
            <a:r>
              <a:rPr lang="zh-CN" altLang="en-US" sz="1800" b="1">
                <a:solidFill>
                  <a:srgbClr val="0F0F0F"/>
                </a:solidFill>
                <a:latin typeface="等线" panose="02010600030101010101" pitchFamily="2" charset="-122"/>
                <a:ea typeface="等线" panose="02010600030101010101" pitchFamily="2" charset="-122"/>
                <a:cs typeface="+mn-ea"/>
                <a:sym typeface="+mn-lt"/>
              </a:rPr>
              <a:t>厨子</a:t>
            </a:r>
            <a:r>
              <a:rPr lang="en-US" altLang="zh-CN" sz="1800" b="1">
                <a:solidFill>
                  <a:srgbClr val="0F0F0F"/>
                </a:solidFill>
                <a:latin typeface="等线" panose="02010600030101010101" pitchFamily="2" charset="-122"/>
                <a:ea typeface="等线" panose="02010600030101010101" pitchFamily="2" charset="-122"/>
                <a:cs typeface="+mn-ea"/>
                <a:sym typeface="+mn-lt"/>
              </a:rPr>
              <a:t>@</a:t>
            </a:r>
            <a:r>
              <a:rPr lang="zh-CN" altLang="en-US" sz="1800" b="1">
                <a:solidFill>
                  <a:srgbClr val="0F0F0F"/>
                </a:solidFill>
                <a:latin typeface="等线" panose="02010600030101010101" pitchFamily="2" charset="-122"/>
                <a:ea typeface="等线" panose="02010600030101010101" pitchFamily="2" charset="-122"/>
                <a:cs typeface="+mn-ea"/>
                <a:sym typeface="+mn-lt"/>
              </a:rPr>
              <a:t>公众号</a:t>
            </a:r>
            <a:r>
              <a:rPr lang="en-US" altLang="zh-CN" sz="1800" b="1">
                <a:solidFill>
                  <a:srgbClr val="0F0F0F"/>
                </a:solidFill>
                <a:latin typeface="等线" panose="02010600030101010101" pitchFamily="2" charset="-122"/>
                <a:ea typeface="等线" panose="02010600030101010101" pitchFamily="2" charset="-122"/>
                <a:cs typeface="+mn-ea"/>
                <a:sym typeface="+mn-lt"/>
              </a:rPr>
              <a:t>Raw Meat</a:t>
            </a:r>
          </a:p>
          <a:p>
            <a:pPr algn="r" eaLnBrk="1" hangingPunct="1">
              <a:lnSpc>
                <a:spcPct val="150000"/>
              </a:lnSpc>
              <a:spcBef>
                <a:spcPct val="0"/>
              </a:spcBef>
              <a:buFontTx/>
              <a:buNone/>
              <a:defRPr/>
            </a:pPr>
            <a:r>
              <a:rPr lang="en-US" altLang="zh-CN" sz="1800" b="1">
                <a:solidFill>
                  <a:srgbClr val="0F0F0F"/>
                </a:solidFill>
                <a:latin typeface="等线" panose="02010600030101010101" pitchFamily="2" charset="-122"/>
                <a:ea typeface="等线" panose="02010600030101010101" pitchFamily="2" charset="-122"/>
                <a:cs typeface="+mn-ea"/>
                <a:sym typeface="+mn-lt"/>
              </a:rPr>
              <a:t>2018 Aug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2" name="箭头: 五边形 6">
            <a:extLst/>
          </p:cNvPr>
          <p:cNvSpPr/>
          <p:nvPr/>
        </p:nvSpPr>
        <p:spPr>
          <a:xfrm rot="10800000" flipH="1">
            <a:off x="-15875" y="4964113"/>
            <a:ext cx="5121275" cy="1344612"/>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sp>
        <p:nvSpPr>
          <p:cNvPr id="2" name="箭头: 五边形 6">
            <a:extLst/>
          </p:cNvPr>
          <p:cNvSpPr/>
          <p:nvPr/>
        </p:nvSpPr>
        <p:spPr>
          <a:xfrm rot="16200000" flipH="1">
            <a:off x="1585912" y="-369887"/>
            <a:ext cx="2317751" cy="2946400"/>
          </a:xfrm>
          <a:prstGeom prst="homePlate">
            <a:avLst>
              <a:gd name="adj" fmla="val 32692"/>
            </a:avLst>
          </a:prstGeom>
          <a:solidFill>
            <a:schemeClr val="bg1">
              <a:lumMod val="95000"/>
              <a:alpha val="60000"/>
            </a:scheme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sp>
        <p:nvSpPr>
          <p:cNvPr id="3" name="箭头: 五边形 6">
            <a:extLst/>
          </p:cNvPr>
          <p:cNvSpPr/>
          <p:nvPr/>
        </p:nvSpPr>
        <p:spPr>
          <a:xfrm rot="16200000" flipH="1">
            <a:off x="1755775" y="-539750"/>
            <a:ext cx="1978026" cy="2946400"/>
          </a:xfrm>
          <a:prstGeom prst="homePlate">
            <a:avLst>
              <a:gd name="adj" fmla="val 32692"/>
            </a:avLst>
          </a:prstGeom>
          <a:solidFill>
            <a:schemeClr val="bg1">
              <a:alpha val="80000"/>
            </a:scheme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sp>
        <p:nvSpPr>
          <p:cNvPr id="4" name="箭头: 五边形 6">
            <a:extLst/>
          </p:cNvPr>
          <p:cNvSpPr/>
          <p:nvPr/>
        </p:nvSpPr>
        <p:spPr>
          <a:xfrm rot="16200000" flipH="1">
            <a:off x="1932781" y="-716756"/>
            <a:ext cx="1624013" cy="2946400"/>
          </a:xfrm>
          <a:prstGeom prst="homePlate">
            <a:avLst>
              <a:gd name="adj" fmla="val 32692"/>
            </a:avLst>
          </a:prstGeom>
          <a:solidFill>
            <a:srgbClr val="FFFF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schemeClr val="bg1"/>
              </a:solidFill>
              <a:cs typeface="+mn-ea"/>
              <a:sym typeface="+mn-lt"/>
            </a:endParaRPr>
          </a:p>
        </p:txBody>
      </p:sp>
      <p:sp>
        <p:nvSpPr>
          <p:cNvPr id="12294" name="文本框 13">
            <a:extLst/>
          </p:cNvPr>
          <p:cNvSpPr txBox="1">
            <a:spLocks noChangeArrowheads="1"/>
          </p:cNvSpPr>
          <p:nvPr/>
        </p:nvSpPr>
        <p:spPr bwMode="auto">
          <a:xfrm>
            <a:off x="1263650" y="107950"/>
            <a:ext cx="2954338"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eaLnBrk="1" hangingPunct="1">
              <a:lnSpc>
                <a:spcPct val="150000"/>
              </a:lnSpc>
              <a:spcBef>
                <a:spcPct val="0"/>
              </a:spcBef>
              <a:buFontTx/>
              <a:buNone/>
              <a:defRPr/>
            </a:pPr>
            <a:r>
              <a:rPr lang="zh-CN" altLang="en-US" sz="3600" b="1">
                <a:solidFill>
                  <a:schemeClr val="tx2">
                    <a:lumMod val="75000"/>
                  </a:schemeClr>
                </a:solidFill>
                <a:latin typeface="+mn-lt"/>
                <a:ea typeface="+mn-ea"/>
                <a:cs typeface="+mn-ea"/>
                <a:sym typeface="+mn-lt"/>
              </a:rPr>
              <a:t>目录</a:t>
            </a:r>
            <a:endParaRPr lang="en-US" altLang="zh-CN" sz="3600" b="1">
              <a:solidFill>
                <a:schemeClr val="tx2">
                  <a:lumMod val="75000"/>
                </a:schemeClr>
              </a:solidFill>
              <a:latin typeface="+mn-lt"/>
              <a:ea typeface="+mn-ea"/>
              <a:cs typeface="+mn-ea"/>
              <a:sym typeface="+mn-lt"/>
            </a:endParaRPr>
          </a:p>
        </p:txBody>
      </p:sp>
      <p:sp>
        <p:nvSpPr>
          <p:cNvPr id="9" name="箭头: 五边形 6">
            <a:extLst/>
          </p:cNvPr>
          <p:cNvSpPr/>
          <p:nvPr/>
        </p:nvSpPr>
        <p:spPr>
          <a:xfrm flipH="1">
            <a:off x="4945063" y="2217738"/>
            <a:ext cx="7246937" cy="1344612"/>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a:cs typeface="+mn-ea"/>
                <a:sym typeface="+mn-lt"/>
              </a:rPr>
              <a:t> </a:t>
            </a:r>
            <a:endParaRPr lang="zh-CN" altLang="en-US">
              <a:cs typeface="+mn-ea"/>
              <a:sym typeface="+mn-lt"/>
            </a:endParaRPr>
          </a:p>
        </p:txBody>
      </p:sp>
      <p:sp>
        <p:nvSpPr>
          <p:cNvPr id="10" name="箭头: 五边形 6">
            <a:extLst/>
          </p:cNvPr>
          <p:cNvSpPr/>
          <p:nvPr/>
        </p:nvSpPr>
        <p:spPr>
          <a:xfrm rot="10800000" flipH="1">
            <a:off x="0" y="2917825"/>
            <a:ext cx="5807075" cy="1344613"/>
          </a:xfrm>
          <a:prstGeom prst="homePlate">
            <a:avLst>
              <a:gd name="adj" fmla="val 32692"/>
            </a:avLst>
          </a:prstGeom>
          <a:solidFill>
            <a:schemeClr val="bg1">
              <a:alpha val="80000"/>
            </a:scheme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sp>
        <p:nvSpPr>
          <p:cNvPr id="11" name="箭头: 五边形 6">
            <a:extLst/>
          </p:cNvPr>
          <p:cNvSpPr/>
          <p:nvPr/>
        </p:nvSpPr>
        <p:spPr>
          <a:xfrm flipH="1">
            <a:off x="4217988" y="4537075"/>
            <a:ext cx="8042275" cy="1346200"/>
          </a:xfrm>
          <a:prstGeom prst="homePlate">
            <a:avLst>
              <a:gd name="adj" fmla="val 32692"/>
            </a:avLst>
          </a:prstGeom>
          <a:solidFill>
            <a:schemeClr val="bg1">
              <a:alpha val="80000"/>
            </a:scheme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grpSp>
        <p:nvGrpSpPr>
          <p:cNvPr id="12298" name="组合 22"/>
          <p:cNvGrpSpPr>
            <a:grpSpLocks/>
          </p:cNvGrpSpPr>
          <p:nvPr/>
        </p:nvGrpSpPr>
        <p:grpSpPr bwMode="auto">
          <a:xfrm>
            <a:off x="28575" y="2960688"/>
            <a:ext cx="5495925" cy="1381125"/>
            <a:chOff x="-101400" y="2876417"/>
            <a:chExt cx="4630956" cy="1380702"/>
          </a:xfrm>
        </p:grpSpPr>
        <p:sp>
          <p:nvSpPr>
            <p:cNvPr id="12314" name="文本框 13">
              <a:extLst/>
            </p:cNvPr>
            <p:cNvSpPr txBox="1">
              <a:spLocks noChangeArrowheads="1"/>
            </p:cNvSpPr>
            <p:nvPr/>
          </p:nvSpPr>
          <p:spPr bwMode="auto">
            <a:xfrm>
              <a:off x="-101400" y="2876417"/>
              <a:ext cx="1343004" cy="825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600" b="1">
                  <a:solidFill>
                    <a:srgbClr val="010101"/>
                  </a:solidFill>
                  <a:latin typeface="+mn-lt"/>
                  <a:ea typeface="+mn-ea"/>
                  <a:cs typeface="+mn-ea"/>
                  <a:sym typeface="+mn-lt"/>
                </a:rPr>
                <a:t>PART</a:t>
              </a:r>
            </a:p>
          </p:txBody>
        </p:sp>
        <p:sp>
          <p:nvSpPr>
            <p:cNvPr id="12315" name="文本框 14">
              <a:extLst/>
            </p:cNvPr>
            <p:cNvSpPr txBox="1">
              <a:spLocks noChangeArrowheads="1"/>
            </p:cNvSpPr>
            <p:nvPr/>
          </p:nvSpPr>
          <p:spPr bwMode="auto">
            <a:xfrm>
              <a:off x="1666978" y="3276344"/>
              <a:ext cx="2862578" cy="458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1800" b="1">
                  <a:solidFill>
                    <a:schemeClr val="tx2">
                      <a:lumMod val="75000"/>
                    </a:schemeClr>
                  </a:solidFill>
                  <a:latin typeface="+mn-lt"/>
                  <a:ea typeface="+mn-ea"/>
                  <a:cs typeface="+mn-ea"/>
                  <a:sym typeface="+mn-lt"/>
                </a:rPr>
                <a:t>猫肾病是什么，风险因素有哪些</a:t>
              </a:r>
              <a:endParaRPr lang="en-US" altLang="zh-CN" sz="1800" b="1">
                <a:solidFill>
                  <a:schemeClr val="tx2">
                    <a:lumMod val="75000"/>
                  </a:schemeClr>
                </a:solidFill>
                <a:latin typeface="+mn-lt"/>
                <a:ea typeface="+mn-ea"/>
                <a:cs typeface="+mn-ea"/>
                <a:sym typeface="+mn-lt"/>
              </a:endParaRPr>
            </a:p>
          </p:txBody>
        </p:sp>
        <p:cxnSp>
          <p:nvCxnSpPr>
            <p:cNvPr id="17" name="直接连接符 16">
              <a:extLst/>
            </p:cNvPr>
            <p:cNvCxnSpPr>
              <a:cxnSpLocks/>
            </p:cNvCxnSpPr>
            <p:nvPr/>
          </p:nvCxnSpPr>
          <p:spPr>
            <a:xfrm flipH="1">
              <a:off x="489843" y="3171602"/>
              <a:ext cx="1074136" cy="722091"/>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2317" name="矩形 20">
              <a:extLst/>
            </p:cNvPr>
            <p:cNvSpPr>
              <a:spLocks noChangeArrowheads="1"/>
            </p:cNvSpPr>
            <p:nvPr/>
          </p:nvSpPr>
          <p:spPr bwMode="auto">
            <a:xfrm>
              <a:off x="841646" y="3487417"/>
              <a:ext cx="420023" cy="769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defRPr/>
              </a:pPr>
              <a:r>
                <a:rPr lang="en-US" altLang="zh-CN" sz="4400" b="1">
                  <a:solidFill>
                    <a:srgbClr val="010101"/>
                  </a:solidFill>
                  <a:latin typeface="+mn-lt"/>
                  <a:ea typeface="+mn-ea"/>
                  <a:cs typeface="+mn-ea"/>
                  <a:sym typeface="+mn-lt"/>
                </a:rPr>
                <a:t>1</a:t>
              </a:r>
              <a:endParaRPr lang="zh-CN" altLang="en-US" sz="4400">
                <a:latin typeface="+mn-lt"/>
                <a:ea typeface="+mn-ea"/>
                <a:cs typeface="+mn-ea"/>
                <a:sym typeface="+mn-lt"/>
              </a:endParaRPr>
            </a:p>
          </p:txBody>
        </p:sp>
      </p:grpSp>
      <p:grpSp>
        <p:nvGrpSpPr>
          <p:cNvPr id="12299" name="组合 23"/>
          <p:cNvGrpSpPr>
            <a:grpSpLocks/>
          </p:cNvGrpSpPr>
          <p:nvPr/>
        </p:nvGrpSpPr>
        <p:grpSpPr bwMode="auto">
          <a:xfrm>
            <a:off x="28575" y="4967288"/>
            <a:ext cx="5459413" cy="1425575"/>
            <a:chOff x="-132003" y="2833157"/>
            <a:chExt cx="4513294" cy="1423076"/>
          </a:xfrm>
        </p:grpSpPr>
        <p:sp>
          <p:nvSpPr>
            <p:cNvPr id="12310" name="文本框 24">
              <a:extLst/>
            </p:cNvPr>
            <p:cNvSpPr txBox="1">
              <a:spLocks noChangeArrowheads="1"/>
            </p:cNvSpPr>
            <p:nvPr/>
          </p:nvSpPr>
          <p:spPr bwMode="auto">
            <a:xfrm>
              <a:off x="-132003" y="2833157"/>
              <a:ext cx="1362256" cy="824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600" b="1">
                  <a:solidFill>
                    <a:srgbClr val="010101"/>
                  </a:solidFill>
                  <a:latin typeface="+mn-lt"/>
                  <a:ea typeface="+mn-ea"/>
                  <a:cs typeface="+mn-ea"/>
                  <a:sym typeface="+mn-lt"/>
                </a:rPr>
                <a:t>PART</a:t>
              </a:r>
            </a:p>
          </p:txBody>
        </p:sp>
        <p:sp>
          <p:nvSpPr>
            <p:cNvPr id="12311" name="文本框 25">
              <a:extLst/>
            </p:cNvPr>
            <p:cNvSpPr txBox="1">
              <a:spLocks noChangeArrowheads="1"/>
            </p:cNvSpPr>
            <p:nvPr/>
          </p:nvSpPr>
          <p:spPr bwMode="auto">
            <a:xfrm>
              <a:off x="1517666" y="3330758"/>
              <a:ext cx="2863625" cy="459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1800" b="1">
                  <a:solidFill>
                    <a:schemeClr val="tx2">
                      <a:lumMod val="75000"/>
                    </a:schemeClr>
                  </a:solidFill>
                  <a:latin typeface="+mn-lt"/>
                  <a:ea typeface="+mn-ea"/>
                  <a:cs typeface="+mn-ea"/>
                  <a:sym typeface="+mn-lt"/>
                </a:rPr>
                <a:t>慢性肾病猫的治疗？</a:t>
              </a:r>
              <a:endParaRPr lang="en-US" altLang="zh-CN" sz="1800" b="1">
                <a:solidFill>
                  <a:schemeClr val="tx2">
                    <a:lumMod val="75000"/>
                  </a:schemeClr>
                </a:solidFill>
                <a:latin typeface="+mn-lt"/>
                <a:ea typeface="+mn-ea"/>
                <a:cs typeface="+mn-ea"/>
                <a:sym typeface="+mn-lt"/>
              </a:endParaRPr>
            </a:p>
          </p:txBody>
        </p:sp>
        <p:cxnSp>
          <p:nvCxnSpPr>
            <p:cNvPr id="27" name="直接连接符 26">
              <a:extLst/>
            </p:cNvPr>
            <p:cNvCxnSpPr>
              <a:cxnSpLocks/>
            </p:cNvCxnSpPr>
            <p:nvPr/>
          </p:nvCxnSpPr>
          <p:spPr>
            <a:xfrm flipH="1">
              <a:off x="421824" y="3126329"/>
              <a:ext cx="1074844" cy="722631"/>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2313" name="矩形 27">
              <a:extLst/>
            </p:cNvPr>
            <p:cNvSpPr>
              <a:spLocks noChangeArrowheads="1"/>
            </p:cNvSpPr>
            <p:nvPr/>
          </p:nvSpPr>
          <p:spPr bwMode="auto">
            <a:xfrm>
              <a:off x="841787" y="3487645"/>
              <a:ext cx="412089" cy="768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defRPr/>
              </a:pPr>
              <a:r>
                <a:rPr lang="en-US" altLang="zh-CN" sz="4400" b="1">
                  <a:solidFill>
                    <a:srgbClr val="010101"/>
                  </a:solidFill>
                  <a:latin typeface="+mn-lt"/>
                  <a:ea typeface="+mn-ea"/>
                  <a:cs typeface="+mn-ea"/>
                  <a:sym typeface="+mn-lt"/>
                </a:rPr>
                <a:t>3</a:t>
              </a:r>
              <a:endParaRPr lang="zh-CN" altLang="en-US" sz="4400">
                <a:latin typeface="+mn-lt"/>
                <a:ea typeface="+mn-ea"/>
                <a:cs typeface="+mn-ea"/>
                <a:sym typeface="+mn-lt"/>
              </a:endParaRPr>
            </a:p>
          </p:txBody>
        </p:sp>
      </p:grpSp>
      <p:grpSp>
        <p:nvGrpSpPr>
          <p:cNvPr id="12300" name="组合 29"/>
          <p:cNvGrpSpPr>
            <a:grpSpLocks/>
          </p:cNvGrpSpPr>
          <p:nvPr/>
        </p:nvGrpSpPr>
        <p:grpSpPr bwMode="auto">
          <a:xfrm>
            <a:off x="5597525" y="2247900"/>
            <a:ext cx="6261100" cy="1346200"/>
            <a:chOff x="-24916" y="2884009"/>
            <a:chExt cx="4947176" cy="1346603"/>
          </a:xfrm>
        </p:grpSpPr>
        <p:sp>
          <p:nvSpPr>
            <p:cNvPr id="12306" name="文本框 30">
              <a:extLst/>
            </p:cNvPr>
            <p:cNvSpPr txBox="1">
              <a:spLocks noChangeArrowheads="1"/>
            </p:cNvSpPr>
            <p:nvPr/>
          </p:nvSpPr>
          <p:spPr bwMode="auto">
            <a:xfrm>
              <a:off x="-24916" y="2884009"/>
              <a:ext cx="1359721" cy="825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600" b="1">
                  <a:solidFill>
                    <a:srgbClr val="010101"/>
                  </a:solidFill>
                  <a:latin typeface="+mn-lt"/>
                  <a:ea typeface="+mn-ea"/>
                  <a:cs typeface="+mn-ea"/>
                  <a:sym typeface="+mn-lt"/>
                </a:rPr>
                <a:t>PART</a:t>
              </a:r>
            </a:p>
          </p:txBody>
        </p:sp>
        <p:sp>
          <p:nvSpPr>
            <p:cNvPr id="12307" name="文本框 31">
              <a:extLst/>
            </p:cNvPr>
            <p:cNvSpPr txBox="1">
              <a:spLocks noChangeArrowheads="1"/>
            </p:cNvSpPr>
            <p:nvPr/>
          </p:nvSpPr>
          <p:spPr bwMode="auto">
            <a:xfrm>
              <a:off x="1975781" y="3273063"/>
              <a:ext cx="2946479" cy="508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1800" b="1">
                  <a:solidFill>
                    <a:schemeClr val="tx2">
                      <a:lumMod val="75000"/>
                    </a:schemeClr>
                  </a:solidFill>
                  <a:latin typeface="+mn-lt"/>
                  <a:ea typeface="+mn-ea"/>
                  <a:cs typeface="+mn-ea"/>
                  <a:sym typeface="+mn-lt"/>
                </a:rPr>
                <a:t>征兆与诊断</a:t>
              </a:r>
              <a:endParaRPr lang="en-US" altLang="zh-CN" sz="1800" b="1">
                <a:solidFill>
                  <a:schemeClr val="tx2">
                    <a:lumMod val="75000"/>
                  </a:schemeClr>
                </a:solidFill>
                <a:latin typeface="+mn-lt"/>
                <a:ea typeface="+mn-ea"/>
                <a:cs typeface="+mn-ea"/>
                <a:sym typeface="+mn-lt"/>
              </a:endParaRPr>
            </a:p>
          </p:txBody>
        </p:sp>
        <p:cxnSp>
          <p:nvCxnSpPr>
            <p:cNvPr id="33" name="直接连接符 32">
              <a:extLst/>
            </p:cNvPr>
            <p:cNvCxnSpPr>
              <a:cxnSpLocks/>
            </p:cNvCxnSpPr>
            <p:nvPr/>
          </p:nvCxnSpPr>
          <p:spPr>
            <a:xfrm flipH="1">
              <a:off x="644910" y="3190489"/>
              <a:ext cx="1074983" cy="72252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2309" name="矩形 33">
              <a:extLst/>
            </p:cNvPr>
            <p:cNvSpPr>
              <a:spLocks noChangeArrowheads="1"/>
            </p:cNvSpPr>
            <p:nvPr/>
          </p:nvSpPr>
          <p:spPr bwMode="auto">
            <a:xfrm>
              <a:off x="1051321" y="3460445"/>
              <a:ext cx="393867" cy="770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defRPr/>
              </a:pPr>
              <a:r>
                <a:rPr lang="en-US" altLang="zh-CN" sz="4400" b="1">
                  <a:solidFill>
                    <a:srgbClr val="010101"/>
                  </a:solidFill>
                  <a:latin typeface="+mn-lt"/>
                  <a:ea typeface="+mn-ea"/>
                  <a:cs typeface="+mn-ea"/>
                  <a:sym typeface="+mn-lt"/>
                </a:rPr>
                <a:t>2</a:t>
              </a:r>
              <a:endParaRPr lang="zh-CN" altLang="en-US" sz="4400">
                <a:latin typeface="+mn-lt"/>
                <a:ea typeface="+mn-ea"/>
                <a:cs typeface="+mn-ea"/>
                <a:sym typeface="+mn-lt"/>
              </a:endParaRPr>
            </a:p>
          </p:txBody>
        </p:sp>
      </p:grpSp>
      <p:grpSp>
        <p:nvGrpSpPr>
          <p:cNvPr id="12301" name="组合 34"/>
          <p:cNvGrpSpPr>
            <a:grpSpLocks/>
          </p:cNvGrpSpPr>
          <p:nvPr/>
        </p:nvGrpSpPr>
        <p:grpSpPr bwMode="auto">
          <a:xfrm>
            <a:off x="5597525" y="4572000"/>
            <a:ext cx="5402263" cy="1360488"/>
            <a:chOff x="98281" y="2869635"/>
            <a:chExt cx="4133810" cy="1358386"/>
          </a:xfrm>
        </p:grpSpPr>
        <p:sp>
          <p:nvSpPr>
            <p:cNvPr id="12302" name="文本框 35">
              <a:extLst/>
            </p:cNvPr>
            <p:cNvSpPr txBox="1">
              <a:spLocks noChangeArrowheads="1"/>
            </p:cNvSpPr>
            <p:nvPr/>
          </p:nvSpPr>
          <p:spPr bwMode="auto">
            <a:xfrm>
              <a:off x="98281" y="2869635"/>
              <a:ext cx="1094494" cy="8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600" b="1">
                  <a:solidFill>
                    <a:srgbClr val="010101"/>
                  </a:solidFill>
                  <a:latin typeface="+mn-lt"/>
                  <a:ea typeface="+mn-ea"/>
                  <a:cs typeface="+mn-ea"/>
                  <a:sym typeface="+mn-lt"/>
                </a:rPr>
                <a:t>PART</a:t>
              </a:r>
            </a:p>
          </p:txBody>
        </p:sp>
        <p:sp>
          <p:nvSpPr>
            <p:cNvPr id="12303" name="文本框 36">
              <a:extLst/>
            </p:cNvPr>
            <p:cNvSpPr txBox="1">
              <a:spLocks noChangeArrowheads="1"/>
            </p:cNvSpPr>
            <p:nvPr/>
          </p:nvSpPr>
          <p:spPr bwMode="auto">
            <a:xfrm>
              <a:off x="2044318" y="3231026"/>
              <a:ext cx="2187773" cy="507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1800" b="1">
                  <a:solidFill>
                    <a:schemeClr val="tx2">
                      <a:lumMod val="75000"/>
                    </a:schemeClr>
                  </a:solidFill>
                  <a:latin typeface="+mn-lt"/>
                  <a:ea typeface="+mn-ea"/>
                  <a:cs typeface="+mn-ea"/>
                  <a:sym typeface="+mn-lt"/>
                </a:rPr>
                <a:t>饮食与养护</a:t>
              </a:r>
              <a:endParaRPr lang="en-US" altLang="zh-CN" sz="1800" b="1">
                <a:solidFill>
                  <a:schemeClr val="tx2">
                    <a:lumMod val="75000"/>
                  </a:schemeClr>
                </a:solidFill>
                <a:latin typeface="+mn-lt"/>
                <a:ea typeface="+mn-ea"/>
                <a:cs typeface="+mn-ea"/>
                <a:sym typeface="+mn-lt"/>
              </a:endParaRPr>
            </a:p>
          </p:txBody>
        </p:sp>
        <p:cxnSp>
          <p:nvCxnSpPr>
            <p:cNvPr id="38" name="直接连接符 37">
              <a:extLst/>
            </p:cNvPr>
            <p:cNvCxnSpPr>
              <a:cxnSpLocks/>
            </p:cNvCxnSpPr>
            <p:nvPr/>
          </p:nvCxnSpPr>
          <p:spPr>
            <a:xfrm flipH="1">
              <a:off x="538022" y="3202495"/>
              <a:ext cx="1073843" cy="722782"/>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2305" name="矩形 38">
              <a:extLst/>
            </p:cNvPr>
            <p:cNvSpPr>
              <a:spLocks noChangeArrowheads="1"/>
            </p:cNvSpPr>
            <p:nvPr/>
          </p:nvSpPr>
          <p:spPr bwMode="auto">
            <a:xfrm>
              <a:off x="1051864" y="3459273"/>
              <a:ext cx="381433" cy="768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defRPr/>
              </a:pPr>
              <a:r>
                <a:rPr lang="en-US" altLang="zh-CN" sz="4400" b="1">
                  <a:solidFill>
                    <a:srgbClr val="010101"/>
                  </a:solidFill>
                  <a:latin typeface="+mn-lt"/>
                  <a:ea typeface="+mn-ea"/>
                  <a:cs typeface="+mn-ea"/>
                  <a:sym typeface="+mn-lt"/>
                </a:rPr>
                <a:t>4</a:t>
              </a:r>
              <a:endParaRPr lang="zh-CN" altLang="en-US" sz="4400" b="1">
                <a:solidFill>
                  <a:srgbClr val="010101"/>
                </a:solidFill>
                <a:latin typeface="+mn-lt"/>
                <a:ea typeface="+mn-ea"/>
                <a:cs typeface="+mn-ea"/>
                <a:sym typeface="+mn-lt"/>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10" name="箭头: 五边形 6">
            <a:extLst/>
          </p:cNvPr>
          <p:cNvSpPr/>
          <p:nvPr/>
        </p:nvSpPr>
        <p:spPr>
          <a:xfrm rot="10800000" flipH="1">
            <a:off x="0" y="620713"/>
            <a:ext cx="6958013" cy="3902075"/>
          </a:xfrm>
          <a:prstGeom prst="homePlate">
            <a:avLst>
              <a:gd name="adj" fmla="val 32692"/>
            </a:avLst>
          </a:prstGeom>
          <a:solidFill>
            <a:srgbClr val="FFFF00">
              <a:alpha val="6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sp>
        <p:nvSpPr>
          <p:cNvPr id="11" name="箭头: 五边形 6">
            <a:extLst/>
          </p:cNvPr>
          <p:cNvSpPr/>
          <p:nvPr/>
        </p:nvSpPr>
        <p:spPr>
          <a:xfrm rot="10800000" flipH="1">
            <a:off x="0" y="620713"/>
            <a:ext cx="5938838" cy="390207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sp>
        <p:nvSpPr>
          <p:cNvPr id="12" name="箭头: 五边形 6">
            <a:extLst/>
          </p:cNvPr>
          <p:cNvSpPr/>
          <p:nvPr/>
        </p:nvSpPr>
        <p:spPr>
          <a:xfrm rot="10800000" flipH="1">
            <a:off x="0" y="620713"/>
            <a:ext cx="4878388" cy="3902075"/>
          </a:xfrm>
          <a:prstGeom prst="homePlate">
            <a:avLst>
              <a:gd name="adj" fmla="val 32692"/>
            </a:avLst>
          </a:prstGeom>
          <a:solidFill>
            <a:srgbClr val="FFFF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sp>
        <p:nvSpPr>
          <p:cNvPr id="13317" name="矩形 13">
            <a:extLst/>
          </p:cNvPr>
          <p:cNvSpPr>
            <a:spLocks noChangeArrowheads="1"/>
          </p:cNvSpPr>
          <p:nvPr/>
        </p:nvSpPr>
        <p:spPr bwMode="auto">
          <a:xfrm>
            <a:off x="84138" y="2071688"/>
            <a:ext cx="424497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defRPr/>
            </a:pPr>
            <a:r>
              <a:rPr lang="en-US" altLang="zh-CN" sz="6000">
                <a:latin typeface="+mn-lt"/>
                <a:ea typeface="+mn-ea"/>
                <a:cs typeface="+mn-ea"/>
                <a:sym typeface="+mn-lt"/>
              </a:rPr>
              <a:t>PART ONE </a:t>
            </a:r>
          </a:p>
        </p:txBody>
      </p:sp>
      <p:sp>
        <p:nvSpPr>
          <p:cNvPr id="13318" name="文本框 14">
            <a:extLst/>
          </p:cNvPr>
          <p:cNvSpPr txBox="1">
            <a:spLocks noChangeArrowheads="1"/>
          </p:cNvSpPr>
          <p:nvPr/>
        </p:nvSpPr>
        <p:spPr bwMode="auto">
          <a:xfrm>
            <a:off x="84138" y="2997200"/>
            <a:ext cx="5435600"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b="1">
                <a:solidFill>
                  <a:schemeClr val="tx2">
                    <a:lumMod val="75000"/>
                  </a:schemeClr>
                </a:solidFill>
                <a:latin typeface="+mj-ea"/>
                <a:ea typeface="+mj-ea"/>
                <a:cs typeface="+mn-ea"/>
                <a:sym typeface="+mn-lt"/>
              </a:rPr>
              <a:t>猫肾病是什么，风险因素有哪些</a:t>
            </a:r>
            <a:endParaRPr lang="en-US" altLang="zh-CN" b="1">
              <a:solidFill>
                <a:schemeClr val="tx2">
                  <a:lumMod val="75000"/>
                </a:schemeClr>
              </a:solidFill>
              <a:latin typeface="+mj-ea"/>
              <a:ea typeface="+mj-ea"/>
              <a:cs typeface="+mn-ea"/>
              <a:sym typeface="+mn-lt"/>
            </a:endParaRPr>
          </a:p>
        </p:txBody>
      </p:sp>
      <p:cxnSp>
        <p:nvCxnSpPr>
          <p:cNvPr id="17" name="直接连接符 16">
            <a:extLst/>
          </p:cNvPr>
          <p:cNvCxnSpPr/>
          <p:nvPr/>
        </p:nvCxnSpPr>
        <p:spPr>
          <a:xfrm>
            <a:off x="84138" y="3087688"/>
            <a:ext cx="408305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aphicFrame>
        <p:nvGraphicFramePr>
          <p:cNvPr id="13320" name="图表 7"/>
          <p:cNvGraphicFramePr>
            <a:graphicFrameLocks/>
          </p:cNvGraphicFramePr>
          <p:nvPr/>
        </p:nvGraphicFramePr>
        <p:xfrm>
          <a:off x="6765925" y="425450"/>
          <a:ext cx="4806950" cy="6122988"/>
        </p:xfrm>
        <a:graphic>
          <a:graphicData uri="http://schemas.openxmlformats.org/presentationml/2006/ole">
            <mc:AlternateContent xmlns:mc="http://schemas.openxmlformats.org/markup-compatibility/2006">
              <mc:Choice xmlns:v="urn:schemas-microsoft-com:vml" Requires="v">
                <p:oleObj spid="_x0000_s13369" name="Chart" r:id="rId4" imgW="4816257" imgH="6133108" progId="Excel.Chart.8">
                  <p:embed/>
                </p:oleObj>
              </mc:Choice>
              <mc:Fallback>
                <p:oleObj name="Chart" r:id="rId4" imgW="4816257" imgH="6133108" progId="Excel.Chart.8">
                  <p:embed/>
                  <p:pic>
                    <p:nvPicPr>
                      <p:cNvPr id="0" name="图表 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65925" y="425450"/>
                        <a:ext cx="4806950" cy="6122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21" name="文本框 1"/>
          <p:cNvSpPr txBox="1">
            <a:spLocks noChangeArrowheads="1"/>
          </p:cNvSpPr>
          <p:nvPr/>
        </p:nvSpPr>
        <p:spPr bwMode="auto">
          <a:xfrm>
            <a:off x="9336088" y="6497638"/>
            <a:ext cx="360045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100">
                <a:solidFill>
                  <a:schemeClr val="bg2"/>
                </a:solidFill>
                <a:latin typeface="微软雅黑" panose="020B0503020204020204" pitchFamily="34" charset="-122"/>
                <a:ea typeface="微软雅黑" panose="020B0503020204020204" pitchFamily="34" charset="-122"/>
              </a:rPr>
              <a:t>*数据来源：普渡大学动医数据库</a:t>
            </a:r>
          </a:p>
        </p:txBody>
      </p:sp>
      <p:sp>
        <p:nvSpPr>
          <p:cNvPr id="2" name="文本框 1"/>
          <p:cNvSpPr txBox="1"/>
          <p:nvPr/>
        </p:nvSpPr>
        <p:spPr>
          <a:xfrm>
            <a:off x="48545" y="3670300"/>
            <a:ext cx="4604232" cy="369332"/>
          </a:xfrm>
          <a:prstGeom prst="rect">
            <a:avLst/>
          </a:prstGeom>
          <a:noFill/>
        </p:spPr>
        <p:txBody>
          <a:bodyPr wrap="square" rtlCol="0">
            <a:spAutoFit/>
          </a:bodyPr>
          <a:lstStyle/>
          <a:p>
            <a:r>
              <a:rPr lang="en-US" altLang="zh-CN">
                <a:solidFill>
                  <a:schemeClr val="accent1">
                    <a:lumMod val="75000"/>
                  </a:schemeClr>
                </a:solidFill>
                <a:effectLst>
                  <a:outerShdw blurRad="38100" dist="38100" dir="2700000" algn="tl">
                    <a:srgbClr val="000000">
                      <a:alpha val="43137"/>
                    </a:srgbClr>
                  </a:outerShdw>
                </a:effectLst>
                <a:latin typeface="+mn-ea"/>
                <a:ea typeface="+mn-ea"/>
              </a:rPr>
              <a:t>Banfield</a:t>
            </a:r>
            <a:r>
              <a:rPr lang="zh-CN" altLang="en-US">
                <a:solidFill>
                  <a:schemeClr val="accent1">
                    <a:lumMod val="75000"/>
                  </a:schemeClr>
                </a:solidFill>
                <a:effectLst>
                  <a:outerShdw blurRad="38100" dist="38100" dir="2700000" algn="tl">
                    <a:srgbClr val="000000">
                      <a:alpha val="43137"/>
                    </a:srgbClr>
                  </a:outerShdw>
                </a:effectLst>
                <a:latin typeface="+mn-ea"/>
                <a:ea typeface="+mn-ea"/>
              </a:rPr>
              <a:t>：每</a:t>
            </a:r>
            <a:r>
              <a:rPr lang="en-US" altLang="zh-CN">
                <a:solidFill>
                  <a:schemeClr val="accent1">
                    <a:lumMod val="75000"/>
                  </a:schemeClr>
                </a:solidFill>
                <a:effectLst>
                  <a:outerShdw blurRad="38100" dist="38100" dir="2700000" algn="tl">
                    <a:srgbClr val="000000">
                      <a:alpha val="43137"/>
                    </a:srgbClr>
                  </a:outerShdw>
                </a:effectLst>
                <a:latin typeface="+mn-ea"/>
                <a:ea typeface="+mn-ea"/>
              </a:rPr>
              <a:t>43</a:t>
            </a:r>
            <a:r>
              <a:rPr lang="zh-CN" altLang="en-US">
                <a:solidFill>
                  <a:schemeClr val="accent1">
                    <a:lumMod val="75000"/>
                  </a:schemeClr>
                </a:solidFill>
                <a:effectLst>
                  <a:outerShdw blurRad="38100" dist="38100" dir="2700000" algn="tl">
                    <a:srgbClr val="000000">
                      <a:alpha val="43137"/>
                    </a:srgbClr>
                  </a:outerShdw>
                </a:effectLst>
                <a:latin typeface="+mn-ea"/>
                <a:ea typeface="+mn-ea"/>
              </a:rPr>
              <a:t>只猫中，就会有一只得肾病</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4"/>
          <a:srcRect/>
          <a:stretch>
            <a:fillRect/>
          </a:stretch>
        </a:blipFill>
        <a:effectLst/>
      </p:bgPr>
    </p:bg>
    <p:spTree>
      <p:nvGrpSpPr>
        <p:cNvPr id="1" name=""/>
        <p:cNvGrpSpPr/>
        <p:nvPr/>
      </p:nvGrpSpPr>
      <p:grpSpPr>
        <a:xfrm>
          <a:off x="0" y="0"/>
          <a:ext cx="0" cy="0"/>
          <a:chOff x="0" y="0"/>
          <a:chExt cx="0" cy="0"/>
        </a:xfrm>
      </p:grpSpPr>
      <p:grpSp>
        <p:nvGrpSpPr>
          <p:cNvPr id="17" name="组合 16">
            <a:extLst/>
          </p:cNvPr>
          <p:cNvGrpSpPr/>
          <p:nvPr/>
        </p:nvGrpSpPr>
        <p:grpSpPr>
          <a:xfrm>
            <a:off x="-111414" y="692696"/>
            <a:ext cx="7287534" cy="1035883"/>
            <a:chOff x="8112224" y="330675"/>
            <a:chExt cx="4608512" cy="1035883"/>
          </a:xfrm>
          <a:effectLst>
            <a:outerShdw blurRad="50800" dist="38100" dir="5400000" algn="t" rotWithShape="0">
              <a:prstClr val="black">
                <a:alpha val="40000"/>
              </a:prstClr>
            </a:outerShdw>
          </a:effectLst>
        </p:grpSpPr>
        <p:sp>
          <p:nvSpPr>
            <p:cNvPr id="4" name="箭头: 五边形 6">
              <a:extLst/>
            </p:cNvPr>
            <p:cNvSpPr/>
            <p:nvPr/>
          </p:nvSpPr>
          <p:spPr>
            <a:xfrm rot="10800000" flipH="1">
              <a:off x="8112224" y="404663"/>
              <a:ext cx="4608512"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5" name="组合 22">
              <a:extLst/>
            </p:cNvPr>
            <p:cNvGrpSpPr>
              <a:grpSpLocks/>
            </p:cNvGrpSpPr>
            <p:nvPr/>
          </p:nvGrpSpPr>
          <p:grpSpPr bwMode="auto">
            <a:xfrm>
              <a:off x="8281096" y="330675"/>
              <a:ext cx="4365642" cy="1003146"/>
              <a:chOff x="-461843" y="2729730"/>
              <a:chExt cx="5142146" cy="1402759"/>
            </a:xfrm>
          </p:grpSpPr>
          <p:sp>
            <p:nvSpPr>
              <p:cNvPr id="6" name="文本框 13">
                <a:extLst/>
              </p:cNvPr>
              <p:cNvSpPr txBox="1">
                <a:spLocks noChangeArrowheads="1"/>
              </p:cNvSpPr>
              <p:nvPr/>
            </p:nvSpPr>
            <p:spPr bwMode="auto">
              <a:xfrm>
                <a:off x="-461843" y="2729730"/>
                <a:ext cx="1647713" cy="1040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7" name="文本框 14">
                <a:extLst/>
              </p:cNvPr>
              <p:cNvSpPr txBox="1">
                <a:spLocks noChangeArrowheads="1"/>
              </p:cNvSpPr>
              <p:nvPr/>
            </p:nvSpPr>
            <p:spPr bwMode="auto">
              <a:xfrm>
                <a:off x="1817477" y="2864923"/>
                <a:ext cx="2862826" cy="1162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3200" b="1">
                    <a:solidFill>
                      <a:srgbClr val="010101"/>
                    </a:solidFill>
                    <a:latin typeface="+mn-lt"/>
                    <a:ea typeface="+mn-ea"/>
                    <a:cs typeface="+mn-ea"/>
                    <a:sym typeface="+mn-lt"/>
                  </a:rPr>
                  <a:t>猫慢性肾病是什么？</a:t>
                </a:r>
                <a:endParaRPr lang="en-US" altLang="zh-CN" sz="3200" b="1">
                  <a:solidFill>
                    <a:srgbClr val="010101"/>
                  </a:solidFill>
                  <a:latin typeface="+mn-lt"/>
                  <a:ea typeface="+mn-ea"/>
                  <a:cs typeface="+mn-ea"/>
                  <a:sym typeface="+mn-lt"/>
                </a:endParaRPr>
              </a:p>
            </p:txBody>
          </p:sp>
          <p:cxnSp>
            <p:nvCxnSpPr>
              <p:cNvPr id="8" name="直接连接符 7">
                <a:extLst/>
              </p:cNvPr>
              <p:cNvCxnSpPr>
                <a:cxnSpLocks/>
              </p:cNvCxnSpPr>
              <p:nvPr/>
            </p:nvCxnSpPr>
            <p:spPr>
              <a:xfrm flipH="1">
                <a:off x="283397" y="3337348"/>
                <a:ext cx="698570" cy="469923"/>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9" name="矩形 20">
                <a:extLst/>
              </p:cNvPr>
              <p:cNvSpPr>
                <a:spLocks noChangeArrowheads="1"/>
              </p:cNvSpPr>
              <p:nvPr/>
            </p:nvSpPr>
            <p:spPr bwMode="auto">
              <a:xfrm>
                <a:off x="672946" y="3486915"/>
                <a:ext cx="650978" cy="645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ONE</a:t>
                </a:r>
                <a:endParaRPr lang="zh-CN" altLang="en-US" sz="1200">
                  <a:latin typeface="+mn-lt"/>
                  <a:ea typeface="+mn-ea"/>
                  <a:cs typeface="+mn-ea"/>
                  <a:sym typeface="+mn-lt"/>
                </a:endParaRPr>
              </a:p>
            </p:txBody>
          </p:sp>
        </p:grpSp>
      </p:grpSp>
      <p:sp>
        <p:nvSpPr>
          <p:cNvPr id="2" name="文本框 1"/>
          <p:cNvSpPr txBox="1"/>
          <p:nvPr/>
        </p:nvSpPr>
        <p:spPr>
          <a:xfrm>
            <a:off x="444454" y="1952081"/>
            <a:ext cx="3343275" cy="461962"/>
          </a:xfrm>
          <a:prstGeom prst="rect">
            <a:avLst/>
          </a:prstGeom>
          <a:noFill/>
        </p:spPr>
        <p:txBody>
          <a:bodyPr>
            <a:spAutoFit/>
          </a:bodyPr>
          <a:lstStyle/>
          <a:p>
            <a:pPr>
              <a:defRPr/>
            </a:pPr>
            <a:r>
              <a:rPr lang="zh-CN" altLang="en-US" sz="2400" b="1">
                <a:solidFill>
                  <a:schemeClr val="tx2">
                    <a:lumMod val="75000"/>
                  </a:schemeClr>
                </a:solidFill>
                <a:latin typeface="+mj-ea"/>
                <a:ea typeface="+mj-ea"/>
              </a:rPr>
              <a:t>急性肾脏损伤</a:t>
            </a:r>
            <a:r>
              <a:rPr lang="zh-CN" altLang="en-US" sz="1100" b="1">
                <a:solidFill>
                  <a:schemeClr val="tx2">
                    <a:lumMod val="75000"/>
                  </a:schemeClr>
                </a:solidFill>
                <a:latin typeface="+mj-ea"/>
                <a:ea typeface="+mj-ea"/>
              </a:rPr>
              <a:t>（</a:t>
            </a:r>
            <a:r>
              <a:rPr lang="en-US" altLang="zh-CN" sz="1100" b="1">
                <a:solidFill>
                  <a:schemeClr val="tx2">
                    <a:lumMod val="75000"/>
                  </a:schemeClr>
                </a:solidFill>
                <a:latin typeface="+mj-ea"/>
                <a:ea typeface="+mj-ea"/>
              </a:rPr>
              <a:t>AKI</a:t>
            </a:r>
            <a:r>
              <a:rPr lang="zh-CN" altLang="en-US" sz="1100" b="1">
                <a:solidFill>
                  <a:schemeClr val="tx2">
                    <a:lumMod val="75000"/>
                  </a:schemeClr>
                </a:solidFill>
                <a:latin typeface="+mj-ea"/>
                <a:ea typeface="+mj-ea"/>
              </a:rPr>
              <a:t>）</a:t>
            </a:r>
            <a:endParaRPr lang="en-US" altLang="zh-CN" sz="1100" b="1">
              <a:solidFill>
                <a:schemeClr val="tx2">
                  <a:lumMod val="75000"/>
                </a:schemeClr>
              </a:solidFill>
              <a:latin typeface="+mj-ea"/>
              <a:ea typeface="+mj-ea"/>
            </a:endParaRPr>
          </a:p>
        </p:txBody>
      </p:sp>
      <p:sp>
        <p:nvSpPr>
          <p:cNvPr id="10" name="文本框 9"/>
          <p:cNvSpPr txBox="1"/>
          <p:nvPr/>
        </p:nvSpPr>
        <p:spPr>
          <a:xfrm>
            <a:off x="475308" y="3299314"/>
            <a:ext cx="3960812" cy="3140075"/>
          </a:xfrm>
          <a:prstGeom prst="rect">
            <a:avLst/>
          </a:prstGeom>
          <a:noFill/>
        </p:spPr>
        <p:txBody>
          <a:bodyPr>
            <a:spAutoFit/>
          </a:bodyPr>
          <a:lstStyle/>
          <a:p>
            <a:pPr marL="285750" indent="-285750">
              <a:buFont typeface="Wingdings" panose="05000000000000000000" pitchFamily="2" charset="2"/>
              <a:buChar char="n"/>
              <a:defRPr/>
            </a:pPr>
            <a:r>
              <a:rPr lang="zh-CN" altLang="en-US" b="1">
                <a:latin typeface="+mj-ea"/>
                <a:ea typeface="+mj-ea"/>
              </a:rPr>
              <a:t>先天疾病</a:t>
            </a:r>
            <a:endParaRPr lang="en-US" altLang="zh-CN" b="1">
              <a:latin typeface="+mj-ea"/>
              <a:ea typeface="+mj-ea"/>
            </a:endParaRPr>
          </a:p>
          <a:p>
            <a:pPr>
              <a:defRPr/>
            </a:pPr>
            <a:r>
              <a:rPr lang="en-US" altLang="zh-CN">
                <a:latin typeface="+mj-ea"/>
                <a:ea typeface="+mj-ea"/>
              </a:rPr>
              <a:t>    </a:t>
            </a:r>
            <a:r>
              <a:rPr lang="zh-CN" altLang="en-US">
                <a:latin typeface="+mj-ea"/>
                <a:ea typeface="+mj-ea"/>
              </a:rPr>
              <a:t>多囊肾</a:t>
            </a:r>
            <a:endParaRPr lang="en-US" altLang="zh-CN">
              <a:latin typeface="+mj-ea"/>
              <a:ea typeface="+mj-ea"/>
            </a:endParaRPr>
          </a:p>
          <a:p>
            <a:pPr>
              <a:defRPr/>
            </a:pPr>
            <a:r>
              <a:rPr lang="en-US" altLang="zh-CN">
                <a:latin typeface="+mj-ea"/>
                <a:ea typeface="+mj-ea"/>
              </a:rPr>
              <a:t>    </a:t>
            </a:r>
            <a:r>
              <a:rPr lang="zh-CN" altLang="en-US">
                <a:latin typeface="+mj-ea"/>
                <a:ea typeface="+mj-ea"/>
              </a:rPr>
              <a:t>单肾</a:t>
            </a:r>
            <a:endParaRPr lang="en-US" altLang="zh-CN">
              <a:latin typeface="+mj-ea"/>
              <a:ea typeface="+mj-ea"/>
            </a:endParaRPr>
          </a:p>
          <a:p>
            <a:pPr>
              <a:defRPr/>
            </a:pPr>
            <a:r>
              <a:rPr lang="en-US" altLang="zh-CN">
                <a:latin typeface="+mj-ea"/>
                <a:ea typeface="+mj-ea"/>
              </a:rPr>
              <a:t>    </a:t>
            </a:r>
            <a:r>
              <a:rPr lang="zh-CN" altLang="en-US">
                <a:latin typeface="+mj-ea"/>
                <a:ea typeface="+mj-ea"/>
              </a:rPr>
              <a:t>淀粉样蛋白病变</a:t>
            </a:r>
            <a:endParaRPr lang="en-US" altLang="zh-CN">
              <a:latin typeface="+mj-ea"/>
              <a:ea typeface="+mj-ea"/>
            </a:endParaRPr>
          </a:p>
          <a:p>
            <a:pPr marL="285750" indent="-285750">
              <a:buFont typeface="Wingdings" panose="05000000000000000000" pitchFamily="2" charset="2"/>
              <a:buChar char="n"/>
              <a:defRPr/>
            </a:pPr>
            <a:r>
              <a:rPr lang="zh-CN" altLang="en-US" b="1">
                <a:latin typeface="+mj-ea"/>
                <a:ea typeface="+mj-ea"/>
              </a:rPr>
              <a:t>上泌尿系统结石？</a:t>
            </a:r>
            <a:endParaRPr lang="en-US" altLang="zh-CN" b="1">
              <a:latin typeface="+mj-ea"/>
              <a:ea typeface="+mj-ea"/>
            </a:endParaRPr>
          </a:p>
          <a:p>
            <a:pPr marL="285750" indent="-285750">
              <a:buFont typeface="Wingdings" panose="05000000000000000000" pitchFamily="2" charset="2"/>
              <a:buChar char="n"/>
              <a:defRPr/>
            </a:pPr>
            <a:r>
              <a:rPr lang="zh-CN" altLang="en-US" b="1">
                <a:latin typeface="+mj-ea"/>
                <a:ea typeface="+mj-ea"/>
              </a:rPr>
              <a:t>肾淋巴肿瘤</a:t>
            </a:r>
            <a:endParaRPr lang="en-US" altLang="zh-CN" b="1">
              <a:latin typeface="+mj-ea"/>
              <a:ea typeface="+mj-ea"/>
            </a:endParaRPr>
          </a:p>
          <a:p>
            <a:pPr marL="285750" indent="-285750">
              <a:buFont typeface="Wingdings" panose="05000000000000000000" pitchFamily="2" charset="2"/>
              <a:buChar char="n"/>
              <a:defRPr/>
            </a:pPr>
            <a:r>
              <a:rPr lang="zh-CN" altLang="en-US" b="1">
                <a:latin typeface="+mj-ea"/>
                <a:ea typeface="+mj-ea"/>
              </a:rPr>
              <a:t>肾盂炎</a:t>
            </a:r>
            <a:endParaRPr lang="en-US" altLang="zh-CN" b="1">
              <a:latin typeface="+mj-ea"/>
              <a:ea typeface="+mj-ea"/>
            </a:endParaRPr>
          </a:p>
          <a:p>
            <a:pPr marL="285750" indent="-285750">
              <a:buFont typeface="Wingdings" panose="05000000000000000000" pitchFamily="2" charset="2"/>
              <a:buChar char="n"/>
              <a:defRPr/>
            </a:pPr>
            <a:r>
              <a:rPr lang="zh-CN" altLang="en-US" b="1">
                <a:latin typeface="+mj-ea"/>
                <a:ea typeface="+mj-ea"/>
              </a:rPr>
              <a:t>肾小球肾炎</a:t>
            </a:r>
            <a:endParaRPr lang="en-US" altLang="zh-CN" b="1">
              <a:latin typeface="+mj-ea"/>
              <a:ea typeface="+mj-ea"/>
            </a:endParaRPr>
          </a:p>
          <a:p>
            <a:pPr marL="285750" indent="-285750">
              <a:buFont typeface="Wingdings" panose="05000000000000000000" pitchFamily="2" charset="2"/>
              <a:buChar char="n"/>
              <a:defRPr/>
            </a:pPr>
            <a:r>
              <a:rPr lang="zh-CN" altLang="en-US" b="1">
                <a:latin typeface="+mj-ea"/>
                <a:ea typeface="+mj-ea"/>
              </a:rPr>
              <a:t>慢性肾间质炎</a:t>
            </a:r>
            <a:endParaRPr lang="en-US" altLang="zh-CN" b="1">
              <a:latin typeface="+mj-ea"/>
              <a:ea typeface="+mj-ea"/>
            </a:endParaRPr>
          </a:p>
          <a:p>
            <a:pPr>
              <a:defRPr/>
            </a:pPr>
            <a:endParaRPr lang="en-US" altLang="zh-CN"/>
          </a:p>
          <a:p>
            <a:pPr>
              <a:defRPr/>
            </a:pPr>
            <a:endParaRPr lang="zh-CN" altLang="en-US"/>
          </a:p>
        </p:txBody>
      </p:sp>
      <p:graphicFrame>
        <p:nvGraphicFramePr>
          <p:cNvPr id="14341" name="图表 14335"/>
          <p:cNvGraphicFramePr>
            <a:graphicFrameLocks/>
          </p:cNvGraphicFramePr>
          <p:nvPr/>
        </p:nvGraphicFramePr>
        <p:xfrm>
          <a:off x="5656263" y="1182688"/>
          <a:ext cx="6323012" cy="5149850"/>
        </p:xfrm>
        <a:graphic>
          <a:graphicData uri="http://schemas.openxmlformats.org/presentationml/2006/ole">
            <mc:AlternateContent xmlns:mc="http://schemas.openxmlformats.org/markup-compatibility/2006">
              <mc:Choice xmlns:v="urn:schemas-microsoft-com:vml" Requires="v">
                <p:oleObj spid="_x0000_s14390" name="Chart" r:id="rId5" imgW="6334293" imgH="5151566" progId="Excel.Chart.8">
                  <p:embed/>
                </p:oleObj>
              </mc:Choice>
              <mc:Fallback>
                <p:oleObj name="Chart" r:id="rId5" imgW="6334293" imgH="5151566" progId="Excel.Chart.8">
                  <p:embed/>
                  <p:pic>
                    <p:nvPicPr>
                      <p:cNvPr id="0" name="图表 1433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56263" y="1182688"/>
                        <a:ext cx="6323012" cy="5149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42" name="文本框 14337"/>
          <p:cNvSpPr txBox="1">
            <a:spLocks noChangeArrowheads="1"/>
          </p:cNvSpPr>
          <p:nvPr/>
        </p:nvSpPr>
        <p:spPr bwMode="auto">
          <a:xfrm>
            <a:off x="5664200" y="6281738"/>
            <a:ext cx="590391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100" b="1">
                <a:solidFill>
                  <a:schemeClr val="bg1"/>
                </a:solidFill>
                <a:latin typeface="等线" panose="02010600030101010101" pitchFamily="2" charset="-122"/>
                <a:ea typeface="等线" panose="02010600030101010101" pitchFamily="2" charset="-122"/>
              </a:rPr>
              <a:t>资料来源：</a:t>
            </a:r>
            <a:r>
              <a:rPr lang="en-US" altLang="zh-CN" sz="1100" b="1">
                <a:solidFill>
                  <a:schemeClr val="bg1"/>
                </a:solidFill>
                <a:latin typeface="等线" panose="02010600030101010101" pitchFamily="2" charset="-122"/>
                <a:ea typeface="等线" panose="02010600030101010101" pitchFamily="2" charset="-122"/>
              </a:rPr>
              <a:t>Clinicopathologic findings associated with chronic renal disease in cats S.P. DiBartola et al. 1987</a:t>
            </a:r>
            <a:endParaRPr lang="zh-CN" altLang="en-US" sz="1100" b="1">
              <a:solidFill>
                <a:schemeClr val="bg1"/>
              </a:solidFill>
              <a:latin typeface="等线" panose="02010600030101010101" pitchFamily="2" charset="-122"/>
              <a:ea typeface="等线" panose="02010600030101010101" pitchFamily="2" charset="-122"/>
            </a:endParaRPr>
          </a:p>
        </p:txBody>
      </p:sp>
      <p:sp>
        <p:nvSpPr>
          <p:cNvPr id="3" name="矩形 14340"/>
          <p:cNvSpPr/>
          <p:nvPr/>
        </p:nvSpPr>
        <p:spPr>
          <a:xfrm>
            <a:off x="451495" y="2720498"/>
            <a:ext cx="3984625" cy="461962"/>
          </a:xfrm>
          <a:prstGeom prst="rect">
            <a:avLst/>
          </a:prstGeom>
        </p:spPr>
        <p:txBody>
          <a:bodyPr>
            <a:spAutoFit/>
          </a:bodyPr>
          <a:lstStyle/>
          <a:p>
            <a:pPr>
              <a:defRPr/>
            </a:pPr>
            <a:r>
              <a:rPr lang="zh-CN" altLang="en-US" sz="2400" b="1">
                <a:solidFill>
                  <a:schemeClr val="tx2">
                    <a:lumMod val="75000"/>
                  </a:schemeClr>
                </a:solidFill>
                <a:latin typeface="+mj-ea"/>
                <a:ea typeface="+mj-ea"/>
              </a:rPr>
              <a:t>猫慢性肾病</a:t>
            </a:r>
            <a:r>
              <a:rPr lang="zh-CN" altLang="en-US" sz="1000" b="1">
                <a:solidFill>
                  <a:schemeClr val="tx2">
                    <a:lumMod val="75000"/>
                  </a:schemeClr>
                </a:solidFill>
                <a:latin typeface="+mj-ea"/>
                <a:ea typeface="+mj-ea"/>
              </a:rPr>
              <a:t>（</a:t>
            </a:r>
            <a:r>
              <a:rPr lang="en-US" altLang="zh-CN" sz="1000" b="1">
                <a:solidFill>
                  <a:schemeClr val="tx2">
                    <a:lumMod val="75000"/>
                  </a:schemeClr>
                </a:solidFill>
                <a:latin typeface="+mj-ea"/>
                <a:ea typeface="+mj-ea"/>
              </a:rPr>
              <a:t>CKD</a:t>
            </a:r>
            <a:r>
              <a:rPr lang="zh-CN" altLang="en-US" sz="1000" b="1">
                <a:solidFill>
                  <a:schemeClr val="tx2">
                    <a:lumMod val="75000"/>
                  </a:schemeClr>
                </a:solidFill>
                <a:latin typeface="+mj-ea"/>
                <a:ea typeface="+mj-ea"/>
              </a:rPr>
              <a:t>）</a:t>
            </a:r>
          </a:p>
        </p:txBody>
      </p:sp>
      <p:sp>
        <p:nvSpPr>
          <p:cNvPr id="14" name="文本框 21">
            <a:extLst>
              <a:ext uri="{FF2B5EF4-FFF2-40B4-BE49-F238E27FC236}">
                <a16:creationId xmlns:a16="http://schemas.microsoft.com/office/drawing/2014/main" id="{FEC227EE-EABC-4E75-B906-D6C3CC731C36}"/>
              </a:ext>
            </a:extLst>
          </p:cNvPr>
          <p:cNvSpPr txBox="1">
            <a:spLocks noChangeArrowheads="1"/>
          </p:cNvSpPr>
          <p:nvPr/>
        </p:nvSpPr>
        <p:spPr bwMode="auto">
          <a:xfrm>
            <a:off x="9196387" y="84930"/>
            <a:ext cx="2782888" cy="88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r" eaLnBrk="1" hangingPunct="1">
              <a:lnSpc>
                <a:spcPct val="150000"/>
              </a:lnSpc>
              <a:spcBef>
                <a:spcPct val="0"/>
              </a:spcBef>
              <a:buFontTx/>
              <a:buNone/>
              <a:defRPr/>
            </a:pPr>
            <a:r>
              <a:rPr lang="zh-CN" altLang="en-US" sz="1800" b="1">
                <a:solidFill>
                  <a:srgbClr val="0F0F0F"/>
                </a:solidFill>
                <a:latin typeface="等线" panose="02010600030101010101" pitchFamily="2" charset="-122"/>
                <a:ea typeface="等线" panose="02010600030101010101" pitchFamily="2" charset="-122"/>
                <a:cs typeface="+mn-ea"/>
                <a:sym typeface="+mn-lt"/>
              </a:rPr>
              <a:t>厨子</a:t>
            </a:r>
            <a:r>
              <a:rPr lang="en-US" altLang="zh-CN" sz="1800" b="1">
                <a:solidFill>
                  <a:srgbClr val="0F0F0F"/>
                </a:solidFill>
                <a:latin typeface="等线" panose="02010600030101010101" pitchFamily="2" charset="-122"/>
                <a:ea typeface="等线" panose="02010600030101010101" pitchFamily="2" charset="-122"/>
                <a:cs typeface="+mn-ea"/>
                <a:sym typeface="+mn-lt"/>
              </a:rPr>
              <a:t>@</a:t>
            </a:r>
            <a:r>
              <a:rPr lang="zh-CN" altLang="en-US" sz="1800" b="1">
                <a:solidFill>
                  <a:srgbClr val="0F0F0F"/>
                </a:solidFill>
                <a:latin typeface="等线" panose="02010600030101010101" pitchFamily="2" charset="-122"/>
                <a:ea typeface="等线" panose="02010600030101010101" pitchFamily="2" charset="-122"/>
                <a:cs typeface="+mn-ea"/>
                <a:sym typeface="+mn-lt"/>
              </a:rPr>
              <a:t>公众号</a:t>
            </a:r>
            <a:r>
              <a:rPr lang="en-US" altLang="zh-CN" sz="1800" b="1">
                <a:solidFill>
                  <a:srgbClr val="0F0F0F"/>
                </a:solidFill>
                <a:latin typeface="等线" panose="02010600030101010101" pitchFamily="2" charset="-122"/>
                <a:ea typeface="等线" panose="02010600030101010101" pitchFamily="2" charset="-122"/>
                <a:cs typeface="+mn-ea"/>
                <a:sym typeface="+mn-lt"/>
              </a:rPr>
              <a:t>Raw Meat</a:t>
            </a:r>
          </a:p>
          <a:p>
            <a:pPr algn="r" eaLnBrk="1" hangingPunct="1">
              <a:lnSpc>
                <a:spcPct val="150000"/>
              </a:lnSpc>
              <a:spcBef>
                <a:spcPct val="0"/>
              </a:spcBef>
              <a:buFontTx/>
              <a:buNone/>
              <a:defRPr/>
            </a:pPr>
            <a:r>
              <a:rPr lang="en-US" altLang="zh-CN" sz="1800" b="1">
                <a:solidFill>
                  <a:srgbClr val="0F0F0F"/>
                </a:solidFill>
                <a:latin typeface="等线" panose="02010600030101010101" pitchFamily="2" charset="-122"/>
                <a:ea typeface="等线" panose="02010600030101010101" pitchFamily="2" charset="-122"/>
                <a:cs typeface="+mn-ea"/>
                <a:sym typeface="+mn-lt"/>
              </a:rPr>
              <a:t>2018 Aug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grpSp>
        <p:nvGrpSpPr>
          <p:cNvPr id="17" name="组合 16">
            <a:extLst/>
          </p:cNvPr>
          <p:cNvGrpSpPr/>
          <p:nvPr/>
        </p:nvGrpSpPr>
        <p:grpSpPr>
          <a:xfrm>
            <a:off x="4866703" y="690833"/>
            <a:ext cx="7320137" cy="1050331"/>
            <a:chOff x="8112223" y="330678"/>
            <a:chExt cx="4194115" cy="1050331"/>
          </a:xfrm>
          <a:effectLst>
            <a:outerShdw blurRad="50800" dist="38100" dir="5400000" algn="t" rotWithShape="0">
              <a:prstClr val="black">
                <a:alpha val="40000"/>
              </a:prstClr>
            </a:outerShdw>
          </a:effectLst>
        </p:grpSpPr>
        <p:sp>
          <p:nvSpPr>
            <p:cNvPr id="4"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5" name="组合 22">
              <a:extLst/>
            </p:cNvPr>
            <p:cNvGrpSpPr>
              <a:grpSpLocks/>
            </p:cNvGrpSpPr>
            <p:nvPr/>
          </p:nvGrpSpPr>
          <p:grpSpPr bwMode="auto">
            <a:xfrm>
              <a:off x="8281096" y="330678"/>
              <a:ext cx="3829412" cy="1050331"/>
              <a:chOff x="-461843" y="2729730"/>
              <a:chExt cx="4510539" cy="1468739"/>
            </a:xfrm>
          </p:grpSpPr>
          <p:sp>
            <p:nvSpPr>
              <p:cNvPr id="6"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7" name="文本框 14">
                <a:extLst/>
              </p:cNvPr>
              <p:cNvSpPr txBox="1">
                <a:spLocks noChangeArrowheads="1"/>
              </p:cNvSpPr>
              <p:nvPr/>
            </p:nvSpPr>
            <p:spPr bwMode="auto">
              <a:xfrm>
                <a:off x="1185870" y="2907323"/>
                <a:ext cx="2862826" cy="1291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1600" b="1">
                    <a:solidFill>
                      <a:srgbClr val="010101"/>
                    </a:solidFill>
                    <a:latin typeface="+mj-ea"/>
                    <a:ea typeface="+mj-ea"/>
                    <a:cs typeface="+mn-ea"/>
                    <a:sym typeface="+mn-lt"/>
                  </a:rPr>
                  <a:t>猫肾病是什么？</a:t>
                </a:r>
                <a:endParaRPr lang="en-US" altLang="zh-CN" sz="1600" b="1">
                  <a:solidFill>
                    <a:srgbClr val="010101"/>
                  </a:solidFill>
                  <a:latin typeface="+mj-ea"/>
                  <a:ea typeface="+mj-ea"/>
                  <a:cs typeface="+mn-ea"/>
                  <a:sym typeface="+mn-lt"/>
                </a:endParaRPr>
              </a:p>
              <a:p>
                <a:pPr eaLnBrk="1" hangingPunct="1">
                  <a:lnSpc>
                    <a:spcPct val="150000"/>
                  </a:lnSpc>
                  <a:spcBef>
                    <a:spcPct val="0"/>
                  </a:spcBef>
                  <a:buFontTx/>
                  <a:buNone/>
                  <a:defRPr/>
                </a:pPr>
                <a:r>
                  <a:rPr lang="zh-CN" altLang="en-US" sz="2000" b="1">
                    <a:solidFill>
                      <a:schemeClr val="tx2">
                        <a:lumMod val="75000"/>
                      </a:schemeClr>
                    </a:solidFill>
                    <a:latin typeface="微软雅黑" panose="020B0503020204020204" pitchFamily="34" charset="-122"/>
                    <a:ea typeface="微软雅黑" panose="020B0503020204020204" pitchFamily="34" charset="-122"/>
                    <a:cs typeface="+mn-ea"/>
                    <a:sym typeface="+mn-lt"/>
                  </a:rPr>
                  <a:t>猫慢性肾病年龄分布（</a:t>
                </a:r>
                <a:r>
                  <a:rPr lang="en-US" altLang="zh-CN" sz="2000" b="1">
                    <a:solidFill>
                      <a:schemeClr val="tx2">
                        <a:lumMod val="75000"/>
                      </a:schemeClr>
                    </a:solidFill>
                    <a:latin typeface="微软雅黑" panose="020B0503020204020204" pitchFamily="34" charset="-122"/>
                    <a:ea typeface="微软雅黑" panose="020B0503020204020204" pitchFamily="34" charset="-122"/>
                    <a:cs typeface="+mn-ea"/>
                    <a:sym typeface="+mn-lt"/>
                  </a:rPr>
                  <a:t>CKD</a:t>
                </a:r>
                <a:r>
                  <a:rPr lang="zh-CN" altLang="en-US" sz="2000" b="1">
                    <a:solidFill>
                      <a:schemeClr val="tx2">
                        <a:lumMod val="75000"/>
                      </a:schemeClr>
                    </a:solidFill>
                    <a:latin typeface="微软雅黑" panose="020B0503020204020204" pitchFamily="34" charset="-122"/>
                    <a:ea typeface="微软雅黑" panose="020B0503020204020204" pitchFamily="34" charset="-122"/>
                    <a:cs typeface="+mn-ea"/>
                    <a:sym typeface="+mn-lt"/>
                  </a:rPr>
                  <a:t>）</a:t>
                </a:r>
                <a:endParaRPr lang="en-US" altLang="zh-CN" sz="2000" b="1">
                  <a:solidFill>
                    <a:schemeClr val="tx2">
                      <a:lumMod val="75000"/>
                    </a:schemeClr>
                  </a:solidFill>
                  <a:latin typeface="微软雅黑" panose="020B0503020204020204" pitchFamily="34" charset="-122"/>
                  <a:ea typeface="微软雅黑" panose="020B0503020204020204" pitchFamily="34" charset="-122"/>
                  <a:cs typeface="+mn-ea"/>
                  <a:sym typeface="+mn-lt"/>
                </a:endParaRPr>
              </a:p>
            </p:txBody>
          </p:sp>
          <p:cxnSp>
            <p:nvCxnSpPr>
              <p:cNvPr id="8" name="直接连接符 7">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9" name="矩形 20">
                <a:extLst/>
              </p:cNvPr>
              <p:cNvSpPr>
                <a:spLocks noChangeArrowheads="1"/>
              </p:cNvSpPr>
              <p:nvPr/>
            </p:nvSpPr>
            <p:spPr bwMode="auto">
              <a:xfrm>
                <a:off x="506334" y="3461619"/>
                <a:ext cx="58980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ONE</a:t>
                </a:r>
                <a:endParaRPr lang="zh-CN" altLang="en-US" sz="1200">
                  <a:latin typeface="+mn-lt"/>
                  <a:ea typeface="+mn-ea"/>
                  <a:cs typeface="+mn-ea"/>
                  <a:sym typeface="+mn-lt"/>
                </a:endParaRPr>
              </a:p>
            </p:txBody>
          </p:sp>
        </p:grpSp>
      </p:grpSp>
      <p:graphicFrame>
        <p:nvGraphicFramePr>
          <p:cNvPr id="16387" name="图表 10"/>
          <p:cNvGraphicFramePr>
            <a:graphicFrameLocks/>
          </p:cNvGraphicFramePr>
          <p:nvPr/>
        </p:nvGraphicFramePr>
        <p:xfrm>
          <a:off x="-1154113" y="887413"/>
          <a:ext cx="8229601" cy="5521325"/>
        </p:xfrm>
        <a:graphic>
          <a:graphicData uri="http://schemas.openxmlformats.org/presentationml/2006/ole">
            <mc:AlternateContent xmlns:mc="http://schemas.openxmlformats.org/markup-compatibility/2006">
              <mc:Choice xmlns:v="urn:schemas-microsoft-com:vml" Requires="v">
                <p:oleObj spid="_x0000_s16435" name="Chart" r:id="rId4" imgW="8236410" imgH="5529551" progId="Excel.Chart.8">
                  <p:embed/>
                </p:oleObj>
              </mc:Choice>
              <mc:Fallback>
                <p:oleObj name="Chart" r:id="rId4" imgW="8236410" imgH="5529551" progId="Excel.Chart.8">
                  <p:embed/>
                  <p:pic>
                    <p:nvPicPr>
                      <p:cNvPr id="0" name="图表 10"/>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4113" y="887413"/>
                        <a:ext cx="8229601" cy="5521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文本框 11"/>
          <p:cNvSpPr txBox="1"/>
          <p:nvPr/>
        </p:nvSpPr>
        <p:spPr>
          <a:xfrm>
            <a:off x="7175500" y="2135188"/>
            <a:ext cx="4098925" cy="3170237"/>
          </a:xfrm>
          <a:prstGeom prst="rect">
            <a:avLst/>
          </a:prstGeom>
          <a:noFill/>
        </p:spPr>
        <p:txBody>
          <a:bodyPr>
            <a:spAutoFit/>
          </a:bodyPr>
          <a:lstStyle/>
          <a:p>
            <a:pPr>
              <a:defRPr/>
            </a:pPr>
            <a:r>
              <a:rPr lang="zh-CN" altLang="en-US" sz="2000" b="1">
                <a:solidFill>
                  <a:schemeClr val="bg1">
                    <a:lumMod val="85000"/>
                  </a:schemeClr>
                </a:solidFill>
                <a:effectLst>
                  <a:outerShdw blurRad="38100" dist="38100" dir="2700000" algn="tl">
                    <a:srgbClr val="000000">
                      <a:alpha val="43137"/>
                    </a:srgbClr>
                  </a:outerShdw>
                </a:effectLst>
                <a:latin typeface="+mn-ea"/>
                <a:ea typeface="+mn-ea"/>
              </a:rPr>
              <a:t>来自美国</a:t>
            </a:r>
            <a:r>
              <a:rPr lang="en-US" altLang="zh-CN" sz="2000" b="1">
                <a:solidFill>
                  <a:schemeClr val="bg1">
                    <a:lumMod val="85000"/>
                  </a:schemeClr>
                </a:solidFill>
                <a:effectLst>
                  <a:outerShdw blurRad="38100" dist="38100" dir="2700000" algn="tl">
                    <a:srgbClr val="000000">
                      <a:alpha val="43137"/>
                    </a:srgbClr>
                  </a:outerShdw>
                </a:effectLst>
                <a:latin typeface="+mn-ea"/>
                <a:ea typeface="+mn-ea"/>
              </a:rPr>
              <a:t>23</a:t>
            </a:r>
            <a:r>
              <a:rPr lang="zh-CN" altLang="en-US" sz="2000" b="1">
                <a:solidFill>
                  <a:schemeClr val="bg1">
                    <a:lumMod val="85000"/>
                  </a:schemeClr>
                </a:solidFill>
                <a:effectLst>
                  <a:outerShdw blurRad="38100" dist="38100" dir="2700000" algn="tl">
                    <a:srgbClr val="000000">
                      <a:alpha val="43137"/>
                    </a:srgbClr>
                  </a:outerShdw>
                </a:effectLst>
                <a:latin typeface="+mn-ea"/>
                <a:ea typeface="+mn-ea"/>
              </a:rPr>
              <a:t>家动物医学院，总计</a:t>
            </a:r>
            <a:r>
              <a:rPr lang="en-US" altLang="zh-CN" sz="2000" b="1">
                <a:solidFill>
                  <a:schemeClr val="bg1">
                    <a:lumMod val="85000"/>
                  </a:schemeClr>
                </a:solidFill>
                <a:effectLst>
                  <a:outerShdw blurRad="38100" dist="38100" dir="2700000" algn="tl">
                    <a:srgbClr val="000000">
                      <a:alpha val="43137"/>
                    </a:srgbClr>
                  </a:outerShdw>
                </a:effectLst>
                <a:latin typeface="+mn-ea"/>
                <a:ea typeface="+mn-ea"/>
              </a:rPr>
              <a:t>2228</a:t>
            </a:r>
            <a:r>
              <a:rPr lang="zh-CN" altLang="en-US" sz="2000" b="1">
                <a:solidFill>
                  <a:schemeClr val="bg1">
                    <a:lumMod val="85000"/>
                  </a:schemeClr>
                </a:solidFill>
                <a:effectLst>
                  <a:outerShdw blurRad="38100" dist="38100" dir="2700000" algn="tl">
                    <a:srgbClr val="000000">
                      <a:alpha val="43137"/>
                    </a:srgbClr>
                  </a:outerShdw>
                </a:effectLst>
                <a:latin typeface="+mn-ea"/>
                <a:ea typeface="+mn-ea"/>
              </a:rPr>
              <a:t>个“猫肾衰”案例中，</a:t>
            </a:r>
            <a:r>
              <a:rPr lang="zh-CN" altLang="en-US" sz="2000" b="1">
                <a:solidFill>
                  <a:schemeClr val="bg1">
                    <a:lumMod val="85000"/>
                  </a:schemeClr>
                </a:solidFill>
                <a:latin typeface="+mn-ea"/>
                <a:ea typeface="+mn-ea"/>
              </a:rPr>
              <a:t>年龄分布如下：</a:t>
            </a:r>
            <a:endParaRPr lang="en-US" altLang="zh-CN" sz="2000" b="1">
              <a:solidFill>
                <a:schemeClr val="bg1">
                  <a:lumMod val="85000"/>
                </a:schemeClr>
              </a:solidFill>
              <a:latin typeface="+mn-ea"/>
              <a:ea typeface="+mn-ea"/>
            </a:endParaRPr>
          </a:p>
          <a:p>
            <a:pPr>
              <a:defRPr/>
            </a:pPr>
            <a:endParaRPr lang="en-US" altLang="zh-CN" sz="2000" b="1">
              <a:solidFill>
                <a:schemeClr val="bg1"/>
              </a:solidFill>
              <a:latin typeface="+mn-ea"/>
              <a:ea typeface="+mn-ea"/>
            </a:endParaRPr>
          </a:p>
          <a:p>
            <a:pPr marL="342900" indent="-342900">
              <a:buFont typeface="Wingdings" panose="05000000000000000000" pitchFamily="2" charset="2"/>
              <a:buChar char="Ø"/>
              <a:defRPr/>
            </a:pPr>
            <a:r>
              <a:rPr lang="en-US" altLang="zh-CN" sz="2000" b="1">
                <a:solidFill>
                  <a:schemeClr val="bg2">
                    <a:lumMod val="90000"/>
                  </a:schemeClr>
                </a:solidFill>
                <a:latin typeface="+mn-ea"/>
                <a:ea typeface="+mn-ea"/>
              </a:rPr>
              <a:t>2</a:t>
            </a:r>
            <a:r>
              <a:rPr lang="zh-CN" altLang="en-US" sz="2000" b="1">
                <a:solidFill>
                  <a:schemeClr val="bg2">
                    <a:lumMod val="90000"/>
                  </a:schemeClr>
                </a:solidFill>
                <a:effectLst>
                  <a:outerShdw blurRad="38100" dist="38100" dir="2700000" algn="tl">
                    <a:srgbClr val="000000">
                      <a:alpha val="43137"/>
                    </a:srgbClr>
                  </a:outerShdw>
                </a:effectLst>
                <a:latin typeface="+mn-ea"/>
                <a:ea typeface="+mn-ea"/>
              </a:rPr>
              <a:t>岁以下：  </a:t>
            </a:r>
            <a:r>
              <a:rPr lang="en-US" altLang="zh-CN" sz="2000" b="1">
                <a:solidFill>
                  <a:schemeClr val="bg2">
                    <a:lumMod val="90000"/>
                  </a:schemeClr>
                </a:solidFill>
                <a:effectLst>
                  <a:outerShdw blurRad="38100" dist="38100" dir="2700000" algn="tl">
                    <a:srgbClr val="000000">
                      <a:alpha val="43137"/>
                    </a:srgbClr>
                  </a:outerShdw>
                </a:effectLst>
                <a:latin typeface="+mn-ea"/>
                <a:ea typeface="+mn-ea"/>
              </a:rPr>
              <a:t>6%</a:t>
            </a:r>
          </a:p>
          <a:p>
            <a:pPr marL="342900" indent="-342900">
              <a:buFont typeface="Wingdings" panose="05000000000000000000" pitchFamily="2" charset="2"/>
              <a:buChar char="Ø"/>
              <a:defRPr/>
            </a:pPr>
            <a:r>
              <a:rPr lang="en-US" altLang="zh-CN" sz="2000" b="1">
                <a:solidFill>
                  <a:schemeClr val="bg2">
                    <a:lumMod val="90000"/>
                  </a:schemeClr>
                </a:solidFill>
                <a:effectLst>
                  <a:outerShdw blurRad="38100" dist="38100" dir="2700000" algn="tl">
                    <a:srgbClr val="000000">
                      <a:alpha val="43137"/>
                    </a:srgbClr>
                  </a:outerShdw>
                </a:effectLst>
                <a:latin typeface="+mn-ea"/>
                <a:ea typeface="+mn-ea"/>
              </a:rPr>
              <a:t>2-4</a:t>
            </a:r>
            <a:r>
              <a:rPr lang="zh-CN" altLang="en-US" sz="2000" b="1">
                <a:solidFill>
                  <a:schemeClr val="bg2">
                    <a:lumMod val="90000"/>
                  </a:schemeClr>
                </a:solidFill>
                <a:effectLst>
                  <a:outerShdw blurRad="38100" dist="38100" dir="2700000" algn="tl">
                    <a:srgbClr val="000000">
                      <a:alpha val="43137"/>
                    </a:srgbClr>
                  </a:outerShdw>
                </a:effectLst>
                <a:latin typeface="+mn-ea"/>
                <a:ea typeface="+mn-ea"/>
              </a:rPr>
              <a:t>岁：     </a:t>
            </a:r>
            <a:r>
              <a:rPr lang="en-US" altLang="zh-CN" sz="2000" b="1">
                <a:solidFill>
                  <a:schemeClr val="bg2">
                    <a:lumMod val="90000"/>
                  </a:schemeClr>
                </a:solidFill>
                <a:effectLst>
                  <a:outerShdw blurRad="38100" dist="38100" dir="2700000" algn="tl">
                    <a:srgbClr val="000000">
                      <a:alpha val="43137"/>
                    </a:srgbClr>
                  </a:outerShdw>
                </a:effectLst>
                <a:latin typeface="+mn-ea"/>
                <a:ea typeface="+mn-ea"/>
              </a:rPr>
              <a:t>7%</a:t>
            </a:r>
          </a:p>
          <a:p>
            <a:pPr marL="342900" indent="-342900">
              <a:buFont typeface="Wingdings" panose="05000000000000000000" pitchFamily="2" charset="2"/>
              <a:buChar char="Ø"/>
              <a:defRPr/>
            </a:pPr>
            <a:r>
              <a:rPr lang="en-US" altLang="zh-CN" sz="2000" b="1">
                <a:solidFill>
                  <a:schemeClr val="bg2">
                    <a:lumMod val="90000"/>
                  </a:schemeClr>
                </a:solidFill>
                <a:effectLst>
                  <a:outerShdw blurRad="38100" dist="38100" dir="2700000" algn="tl">
                    <a:srgbClr val="000000">
                      <a:alpha val="43137"/>
                    </a:srgbClr>
                  </a:outerShdw>
                </a:effectLst>
                <a:latin typeface="+mn-ea"/>
                <a:ea typeface="+mn-ea"/>
              </a:rPr>
              <a:t>4-7</a:t>
            </a:r>
            <a:r>
              <a:rPr lang="zh-CN" altLang="en-US" sz="2000" b="1">
                <a:solidFill>
                  <a:schemeClr val="bg2">
                    <a:lumMod val="90000"/>
                  </a:schemeClr>
                </a:solidFill>
                <a:effectLst>
                  <a:outerShdw blurRad="38100" dist="38100" dir="2700000" algn="tl">
                    <a:srgbClr val="000000">
                      <a:alpha val="43137"/>
                    </a:srgbClr>
                  </a:outerShdw>
                </a:effectLst>
                <a:latin typeface="+mn-ea"/>
                <a:ea typeface="+mn-ea"/>
              </a:rPr>
              <a:t>岁：     </a:t>
            </a:r>
            <a:r>
              <a:rPr lang="en-US" altLang="zh-CN" sz="2000" b="1">
                <a:solidFill>
                  <a:schemeClr val="bg2">
                    <a:lumMod val="90000"/>
                  </a:schemeClr>
                </a:solidFill>
                <a:effectLst>
                  <a:outerShdw blurRad="38100" dist="38100" dir="2700000" algn="tl">
                    <a:srgbClr val="000000">
                      <a:alpha val="43137"/>
                    </a:srgbClr>
                  </a:outerShdw>
                </a:effectLst>
                <a:latin typeface="+mn-ea"/>
                <a:ea typeface="+mn-ea"/>
              </a:rPr>
              <a:t>12%</a:t>
            </a:r>
          </a:p>
          <a:p>
            <a:pPr marL="342900" indent="-342900">
              <a:buFont typeface="Wingdings" panose="05000000000000000000" pitchFamily="2" charset="2"/>
              <a:buChar char="Ø"/>
              <a:defRPr/>
            </a:pPr>
            <a:r>
              <a:rPr lang="en-US" altLang="zh-CN" sz="2000" b="1">
                <a:solidFill>
                  <a:schemeClr val="bg2">
                    <a:lumMod val="90000"/>
                  </a:schemeClr>
                </a:solidFill>
                <a:effectLst>
                  <a:outerShdw blurRad="38100" dist="38100" dir="2700000" algn="tl">
                    <a:srgbClr val="000000">
                      <a:alpha val="43137"/>
                    </a:srgbClr>
                  </a:outerShdw>
                </a:effectLst>
                <a:latin typeface="+mn-ea"/>
                <a:ea typeface="+mn-ea"/>
              </a:rPr>
              <a:t>7-10</a:t>
            </a:r>
            <a:r>
              <a:rPr lang="zh-CN" altLang="en-US" sz="2000" b="1">
                <a:solidFill>
                  <a:schemeClr val="bg2">
                    <a:lumMod val="90000"/>
                  </a:schemeClr>
                </a:solidFill>
                <a:effectLst>
                  <a:outerShdw blurRad="38100" dist="38100" dir="2700000" algn="tl">
                    <a:srgbClr val="000000">
                      <a:alpha val="43137"/>
                    </a:srgbClr>
                  </a:outerShdw>
                </a:effectLst>
                <a:latin typeface="+mn-ea"/>
                <a:ea typeface="+mn-ea"/>
              </a:rPr>
              <a:t>岁：   </a:t>
            </a:r>
            <a:r>
              <a:rPr lang="en-US" altLang="zh-CN" sz="2000" b="1">
                <a:solidFill>
                  <a:schemeClr val="bg2">
                    <a:lumMod val="90000"/>
                  </a:schemeClr>
                </a:solidFill>
                <a:effectLst>
                  <a:outerShdw blurRad="38100" dist="38100" dir="2700000" algn="tl">
                    <a:srgbClr val="000000">
                      <a:alpha val="43137"/>
                    </a:srgbClr>
                  </a:outerShdw>
                </a:effectLst>
                <a:latin typeface="+mn-ea"/>
                <a:ea typeface="+mn-ea"/>
              </a:rPr>
              <a:t>12%</a:t>
            </a:r>
          </a:p>
          <a:p>
            <a:pPr marL="342900" indent="-342900">
              <a:buFont typeface="Wingdings" panose="05000000000000000000" pitchFamily="2" charset="2"/>
              <a:buChar char="Ø"/>
              <a:defRPr/>
            </a:pPr>
            <a:r>
              <a:rPr lang="en-US" altLang="zh-CN" sz="2000" b="1">
                <a:solidFill>
                  <a:schemeClr val="bg2">
                    <a:lumMod val="90000"/>
                  </a:schemeClr>
                </a:solidFill>
                <a:effectLst>
                  <a:outerShdw blurRad="38100" dist="38100" dir="2700000" algn="tl">
                    <a:srgbClr val="000000">
                      <a:alpha val="43137"/>
                    </a:srgbClr>
                  </a:outerShdw>
                </a:effectLst>
                <a:latin typeface="+mn-ea"/>
                <a:ea typeface="+mn-ea"/>
              </a:rPr>
              <a:t>10-15</a:t>
            </a:r>
            <a:r>
              <a:rPr lang="zh-CN" altLang="en-US" sz="2000" b="1">
                <a:solidFill>
                  <a:schemeClr val="bg2">
                    <a:lumMod val="90000"/>
                  </a:schemeClr>
                </a:solidFill>
                <a:effectLst>
                  <a:outerShdw blurRad="38100" dist="38100" dir="2700000" algn="tl">
                    <a:srgbClr val="000000">
                      <a:alpha val="43137"/>
                    </a:srgbClr>
                  </a:outerShdw>
                </a:effectLst>
                <a:latin typeface="+mn-ea"/>
                <a:ea typeface="+mn-ea"/>
              </a:rPr>
              <a:t>岁： </a:t>
            </a:r>
            <a:r>
              <a:rPr lang="en-US" altLang="zh-CN" sz="2000" b="1">
                <a:solidFill>
                  <a:schemeClr val="bg2">
                    <a:lumMod val="90000"/>
                  </a:schemeClr>
                </a:solidFill>
                <a:effectLst>
                  <a:outerShdw blurRad="38100" dist="38100" dir="2700000" algn="tl">
                    <a:srgbClr val="000000">
                      <a:alpha val="43137"/>
                    </a:srgbClr>
                  </a:outerShdw>
                </a:effectLst>
                <a:latin typeface="+mn-ea"/>
                <a:ea typeface="+mn-ea"/>
              </a:rPr>
              <a:t>31%</a:t>
            </a:r>
          </a:p>
          <a:p>
            <a:pPr marL="342900" indent="-342900">
              <a:buFont typeface="Wingdings" panose="05000000000000000000" pitchFamily="2" charset="2"/>
              <a:buChar char="Ø"/>
              <a:defRPr/>
            </a:pPr>
            <a:r>
              <a:rPr lang="zh-CN" altLang="en-US" sz="2000" b="1">
                <a:solidFill>
                  <a:schemeClr val="bg2">
                    <a:lumMod val="90000"/>
                  </a:schemeClr>
                </a:solidFill>
                <a:latin typeface="+mn-ea"/>
                <a:ea typeface="+mn-ea"/>
              </a:rPr>
              <a:t>大于</a:t>
            </a:r>
            <a:r>
              <a:rPr lang="en-US" altLang="zh-CN" sz="2000" b="1">
                <a:solidFill>
                  <a:schemeClr val="bg2">
                    <a:lumMod val="90000"/>
                  </a:schemeClr>
                </a:solidFill>
                <a:latin typeface="+mn-ea"/>
                <a:ea typeface="+mn-ea"/>
              </a:rPr>
              <a:t>15</a:t>
            </a:r>
            <a:r>
              <a:rPr lang="zh-CN" altLang="en-US" sz="2000" b="1">
                <a:solidFill>
                  <a:schemeClr val="bg2">
                    <a:lumMod val="90000"/>
                  </a:schemeClr>
                </a:solidFill>
                <a:latin typeface="+mn-ea"/>
                <a:ea typeface="+mn-ea"/>
              </a:rPr>
              <a:t>岁：</a:t>
            </a:r>
            <a:r>
              <a:rPr lang="en-US" altLang="zh-CN" sz="2000" b="1">
                <a:solidFill>
                  <a:schemeClr val="bg2">
                    <a:lumMod val="90000"/>
                  </a:schemeClr>
                </a:solidFill>
                <a:latin typeface="+mn-ea"/>
                <a:ea typeface="+mn-ea"/>
              </a:rPr>
              <a:t>32%</a:t>
            </a:r>
            <a:endParaRPr lang="zh-CN" altLang="en-US" sz="2000" b="1">
              <a:solidFill>
                <a:schemeClr val="bg2">
                  <a:lumMod val="90000"/>
                </a:schemeClr>
              </a:solidFill>
              <a:latin typeface="+mn-ea"/>
              <a:ea typeface="+mn-ea"/>
            </a:endParaRPr>
          </a:p>
        </p:txBody>
      </p:sp>
      <p:sp>
        <p:nvSpPr>
          <p:cNvPr id="13" name="文本框 12"/>
          <p:cNvSpPr txBox="1"/>
          <p:nvPr/>
        </p:nvSpPr>
        <p:spPr>
          <a:xfrm>
            <a:off x="5075238" y="6345238"/>
            <a:ext cx="6199187" cy="430212"/>
          </a:xfrm>
          <a:prstGeom prst="rect">
            <a:avLst/>
          </a:prstGeom>
          <a:noFill/>
        </p:spPr>
        <p:txBody>
          <a:bodyPr>
            <a:spAutoFit/>
          </a:bodyPr>
          <a:lstStyle/>
          <a:p>
            <a:pPr>
              <a:defRPr/>
            </a:pPr>
            <a:r>
              <a:rPr lang="en-US" altLang="zh-CN" sz="1100" err="1">
                <a:solidFill>
                  <a:schemeClr val="bg1">
                    <a:lumMod val="95000"/>
                  </a:schemeClr>
                </a:solidFill>
              </a:rPr>
              <a:t>Lulich</a:t>
            </a:r>
            <a:r>
              <a:rPr lang="en-US" altLang="zh-CN" sz="1100">
                <a:solidFill>
                  <a:schemeClr val="bg1">
                    <a:lumMod val="95000"/>
                  </a:schemeClr>
                </a:solidFill>
              </a:rPr>
              <a:t> JP, </a:t>
            </a:r>
            <a:r>
              <a:rPr lang="en-US" altLang="zh-CN" sz="1100" err="1">
                <a:solidFill>
                  <a:schemeClr val="bg1">
                    <a:lumMod val="95000"/>
                  </a:schemeClr>
                </a:solidFill>
              </a:rPr>
              <a:t>osborne</a:t>
            </a:r>
            <a:r>
              <a:rPr lang="en-US" altLang="zh-CN" sz="1100">
                <a:solidFill>
                  <a:schemeClr val="bg1">
                    <a:lumMod val="95000"/>
                  </a:schemeClr>
                </a:solidFill>
              </a:rPr>
              <a:t> CA, </a:t>
            </a:r>
            <a:r>
              <a:rPr lang="en-US" altLang="zh-CN" sz="1100" err="1">
                <a:solidFill>
                  <a:schemeClr val="bg1">
                    <a:lumMod val="95000"/>
                  </a:schemeClr>
                </a:solidFill>
              </a:rPr>
              <a:t>o’Brien</a:t>
            </a:r>
            <a:r>
              <a:rPr lang="en-US" altLang="zh-CN" sz="1100">
                <a:solidFill>
                  <a:schemeClr val="bg1">
                    <a:lumMod val="95000"/>
                  </a:schemeClr>
                </a:solidFill>
              </a:rPr>
              <a:t> Rd and </a:t>
            </a:r>
            <a:r>
              <a:rPr lang="en-US" altLang="zh-CN" sz="1100" err="1">
                <a:solidFill>
                  <a:schemeClr val="bg1">
                    <a:lumMod val="95000"/>
                  </a:schemeClr>
                </a:solidFill>
              </a:rPr>
              <a:t>Polzin</a:t>
            </a:r>
            <a:r>
              <a:rPr lang="en-US" altLang="zh-CN" sz="1100">
                <a:solidFill>
                  <a:schemeClr val="bg1">
                    <a:lumMod val="95000"/>
                  </a:schemeClr>
                </a:solidFill>
              </a:rPr>
              <a:t> </a:t>
            </a:r>
            <a:r>
              <a:rPr lang="en-US" altLang="zh-CN" sz="1100" err="1">
                <a:solidFill>
                  <a:schemeClr val="bg1">
                    <a:lumMod val="95000"/>
                  </a:schemeClr>
                </a:solidFill>
              </a:rPr>
              <a:t>dJ</a:t>
            </a:r>
            <a:r>
              <a:rPr lang="en-US" altLang="zh-CN" sz="1100">
                <a:solidFill>
                  <a:schemeClr val="bg1">
                    <a:lumMod val="95000"/>
                  </a:schemeClr>
                </a:solidFill>
              </a:rPr>
              <a:t>. Feline renal failure: questions, answers, questions. </a:t>
            </a:r>
            <a:r>
              <a:rPr lang="en-US" altLang="zh-CN" sz="1100" err="1">
                <a:solidFill>
                  <a:schemeClr val="bg1">
                    <a:lumMod val="95000"/>
                  </a:schemeClr>
                </a:solidFill>
              </a:rPr>
              <a:t>Compend</a:t>
            </a:r>
            <a:r>
              <a:rPr lang="en-US" altLang="zh-CN" sz="1100">
                <a:solidFill>
                  <a:schemeClr val="bg1">
                    <a:lumMod val="95000"/>
                  </a:schemeClr>
                </a:solidFill>
              </a:rPr>
              <a:t> </a:t>
            </a:r>
            <a:r>
              <a:rPr lang="en-US" altLang="zh-CN" sz="1100" err="1">
                <a:solidFill>
                  <a:schemeClr val="bg1">
                    <a:lumMod val="95000"/>
                  </a:schemeClr>
                </a:solidFill>
              </a:rPr>
              <a:t>Contin</a:t>
            </a:r>
            <a:r>
              <a:rPr lang="en-US" altLang="zh-CN" sz="1100">
                <a:solidFill>
                  <a:schemeClr val="bg1">
                    <a:lumMod val="95000"/>
                  </a:schemeClr>
                </a:solidFill>
              </a:rPr>
              <a:t> </a:t>
            </a:r>
            <a:r>
              <a:rPr lang="en-US" altLang="zh-CN" sz="1100" err="1">
                <a:solidFill>
                  <a:schemeClr val="bg1">
                    <a:lumMod val="95000"/>
                  </a:schemeClr>
                </a:solidFill>
              </a:rPr>
              <a:t>Educ</a:t>
            </a:r>
            <a:r>
              <a:rPr lang="en-US" altLang="zh-CN" sz="1100">
                <a:solidFill>
                  <a:schemeClr val="bg1">
                    <a:lumMod val="95000"/>
                  </a:schemeClr>
                </a:solidFill>
              </a:rPr>
              <a:t> </a:t>
            </a:r>
            <a:r>
              <a:rPr lang="en-US" altLang="zh-CN" sz="1100" err="1">
                <a:solidFill>
                  <a:schemeClr val="bg1">
                    <a:lumMod val="95000"/>
                  </a:schemeClr>
                </a:solidFill>
              </a:rPr>
              <a:t>Pract</a:t>
            </a:r>
            <a:r>
              <a:rPr lang="en-US" altLang="zh-CN" sz="1100">
                <a:solidFill>
                  <a:schemeClr val="bg1">
                    <a:lumMod val="95000"/>
                  </a:schemeClr>
                </a:solidFill>
              </a:rPr>
              <a:t> Vet 1992; 14: 127–152</a:t>
            </a:r>
            <a:endParaRPr lang="zh-CN" altLang="en-US" sz="1100">
              <a:solidFill>
                <a:schemeClr val="bg1">
                  <a:lumMod val="95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3" name="流程图: 过程 32">
            <a:extLst/>
          </p:cNvPr>
          <p:cNvSpPr/>
          <p:nvPr/>
        </p:nvSpPr>
        <p:spPr bwMode="auto">
          <a:xfrm>
            <a:off x="801688" y="2186989"/>
            <a:ext cx="10596562" cy="2329601"/>
          </a:xfrm>
          <a:prstGeom prst="flowChartProcess">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spcBef>
                <a:spcPts val="0"/>
              </a:spcBef>
              <a:spcAft>
                <a:spcPts val="0"/>
              </a:spcAft>
              <a:defRPr/>
            </a:pPr>
            <a:endParaRPr lang="zh-CN" altLang="en-US" kern="0">
              <a:solidFill>
                <a:sysClr val="windowText" lastClr="000000"/>
              </a:solidFill>
              <a:cs typeface="+mn-ea"/>
              <a:sym typeface="+mn-lt"/>
            </a:endParaRPr>
          </a:p>
        </p:txBody>
      </p:sp>
      <p:sp>
        <p:nvSpPr>
          <p:cNvPr id="38" name="矩形 3">
            <a:extLst/>
          </p:cNvPr>
          <p:cNvSpPr>
            <a:spLocks noChangeArrowheads="1"/>
          </p:cNvSpPr>
          <p:nvPr/>
        </p:nvSpPr>
        <p:spPr bwMode="auto">
          <a:xfrm>
            <a:off x="-1118054" y="1699929"/>
            <a:ext cx="79200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fontAlgn="auto" hangingPunct="1">
              <a:lnSpc>
                <a:spcPct val="100000"/>
              </a:lnSpc>
              <a:spcBef>
                <a:spcPct val="0"/>
              </a:spcBef>
              <a:spcAft>
                <a:spcPts val="0"/>
              </a:spcAft>
              <a:buFontTx/>
              <a:buNone/>
              <a:defRPr/>
            </a:pPr>
            <a:r>
              <a:rPr lang="zh-CN" altLang="en-US" sz="2400" b="1" kern="0">
                <a:solidFill>
                  <a:srgbClr val="FFFF00"/>
                </a:solidFill>
                <a:effectLst>
                  <a:outerShdw blurRad="38100" dist="38100" dir="2700000" algn="tl">
                    <a:srgbClr val="000000">
                      <a:alpha val="43137"/>
                    </a:srgbClr>
                  </a:outerShdw>
                </a:effectLst>
                <a:latin typeface="+mn-lt"/>
                <a:ea typeface="+mn-ea"/>
                <a:cs typeface="+mn-ea"/>
                <a:sym typeface="+mn-lt"/>
              </a:rPr>
              <a:t>为什么我的猫会得慢性肾病？</a:t>
            </a:r>
          </a:p>
        </p:txBody>
      </p:sp>
      <p:grpSp>
        <p:nvGrpSpPr>
          <p:cNvPr id="17" name="组合 16">
            <a:extLst/>
          </p:cNvPr>
          <p:cNvGrpSpPr/>
          <p:nvPr/>
        </p:nvGrpSpPr>
        <p:grpSpPr>
          <a:xfrm>
            <a:off x="4866703" y="690833"/>
            <a:ext cx="7320137" cy="1142664"/>
            <a:chOff x="8112223" y="330678"/>
            <a:chExt cx="4194115" cy="1142664"/>
          </a:xfrm>
          <a:effectLst>
            <a:outerShdw blurRad="50800" dist="38100" dir="5400000" algn="t" rotWithShape="0">
              <a:prstClr val="black">
                <a:alpha val="40000"/>
              </a:prstClr>
            </a:outerShdw>
          </a:effectLst>
        </p:grpSpPr>
        <p:sp>
          <p:nvSpPr>
            <p:cNvPr id="4"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5" name="组合 22">
              <a:extLst/>
            </p:cNvPr>
            <p:cNvGrpSpPr>
              <a:grpSpLocks/>
            </p:cNvGrpSpPr>
            <p:nvPr/>
          </p:nvGrpSpPr>
          <p:grpSpPr bwMode="auto">
            <a:xfrm>
              <a:off x="8281096" y="330678"/>
              <a:ext cx="3829412" cy="1142664"/>
              <a:chOff x="-461843" y="2729730"/>
              <a:chExt cx="4510539" cy="1597854"/>
            </a:xfrm>
          </p:grpSpPr>
          <p:sp>
            <p:nvSpPr>
              <p:cNvPr id="6"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7" name="文本框 14">
                <a:extLst/>
              </p:cNvPr>
              <p:cNvSpPr txBox="1">
                <a:spLocks noChangeArrowheads="1"/>
              </p:cNvSpPr>
              <p:nvPr/>
            </p:nvSpPr>
            <p:spPr bwMode="auto">
              <a:xfrm>
                <a:off x="1185870" y="2907323"/>
                <a:ext cx="2862826" cy="1420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1600" b="1">
                    <a:solidFill>
                      <a:srgbClr val="010101"/>
                    </a:solidFill>
                    <a:latin typeface="+mj-ea"/>
                    <a:ea typeface="+mj-ea"/>
                    <a:cs typeface="+mn-ea"/>
                    <a:sym typeface="+mn-lt"/>
                  </a:rPr>
                  <a:t>猫肾病是什么？风险因素有哪些？</a:t>
                </a:r>
                <a:endParaRPr lang="en-US" altLang="zh-CN" sz="1600" b="1">
                  <a:solidFill>
                    <a:srgbClr val="010101"/>
                  </a:solidFill>
                  <a:latin typeface="+mj-ea"/>
                  <a:ea typeface="+mj-ea"/>
                  <a:cs typeface="+mn-ea"/>
                  <a:sym typeface="+mn-lt"/>
                </a:endParaRPr>
              </a:p>
              <a:p>
                <a:pPr eaLnBrk="1" hangingPunct="1">
                  <a:lnSpc>
                    <a:spcPct val="150000"/>
                  </a:lnSpc>
                  <a:spcBef>
                    <a:spcPct val="0"/>
                  </a:spcBef>
                  <a:buFontTx/>
                  <a:buNone/>
                  <a:defRPr/>
                </a:pPr>
                <a:r>
                  <a:rPr lang="zh-CN" altLang="en-US" sz="2400" b="1">
                    <a:solidFill>
                      <a:schemeClr val="tx2">
                        <a:lumMod val="75000"/>
                      </a:schemeClr>
                    </a:solidFill>
                    <a:latin typeface="微软雅黑" panose="020B0503020204020204" pitchFamily="34" charset="-122"/>
                    <a:ea typeface="微软雅黑" panose="020B0503020204020204" pitchFamily="34" charset="-122"/>
                    <a:cs typeface="+mn-ea"/>
                    <a:sym typeface="+mn-lt"/>
                  </a:rPr>
                  <a:t>猫慢性肾病风险因素？</a:t>
                </a:r>
                <a:endParaRPr lang="en-US" altLang="zh-CN" sz="2400" b="1">
                  <a:solidFill>
                    <a:schemeClr val="tx2">
                      <a:lumMod val="75000"/>
                    </a:schemeClr>
                  </a:solidFill>
                  <a:latin typeface="微软雅黑" panose="020B0503020204020204" pitchFamily="34" charset="-122"/>
                  <a:ea typeface="微软雅黑" panose="020B0503020204020204" pitchFamily="34" charset="-122"/>
                  <a:cs typeface="+mn-ea"/>
                  <a:sym typeface="+mn-lt"/>
                </a:endParaRPr>
              </a:p>
            </p:txBody>
          </p:sp>
          <p:cxnSp>
            <p:nvCxnSpPr>
              <p:cNvPr id="8" name="直接连接符 7">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9" name="矩形 20">
                <a:extLst/>
              </p:cNvPr>
              <p:cNvSpPr>
                <a:spLocks noChangeArrowheads="1"/>
              </p:cNvSpPr>
              <p:nvPr/>
            </p:nvSpPr>
            <p:spPr bwMode="auto">
              <a:xfrm>
                <a:off x="506334" y="3461619"/>
                <a:ext cx="58980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ONE</a:t>
                </a:r>
                <a:endParaRPr lang="zh-CN" altLang="en-US" sz="1200">
                  <a:latin typeface="+mn-lt"/>
                  <a:ea typeface="+mn-ea"/>
                  <a:cs typeface="+mn-ea"/>
                  <a:sym typeface="+mn-lt"/>
                </a:endParaRPr>
              </a:p>
            </p:txBody>
          </p:sp>
        </p:grpSp>
      </p:grpSp>
      <p:sp>
        <p:nvSpPr>
          <p:cNvPr id="21" name="流程图: 过程 20">
            <a:extLst/>
          </p:cNvPr>
          <p:cNvSpPr/>
          <p:nvPr/>
        </p:nvSpPr>
        <p:spPr bwMode="auto">
          <a:xfrm>
            <a:off x="801688" y="4676594"/>
            <a:ext cx="10596562" cy="2171664"/>
          </a:xfrm>
          <a:prstGeom prst="flowChartProcess">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kern="0">
              <a:solidFill>
                <a:sysClr val="windowText" lastClr="000000"/>
              </a:solidFill>
              <a:cs typeface="+mn-ea"/>
              <a:sym typeface="+mn-lt"/>
            </a:endParaRPr>
          </a:p>
        </p:txBody>
      </p:sp>
      <p:sp>
        <p:nvSpPr>
          <p:cNvPr id="11" name="文本框 10"/>
          <p:cNvSpPr txBox="1"/>
          <p:nvPr/>
        </p:nvSpPr>
        <p:spPr>
          <a:xfrm>
            <a:off x="948516" y="2346992"/>
            <a:ext cx="10332059" cy="1938992"/>
          </a:xfrm>
          <a:prstGeom prst="rect">
            <a:avLst/>
          </a:prstGeom>
          <a:noFill/>
        </p:spPr>
        <p:txBody>
          <a:bodyPr wrap="square" numCol="3">
            <a:spAutoFit/>
          </a:bodyPr>
          <a:lstStyle/>
          <a:p>
            <a:pPr marL="342900" indent="-342900">
              <a:buFont typeface="Wingdings" panose="05000000000000000000" pitchFamily="2" charset="2"/>
              <a:buChar char="n"/>
              <a:defRPr/>
            </a:pPr>
            <a:r>
              <a:rPr lang="zh-CN" altLang="en-US" sz="2400" b="1">
                <a:solidFill>
                  <a:schemeClr val="bg1">
                    <a:lumMod val="85000"/>
                  </a:schemeClr>
                </a:solidFill>
                <a:latin typeface="微软雅黑" panose="020B0503020204020204" pitchFamily="34" charset="-122"/>
                <a:ea typeface="微软雅黑" panose="020B0503020204020204" pitchFamily="34" charset="-122"/>
              </a:rPr>
              <a:t>年龄</a:t>
            </a:r>
            <a:endParaRPr lang="en-US" altLang="zh-CN" sz="2400" b="1">
              <a:solidFill>
                <a:schemeClr val="bg1">
                  <a:lumMod val="85000"/>
                </a:schemeClr>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n"/>
              <a:defRPr/>
            </a:pPr>
            <a:r>
              <a:rPr lang="zh-CN" altLang="en-US" sz="2400" b="1">
                <a:solidFill>
                  <a:schemeClr val="bg1">
                    <a:lumMod val="85000"/>
                  </a:schemeClr>
                </a:solidFill>
                <a:latin typeface="微软雅黑" panose="020B0503020204020204" pitchFamily="34" charset="-122"/>
                <a:ea typeface="微软雅黑" panose="020B0503020204020204" pitchFamily="34" charset="-122"/>
              </a:rPr>
              <a:t>品种</a:t>
            </a:r>
            <a:r>
              <a:rPr lang="zh-CN" altLang="en-US" sz="1100" b="1">
                <a:solidFill>
                  <a:schemeClr val="bg1">
                    <a:lumMod val="85000"/>
                  </a:schemeClr>
                </a:solidFill>
                <a:latin typeface="微软雅黑" panose="020B0503020204020204" pitchFamily="34" charset="-122"/>
                <a:ea typeface="微软雅黑" panose="020B0503020204020204" pitchFamily="34" charset="-122"/>
              </a:rPr>
              <a:t>（阿比西尼亚，暹罗，东短等）</a:t>
            </a:r>
            <a:endParaRPr lang="en-US" altLang="zh-CN" sz="1100" b="1">
              <a:solidFill>
                <a:schemeClr val="bg1">
                  <a:lumMod val="85000"/>
                </a:schemeClr>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n"/>
              <a:defRPr/>
            </a:pPr>
            <a:r>
              <a:rPr lang="zh-CN" altLang="en-US" sz="2400" b="1">
                <a:solidFill>
                  <a:schemeClr val="bg1">
                    <a:lumMod val="85000"/>
                  </a:schemeClr>
                </a:solidFill>
                <a:latin typeface="微软雅黑" panose="020B0503020204020204" pitchFamily="34" charset="-122"/>
                <a:ea typeface="微软雅黑" panose="020B0503020204020204" pitchFamily="34" charset="-122"/>
              </a:rPr>
              <a:t>低钾饮食</a:t>
            </a:r>
            <a:endParaRPr lang="en-US" altLang="zh-CN" sz="2400" b="1">
              <a:solidFill>
                <a:schemeClr val="bg1">
                  <a:lumMod val="85000"/>
                </a:schemeClr>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n"/>
              <a:defRPr/>
            </a:pPr>
            <a:r>
              <a:rPr lang="zh-CN" altLang="en-US" sz="2400" b="1">
                <a:solidFill>
                  <a:schemeClr val="bg1">
                    <a:lumMod val="85000"/>
                  </a:schemeClr>
                </a:solidFill>
                <a:latin typeface="微软雅黑" panose="020B0503020204020204" pitchFamily="34" charset="-122"/>
                <a:ea typeface="微软雅黑" panose="020B0503020204020204" pitchFamily="34" charset="-122"/>
              </a:rPr>
              <a:t>特定药物</a:t>
            </a:r>
            <a:r>
              <a:rPr lang="zh-CN" altLang="en-US" sz="1050" b="1">
                <a:solidFill>
                  <a:schemeClr val="bg1">
                    <a:lumMod val="85000"/>
                  </a:schemeClr>
                </a:solidFill>
                <a:latin typeface="微软雅黑" panose="020B0503020204020204" pitchFamily="34" charset="-122"/>
                <a:ea typeface="微软雅黑" panose="020B0503020204020204" pitchFamily="34" charset="-122"/>
              </a:rPr>
              <a:t>（如</a:t>
            </a:r>
            <a:r>
              <a:rPr lang="en-US" altLang="zh-CN" sz="1050" b="1">
                <a:solidFill>
                  <a:schemeClr val="bg1">
                    <a:lumMod val="85000"/>
                  </a:schemeClr>
                </a:solidFill>
                <a:latin typeface="微软雅黑" panose="020B0503020204020204" pitchFamily="34" charset="-122"/>
                <a:ea typeface="微软雅黑" panose="020B0503020204020204" pitchFamily="34" charset="-122"/>
              </a:rPr>
              <a:t>NSAID</a:t>
            </a:r>
            <a:r>
              <a:rPr lang="zh-CN" altLang="en-US" sz="1050" b="1">
                <a:solidFill>
                  <a:schemeClr val="bg1">
                    <a:lumMod val="85000"/>
                  </a:schemeClr>
                </a:solidFill>
                <a:latin typeface="微软雅黑" panose="020B0503020204020204" pitchFamily="34" charset="-122"/>
                <a:ea typeface="微软雅黑" panose="020B0503020204020204" pitchFamily="34" charset="-122"/>
              </a:rPr>
              <a:t>类）</a:t>
            </a:r>
            <a:endParaRPr lang="en-US" altLang="zh-CN" sz="1050" b="1">
              <a:solidFill>
                <a:schemeClr val="bg1">
                  <a:lumMod val="85000"/>
                </a:schemeClr>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n"/>
              <a:defRPr/>
            </a:pPr>
            <a:r>
              <a:rPr lang="zh-CN" altLang="en-US" sz="2400" b="1">
                <a:solidFill>
                  <a:schemeClr val="bg1">
                    <a:lumMod val="85000"/>
                  </a:schemeClr>
                </a:solidFill>
                <a:latin typeface="微软雅黑" panose="020B0503020204020204" pitchFamily="34" charset="-122"/>
                <a:ea typeface="微软雅黑" panose="020B0503020204020204" pitchFamily="34" charset="-122"/>
              </a:rPr>
              <a:t>心肌病</a:t>
            </a:r>
            <a:endParaRPr lang="en-US" altLang="zh-CN" sz="2400" b="1">
              <a:solidFill>
                <a:schemeClr val="bg1">
                  <a:lumMod val="85000"/>
                </a:schemeClr>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n"/>
              <a:defRPr/>
            </a:pPr>
            <a:r>
              <a:rPr lang="zh-CN" altLang="en-US" sz="2400" b="1">
                <a:solidFill>
                  <a:schemeClr val="bg1">
                    <a:lumMod val="85000"/>
                  </a:schemeClr>
                </a:solidFill>
                <a:latin typeface="微软雅黑" panose="020B0503020204020204" pitchFamily="34" charset="-122"/>
                <a:ea typeface="微软雅黑" panose="020B0503020204020204" pitchFamily="34" charset="-122"/>
              </a:rPr>
              <a:t>甲状腺亢进</a:t>
            </a:r>
            <a:endParaRPr lang="en-US" altLang="zh-CN" sz="2400" b="1">
              <a:solidFill>
                <a:schemeClr val="bg1">
                  <a:lumMod val="85000"/>
                </a:schemeClr>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n"/>
              <a:defRPr/>
            </a:pPr>
            <a:r>
              <a:rPr lang="en-US" altLang="zh-CN" sz="2400" b="1">
                <a:solidFill>
                  <a:schemeClr val="bg1">
                    <a:lumMod val="85000"/>
                  </a:schemeClr>
                </a:solidFill>
                <a:latin typeface="微软雅黑" panose="020B0503020204020204" pitchFamily="34" charset="-122"/>
                <a:ea typeface="微软雅黑" panose="020B0503020204020204" pitchFamily="34" charset="-122"/>
              </a:rPr>
              <a:t>FIP</a:t>
            </a:r>
          </a:p>
          <a:p>
            <a:pPr marL="342900" indent="-342900">
              <a:buFont typeface="Wingdings" panose="05000000000000000000" pitchFamily="2" charset="2"/>
              <a:buChar char="n"/>
              <a:defRPr/>
            </a:pPr>
            <a:r>
              <a:rPr lang="zh-CN" altLang="en-US" sz="2400" b="1">
                <a:solidFill>
                  <a:schemeClr val="bg1">
                    <a:lumMod val="85000"/>
                  </a:schemeClr>
                </a:solidFill>
                <a:latin typeface="微软雅黑" panose="020B0503020204020204" pitchFamily="34" charset="-122"/>
                <a:ea typeface="微软雅黑" panose="020B0503020204020204" pitchFamily="34" charset="-122"/>
              </a:rPr>
              <a:t>糖尿病</a:t>
            </a:r>
            <a:endParaRPr lang="en-US" altLang="zh-CN" sz="2400" b="1">
              <a:solidFill>
                <a:schemeClr val="bg1">
                  <a:lumMod val="85000"/>
                </a:schemeClr>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n"/>
              <a:defRPr/>
            </a:pPr>
            <a:r>
              <a:rPr lang="zh-CN" altLang="en-US" sz="2400" b="1">
                <a:solidFill>
                  <a:schemeClr val="bg1">
                    <a:lumMod val="85000"/>
                  </a:schemeClr>
                </a:solidFill>
                <a:latin typeface="微软雅黑" panose="020B0503020204020204" pitchFamily="34" charset="-122"/>
                <a:ea typeface="微软雅黑" panose="020B0503020204020204" pitchFamily="34" charset="-122"/>
              </a:rPr>
              <a:t>脱水</a:t>
            </a:r>
            <a:endParaRPr lang="en-US" altLang="zh-CN" sz="2400" b="1">
              <a:solidFill>
                <a:schemeClr val="bg1">
                  <a:lumMod val="85000"/>
                </a:schemeClr>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n"/>
              <a:defRPr/>
            </a:pPr>
            <a:r>
              <a:rPr lang="zh-CN" altLang="en-US" sz="2400" b="1">
                <a:solidFill>
                  <a:schemeClr val="bg1">
                    <a:lumMod val="85000"/>
                  </a:schemeClr>
                </a:solidFill>
                <a:latin typeface="微软雅黑" panose="020B0503020204020204" pitchFamily="34" charset="-122"/>
                <a:ea typeface="微软雅黑" panose="020B0503020204020204" pitchFamily="34" charset="-122"/>
              </a:rPr>
              <a:t>麻醉</a:t>
            </a:r>
            <a:endParaRPr lang="en-US" altLang="zh-CN" sz="2400" b="1">
              <a:solidFill>
                <a:schemeClr val="bg1">
                  <a:lumMod val="85000"/>
                </a:schemeClr>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n"/>
              <a:defRPr/>
            </a:pPr>
            <a:r>
              <a:rPr lang="zh-CN" altLang="en-US" sz="2400" b="1">
                <a:solidFill>
                  <a:schemeClr val="bg1">
                    <a:lumMod val="85000"/>
                  </a:schemeClr>
                </a:solidFill>
                <a:latin typeface="微软雅黑" panose="020B0503020204020204" pitchFamily="34" charset="-122"/>
                <a:ea typeface="微软雅黑" panose="020B0503020204020204" pitchFamily="34" charset="-122"/>
              </a:rPr>
              <a:t>中、重度牙周病</a:t>
            </a:r>
            <a:endParaRPr lang="en-US" altLang="zh-CN" sz="2400" b="1">
              <a:solidFill>
                <a:schemeClr val="bg1">
                  <a:lumMod val="85000"/>
                </a:schemeClr>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n"/>
              <a:defRPr/>
            </a:pPr>
            <a:r>
              <a:rPr lang="zh-CN" altLang="en-US" sz="2400" b="1">
                <a:solidFill>
                  <a:schemeClr val="bg1">
                    <a:lumMod val="85000"/>
                  </a:schemeClr>
                </a:solidFill>
                <a:latin typeface="微软雅黑" panose="020B0503020204020204" pitchFamily="34" charset="-122"/>
                <a:ea typeface="微软雅黑" panose="020B0503020204020204" pitchFamily="34" charset="-122"/>
              </a:rPr>
              <a:t>下泌尿系统疾病</a:t>
            </a:r>
            <a:endParaRPr lang="en-US" altLang="zh-CN" sz="2400" b="1">
              <a:solidFill>
                <a:schemeClr val="bg1">
                  <a:lumMod val="85000"/>
                </a:schemeClr>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n"/>
              <a:defRPr/>
            </a:pPr>
            <a:endParaRPr lang="en-US" altLang="zh-CN" sz="2400" b="1">
              <a:solidFill>
                <a:schemeClr val="bg1">
                  <a:lumMod val="85000"/>
                </a:schemeClr>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n"/>
              <a:defRPr/>
            </a:pPr>
            <a:endParaRPr lang="zh-CN" altLang="en-US" sz="2400" b="1">
              <a:solidFill>
                <a:schemeClr val="bg1">
                  <a:lumMod val="85000"/>
                </a:schemeClr>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948516" y="4867971"/>
            <a:ext cx="10188044" cy="1323439"/>
          </a:xfrm>
          <a:prstGeom prst="rect">
            <a:avLst/>
          </a:prstGeom>
          <a:noFill/>
        </p:spPr>
        <p:txBody>
          <a:bodyPr wrap="square" numCol="2">
            <a:spAutoFit/>
          </a:bodyPr>
          <a:lstStyle/>
          <a:p>
            <a:pPr marL="342900" indent="-342900">
              <a:buFont typeface="Wingdings" panose="05000000000000000000" pitchFamily="2" charset="2"/>
              <a:buChar char="p"/>
              <a:defRPr/>
            </a:pPr>
            <a:r>
              <a:rPr lang="zh-CN" altLang="en-US" sz="2000" b="1">
                <a:solidFill>
                  <a:srgbClr val="92D050"/>
                </a:solidFill>
                <a:latin typeface="微软雅黑" panose="020B0503020204020204" pitchFamily="34" charset="-122"/>
                <a:ea typeface="微软雅黑" panose="020B0503020204020204" pitchFamily="34" charset="-122"/>
              </a:rPr>
              <a:t>猫慢性肾病干粮吃出来的？</a:t>
            </a:r>
            <a:endParaRPr lang="en-US" altLang="zh-CN" sz="2000" b="1">
              <a:solidFill>
                <a:srgbClr val="92D050"/>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defRPr/>
            </a:pPr>
            <a:r>
              <a:rPr lang="zh-CN" altLang="en-US" sz="2000" b="1">
                <a:solidFill>
                  <a:srgbClr val="92D050"/>
                </a:solidFill>
                <a:latin typeface="+mn-ea"/>
                <a:ea typeface="+mn-ea"/>
              </a:rPr>
              <a:t>每年打疫苗伤肾？</a:t>
            </a:r>
            <a:endParaRPr lang="en-US" altLang="zh-CN" sz="2000" b="1">
              <a:solidFill>
                <a:srgbClr val="92D050"/>
              </a:solidFill>
              <a:latin typeface="+mn-ea"/>
              <a:ea typeface="+mn-ea"/>
            </a:endParaRPr>
          </a:p>
          <a:p>
            <a:pPr marL="342900" indent="-342900">
              <a:buFont typeface="Wingdings" panose="05000000000000000000" pitchFamily="2" charset="2"/>
              <a:buChar char="p"/>
              <a:defRPr/>
            </a:pPr>
            <a:r>
              <a:rPr lang="zh-CN" altLang="en-US" sz="2000" b="1">
                <a:solidFill>
                  <a:srgbClr val="92D050"/>
                </a:solidFill>
                <a:latin typeface="+mn-ea"/>
                <a:ea typeface="+mn-ea"/>
              </a:rPr>
              <a:t>高蛋白饮食造成肾病？</a:t>
            </a:r>
            <a:endParaRPr lang="en-US" altLang="zh-CN" sz="2000" b="1">
              <a:solidFill>
                <a:srgbClr val="92D050"/>
              </a:solidFill>
              <a:latin typeface="+mn-ea"/>
              <a:ea typeface="+mn-ea"/>
            </a:endParaRPr>
          </a:p>
          <a:p>
            <a:pPr marL="342900" indent="-342900">
              <a:buFont typeface="Wingdings" panose="05000000000000000000" pitchFamily="2" charset="2"/>
              <a:buChar char="p"/>
              <a:defRPr/>
            </a:pPr>
            <a:r>
              <a:rPr lang="zh-CN" altLang="en-US" sz="2000" b="1">
                <a:solidFill>
                  <a:srgbClr val="92D050"/>
                </a:solidFill>
                <a:latin typeface="+mn-ea"/>
                <a:ea typeface="+mn-ea"/>
              </a:rPr>
              <a:t>盐吃多了肾衰？</a:t>
            </a:r>
            <a:endParaRPr lang="en-US" altLang="zh-CN" sz="2000" b="1">
              <a:solidFill>
                <a:srgbClr val="92D050"/>
              </a:solidFill>
              <a:latin typeface="+mn-ea"/>
              <a:ea typeface="+mn-ea"/>
            </a:endParaRPr>
          </a:p>
          <a:p>
            <a:pPr marL="342900" indent="-342900">
              <a:buFont typeface="Wingdings" panose="05000000000000000000" pitchFamily="2" charset="2"/>
              <a:buChar char="p"/>
              <a:defRPr/>
            </a:pPr>
            <a:r>
              <a:rPr lang="zh-CN" altLang="en-US" sz="2000" b="1">
                <a:solidFill>
                  <a:srgbClr val="92D050"/>
                </a:solidFill>
                <a:latin typeface="+mn-ea"/>
                <a:ea typeface="+mn-ea"/>
              </a:rPr>
              <a:t>干粮酸化剂与肾病？</a:t>
            </a:r>
            <a:endParaRPr lang="en-US" altLang="zh-CN" sz="2000" b="1">
              <a:solidFill>
                <a:srgbClr val="92D050"/>
              </a:solidFill>
              <a:latin typeface="+mn-ea"/>
              <a:ea typeface="+mn-ea"/>
            </a:endParaRPr>
          </a:p>
          <a:p>
            <a:pPr marL="342900" indent="-342900">
              <a:buFont typeface="Wingdings" panose="05000000000000000000" pitchFamily="2" charset="2"/>
              <a:buChar char="p"/>
              <a:defRPr/>
            </a:pPr>
            <a:r>
              <a:rPr lang="zh-CN" altLang="en-US" sz="2000" b="1">
                <a:solidFill>
                  <a:srgbClr val="92D050"/>
                </a:solidFill>
                <a:latin typeface="+mn-ea"/>
                <a:ea typeface="+mn-ea"/>
              </a:rPr>
              <a:t>胰腺炎</a:t>
            </a:r>
            <a:r>
              <a:rPr lang="en-US" altLang="zh-CN" sz="2000" b="1">
                <a:solidFill>
                  <a:srgbClr val="92D050"/>
                </a:solidFill>
                <a:latin typeface="+mn-ea"/>
                <a:ea typeface="+mn-ea"/>
              </a:rPr>
              <a:t>…</a:t>
            </a:r>
            <a:r>
              <a:rPr lang="zh-CN" altLang="en-US" sz="2000" b="1">
                <a:solidFill>
                  <a:srgbClr val="92D050"/>
                </a:solidFill>
                <a:latin typeface="+mn-ea"/>
                <a:ea typeface="+mn-ea"/>
              </a:rPr>
              <a:t>导致肾病？</a:t>
            </a:r>
            <a:endParaRPr lang="en-US" altLang="zh-CN" sz="2000" b="1">
              <a:solidFill>
                <a:srgbClr val="92D050"/>
              </a:solidFill>
              <a:latin typeface="+mn-ea"/>
              <a:ea typeface="+mn-ea"/>
            </a:endParaRPr>
          </a:p>
          <a:p>
            <a:pPr marL="342900" indent="-342900">
              <a:buFont typeface="Wingdings" panose="05000000000000000000" pitchFamily="2" charset="2"/>
              <a:buChar char="p"/>
              <a:defRPr/>
            </a:pPr>
            <a:r>
              <a:rPr lang="zh-CN" altLang="en-US" sz="2000" b="1">
                <a:solidFill>
                  <a:srgbClr val="92D050"/>
                </a:solidFill>
                <a:latin typeface="+mn-ea"/>
                <a:ea typeface="+mn-ea"/>
              </a:rPr>
              <a:t>高磷摄入会伤肾？</a:t>
            </a:r>
          </a:p>
        </p:txBody>
      </p:sp>
      <p:sp>
        <p:nvSpPr>
          <p:cNvPr id="13" name="文本框 12"/>
          <p:cNvSpPr txBox="1"/>
          <p:nvPr/>
        </p:nvSpPr>
        <p:spPr>
          <a:xfrm>
            <a:off x="6447433" y="4262674"/>
            <a:ext cx="4950817" cy="253916"/>
          </a:xfrm>
          <a:prstGeom prst="rect">
            <a:avLst/>
          </a:prstGeom>
          <a:noFill/>
        </p:spPr>
        <p:txBody>
          <a:bodyPr wrap="square">
            <a:spAutoFit/>
          </a:bodyPr>
          <a:lstStyle/>
          <a:p>
            <a:pPr>
              <a:defRPr/>
            </a:pPr>
            <a:r>
              <a:rPr lang="zh-CN" altLang="en-US" sz="1050" b="1">
                <a:solidFill>
                  <a:schemeClr val="bg1">
                    <a:lumMod val="75000"/>
                  </a:schemeClr>
                </a:solidFill>
                <a:latin typeface="+mj-ea"/>
                <a:ea typeface="+mj-ea"/>
              </a:rPr>
              <a:t>参考资料</a:t>
            </a:r>
            <a:r>
              <a:rPr lang="zh-CN" altLang="en-US" sz="1050">
                <a:solidFill>
                  <a:schemeClr val="bg1">
                    <a:lumMod val="75000"/>
                  </a:schemeClr>
                </a:solidFill>
                <a:latin typeface="+mj-ea"/>
                <a:ea typeface="+mj-ea"/>
              </a:rPr>
              <a:t>：</a:t>
            </a:r>
            <a:r>
              <a:rPr lang="en-US" altLang="zh-CN" sz="1050">
                <a:solidFill>
                  <a:schemeClr val="bg1">
                    <a:lumMod val="75000"/>
                  </a:schemeClr>
                </a:solidFill>
                <a:latin typeface="+mj-ea"/>
                <a:ea typeface="+mj-ea"/>
              </a:rPr>
              <a:t>Greene JP et al. 2014   </a:t>
            </a:r>
            <a:r>
              <a:rPr lang="en-US" altLang="zh-CN" sz="1050">
                <a:solidFill>
                  <a:schemeClr val="bg1">
                    <a:lumMod val="75000"/>
                  </a:schemeClr>
                </a:solidFill>
              </a:rPr>
              <a:t>Finch NC et al.2016   Trevejo RT et al. 2018</a:t>
            </a:r>
            <a:endParaRPr lang="zh-CN" altLang="en-US" sz="1050">
              <a:solidFill>
                <a:schemeClr val="bg1">
                  <a:lumMod val="75000"/>
                </a:schemeClr>
              </a:solidFill>
              <a:latin typeface="+mj-ea"/>
              <a:ea typeface="+mj-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pic>
        <p:nvPicPr>
          <p:cNvPr id="9218" name="图片 2">
            <a:extLst/>
          </p:cNvPr>
          <p:cNvPicPr>
            <a:picLocks noChangeAspect="1" noChangeArrowheads="1"/>
          </p:cNvPicPr>
          <p:nvPr/>
        </p:nvPicPr>
        <p:blipFill>
          <a:blip r:embed="rId2">
            <a:duotone>
              <a:prstClr val="black"/>
              <a:schemeClr val="accent3">
                <a:tint val="45000"/>
                <a:satMod val="400000"/>
              </a:schemeClr>
            </a:duotone>
            <a:extLst>
              <a:ext uri="{28A0092B-C50C-407E-A947-70E740481C1C}">
                <a14:useLocalDpi xmlns:a14="http://schemas.microsoft.com/office/drawing/2010/main" val="0"/>
              </a:ext>
            </a:extLst>
          </a:blip>
          <a:srcRect l="7875" r="25414"/>
          <a:stretch>
            <a:fillRect/>
          </a:stretch>
        </p:blipFill>
        <p:spPr bwMode="auto">
          <a:xfrm>
            <a:off x="-74310" y="-17714"/>
            <a:ext cx="7356475" cy="689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7" name="组合 16">
            <a:extLst/>
          </p:cNvPr>
          <p:cNvGrpSpPr/>
          <p:nvPr/>
        </p:nvGrpSpPr>
        <p:grpSpPr>
          <a:xfrm>
            <a:off x="4871863" y="330676"/>
            <a:ext cx="7320137" cy="1143935"/>
            <a:chOff x="8112223" y="330676"/>
            <a:chExt cx="4194115" cy="1143935"/>
          </a:xfrm>
          <a:effectLst>
            <a:outerShdw blurRad="50800" dist="38100" dir="5400000" algn="t" rotWithShape="0">
              <a:prstClr val="black">
                <a:alpha val="40000"/>
              </a:prstClr>
            </a:outerShdw>
          </a:effectLst>
        </p:grpSpPr>
        <p:sp>
          <p:nvSpPr>
            <p:cNvPr id="4"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5" name="组合 22">
              <a:extLst/>
            </p:cNvPr>
            <p:cNvGrpSpPr>
              <a:grpSpLocks/>
            </p:cNvGrpSpPr>
            <p:nvPr/>
          </p:nvGrpSpPr>
          <p:grpSpPr bwMode="auto">
            <a:xfrm>
              <a:off x="8281096" y="330676"/>
              <a:ext cx="3956867" cy="1143935"/>
              <a:chOff x="-461843" y="2729730"/>
              <a:chExt cx="4660664" cy="1599633"/>
            </a:xfrm>
          </p:grpSpPr>
          <p:sp>
            <p:nvSpPr>
              <p:cNvPr id="6"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7" name="文本框 14">
                <a:extLst/>
              </p:cNvPr>
              <p:cNvSpPr txBox="1">
                <a:spLocks noChangeArrowheads="1"/>
              </p:cNvSpPr>
              <p:nvPr/>
            </p:nvSpPr>
            <p:spPr bwMode="auto">
              <a:xfrm>
                <a:off x="1080991" y="2779986"/>
                <a:ext cx="3117830" cy="1549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000" b="1">
                    <a:solidFill>
                      <a:schemeClr val="tx2">
                        <a:lumMod val="75000"/>
                      </a:schemeClr>
                    </a:solidFill>
                    <a:latin typeface="微软雅黑" panose="020B0503020204020204" pitchFamily="34" charset="-122"/>
                    <a:ea typeface="微软雅黑" panose="020B0503020204020204" pitchFamily="34" charset="-122"/>
                    <a:cs typeface="+mn-ea"/>
                    <a:sym typeface="+mn-lt"/>
                  </a:rPr>
                  <a:t>猫慢性肾病风险因素</a:t>
                </a:r>
                <a:endParaRPr lang="en-US" altLang="zh-CN" sz="2000" b="1">
                  <a:solidFill>
                    <a:schemeClr val="tx2">
                      <a:lumMod val="75000"/>
                    </a:schemeClr>
                  </a:solidFill>
                  <a:latin typeface="微软雅黑" panose="020B0503020204020204" pitchFamily="34" charset="-122"/>
                  <a:ea typeface="微软雅黑" panose="020B0503020204020204" pitchFamily="34" charset="-122"/>
                  <a:cs typeface="+mn-ea"/>
                  <a:sym typeface="+mn-lt"/>
                </a:endParaRPr>
              </a:p>
              <a:p>
                <a:pPr eaLnBrk="1" hangingPunct="1">
                  <a:lnSpc>
                    <a:spcPct val="150000"/>
                  </a:lnSpc>
                  <a:spcBef>
                    <a:spcPct val="0"/>
                  </a:spcBef>
                  <a:buFontTx/>
                  <a:buNone/>
                  <a:defRPr/>
                </a:pPr>
                <a:r>
                  <a:rPr lang="zh-CN" altLang="en-US" sz="2400" b="1">
                    <a:solidFill>
                      <a:schemeClr val="tx2">
                        <a:lumMod val="75000"/>
                      </a:schemeClr>
                    </a:solidFill>
                    <a:latin typeface="微软雅黑" panose="020B0503020204020204" pitchFamily="34" charset="-122"/>
                    <a:ea typeface="微软雅黑" panose="020B0503020204020204" pitchFamily="34" charset="-122"/>
                    <a:cs typeface="+mn-ea"/>
                    <a:sym typeface="+mn-lt"/>
                  </a:rPr>
                  <a:t>没错，猫牙病可能导致肾病</a:t>
                </a:r>
                <a:endParaRPr lang="en-US" altLang="zh-CN" sz="2400" b="1">
                  <a:solidFill>
                    <a:schemeClr val="tx2">
                      <a:lumMod val="75000"/>
                    </a:schemeClr>
                  </a:solidFill>
                  <a:latin typeface="微软雅黑" panose="020B0503020204020204" pitchFamily="34" charset="-122"/>
                  <a:ea typeface="微软雅黑" panose="020B0503020204020204" pitchFamily="34" charset="-122"/>
                  <a:cs typeface="+mn-ea"/>
                  <a:sym typeface="+mn-lt"/>
                </a:endParaRPr>
              </a:p>
            </p:txBody>
          </p:sp>
          <p:cxnSp>
            <p:nvCxnSpPr>
              <p:cNvPr id="8" name="直接连接符 7">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9" name="矩形 20">
                <a:extLst/>
              </p:cNvPr>
              <p:cNvSpPr>
                <a:spLocks noChangeArrowheads="1"/>
              </p:cNvSpPr>
              <p:nvPr/>
            </p:nvSpPr>
            <p:spPr bwMode="auto">
              <a:xfrm>
                <a:off x="506334" y="3461621"/>
                <a:ext cx="574658"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ONE</a:t>
                </a:r>
                <a:endParaRPr lang="zh-CN" altLang="en-US" sz="1200">
                  <a:latin typeface="+mn-lt"/>
                  <a:ea typeface="+mn-ea"/>
                  <a:cs typeface="+mn-ea"/>
                  <a:sym typeface="+mn-lt"/>
                </a:endParaRPr>
              </a:p>
            </p:txBody>
          </p:sp>
        </p:grpSp>
      </p:grpSp>
      <p:grpSp>
        <p:nvGrpSpPr>
          <p:cNvPr id="19460" name="组合 17"/>
          <p:cNvGrpSpPr>
            <a:grpSpLocks/>
          </p:cNvGrpSpPr>
          <p:nvPr/>
        </p:nvGrpSpPr>
        <p:grpSpPr bwMode="auto">
          <a:xfrm>
            <a:off x="1225550" y="2324100"/>
            <a:ext cx="10628313" cy="4129088"/>
            <a:chOff x="170987" y="2984657"/>
            <a:chExt cx="9768408" cy="3510340"/>
          </a:xfrm>
        </p:grpSpPr>
        <p:sp>
          <p:nvSpPr>
            <p:cNvPr id="21" name="矩形 20">
              <a:extLst/>
            </p:cNvPr>
            <p:cNvSpPr/>
            <p:nvPr/>
          </p:nvSpPr>
          <p:spPr>
            <a:xfrm>
              <a:off x="170987" y="2984657"/>
              <a:ext cx="9768408" cy="351034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kern="0">
                <a:solidFill>
                  <a:sysClr val="windowText" lastClr="000000"/>
                </a:solidFill>
                <a:cs typeface="+mn-ea"/>
                <a:sym typeface="+mn-lt"/>
              </a:endParaRPr>
            </a:p>
          </p:txBody>
        </p:sp>
        <p:sp>
          <p:nvSpPr>
            <p:cNvPr id="23" name="矩形 22">
              <a:extLst/>
            </p:cNvPr>
            <p:cNvSpPr/>
            <p:nvPr/>
          </p:nvSpPr>
          <p:spPr>
            <a:xfrm>
              <a:off x="5056104" y="3757444"/>
              <a:ext cx="4631057" cy="2001668"/>
            </a:xfrm>
            <a:prstGeom prst="rect">
              <a:avLst/>
            </a:prstGeom>
          </p:spPr>
          <p:txBody>
            <a:bodyPr>
              <a:spAutoFit/>
            </a:bodyPr>
            <a:lstStyle/>
            <a:p>
              <a:pPr marL="285750" indent="-285750" eaLnBrk="1" fontAlgn="auto" hangingPunct="1">
                <a:lnSpc>
                  <a:spcPct val="150000"/>
                </a:lnSpc>
                <a:spcBef>
                  <a:spcPts val="0"/>
                </a:spcBef>
                <a:spcAft>
                  <a:spcPts val="0"/>
                </a:spcAft>
                <a:buFont typeface="Arial" panose="020B0604020202020204" pitchFamily="34" charset="0"/>
                <a:buChar char="•"/>
                <a:defRPr/>
              </a:pPr>
              <a:r>
                <a:rPr lang="zh-CN" altLang="en-US" sz="1400" kern="0">
                  <a:solidFill>
                    <a:srgbClr val="4F4F4F"/>
                  </a:solidFill>
                  <a:latin typeface="+mn-lt"/>
                  <a:ea typeface="+mn-ea"/>
                  <a:cs typeface="+mn-ea"/>
                  <a:sym typeface="+mn-lt"/>
                </a:rPr>
                <a:t>牙周疾病对全身器官有影响，不论人类还是动物医学界都有这类发现。</a:t>
              </a:r>
              <a:endParaRPr lang="en-US" altLang="zh-CN" sz="1400" kern="0">
                <a:solidFill>
                  <a:srgbClr val="4F4F4F"/>
                </a:solidFill>
                <a:latin typeface="+mn-lt"/>
                <a:ea typeface="+mn-ea"/>
                <a:cs typeface="+mn-ea"/>
                <a:sym typeface="+mn-lt"/>
              </a:endParaRPr>
            </a:p>
            <a:p>
              <a:pPr marL="285750" indent="-285750" eaLnBrk="1" fontAlgn="auto" hangingPunct="1">
                <a:lnSpc>
                  <a:spcPct val="150000"/>
                </a:lnSpc>
                <a:spcBef>
                  <a:spcPts val="0"/>
                </a:spcBef>
                <a:spcAft>
                  <a:spcPts val="0"/>
                </a:spcAft>
                <a:buFont typeface="Arial" panose="020B0604020202020204" pitchFamily="34" charset="0"/>
                <a:buChar char="•"/>
                <a:defRPr/>
              </a:pPr>
              <a:r>
                <a:rPr lang="en-US" altLang="zh-CN" sz="1400" kern="0">
                  <a:solidFill>
                    <a:srgbClr val="4F4F4F"/>
                  </a:solidFill>
                  <a:latin typeface="+mn-lt"/>
                  <a:ea typeface="+mn-ea"/>
                  <a:cs typeface="+mn-ea"/>
                  <a:sym typeface="+mn-lt"/>
                </a:rPr>
                <a:t>2016</a:t>
              </a:r>
              <a:r>
                <a:rPr lang="zh-CN" altLang="en-US" sz="1400" kern="0">
                  <a:solidFill>
                    <a:srgbClr val="4F4F4F"/>
                  </a:solidFill>
                  <a:latin typeface="+mn-lt"/>
                  <a:ea typeface="+mn-ea"/>
                  <a:cs typeface="+mn-ea"/>
                  <a:sym typeface="+mn-lt"/>
                </a:rPr>
                <a:t>的研究中，数据显示中重度牙周病的猫患慢性肾病的危险大幅升高。</a:t>
              </a:r>
              <a:endParaRPr lang="en-US" altLang="zh-CN" sz="1400" kern="0">
                <a:solidFill>
                  <a:srgbClr val="4F4F4F"/>
                </a:solidFill>
                <a:latin typeface="+mn-lt"/>
                <a:ea typeface="+mn-ea"/>
                <a:cs typeface="+mn-ea"/>
                <a:sym typeface="+mn-lt"/>
              </a:endParaRPr>
            </a:p>
            <a:p>
              <a:pPr marL="285750" indent="-285750" eaLnBrk="1" fontAlgn="auto" hangingPunct="1">
                <a:lnSpc>
                  <a:spcPct val="150000"/>
                </a:lnSpc>
                <a:spcBef>
                  <a:spcPts val="0"/>
                </a:spcBef>
                <a:spcAft>
                  <a:spcPts val="0"/>
                </a:spcAft>
                <a:buFont typeface="Arial" panose="020B0604020202020204" pitchFamily="34" charset="0"/>
                <a:buChar char="•"/>
                <a:defRPr/>
              </a:pPr>
              <a:r>
                <a:rPr lang="en-US" altLang="zh-CN" sz="1400" kern="0">
                  <a:solidFill>
                    <a:srgbClr val="4F4F4F"/>
                  </a:solidFill>
                  <a:latin typeface="+mn-ea"/>
                  <a:ea typeface="+mn-ea"/>
                  <a:cs typeface="+mn-ea"/>
                  <a:sym typeface="+mn-lt"/>
                </a:rPr>
                <a:t>2018</a:t>
              </a:r>
              <a:r>
                <a:rPr lang="zh-CN" altLang="en-US" sz="1400" kern="0">
                  <a:solidFill>
                    <a:srgbClr val="4F4F4F"/>
                  </a:solidFill>
                  <a:latin typeface="+mn-ea"/>
                  <a:ea typeface="+mn-ea"/>
                  <a:cs typeface="+mn-ea"/>
                  <a:sym typeface="+mn-lt"/>
                </a:rPr>
                <a:t>年针对</a:t>
              </a:r>
              <a:r>
                <a:rPr lang="en-US" altLang="zh-CN" sz="1400" kern="0">
                  <a:solidFill>
                    <a:srgbClr val="4F4F4F"/>
                  </a:solidFill>
                  <a:latin typeface="+mn-ea"/>
                  <a:ea typeface="+mn-ea"/>
                  <a:cs typeface="+mn-ea"/>
                  <a:sym typeface="+mn-lt"/>
                </a:rPr>
                <a:t>169242</a:t>
              </a:r>
              <a:r>
                <a:rPr lang="zh-CN" altLang="en-US" sz="1400" kern="0">
                  <a:solidFill>
                    <a:srgbClr val="4F4F4F"/>
                  </a:solidFill>
                  <a:latin typeface="+mn-ea"/>
                  <a:ea typeface="+mn-ea"/>
                  <a:cs typeface="+mn-ea"/>
                  <a:sym typeface="+mn-lt"/>
                </a:rPr>
                <a:t>只猫的回顾性调研中，同样发现牙周病，尤其</a:t>
              </a:r>
              <a:r>
                <a:rPr lang="en-US" altLang="zh-CN" sz="1400" kern="0">
                  <a:solidFill>
                    <a:srgbClr val="4F4F4F"/>
                  </a:solidFill>
                  <a:latin typeface="+mn-ea"/>
                  <a:ea typeface="+mn-ea"/>
                  <a:cs typeface="+mn-ea"/>
                  <a:sym typeface="+mn-lt"/>
                </a:rPr>
                <a:t>3-4</a:t>
              </a:r>
              <a:r>
                <a:rPr lang="zh-CN" altLang="en-US" sz="1400" kern="0">
                  <a:solidFill>
                    <a:srgbClr val="4F4F4F"/>
                  </a:solidFill>
                  <a:latin typeface="+mn-ea"/>
                  <a:ea typeface="+mn-ea"/>
                  <a:cs typeface="+mn-ea"/>
                  <a:sym typeface="+mn-lt"/>
                </a:rPr>
                <a:t>级的严重牙周病会让猫更容易患上慢性肾病。</a:t>
              </a:r>
              <a:endParaRPr lang="en-US" altLang="zh-CN" sz="1400" kern="0">
                <a:solidFill>
                  <a:srgbClr val="4F4F4F"/>
                </a:solidFill>
                <a:latin typeface="+mn-ea"/>
                <a:ea typeface="+mn-ea"/>
                <a:cs typeface="+mn-ea"/>
                <a:sym typeface="+mn-lt"/>
              </a:endParaRPr>
            </a:p>
            <a:p>
              <a:pPr marL="285750" indent="-285750" eaLnBrk="1" fontAlgn="auto" hangingPunct="1">
                <a:lnSpc>
                  <a:spcPct val="150000"/>
                </a:lnSpc>
                <a:spcBef>
                  <a:spcPts val="0"/>
                </a:spcBef>
                <a:spcAft>
                  <a:spcPts val="0"/>
                </a:spcAft>
                <a:buFont typeface="Arial" panose="020B0604020202020204" pitchFamily="34" charset="0"/>
                <a:buChar char="•"/>
                <a:defRPr/>
              </a:pPr>
              <a:r>
                <a:rPr lang="zh-CN" altLang="en-US" sz="1400" b="1" kern="0">
                  <a:solidFill>
                    <a:srgbClr val="4F4F4F"/>
                  </a:solidFill>
                  <a:latin typeface="+mn-ea"/>
                  <a:ea typeface="+mn-ea"/>
                  <a:cs typeface="+mn-ea"/>
                  <a:sym typeface="+mn-lt"/>
                </a:rPr>
                <a:t>美国兽医牙科学院：刷牙是预防宠物口腔疾病的黄金标准</a:t>
              </a:r>
              <a:endParaRPr lang="zh-CN" altLang="en-US" sz="1050" b="1" kern="0">
                <a:solidFill>
                  <a:srgbClr val="4F4F4F"/>
                </a:solidFill>
                <a:latin typeface="+mn-ea"/>
                <a:ea typeface="+mn-ea"/>
                <a:cs typeface="+mn-ea"/>
                <a:sym typeface="+mn-lt"/>
              </a:endParaRPr>
            </a:p>
          </p:txBody>
        </p:sp>
      </p:grpSp>
      <p:sp>
        <p:nvSpPr>
          <p:cNvPr id="19461" name="文本框 1"/>
          <p:cNvSpPr txBox="1">
            <a:spLocks noChangeArrowheads="1"/>
          </p:cNvSpPr>
          <p:nvPr/>
        </p:nvSpPr>
        <p:spPr bwMode="auto">
          <a:xfrm>
            <a:off x="8040216" y="4279378"/>
            <a:ext cx="62611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100"/>
              <a:t>(Finch et al. 2016)</a:t>
            </a:r>
            <a:endParaRPr lang="zh-CN" altLang="en-US" sz="1100"/>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2855" y="2440950"/>
            <a:ext cx="4707434" cy="3569950"/>
          </a:xfrm>
          <a:prstGeom prst="rect">
            <a:avLst/>
          </a:prstGeom>
        </p:spPr>
      </p:pic>
      <p:sp>
        <p:nvSpPr>
          <p:cNvPr id="3" name="矩形 2"/>
          <p:cNvSpPr/>
          <p:nvPr/>
        </p:nvSpPr>
        <p:spPr>
          <a:xfrm>
            <a:off x="2044842" y="5304173"/>
            <a:ext cx="5319173" cy="261610"/>
          </a:xfrm>
          <a:prstGeom prst="rect">
            <a:avLst/>
          </a:prstGeom>
        </p:spPr>
        <p:txBody>
          <a:bodyPr wrap="square">
            <a:spAutoFit/>
          </a:bodyPr>
          <a:lstStyle/>
          <a:p>
            <a:r>
              <a:rPr lang="zh-CN" altLang="en-US" sz="1100"/>
              <a:t>Trevejo et al.2018</a:t>
            </a:r>
          </a:p>
        </p:txBody>
      </p:sp>
      <p:sp>
        <p:nvSpPr>
          <p:cNvPr id="10" name="文本框 9"/>
          <p:cNvSpPr txBox="1"/>
          <p:nvPr/>
        </p:nvSpPr>
        <p:spPr>
          <a:xfrm>
            <a:off x="2160908" y="6058369"/>
            <a:ext cx="5455233" cy="307777"/>
          </a:xfrm>
          <a:prstGeom prst="rect">
            <a:avLst/>
          </a:prstGeom>
          <a:noFill/>
        </p:spPr>
        <p:txBody>
          <a:bodyPr wrap="square" rtlCol="0">
            <a:spAutoFit/>
          </a:bodyPr>
          <a:lstStyle/>
          <a:p>
            <a:r>
              <a:rPr lang="zh-CN" altLang="en-US" sz="1400" b="1">
                <a:solidFill>
                  <a:schemeClr val="accent6">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绿线：</a:t>
            </a:r>
            <a:r>
              <a:rPr lang="en-US" altLang="zh-CN" sz="1400" b="1">
                <a:solidFill>
                  <a:schemeClr val="accent6">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3-4</a:t>
            </a:r>
            <a:r>
              <a:rPr lang="zh-CN" altLang="en-US" sz="1400" b="1">
                <a:solidFill>
                  <a:schemeClr val="accent6">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级严重牙周病，生存概率大幅下降</a:t>
            </a:r>
          </a:p>
        </p:txBody>
      </p:sp>
    </p:spTree>
    <p:extLst>
      <p:ext uri="{BB962C8B-B14F-4D97-AF65-F5344CB8AC3E}">
        <p14:creationId xmlns:p14="http://schemas.microsoft.com/office/powerpoint/2010/main" val="29212470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pic>
        <p:nvPicPr>
          <p:cNvPr id="9218" name="图片 2">
            <a:extLst/>
          </p:cNvPr>
          <p:cNvPicPr>
            <a:picLocks noChangeAspect="1" noChangeArrowheads="1"/>
          </p:cNvPicPr>
          <p:nvPr/>
        </p:nvPicPr>
        <p:blipFill>
          <a:blip r:embed="rId2">
            <a:duotone>
              <a:prstClr val="black"/>
              <a:schemeClr val="accent3">
                <a:tint val="45000"/>
                <a:satMod val="400000"/>
              </a:schemeClr>
            </a:duotone>
            <a:extLst>
              <a:ext uri="{28A0092B-C50C-407E-A947-70E740481C1C}">
                <a14:useLocalDpi xmlns:a14="http://schemas.microsoft.com/office/drawing/2010/main" val="0"/>
              </a:ext>
            </a:extLst>
          </a:blip>
          <a:srcRect l="7875" r="25414"/>
          <a:stretch>
            <a:fillRect/>
          </a:stretch>
        </p:blipFill>
        <p:spPr bwMode="auto">
          <a:xfrm>
            <a:off x="-74310" y="-17714"/>
            <a:ext cx="7356475" cy="689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7" name="组合 16">
            <a:extLst/>
          </p:cNvPr>
          <p:cNvGrpSpPr/>
          <p:nvPr/>
        </p:nvGrpSpPr>
        <p:grpSpPr>
          <a:xfrm>
            <a:off x="4871863" y="5180330"/>
            <a:ext cx="7320137" cy="1143935"/>
            <a:chOff x="8112223" y="330676"/>
            <a:chExt cx="4194115" cy="1143935"/>
          </a:xfrm>
          <a:effectLst>
            <a:outerShdw blurRad="50800" dist="38100" dir="5400000" algn="t" rotWithShape="0">
              <a:prstClr val="black">
                <a:alpha val="40000"/>
              </a:prstClr>
            </a:outerShdw>
          </a:effectLst>
        </p:grpSpPr>
        <p:sp>
          <p:nvSpPr>
            <p:cNvPr id="4"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5" name="组合 22">
              <a:extLst/>
            </p:cNvPr>
            <p:cNvGrpSpPr>
              <a:grpSpLocks/>
            </p:cNvGrpSpPr>
            <p:nvPr/>
          </p:nvGrpSpPr>
          <p:grpSpPr bwMode="auto">
            <a:xfrm>
              <a:off x="8281096" y="330676"/>
              <a:ext cx="3956867" cy="1143935"/>
              <a:chOff x="-461843" y="2729730"/>
              <a:chExt cx="4660664" cy="1599633"/>
            </a:xfrm>
          </p:grpSpPr>
          <p:sp>
            <p:nvSpPr>
              <p:cNvPr id="6"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7" name="文本框 14">
                <a:extLst/>
              </p:cNvPr>
              <p:cNvSpPr txBox="1">
                <a:spLocks noChangeArrowheads="1"/>
              </p:cNvSpPr>
              <p:nvPr/>
            </p:nvSpPr>
            <p:spPr bwMode="auto">
              <a:xfrm>
                <a:off x="1080991" y="2779986"/>
                <a:ext cx="3117830" cy="1549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000" b="1">
                    <a:solidFill>
                      <a:schemeClr val="tx2">
                        <a:lumMod val="75000"/>
                      </a:schemeClr>
                    </a:solidFill>
                    <a:latin typeface="微软雅黑" panose="020B0503020204020204" pitchFamily="34" charset="-122"/>
                    <a:ea typeface="微软雅黑" panose="020B0503020204020204" pitchFamily="34" charset="-122"/>
                    <a:cs typeface="+mn-ea"/>
                    <a:sym typeface="+mn-lt"/>
                  </a:rPr>
                  <a:t>猫慢性肾病风险因素</a:t>
                </a:r>
                <a:endParaRPr lang="en-US" altLang="zh-CN" sz="2000" b="1">
                  <a:solidFill>
                    <a:schemeClr val="tx2">
                      <a:lumMod val="75000"/>
                    </a:schemeClr>
                  </a:solidFill>
                  <a:latin typeface="微软雅黑" panose="020B0503020204020204" pitchFamily="34" charset="-122"/>
                  <a:ea typeface="微软雅黑" panose="020B0503020204020204" pitchFamily="34" charset="-122"/>
                  <a:cs typeface="+mn-ea"/>
                  <a:sym typeface="+mn-lt"/>
                </a:endParaRPr>
              </a:p>
              <a:p>
                <a:pPr eaLnBrk="1" hangingPunct="1">
                  <a:lnSpc>
                    <a:spcPct val="150000"/>
                  </a:lnSpc>
                  <a:spcBef>
                    <a:spcPct val="0"/>
                  </a:spcBef>
                  <a:buFontTx/>
                  <a:buNone/>
                  <a:defRPr/>
                </a:pPr>
                <a:r>
                  <a:rPr lang="zh-CN" altLang="en-US" sz="2400" b="1">
                    <a:solidFill>
                      <a:schemeClr val="tx2">
                        <a:lumMod val="75000"/>
                      </a:schemeClr>
                    </a:solidFill>
                    <a:latin typeface="微软雅黑" panose="020B0503020204020204" pitchFamily="34" charset="-122"/>
                    <a:ea typeface="微软雅黑" panose="020B0503020204020204" pitchFamily="34" charset="-122"/>
                    <a:cs typeface="+mn-ea"/>
                    <a:sym typeface="+mn-lt"/>
                  </a:rPr>
                  <a:t>我的猫肾病都怪干粮吃的！？</a:t>
                </a:r>
                <a:endParaRPr lang="en-US" altLang="zh-CN" sz="2400" b="1">
                  <a:solidFill>
                    <a:schemeClr val="tx2">
                      <a:lumMod val="75000"/>
                    </a:schemeClr>
                  </a:solidFill>
                  <a:latin typeface="微软雅黑" panose="020B0503020204020204" pitchFamily="34" charset="-122"/>
                  <a:ea typeface="微软雅黑" panose="020B0503020204020204" pitchFamily="34" charset="-122"/>
                  <a:cs typeface="+mn-ea"/>
                  <a:sym typeface="+mn-lt"/>
                </a:endParaRPr>
              </a:p>
            </p:txBody>
          </p:sp>
          <p:cxnSp>
            <p:nvCxnSpPr>
              <p:cNvPr id="8" name="直接连接符 7">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9" name="矩形 20">
                <a:extLst/>
              </p:cNvPr>
              <p:cNvSpPr>
                <a:spLocks noChangeArrowheads="1"/>
              </p:cNvSpPr>
              <p:nvPr/>
            </p:nvSpPr>
            <p:spPr bwMode="auto">
              <a:xfrm>
                <a:off x="506334" y="3461621"/>
                <a:ext cx="574658"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ONE</a:t>
                </a:r>
                <a:endParaRPr lang="zh-CN" altLang="en-US" sz="1200">
                  <a:latin typeface="+mn-lt"/>
                  <a:ea typeface="+mn-ea"/>
                  <a:cs typeface="+mn-ea"/>
                  <a:sym typeface="+mn-lt"/>
                </a:endParaRPr>
              </a:p>
            </p:txBody>
          </p:sp>
        </p:grpSp>
      </p:grpSp>
      <p:grpSp>
        <p:nvGrpSpPr>
          <p:cNvPr id="18436" name="组合 17"/>
          <p:cNvGrpSpPr>
            <a:grpSpLocks/>
          </p:cNvGrpSpPr>
          <p:nvPr/>
        </p:nvGrpSpPr>
        <p:grpSpPr bwMode="auto">
          <a:xfrm>
            <a:off x="1343025" y="1139825"/>
            <a:ext cx="10628313" cy="3700463"/>
            <a:chOff x="170987" y="2984657"/>
            <a:chExt cx="9768408" cy="3510340"/>
          </a:xfrm>
        </p:grpSpPr>
        <p:sp>
          <p:nvSpPr>
            <p:cNvPr id="21" name="矩形 20">
              <a:extLst/>
            </p:cNvPr>
            <p:cNvSpPr/>
            <p:nvPr/>
          </p:nvSpPr>
          <p:spPr>
            <a:xfrm>
              <a:off x="170987" y="2984657"/>
              <a:ext cx="9768408" cy="351034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kern="0">
                <a:solidFill>
                  <a:sysClr val="windowText" lastClr="000000"/>
                </a:solidFill>
                <a:cs typeface="+mn-ea"/>
                <a:sym typeface="+mn-lt"/>
              </a:endParaRPr>
            </a:p>
          </p:txBody>
        </p:sp>
        <p:sp>
          <p:nvSpPr>
            <p:cNvPr id="23" name="矩形 22">
              <a:extLst/>
            </p:cNvPr>
            <p:cNvSpPr/>
            <p:nvPr/>
          </p:nvSpPr>
          <p:spPr>
            <a:xfrm>
              <a:off x="5187236" y="3163864"/>
              <a:ext cx="4153945" cy="3151926"/>
            </a:xfrm>
            <a:prstGeom prst="rect">
              <a:avLst/>
            </a:prstGeom>
          </p:spPr>
          <p:txBody>
            <a:bodyPr>
              <a:spAutoFit/>
            </a:bodyPr>
            <a:lstStyle/>
            <a:p>
              <a:pPr marL="285750" indent="-285750" eaLnBrk="1" fontAlgn="auto" hangingPunct="1">
                <a:lnSpc>
                  <a:spcPct val="150000"/>
                </a:lnSpc>
                <a:spcBef>
                  <a:spcPts val="0"/>
                </a:spcBef>
                <a:spcAft>
                  <a:spcPts val="0"/>
                </a:spcAft>
                <a:buFont typeface="Arial" panose="020B0604020202020204" pitchFamily="34" charset="0"/>
                <a:buChar char="•"/>
                <a:defRPr/>
              </a:pPr>
              <a:r>
                <a:rPr lang="zh-CN" altLang="en-US" sz="1400" kern="0">
                  <a:solidFill>
                    <a:srgbClr val="4F4F4F"/>
                  </a:solidFill>
                  <a:latin typeface="+mn-lt"/>
                  <a:ea typeface="+mn-ea"/>
                  <a:cs typeface="+mn-ea"/>
                  <a:sym typeface="+mn-lt"/>
                </a:rPr>
                <a:t>干粮与猫泌尿道结石、自发性膀胱炎的发生有关。</a:t>
              </a:r>
              <a:endParaRPr lang="en-US" altLang="zh-CN" sz="1400" kern="0">
                <a:solidFill>
                  <a:srgbClr val="4F4F4F"/>
                </a:solidFill>
                <a:latin typeface="+mn-lt"/>
                <a:ea typeface="+mn-ea"/>
                <a:cs typeface="+mn-ea"/>
                <a:sym typeface="+mn-lt"/>
              </a:endParaRPr>
            </a:p>
            <a:p>
              <a:pPr marL="285750" indent="-285750" eaLnBrk="1" fontAlgn="auto" hangingPunct="1">
                <a:lnSpc>
                  <a:spcPct val="150000"/>
                </a:lnSpc>
                <a:spcBef>
                  <a:spcPts val="0"/>
                </a:spcBef>
                <a:spcAft>
                  <a:spcPts val="0"/>
                </a:spcAft>
                <a:buFont typeface="Arial" panose="020B0604020202020204" pitchFamily="34" charset="0"/>
                <a:buChar char="•"/>
                <a:defRPr/>
              </a:pPr>
              <a:r>
                <a:rPr lang="zh-CN" altLang="en-US" sz="1400" kern="0">
                  <a:solidFill>
                    <a:srgbClr val="4F4F4F"/>
                  </a:solidFill>
                  <a:latin typeface="+mn-lt"/>
                  <a:ea typeface="+mn-ea"/>
                  <a:cs typeface="+mn-ea"/>
                  <a:sym typeface="+mn-lt"/>
                </a:rPr>
                <a:t>下泌尿道疾病有引起急性肾损的可能。</a:t>
              </a:r>
              <a:endParaRPr lang="en-US" altLang="zh-CN" sz="1400" kern="0">
                <a:solidFill>
                  <a:srgbClr val="4F4F4F"/>
                </a:solidFill>
                <a:latin typeface="+mn-lt"/>
                <a:ea typeface="+mn-ea"/>
                <a:cs typeface="+mn-ea"/>
                <a:sym typeface="+mn-lt"/>
              </a:endParaRPr>
            </a:p>
            <a:p>
              <a:pPr marL="285750" indent="-285750" eaLnBrk="1" fontAlgn="auto" hangingPunct="1">
                <a:lnSpc>
                  <a:spcPct val="150000"/>
                </a:lnSpc>
                <a:spcBef>
                  <a:spcPts val="0"/>
                </a:spcBef>
                <a:spcAft>
                  <a:spcPts val="0"/>
                </a:spcAft>
                <a:buFont typeface="Arial" panose="020B0604020202020204" pitchFamily="34" charset="0"/>
                <a:buChar char="•"/>
                <a:defRPr/>
              </a:pPr>
              <a:r>
                <a:rPr lang="zh-CN" altLang="en-US" sz="1400" kern="0">
                  <a:solidFill>
                    <a:srgbClr val="4F4F4F"/>
                  </a:solidFill>
                  <a:latin typeface="+mn-lt"/>
                  <a:ea typeface="+mn-ea"/>
                  <a:cs typeface="+mn-ea"/>
                  <a:sym typeface="+mn-lt"/>
                </a:rPr>
                <a:t>以干粮为主食的猫水份摄入少于吃湿粮的猫。</a:t>
              </a:r>
              <a:endParaRPr lang="en-US" altLang="zh-CN" sz="1400" kern="0">
                <a:solidFill>
                  <a:srgbClr val="4F4F4F"/>
                </a:solidFill>
                <a:latin typeface="+mn-lt"/>
                <a:ea typeface="+mn-ea"/>
                <a:cs typeface="+mn-ea"/>
                <a:sym typeface="+mn-lt"/>
              </a:endParaRPr>
            </a:p>
            <a:p>
              <a:pPr marL="285750" indent="-285750" eaLnBrk="1" fontAlgn="auto" hangingPunct="1">
                <a:lnSpc>
                  <a:spcPct val="150000"/>
                </a:lnSpc>
                <a:spcBef>
                  <a:spcPts val="0"/>
                </a:spcBef>
                <a:spcAft>
                  <a:spcPts val="0"/>
                </a:spcAft>
                <a:buFont typeface="Arial" panose="020B0604020202020204" pitchFamily="34" charset="0"/>
                <a:buChar char="•"/>
                <a:defRPr/>
              </a:pPr>
              <a:r>
                <a:rPr lang="zh-CN" altLang="en-US" sz="1400" kern="0">
                  <a:solidFill>
                    <a:srgbClr val="4F4F4F"/>
                  </a:solidFill>
                  <a:latin typeface="+mn-lt"/>
                  <a:ea typeface="+mn-ea"/>
                  <a:cs typeface="+mn-ea"/>
                  <a:sym typeface="+mn-lt"/>
                </a:rPr>
                <a:t>但大范围调查后（</a:t>
              </a:r>
              <a:r>
                <a:rPr lang="en-US" altLang="zh-CN" sz="1400" kern="0">
                  <a:solidFill>
                    <a:srgbClr val="4F4F4F"/>
                  </a:solidFill>
                  <a:latin typeface="+mn-lt"/>
                  <a:ea typeface="+mn-ea"/>
                  <a:cs typeface="+mn-ea"/>
                  <a:sym typeface="+mn-lt"/>
                </a:rPr>
                <a:t> Lefebvre et al.2013,Greene et al.2014)</a:t>
              </a:r>
              <a:r>
                <a:rPr lang="zh-CN" altLang="en-US" sz="1400" kern="0">
                  <a:solidFill>
                    <a:srgbClr val="4F4F4F"/>
                  </a:solidFill>
                  <a:latin typeface="+mn-lt"/>
                  <a:ea typeface="+mn-ea"/>
                  <a:cs typeface="+mn-ea"/>
                  <a:sym typeface="+mn-lt"/>
                </a:rPr>
                <a:t>，经统计，数据上无法证实干粮会造成慢性肾病高发，反之也未发现吃湿粮的猫慢性肾病几率下降。</a:t>
              </a:r>
              <a:endParaRPr lang="en-US" altLang="zh-CN" sz="1400" kern="0">
                <a:solidFill>
                  <a:srgbClr val="4F4F4F"/>
                </a:solidFill>
                <a:latin typeface="+mn-lt"/>
                <a:ea typeface="+mn-ea"/>
                <a:cs typeface="+mn-ea"/>
                <a:sym typeface="+mn-lt"/>
              </a:endParaRPr>
            </a:p>
            <a:p>
              <a:pPr marL="285750" indent="-285750" eaLnBrk="1" fontAlgn="auto" hangingPunct="1">
                <a:lnSpc>
                  <a:spcPct val="150000"/>
                </a:lnSpc>
                <a:spcBef>
                  <a:spcPts val="0"/>
                </a:spcBef>
                <a:spcAft>
                  <a:spcPts val="0"/>
                </a:spcAft>
                <a:buFont typeface="Arial" panose="020B0604020202020204" pitchFamily="34" charset="0"/>
                <a:buChar char="•"/>
                <a:defRPr/>
              </a:pPr>
              <a:r>
                <a:rPr lang="zh-CN" altLang="en-US" sz="1400" kern="0">
                  <a:solidFill>
                    <a:srgbClr val="4F4F4F"/>
                  </a:solidFill>
                  <a:latin typeface="+mn-lt"/>
                  <a:ea typeface="+mn-ea"/>
                  <a:cs typeface="+mn-ea"/>
                  <a:sym typeface="+mn-lt"/>
                </a:rPr>
                <a:t>由于相关研究过少，且存在无法忽略的局限。如湿粮喂食个体数量太少，长期的饮食构成也不明确，故此</a:t>
              </a:r>
              <a:r>
                <a:rPr lang="zh-CN" altLang="en-US" sz="1400" b="1" kern="0">
                  <a:solidFill>
                    <a:srgbClr val="C00000"/>
                  </a:solidFill>
                  <a:latin typeface="+mn-lt"/>
                  <a:ea typeface="+mn-ea"/>
                  <a:cs typeface="+mn-ea"/>
                  <a:sym typeface="+mn-lt"/>
                </a:rPr>
                <a:t>答案尚无定论</a:t>
              </a:r>
              <a:r>
                <a:rPr lang="zh-CN" altLang="en-US" sz="1400" kern="0">
                  <a:solidFill>
                    <a:srgbClr val="4F4F4F"/>
                  </a:solidFill>
                  <a:latin typeface="+mn-lt"/>
                  <a:ea typeface="+mn-ea"/>
                  <a:cs typeface="+mn-ea"/>
                  <a:sym typeface="+mn-lt"/>
                </a:rPr>
                <a:t>。</a:t>
              </a:r>
            </a:p>
          </p:txBody>
        </p:sp>
      </p:grpSp>
      <p:sp>
        <p:nvSpPr>
          <p:cNvPr id="18437" name="文本框 9"/>
          <p:cNvSpPr txBox="1">
            <a:spLocks noChangeArrowheads="1"/>
          </p:cNvSpPr>
          <p:nvPr/>
        </p:nvSpPr>
        <p:spPr bwMode="auto">
          <a:xfrm>
            <a:off x="1558925" y="2636838"/>
            <a:ext cx="439261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en-US" altLang="zh-CN" b="1"/>
          </a:p>
          <a:p>
            <a:endParaRPr lang="en-US" altLang="zh-CN" b="1"/>
          </a:p>
        </p:txBody>
      </p:sp>
      <p:sp>
        <p:nvSpPr>
          <p:cNvPr id="18438" name="文本框 11"/>
          <p:cNvSpPr txBox="1">
            <a:spLocks noChangeArrowheads="1"/>
          </p:cNvSpPr>
          <p:nvPr/>
        </p:nvSpPr>
        <p:spPr bwMode="auto">
          <a:xfrm>
            <a:off x="1457325" y="2549525"/>
            <a:ext cx="41338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pic>
        <p:nvPicPr>
          <p:cNvPr id="18439"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20800" y="1139825"/>
            <a:ext cx="4940300" cy="370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文本框 21">
            <a:extLst>
              <a:ext uri="{FF2B5EF4-FFF2-40B4-BE49-F238E27FC236}">
                <a16:creationId xmlns:a16="http://schemas.microsoft.com/office/drawing/2014/main" id="{96069F9F-9FDA-40B4-B39D-7FB89629A103}"/>
              </a:ext>
            </a:extLst>
          </p:cNvPr>
          <p:cNvSpPr txBox="1">
            <a:spLocks noChangeArrowheads="1"/>
          </p:cNvSpPr>
          <p:nvPr/>
        </p:nvSpPr>
        <p:spPr bwMode="auto">
          <a:xfrm>
            <a:off x="-92511" y="5760788"/>
            <a:ext cx="2782888" cy="88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r" eaLnBrk="1" hangingPunct="1">
              <a:lnSpc>
                <a:spcPct val="150000"/>
              </a:lnSpc>
              <a:spcBef>
                <a:spcPct val="0"/>
              </a:spcBef>
              <a:buFontTx/>
              <a:buNone/>
              <a:defRPr/>
            </a:pPr>
            <a:r>
              <a:rPr lang="zh-CN" altLang="en-US" sz="1800" b="1">
                <a:solidFill>
                  <a:srgbClr val="0F0F0F"/>
                </a:solidFill>
                <a:latin typeface="等线" panose="02010600030101010101" pitchFamily="2" charset="-122"/>
                <a:ea typeface="等线" panose="02010600030101010101" pitchFamily="2" charset="-122"/>
                <a:cs typeface="+mn-ea"/>
                <a:sym typeface="+mn-lt"/>
              </a:rPr>
              <a:t>厨子</a:t>
            </a:r>
            <a:r>
              <a:rPr lang="en-US" altLang="zh-CN" sz="1800" b="1">
                <a:solidFill>
                  <a:srgbClr val="0F0F0F"/>
                </a:solidFill>
                <a:latin typeface="等线" panose="02010600030101010101" pitchFamily="2" charset="-122"/>
                <a:ea typeface="等线" panose="02010600030101010101" pitchFamily="2" charset="-122"/>
                <a:cs typeface="+mn-ea"/>
                <a:sym typeface="+mn-lt"/>
              </a:rPr>
              <a:t>@</a:t>
            </a:r>
            <a:r>
              <a:rPr lang="zh-CN" altLang="en-US" sz="1800" b="1">
                <a:solidFill>
                  <a:srgbClr val="0F0F0F"/>
                </a:solidFill>
                <a:latin typeface="等线" panose="02010600030101010101" pitchFamily="2" charset="-122"/>
                <a:ea typeface="等线" panose="02010600030101010101" pitchFamily="2" charset="-122"/>
                <a:cs typeface="+mn-ea"/>
                <a:sym typeface="+mn-lt"/>
              </a:rPr>
              <a:t>公众号</a:t>
            </a:r>
            <a:r>
              <a:rPr lang="en-US" altLang="zh-CN" sz="1800" b="1">
                <a:solidFill>
                  <a:srgbClr val="0F0F0F"/>
                </a:solidFill>
                <a:latin typeface="等线" panose="02010600030101010101" pitchFamily="2" charset="-122"/>
                <a:ea typeface="等线" panose="02010600030101010101" pitchFamily="2" charset="-122"/>
                <a:cs typeface="+mn-ea"/>
                <a:sym typeface="+mn-lt"/>
              </a:rPr>
              <a:t>Raw Meat</a:t>
            </a:r>
          </a:p>
          <a:p>
            <a:pPr algn="r" eaLnBrk="1" hangingPunct="1">
              <a:lnSpc>
                <a:spcPct val="150000"/>
              </a:lnSpc>
              <a:spcBef>
                <a:spcPct val="0"/>
              </a:spcBef>
              <a:buFontTx/>
              <a:buNone/>
              <a:defRPr/>
            </a:pPr>
            <a:r>
              <a:rPr lang="en-US" altLang="zh-CN" sz="1800" b="1">
                <a:solidFill>
                  <a:srgbClr val="0F0F0F"/>
                </a:solidFill>
                <a:latin typeface="等线" panose="02010600030101010101" pitchFamily="2" charset="-122"/>
                <a:ea typeface="等线" panose="02010600030101010101" pitchFamily="2" charset="-122"/>
                <a:cs typeface="+mn-ea"/>
                <a:sym typeface="+mn-lt"/>
              </a:rPr>
              <a:t>2018 Aug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pic>
        <p:nvPicPr>
          <p:cNvPr id="9218" name="图片 2">
            <a:extLst/>
          </p:cNvPr>
          <p:cNvPicPr>
            <a:picLocks noChangeAspect="1" noChangeArrowheads="1"/>
          </p:cNvPicPr>
          <p:nvPr/>
        </p:nvPicPr>
        <p:blipFill>
          <a:blip r:embed="rId2">
            <a:duotone>
              <a:prstClr val="black"/>
              <a:schemeClr val="accent3">
                <a:tint val="45000"/>
                <a:satMod val="400000"/>
              </a:schemeClr>
            </a:duotone>
            <a:extLst>
              <a:ext uri="{28A0092B-C50C-407E-A947-70E740481C1C}">
                <a14:useLocalDpi xmlns:a14="http://schemas.microsoft.com/office/drawing/2010/main" val="0"/>
              </a:ext>
            </a:extLst>
          </a:blip>
          <a:srcRect l="7875" r="25414"/>
          <a:stretch>
            <a:fillRect/>
          </a:stretch>
        </p:blipFill>
        <p:spPr bwMode="auto">
          <a:xfrm>
            <a:off x="-74310" y="-17714"/>
            <a:ext cx="7356475" cy="689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7" name="组合 16">
            <a:extLst/>
          </p:cNvPr>
          <p:cNvGrpSpPr/>
          <p:nvPr/>
        </p:nvGrpSpPr>
        <p:grpSpPr>
          <a:xfrm>
            <a:off x="4871863" y="330676"/>
            <a:ext cx="7320137" cy="1143935"/>
            <a:chOff x="8112223" y="330676"/>
            <a:chExt cx="4194115" cy="1143935"/>
          </a:xfrm>
          <a:effectLst>
            <a:outerShdw blurRad="50800" dist="38100" dir="5400000" algn="t" rotWithShape="0">
              <a:prstClr val="black">
                <a:alpha val="40000"/>
              </a:prstClr>
            </a:outerShdw>
          </a:effectLst>
        </p:grpSpPr>
        <p:sp>
          <p:nvSpPr>
            <p:cNvPr id="4"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5" name="组合 22">
              <a:extLst/>
            </p:cNvPr>
            <p:cNvGrpSpPr>
              <a:grpSpLocks/>
            </p:cNvGrpSpPr>
            <p:nvPr/>
          </p:nvGrpSpPr>
          <p:grpSpPr bwMode="auto">
            <a:xfrm>
              <a:off x="8281096" y="330676"/>
              <a:ext cx="3956867" cy="1143935"/>
              <a:chOff x="-461843" y="2729730"/>
              <a:chExt cx="4660664" cy="1599633"/>
            </a:xfrm>
          </p:grpSpPr>
          <p:sp>
            <p:nvSpPr>
              <p:cNvPr id="6"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7" name="文本框 14">
                <a:extLst/>
              </p:cNvPr>
              <p:cNvSpPr txBox="1">
                <a:spLocks noChangeArrowheads="1"/>
              </p:cNvSpPr>
              <p:nvPr/>
            </p:nvSpPr>
            <p:spPr bwMode="auto">
              <a:xfrm>
                <a:off x="1080991" y="2779986"/>
                <a:ext cx="3117830" cy="1549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000" b="1">
                    <a:solidFill>
                      <a:schemeClr val="tx2">
                        <a:lumMod val="75000"/>
                      </a:schemeClr>
                    </a:solidFill>
                    <a:latin typeface="微软雅黑" panose="020B0503020204020204" pitchFamily="34" charset="-122"/>
                    <a:ea typeface="微软雅黑" panose="020B0503020204020204" pitchFamily="34" charset="-122"/>
                    <a:cs typeface="+mn-ea"/>
                    <a:sym typeface="+mn-lt"/>
                  </a:rPr>
                  <a:t>猫慢性肾病风险因素</a:t>
                </a:r>
                <a:endParaRPr lang="en-US" altLang="zh-CN" sz="2000" b="1">
                  <a:solidFill>
                    <a:schemeClr val="tx2">
                      <a:lumMod val="75000"/>
                    </a:schemeClr>
                  </a:solidFill>
                  <a:latin typeface="微软雅黑" panose="020B0503020204020204" pitchFamily="34" charset="-122"/>
                  <a:ea typeface="微软雅黑" panose="020B0503020204020204" pitchFamily="34" charset="-122"/>
                  <a:cs typeface="+mn-ea"/>
                  <a:sym typeface="+mn-lt"/>
                </a:endParaRPr>
              </a:p>
              <a:p>
                <a:pPr eaLnBrk="1" hangingPunct="1">
                  <a:lnSpc>
                    <a:spcPct val="150000"/>
                  </a:lnSpc>
                  <a:spcBef>
                    <a:spcPct val="0"/>
                  </a:spcBef>
                  <a:buFontTx/>
                  <a:buNone/>
                  <a:defRPr/>
                </a:pPr>
                <a:r>
                  <a:rPr lang="zh-CN" altLang="en-US" sz="2400" b="1">
                    <a:solidFill>
                      <a:schemeClr val="tx2">
                        <a:lumMod val="75000"/>
                      </a:schemeClr>
                    </a:solidFill>
                    <a:latin typeface="微软雅黑" panose="020B0503020204020204" pitchFamily="34" charset="-122"/>
                    <a:ea typeface="微软雅黑" panose="020B0503020204020204" pitchFamily="34" charset="-122"/>
                    <a:cs typeface="+mn-ea"/>
                    <a:sym typeface="+mn-lt"/>
                  </a:rPr>
                  <a:t>疫苗伤猫肾？</a:t>
                </a:r>
                <a:endParaRPr lang="en-US" altLang="zh-CN" sz="2400" b="1">
                  <a:solidFill>
                    <a:schemeClr val="tx2">
                      <a:lumMod val="75000"/>
                    </a:schemeClr>
                  </a:solidFill>
                  <a:latin typeface="微软雅黑" panose="020B0503020204020204" pitchFamily="34" charset="-122"/>
                  <a:ea typeface="微软雅黑" panose="020B0503020204020204" pitchFamily="34" charset="-122"/>
                  <a:cs typeface="+mn-ea"/>
                  <a:sym typeface="+mn-lt"/>
                </a:endParaRPr>
              </a:p>
            </p:txBody>
          </p:sp>
          <p:cxnSp>
            <p:nvCxnSpPr>
              <p:cNvPr id="8" name="直接连接符 7">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9" name="矩形 20">
                <a:extLst/>
              </p:cNvPr>
              <p:cNvSpPr>
                <a:spLocks noChangeArrowheads="1"/>
              </p:cNvSpPr>
              <p:nvPr/>
            </p:nvSpPr>
            <p:spPr bwMode="auto">
              <a:xfrm>
                <a:off x="506334" y="3461621"/>
                <a:ext cx="574658"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ONE</a:t>
                </a:r>
                <a:endParaRPr lang="zh-CN" altLang="en-US" sz="1200">
                  <a:latin typeface="+mn-lt"/>
                  <a:ea typeface="+mn-ea"/>
                  <a:cs typeface="+mn-ea"/>
                  <a:sym typeface="+mn-lt"/>
                </a:endParaRPr>
              </a:p>
            </p:txBody>
          </p:sp>
        </p:grpSp>
      </p:grpSp>
      <p:grpSp>
        <p:nvGrpSpPr>
          <p:cNvPr id="19460" name="组合 17"/>
          <p:cNvGrpSpPr>
            <a:grpSpLocks/>
          </p:cNvGrpSpPr>
          <p:nvPr/>
        </p:nvGrpSpPr>
        <p:grpSpPr bwMode="auto">
          <a:xfrm>
            <a:off x="1225550" y="2324100"/>
            <a:ext cx="10628313" cy="4129088"/>
            <a:chOff x="170987" y="2984657"/>
            <a:chExt cx="9768408" cy="3510340"/>
          </a:xfrm>
        </p:grpSpPr>
        <p:sp>
          <p:nvSpPr>
            <p:cNvPr id="21" name="矩形 20">
              <a:extLst/>
            </p:cNvPr>
            <p:cNvSpPr/>
            <p:nvPr/>
          </p:nvSpPr>
          <p:spPr>
            <a:xfrm>
              <a:off x="170987" y="2984657"/>
              <a:ext cx="9768408" cy="351034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kern="0">
                <a:solidFill>
                  <a:sysClr val="windowText" lastClr="000000"/>
                </a:solidFill>
                <a:cs typeface="+mn-ea"/>
                <a:sym typeface="+mn-lt"/>
              </a:endParaRPr>
            </a:p>
          </p:txBody>
        </p:sp>
        <p:sp>
          <p:nvSpPr>
            <p:cNvPr id="23" name="矩形 22">
              <a:extLst/>
            </p:cNvPr>
            <p:cNvSpPr/>
            <p:nvPr/>
          </p:nvSpPr>
          <p:spPr>
            <a:xfrm>
              <a:off x="5055920" y="3152009"/>
              <a:ext cx="4631057" cy="2963747"/>
            </a:xfrm>
            <a:prstGeom prst="rect">
              <a:avLst/>
            </a:prstGeom>
          </p:spPr>
          <p:txBody>
            <a:bodyPr>
              <a:spAutoFit/>
            </a:bodyPr>
            <a:lstStyle/>
            <a:p>
              <a:pPr marL="285750" indent="-285750" eaLnBrk="1" fontAlgn="auto" hangingPunct="1">
                <a:lnSpc>
                  <a:spcPct val="150000"/>
                </a:lnSpc>
                <a:spcBef>
                  <a:spcPts val="0"/>
                </a:spcBef>
                <a:spcAft>
                  <a:spcPts val="0"/>
                </a:spcAft>
                <a:buFont typeface="Arial" panose="020B0604020202020204" pitchFamily="34" charset="0"/>
                <a:buChar char="•"/>
                <a:defRPr/>
              </a:pPr>
              <a:r>
                <a:rPr lang="zh-CN" altLang="en-US" sz="1400" kern="0">
                  <a:solidFill>
                    <a:srgbClr val="4F4F4F"/>
                  </a:solidFill>
                  <a:latin typeface="+mn-lt"/>
                  <a:ea typeface="+mn-ea"/>
                  <a:cs typeface="+mn-ea"/>
                  <a:sym typeface="+mn-lt"/>
                </a:rPr>
                <a:t>疫苗伤猫肾的质疑始于</a:t>
              </a:r>
              <a:r>
                <a:rPr lang="en-US" altLang="zh-CN" sz="1400" kern="0">
                  <a:solidFill>
                    <a:srgbClr val="4F4F4F"/>
                  </a:solidFill>
                  <a:latin typeface="+mn-lt"/>
                  <a:ea typeface="+mn-ea"/>
                  <a:cs typeface="+mn-ea"/>
                  <a:sym typeface="+mn-lt"/>
                </a:rPr>
                <a:t>Dr.Lappin,</a:t>
              </a:r>
              <a:r>
                <a:rPr lang="zh-CN" altLang="en-US" sz="1400" kern="0">
                  <a:solidFill>
                    <a:srgbClr val="4F4F4F"/>
                  </a:solidFill>
                  <a:latin typeface="+mn-lt"/>
                  <a:ea typeface="+mn-ea"/>
                  <a:cs typeface="+mn-ea"/>
                  <a:sym typeface="+mn-lt"/>
                </a:rPr>
                <a:t>起初怀疑培养疫苗所用的</a:t>
              </a:r>
              <a:r>
                <a:rPr lang="en-US" altLang="zh-CN" sz="1400" kern="0">
                  <a:solidFill>
                    <a:srgbClr val="4F4F4F"/>
                  </a:solidFill>
                  <a:latin typeface="+mn-lt"/>
                  <a:ea typeface="+mn-ea"/>
                  <a:cs typeface="+mn-ea"/>
                  <a:sym typeface="+mn-lt"/>
                </a:rPr>
                <a:t>CrFK</a:t>
              </a:r>
              <a:r>
                <a:rPr lang="zh-CN" altLang="en-US" sz="1400" kern="0">
                  <a:solidFill>
                    <a:srgbClr val="4F4F4F"/>
                  </a:solidFill>
                  <a:latin typeface="+mn-lt"/>
                  <a:ea typeface="+mn-ea"/>
                  <a:cs typeface="+mn-ea"/>
                  <a:sym typeface="+mn-lt"/>
                </a:rPr>
                <a:t>细胞会产生损伤肾脏的抗体。</a:t>
              </a:r>
              <a:endParaRPr lang="en-US" altLang="zh-CN" sz="1400" kern="0">
                <a:solidFill>
                  <a:srgbClr val="4F4F4F"/>
                </a:solidFill>
                <a:latin typeface="+mn-lt"/>
                <a:ea typeface="+mn-ea"/>
                <a:cs typeface="+mn-ea"/>
                <a:sym typeface="+mn-lt"/>
              </a:endParaRPr>
            </a:p>
            <a:p>
              <a:pPr marL="285750" indent="-285750" eaLnBrk="1" fontAlgn="auto" hangingPunct="1">
                <a:lnSpc>
                  <a:spcPct val="150000"/>
                </a:lnSpc>
                <a:spcBef>
                  <a:spcPts val="0"/>
                </a:spcBef>
                <a:spcAft>
                  <a:spcPts val="0"/>
                </a:spcAft>
                <a:buFont typeface="Arial" panose="020B0604020202020204" pitchFamily="34" charset="0"/>
                <a:buChar char="•"/>
                <a:defRPr/>
              </a:pPr>
              <a:r>
                <a:rPr lang="zh-CN" altLang="en-US" sz="1400" kern="0">
                  <a:solidFill>
                    <a:srgbClr val="4F4F4F"/>
                  </a:solidFill>
                  <a:latin typeface="+mn-lt"/>
                  <a:ea typeface="+mn-ea"/>
                  <a:cs typeface="+mn-ea"/>
                  <a:sym typeface="+mn-lt"/>
                </a:rPr>
                <a:t>直接注入相关抗体没有发现肾脏损伤。后续实验中，发现疫苗注射导致猫肾损，但实验中一年间注射了疫苗</a:t>
              </a:r>
              <a:r>
                <a:rPr lang="en-US" altLang="zh-CN" sz="1400" kern="0">
                  <a:solidFill>
                    <a:srgbClr val="4F4F4F"/>
                  </a:solidFill>
                  <a:latin typeface="+mn-lt"/>
                  <a:ea typeface="+mn-ea"/>
                  <a:cs typeface="+mn-ea"/>
                  <a:sym typeface="+mn-lt"/>
                </a:rPr>
                <a:t>12</a:t>
              </a:r>
              <a:r>
                <a:rPr lang="zh-CN" altLang="en-US" sz="1400" kern="0">
                  <a:solidFill>
                    <a:srgbClr val="4F4F4F"/>
                  </a:solidFill>
                  <a:latin typeface="+mn-lt"/>
                  <a:ea typeface="+mn-ea"/>
                  <a:cs typeface="+mn-ea"/>
                  <a:sym typeface="+mn-lt"/>
                </a:rPr>
                <a:t>次之多。</a:t>
              </a:r>
              <a:endParaRPr lang="en-US" altLang="zh-CN" sz="1400" kern="0">
                <a:solidFill>
                  <a:srgbClr val="4F4F4F"/>
                </a:solidFill>
                <a:latin typeface="+mn-lt"/>
                <a:ea typeface="+mn-ea"/>
                <a:cs typeface="+mn-ea"/>
                <a:sym typeface="+mn-lt"/>
              </a:endParaRPr>
            </a:p>
            <a:p>
              <a:pPr marL="285750" indent="-285750" eaLnBrk="1" fontAlgn="auto" hangingPunct="1">
                <a:lnSpc>
                  <a:spcPct val="150000"/>
                </a:lnSpc>
                <a:spcBef>
                  <a:spcPts val="0"/>
                </a:spcBef>
                <a:spcAft>
                  <a:spcPts val="0"/>
                </a:spcAft>
                <a:buFont typeface="Arial" panose="020B0604020202020204" pitchFamily="34" charset="0"/>
                <a:buChar char="•"/>
                <a:defRPr/>
              </a:pPr>
              <a:r>
                <a:rPr lang="en-US" altLang="zh-CN" sz="1400" kern="0">
                  <a:solidFill>
                    <a:srgbClr val="4F4F4F"/>
                  </a:solidFill>
                  <a:latin typeface="+mn-lt"/>
                  <a:ea typeface="+mn-ea"/>
                  <a:cs typeface="+mn-ea"/>
                  <a:sym typeface="+mn-lt"/>
                </a:rPr>
                <a:t>2016</a:t>
              </a:r>
              <a:r>
                <a:rPr lang="zh-CN" altLang="en-US" sz="1400" kern="0">
                  <a:solidFill>
                    <a:srgbClr val="4F4F4F"/>
                  </a:solidFill>
                  <a:latin typeface="+mn-lt"/>
                  <a:ea typeface="+mn-ea"/>
                  <a:cs typeface="+mn-ea"/>
                  <a:sym typeface="+mn-lt"/>
                </a:rPr>
                <a:t>的研究中，却依然发现每年注射疫苗可能增加猫肾病几率。</a:t>
              </a:r>
              <a:endParaRPr lang="en-US" altLang="zh-CN" sz="1400" kern="0">
                <a:solidFill>
                  <a:srgbClr val="4F4F4F"/>
                </a:solidFill>
                <a:latin typeface="+mn-lt"/>
                <a:ea typeface="+mn-ea"/>
                <a:cs typeface="+mn-ea"/>
                <a:sym typeface="+mn-lt"/>
              </a:endParaRPr>
            </a:p>
            <a:p>
              <a:pPr marL="285750" indent="-285750" eaLnBrk="1" fontAlgn="auto" hangingPunct="1">
                <a:lnSpc>
                  <a:spcPct val="150000"/>
                </a:lnSpc>
                <a:spcBef>
                  <a:spcPts val="0"/>
                </a:spcBef>
                <a:spcAft>
                  <a:spcPts val="0"/>
                </a:spcAft>
                <a:buFont typeface="Arial" panose="020B0604020202020204" pitchFamily="34" charset="0"/>
                <a:buChar char="•"/>
                <a:defRPr/>
              </a:pPr>
              <a:r>
                <a:rPr lang="zh-CN" altLang="en-US" sz="1400" kern="0">
                  <a:solidFill>
                    <a:srgbClr val="4F4F4F"/>
                  </a:solidFill>
                  <a:latin typeface="+mn-ea"/>
                  <a:ea typeface="+mn-ea"/>
                  <a:cs typeface="+mn-ea"/>
                  <a:sym typeface="+mn-lt"/>
                </a:rPr>
                <a:t>早年的临床实验中已证实：妙三多注射</a:t>
              </a:r>
              <a:r>
                <a:rPr lang="en-US" altLang="zh-CN" sz="1400" b="1" kern="0">
                  <a:solidFill>
                    <a:srgbClr val="C00000"/>
                  </a:solidFill>
                  <a:latin typeface="+mn-ea"/>
                  <a:ea typeface="+mn-ea"/>
                  <a:cs typeface="+mn-ea"/>
                  <a:sym typeface="+mn-lt"/>
                </a:rPr>
                <a:t>7.5</a:t>
              </a:r>
              <a:r>
                <a:rPr lang="zh-CN" altLang="en-US" sz="1400" b="1" kern="0">
                  <a:solidFill>
                    <a:srgbClr val="C00000"/>
                  </a:solidFill>
                  <a:latin typeface="+mn-ea"/>
                  <a:ea typeface="+mn-ea"/>
                  <a:cs typeface="+mn-ea"/>
                  <a:sym typeface="+mn-lt"/>
                </a:rPr>
                <a:t>年</a:t>
              </a:r>
              <a:r>
                <a:rPr lang="en-US" altLang="zh-CN" sz="1400" kern="0">
                  <a:solidFill>
                    <a:srgbClr val="4F4F4F"/>
                  </a:solidFill>
                  <a:latin typeface="+mn-ea"/>
                  <a:ea typeface="+mn-ea"/>
                  <a:cs typeface="+mn-ea"/>
                  <a:sym typeface="+mn-lt"/>
                </a:rPr>
                <a:t>(</a:t>
              </a:r>
              <a:r>
                <a:rPr lang="zh-CN" altLang="en-US" sz="1400" kern="0">
                  <a:solidFill>
                    <a:srgbClr val="4F4F4F"/>
                  </a:solidFill>
                  <a:latin typeface="+mn-ea"/>
                  <a:ea typeface="+mn-ea"/>
                  <a:cs typeface="+mn-ea"/>
                  <a:sym typeface="+mn-lt"/>
                </a:rPr>
                <a:t>期间不加强）后对猫瘟、疱疹与杯状有充足的保护力。</a:t>
              </a:r>
              <a:r>
                <a:rPr lang="zh-CN" altLang="en-US" sz="1050" kern="0">
                  <a:solidFill>
                    <a:srgbClr val="4F4F4F"/>
                  </a:solidFill>
                  <a:latin typeface="+mn-ea"/>
                  <a:ea typeface="+mn-ea"/>
                  <a:cs typeface="+mn-ea"/>
                  <a:sym typeface="+mn-lt"/>
                </a:rPr>
                <a:t>（</a:t>
              </a:r>
              <a:r>
                <a:rPr lang="en-US" altLang="zh-CN" sz="1050" kern="0">
                  <a:solidFill>
                    <a:srgbClr val="4F4F4F"/>
                  </a:solidFill>
                  <a:latin typeface="+mn-ea"/>
                  <a:ea typeface="+mn-ea"/>
                  <a:cs typeface="+mn-ea"/>
                  <a:sym typeface="+mn-lt"/>
                </a:rPr>
                <a:t> Long-term immunity in cats vaccinated with an inactivated trivalent vaccine F W Scott et al.1999</a:t>
              </a:r>
              <a:r>
                <a:rPr lang="zh-CN" altLang="en-US" sz="1050" kern="0">
                  <a:solidFill>
                    <a:srgbClr val="4F4F4F"/>
                  </a:solidFill>
                  <a:latin typeface="+mn-ea"/>
                  <a:ea typeface="+mn-ea"/>
                  <a:cs typeface="+mn-ea"/>
                  <a:sym typeface="+mn-lt"/>
                </a:rPr>
                <a:t>）</a:t>
              </a:r>
            </a:p>
          </p:txBody>
        </p:sp>
      </p:grpSp>
      <p:sp>
        <p:nvSpPr>
          <p:cNvPr id="19461" name="文本框 1"/>
          <p:cNvSpPr txBox="1">
            <a:spLocks noChangeArrowheads="1"/>
          </p:cNvSpPr>
          <p:nvPr/>
        </p:nvSpPr>
        <p:spPr bwMode="auto">
          <a:xfrm>
            <a:off x="1489075" y="6127750"/>
            <a:ext cx="62611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100"/>
              <a:t>Risk Factors for Development of Chronic Kidney Disease in Cats N.C. Finch et al. 2016</a:t>
            </a:r>
            <a:endParaRPr lang="zh-CN" altLang="en-US" sz="1100"/>
          </a:p>
        </p:txBody>
      </p:sp>
      <p:pic>
        <p:nvPicPr>
          <p:cNvPr id="19462"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66850" y="2417763"/>
            <a:ext cx="4378325" cy="3513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pic>
        <p:nvPicPr>
          <p:cNvPr id="9218" name="图片 2">
            <a:extLst/>
          </p:cNvPr>
          <p:cNvPicPr>
            <a:picLocks noChangeAspect="1" noChangeArrowheads="1"/>
          </p:cNvPicPr>
          <p:nvPr/>
        </p:nvPicPr>
        <p:blipFill>
          <a:blip r:embed="rId2">
            <a:duotone>
              <a:prstClr val="black"/>
              <a:schemeClr val="accent3">
                <a:tint val="45000"/>
                <a:satMod val="400000"/>
              </a:schemeClr>
            </a:duotone>
            <a:extLst>
              <a:ext uri="{28A0092B-C50C-407E-A947-70E740481C1C}">
                <a14:useLocalDpi xmlns:a14="http://schemas.microsoft.com/office/drawing/2010/main" val="0"/>
              </a:ext>
            </a:extLst>
          </a:blip>
          <a:srcRect l="7875" r="25414"/>
          <a:stretch>
            <a:fillRect/>
          </a:stretch>
        </p:blipFill>
        <p:spPr bwMode="auto">
          <a:xfrm>
            <a:off x="-74310" y="-17714"/>
            <a:ext cx="7356475" cy="689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7" name="组合 16">
            <a:extLst/>
          </p:cNvPr>
          <p:cNvGrpSpPr/>
          <p:nvPr/>
        </p:nvGrpSpPr>
        <p:grpSpPr>
          <a:xfrm>
            <a:off x="4871863" y="330676"/>
            <a:ext cx="7320137" cy="1143935"/>
            <a:chOff x="8112223" y="330676"/>
            <a:chExt cx="4194115" cy="1143935"/>
          </a:xfrm>
          <a:effectLst>
            <a:outerShdw blurRad="50800" dist="38100" dir="5400000" algn="t" rotWithShape="0">
              <a:prstClr val="black">
                <a:alpha val="40000"/>
              </a:prstClr>
            </a:outerShdw>
          </a:effectLst>
        </p:grpSpPr>
        <p:sp>
          <p:nvSpPr>
            <p:cNvPr id="4"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5" name="组合 22">
              <a:extLst/>
            </p:cNvPr>
            <p:cNvGrpSpPr>
              <a:grpSpLocks/>
            </p:cNvGrpSpPr>
            <p:nvPr/>
          </p:nvGrpSpPr>
          <p:grpSpPr bwMode="auto">
            <a:xfrm>
              <a:off x="8281096" y="330676"/>
              <a:ext cx="3956867" cy="1143935"/>
              <a:chOff x="-461843" y="2729730"/>
              <a:chExt cx="4660664" cy="1599633"/>
            </a:xfrm>
          </p:grpSpPr>
          <p:sp>
            <p:nvSpPr>
              <p:cNvPr id="6"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7" name="文本框 14">
                <a:extLst/>
              </p:cNvPr>
              <p:cNvSpPr txBox="1">
                <a:spLocks noChangeArrowheads="1"/>
              </p:cNvSpPr>
              <p:nvPr/>
            </p:nvSpPr>
            <p:spPr bwMode="auto">
              <a:xfrm>
                <a:off x="1080991" y="2779986"/>
                <a:ext cx="3117830" cy="1549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000" b="1">
                    <a:solidFill>
                      <a:schemeClr val="tx2">
                        <a:lumMod val="75000"/>
                      </a:schemeClr>
                    </a:solidFill>
                    <a:latin typeface="微软雅黑" panose="020B0503020204020204" pitchFamily="34" charset="-122"/>
                    <a:ea typeface="微软雅黑" panose="020B0503020204020204" pitchFamily="34" charset="-122"/>
                    <a:cs typeface="+mn-ea"/>
                    <a:sym typeface="+mn-lt"/>
                  </a:rPr>
                  <a:t>猫慢性肾病风险因素</a:t>
                </a:r>
                <a:endParaRPr lang="en-US" altLang="zh-CN" sz="2000" b="1">
                  <a:solidFill>
                    <a:schemeClr val="tx2">
                      <a:lumMod val="75000"/>
                    </a:schemeClr>
                  </a:solidFill>
                  <a:latin typeface="微软雅黑" panose="020B0503020204020204" pitchFamily="34" charset="-122"/>
                  <a:ea typeface="微软雅黑" panose="020B0503020204020204" pitchFamily="34" charset="-122"/>
                  <a:cs typeface="+mn-ea"/>
                  <a:sym typeface="+mn-lt"/>
                </a:endParaRPr>
              </a:p>
              <a:p>
                <a:pPr eaLnBrk="1" hangingPunct="1">
                  <a:lnSpc>
                    <a:spcPct val="150000"/>
                  </a:lnSpc>
                  <a:spcBef>
                    <a:spcPct val="0"/>
                  </a:spcBef>
                  <a:buFontTx/>
                  <a:buNone/>
                  <a:defRPr/>
                </a:pPr>
                <a:r>
                  <a:rPr lang="zh-CN" altLang="en-US" sz="2400" b="1">
                    <a:solidFill>
                      <a:schemeClr val="tx2">
                        <a:lumMod val="75000"/>
                      </a:schemeClr>
                    </a:solidFill>
                    <a:latin typeface="微软雅黑" panose="020B0503020204020204" pitchFamily="34" charset="-122"/>
                    <a:ea typeface="微软雅黑" panose="020B0503020204020204" pitchFamily="34" charset="-122"/>
                    <a:cs typeface="+mn-ea"/>
                    <a:sym typeface="+mn-lt"/>
                  </a:rPr>
                  <a:t>我的猫肾病都怪高蛋白！</a:t>
                </a:r>
                <a:endParaRPr lang="en-US" altLang="zh-CN" sz="2400" b="1">
                  <a:solidFill>
                    <a:schemeClr val="tx2">
                      <a:lumMod val="75000"/>
                    </a:schemeClr>
                  </a:solidFill>
                  <a:latin typeface="微软雅黑" panose="020B0503020204020204" pitchFamily="34" charset="-122"/>
                  <a:ea typeface="微软雅黑" panose="020B0503020204020204" pitchFamily="34" charset="-122"/>
                  <a:cs typeface="+mn-ea"/>
                  <a:sym typeface="+mn-lt"/>
                </a:endParaRPr>
              </a:p>
            </p:txBody>
          </p:sp>
          <p:cxnSp>
            <p:nvCxnSpPr>
              <p:cNvPr id="8" name="直接连接符 7">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9" name="矩形 20">
                <a:extLst/>
              </p:cNvPr>
              <p:cNvSpPr>
                <a:spLocks noChangeArrowheads="1"/>
              </p:cNvSpPr>
              <p:nvPr/>
            </p:nvSpPr>
            <p:spPr bwMode="auto">
              <a:xfrm>
                <a:off x="506334" y="3461621"/>
                <a:ext cx="574658"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ONE</a:t>
                </a:r>
                <a:endParaRPr lang="zh-CN" altLang="en-US" sz="1200">
                  <a:latin typeface="+mn-lt"/>
                  <a:ea typeface="+mn-ea"/>
                  <a:cs typeface="+mn-ea"/>
                  <a:sym typeface="+mn-lt"/>
                </a:endParaRPr>
              </a:p>
            </p:txBody>
          </p:sp>
        </p:grpSp>
      </p:grpSp>
      <p:grpSp>
        <p:nvGrpSpPr>
          <p:cNvPr id="20484" name="组合 17"/>
          <p:cNvGrpSpPr>
            <a:grpSpLocks/>
          </p:cNvGrpSpPr>
          <p:nvPr/>
        </p:nvGrpSpPr>
        <p:grpSpPr bwMode="auto">
          <a:xfrm>
            <a:off x="1225550" y="2324100"/>
            <a:ext cx="10628313" cy="3867556"/>
            <a:chOff x="170987" y="2984657"/>
            <a:chExt cx="9768408" cy="3668849"/>
          </a:xfrm>
        </p:grpSpPr>
        <p:sp>
          <p:nvSpPr>
            <p:cNvPr id="21" name="矩形 20">
              <a:extLst/>
            </p:cNvPr>
            <p:cNvSpPr/>
            <p:nvPr/>
          </p:nvSpPr>
          <p:spPr>
            <a:xfrm>
              <a:off x="170987" y="2984657"/>
              <a:ext cx="9768408" cy="364385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kern="0">
                <a:solidFill>
                  <a:sysClr val="windowText" lastClr="000000"/>
                </a:solidFill>
                <a:cs typeface="+mn-ea"/>
                <a:sym typeface="+mn-lt"/>
              </a:endParaRPr>
            </a:p>
          </p:txBody>
        </p:sp>
        <p:sp>
          <p:nvSpPr>
            <p:cNvPr id="23" name="矩形 22">
              <a:extLst/>
            </p:cNvPr>
            <p:cNvSpPr/>
            <p:nvPr/>
          </p:nvSpPr>
          <p:spPr>
            <a:xfrm>
              <a:off x="5238303" y="3281327"/>
              <a:ext cx="4571280" cy="3372179"/>
            </a:xfrm>
            <a:prstGeom prst="rect">
              <a:avLst/>
            </a:prstGeom>
          </p:spPr>
          <p:txBody>
            <a:bodyPr wrap="square">
              <a:spAutoFit/>
            </a:bodyPr>
            <a:lstStyle/>
            <a:p>
              <a:pPr marL="285750" indent="-285750" eaLnBrk="1" fontAlgn="auto" hangingPunct="1">
                <a:lnSpc>
                  <a:spcPct val="150000"/>
                </a:lnSpc>
                <a:spcBef>
                  <a:spcPts val="0"/>
                </a:spcBef>
                <a:spcAft>
                  <a:spcPts val="0"/>
                </a:spcAft>
                <a:buFont typeface="Arial" panose="020B0604020202020204" pitchFamily="34" charset="0"/>
                <a:buChar char="•"/>
                <a:defRPr/>
              </a:pPr>
              <a:r>
                <a:rPr lang="zh-CN" altLang="en-US" sz="1200" kern="0">
                  <a:solidFill>
                    <a:srgbClr val="4F4F4F"/>
                  </a:solidFill>
                  <a:latin typeface="+mn-lt"/>
                  <a:ea typeface="+mn-ea"/>
                  <a:cs typeface="+mn-ea"/>
                  <a:sym typeface="+mn-lt"/>
                </a:rPr>
                <a:t>进入新千年后，高蛋白饮食引发猫肾病论在学术界几乎绝迹，但在养猫界依旧生生不息。</a:t>
              </a:r>
              <a:endParaRPr lang="en-US" altLang="zh-CN" sz="1200" kern="0">
                <a:solidFill>
                  <a:srgbClr val="4F4F4F"/>
                </a:solidFill>
                <a:latin typeface="+mn-lt"/>
                <a:ea typeface="+mn-ea"/>
                <a:cs typeface="+mn-ea"/>
                <a:sym typeface="+mn-lt"/>
              </a:endParaRPr>
            </a:p>
            <a:p>
              <a:pPr marL="285750" indent="-285750" eaLnBrk="1" fontAlgn="auto" hangingPunct="1">
                <a:lnSpc>
                  <a:spcPct val="150000"/>
                </a:lnSpc>
                <a:spcBef>
                  <a:spcPts val="0"/>
                </a:spcBef>
                <a:spcAft>
                  <a:spcPts val="0"/>
                </a:spcAft>
                <a:buFont typeface="Arial" panose="020B0604020202020204" pitchFamily="34" charset="0"/>
                <a:buChar char="•"/>
                <a:defRPr/>
              </a:pPr>
              <a:r>
                <a:rPr lang="zh-CN" altLang="en-US" sz="1200" kern="0">
                  <a:solidFill>
                    <a:srgbClr val="4F4F4F"/>
                  </a:solidFill>
                  <a:latin typeface="+mn-lt"/>
                  <a:ea typeface="+mn-ea"/>
                  <a:cs typeface="+mn-ea"/>
                  <a:sym typeface="+mn-lt"/>
                </a:rPr>
                <a:t>相关假想包括：代谢压力说，高蛋白导致肾小球超滤伤肾，高蛋白导致酸中毒、低血钾说；大多以过时的人类医学资料，从小鼠实验推测而来。</a:t>
              </a:r>
              <a:r>
                <a:rPr lang="en-US" altLang="zh-CN" sz="900" kern="0">
                  <a:solidFill>
                    <a:srgbClr val="4F4F4F"/>
                  </a:solidFill>
                  <a:latin typeface="+mn-lt"/>
                  <a:ea typeface="+mn-ea"/>
                  <a:cs typeface="+mn-ea"/>
                  <a:sym typeface="+mn-lt"/>
                </a:rPr>
                <a:t>(</a:t>
              </a:r>
              <a:r>
                <a:rPr lang="zh-CN" altLang="en-US" sz="900" kern="0">
                  <a:solidFill>
                    <a:srgbClr val="4F4F4F"/>
                  </a:solidFill>
                  <a:latin typeface="+mn-lt"/>
                  <a:ea typeface="+mn-ea"/>
                  <a:cs typeface="+mn-ea"/>
                  <a:sym typeface="+mn-lt"/>
                </a:rPr>
                <a:t>注：</a:t>
              </a:r>
              <a:r>
                <a:rPr lang="en-US" altLang="zh-CN" sz="900" kern="0">
                  <a:solidFill>
                    <a:srgbClr val="4F4F4F"/>
                  </a:solidFill>
                  <a:latin typeface="+mn-lt"/>
                  <a:ea typeface="+mn-ea"/>
                  <a:cs typeface="+mn-ea"/>
                  <a:sym typeface="+mn-lt"/>
                </a:rPr>
                <a:t>Dietary protein intake and renal function William F Martin et al.2005)</a:t>
              </a:r>
            </a:p>
            <a:p>
              <a:pPr marL="285750" indent="-285750" eaLnBrk="1" fontAlgn="auto" hangingPunct="1">
                <a:lnSpc>
                  <a:spcPct val="150000"/>
                </a:lnSpc>
                <a:spcBef>
                  <a:spcPts val="0"/>
                </a:spcBef>
                <a:spcAft>
                  <a:spcPts val="0"/>
                </a:spcAft>
                <a:buFont typeface="Arial" panose="020B0604020202020204" pitchFamily="34" charset="0"/>
                <a:buChar char="•"/>
                <a:defRPr/>
              </a:pPr>
              <a:r>
                <a:rPr lang="zh-CN" altLang="en-US" sz="1200" kern="0">
                  <a:solidFill>
                    <a:srgbClr val="4F4F4F"/>
                  </a:solidFill>
                  <a:latin typeface="+mn-lt"/>
                  <a:ea typeface="+mn-ea"/>
                  <a:cs typeface="+mn-ea"/>
                  <a:sym typeface="+mn-lt"/>
                </a:rPr>
                <a:t>饮食磷含量差异、钠含量、钾含量都与肾脏机能有关系。</a:t>
              </a:r>
              <a:r>
                <a:rPr lang="zh-CN" altLang="en-US" sz="1200" kern="0">
                  <a:solidFill>
                    <a:schemeClr val="tx1">
                      <a:lumMod val="75000"/>
                      <a:lumOff val="25000"/>
                    </a:schemeClr>
                  </a:solidFill>
                  <a:latin typeface="+mn-lt"/>
                  <a:ea typeface="+mn-ea"/>
                  <a:cs typeface="+mn-ea"/>
                  <a:sym typeface="+mn-lt"/>
                </a:rPr>
                <a:t>去除这些变量的同时，成功证实高蛋白引起健康猫、狗肾损，或是引起肾病猫狗肾机能恶化的科学证据</a:t>
              </a:r>
              <a:r>
                <a:rPr lang="zh-CN" altLang="en-US" sz="1200" b="1" kern="0">
                  <a:solidFill>
                    <a:srgbClr val="C00000"/>
                  </a:solidFill>
                  <a:latin typeface="+mn-lt"/>
                  <a:ea typeface="+mn-ea"/>
                  <a:cs typeface="+mn-ea"/>
                  <a:sym typeface="+mn-lt"/>
                </a:rPr>
                <a:t>不存在</a:t>
              </a:r>
              <a:r>
                <a:rPr lang="zh-CN" altLang="en-US" sz="1200" kern="0">
                  <a:solidFill>
                    <a:srgbClr val="4F4F4F"/>
                  </a:solidFill>
                  <a:latin typeface="+mn-lt"/>
                  <a:ea typeface="+mn-ea"/>
                  <a:cs typeface="+mn-ea"/>
                  <a:sym typeface="+mn-lt"/>
                </a:rPr>
                <a:t>。</a:t>
              </a:r>
              <a:endParaRPr lang="en-US" altLang="zh-CN" sz="1200" kern="0">
                <a:solidFill>
                  <a:srgbClr val="4F4F4F"/>
                </a:solidFill>
                <a:latin typeface="+mn-lt"/>
                <a:ea typeface="+mn-ea"/>
                <a:cs typeface="+mn-ea"/>
                <a:sym typeface="+mn-lt"/>
              </a:endParaRPr>
            </a:p>
            <a:p>
              <a:pPr marL="285750" indent="-285750" eaLnBrk="1" fontAlgn="auto" hangingPunct="1">
                <a:lnSpc>
                  <a:spcPct val="150000"/>
                </a:lnSpc>
                <a:spcBef>
                  <a:spcPts val="0"/>
                </a:spcBef>
                <a:spcAft>
                  <a:spcPts val="0"/>
                </a:spcAft>
                <a:buFont typeface="Arial" panose="020B0604020202020204" pitchFamily="34" charset="0"/>
                <a:buChar char="•"/>
                <a:defRPr/>
              </a:pPr>
              <a:r>
                <a:rPr lang="zh-CN" altLang="en-US" sz="1200" kern="0">
                  <a:solidFill>
                    <a:srgbClr val="4F4F4F"/>
                  </a:solidFill>
                  <a:cs typeface="+mn-ea"/>
                  <a:sym typeface="+mn-lt"/>
                </a:rPr>
                <a:t>反面教材：</a:t>
              </a:r>
              <a:r>
                <a:rPr lang="en-US" altLang="zh-CN" sz="1200" kern="0">
                  <a:solidFill>
                    <a:srgbClr val="4F4F4F"/>
                  </a:solidFill>
                  <a:cs typeface="+mn-ea"/>
                  <a:sym typeface="+mn-lt"/>
                </a:rPr>
                <a:t>Adams LG et al.1993,1994 </a:t>
              </a:r>
            </a:p>
            <a:p>
              <a:pPr eaLnBrk="1" fontAlgn="auto" hangingPunct="1">
                <a:lnSpc>
                  <a:spcPct val="150000"/>
                </a:lnSpc>
                <a:spcBef>
                  <a:spcPts val="0"/>
                </a:spcBef>
                <a:spcAft>
                  <a:spcPts val="0"/>
                </a:spcAft>
                <a:defRPr/>
              </a:pPr>
              <a:r>
                <a:rPr lang="en-US" altLang="zh-CN" sz="1200" kern="0">
                  <a:solidFill>
                    <a:srgbClr val="4F4F4F"/>
                  </a:solidFill>
                  <a:cs typeface="+mn-ea"/>
                  <a:sym typeface="+mn-lt"/>
                </a:rPr>
                <a:t>                        SP. DiBartola et al 1993</a:t>
              </a:r>
            </a:p>
            <a:p>
              <a:pPr marL="285750" indent="-285750" eaLnBrk="1" fontAlgn="auto" hangingPunct="1">
                <a:lnSpc>
                  <a:spcPct val="150000"/>
                </a:lnSpc>
                <a:spcBef>
                  <a:spcPts val="0"/>
                </a:spcBef>
                <a:spcAft>
                  <a:spcPts val="0"/>
                </a:spcAft>
                <a:buFont typeface="Arial" panose="020B0604020202020204" pitchFamily="34" charset="0"/>
                <a:buChar char="•"/>
                <a:defRPr/>
              </a:pPr>
              <a:endParaRPr lang="en-US" altLang="zh-CN" sz="1400" kern="0">
                <a:solidFill>
                  <a:srgbClr val="4F4F4F"/>
                </a:solidFill>
                <a:latin typeface="+mn-lt"/>
                <a:ea typeface="+mn-ea"/>
                <a:cs typeface="+mn-ea"/>
                <a:sym typeface="+mn-lt"/>
              </a:endParaRPr>
            </a:p>
            <a:p>
              <a:pPr marL="285750" indent="-285750" eaLnBrk="1" fontAlgn="auto" hangingPunct="1">
                <a:lnSpc>
                  <a:spcPct val="150000"/>
                </a:lnSpc>
                <a:spcBef>
                  <a:spcPts val="0"/>
                </a:spcBef>
                <a:spcAft>
                  <a:spcPts val="0"/>
                </a:spcAft>
                <a:buFont typeface="Arial" panose="020B0604020202020204" pitchFamily="34" charset="0"/>
                <a:buChar char="•"/>
                <a:defRPr/>
              </a:pPr>
              <a:endParaRPr lang="zh-CN" altLang="en-US" sz="1600" kern="0">
                <a:solidFill>
                  <a:srgbClr val="4F4F4F"/>
                </a:solidFill>
                <a:latin typeface="+mn-lt"/>
                <a:ea typeface="+mn-ea"/>
                <a:cs typeface="+mn-ea"/>
                <a:sym typeface="+mn-lt"/>
              </a:endParaRPr>
            </a:p>
          </p:txBody>
        </p:sp>
      </p:grpSp>
      <p:sp>
        <p:nvSpPr>
          <p:cNvPr id="20485" name="文本框 9"/>
          <p:cNvSpPr txBox="1">
            <a:spLocks noChangeArrowheads="1"/>
          </p:cNvSpPr>
          <p:nvPr/>
        </p:nvSpPr>
        <p:spPr bwMode="auto">
          <a:xfrm>
            <a:off x="1558925" y="2636838"/>
            <a:ext cx="439261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en-US" altLang="zh-CN" b="1"/>
          </a:p>
          <a:p>
            <a:endParaRPr lang="en-US" altLang="zh-CN" b="1"/>
          </a:p>
        </p:txBody>
      </p:sp>
      <p:sp>
        <p:nvSpPr>
          <p:cNvPr id="20486" name="文本框 11"/>
          <p:cNvSpPr txBox="1">
            <a:spLocks noChangeArrowheads="1"/>
          </p:cNvSpPr>
          <p:nvPr/>
        </p:nvSpPr>
        <p:spPr bwMode="auto">
          <a:xfrm>
            <a:off x="1457325" y="2549525"/>
            <a:ext cx="41338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pic>
        <p:nvPicPr>
          <p:cNvPr id="20487" name="图片 1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25550" y="2319338"/>
            <a:ext cx="5482232" cy="3845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17" name="组合 16">
            <a:extLst/>
          </p:cNvPr>
          <p:cNvGrpSpPr/>
          <p:nvPr/>
        </p:nvGrpSpPr>
        <p:grpSpPr>
          <a:xfrm>
            <a:off x="4866703" y="687877"/>
            <a:ext cx="7320137" cy="1038837"/>
            <a:chOff x="8112223" y="327722"/>
            <a:chExt cx="4194115" cy="1038837"/>
          </a:xfrm>
          <a:effectLst>
            <a:outerShdw blurRad="50800" dist="38100" dir="5400000" algn="t" rotWithShape="0">
              <a:prstClr val="black">
                <a:alpha val="40000"/>
              </a:prstClr>
            </a:outerShdw>
          </a:effectLst>
        </p:grpSpPr>
        <p:sp>
          <p:nvSpPr>
            <p:cNvPr id="4"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sp>
          <p:nvSpPr>
            <p:cNvPr id="7" name="文本框 14">
              <a:extLst/>
            </p:cNvPr>
            <p:cNvSpPr txBox="1">
              <a:spLocks noChangeArrowheads="1"/>
            </p:cNvSpPr>
            <p:nvPr/>
          </p:nvSpPr>
          <p:spPr bwMode="auto">
            <a:xfrm>
              <a:off x="8280210" y="327722"/>
              <a:ext cx="3506879" cy="825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600" b="1">
                  <a:solidFill>
                    <a:srgbClr val="010101"/>
                  </a:solidFill>
                  <a:effectLst>
                    <a:outerShdw blurRad="38100" dist="38100" dir="2700000" algn="tl">
                      <a:srgbClr val="000000">
                        <a:alpha val="43137"/>
                      </a:srgbClr>
                    </a:outerShdw>
                  </a:effectLst>
                  <a:latin typeface="+mj-ea"/>
                  <a:ea typeface="+mj-ea"/>
                  <a:cs typeface="+mn-ea"/>
                  <a:sym typeface="+mn-lt"/>
                </a:rPr>
                <a:t>Uremic Toxins </a:t>
              </a:r>
              <a:r>
                <a:rPr lang="zh-CN" altLang="en-US" sz="3600" b="1">
                  <a:solidFill>
                    <a:schemeClr val="bg2">
                      <a:lumMod val="25000"/>
                    </a:schemeClr>
                  </a:solidFill>
                  <a:effectLst>
                    <a:outerShdw blurRad="38100" dist="38100" dir="2700000" algn="tl">
                      <a:srgbClr val="000000">
                        <a:alpha val="43137"/>
                      </a:srgbClr>
                    </a:outerShdw>
                  </a:effectLst>
                  <a:latin typeface="+mj-ea"/>
                  <a:ea typeface="+mj-ea"/>
                  <a:cs typeface="+mn-ea"/>
                  <a:sym typeface="+mn-lt"/>
                </a:rPr>
                <a:t>尿毒症毒素</a:t>
              </a:r>
              <a:endParaRPr lang="en-US" altLang="zh-CN" sz="36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grpSp>
      <p:sp>
        <p:nvSpPr>
          <p:cNvPr id="10" name="流程图: 过程 9">
            <a:extLst/>
          </p:cNvPr>
          <p:cNvSpPr/>
          <p:nvPr/>
        </p:nvSpPr>
        <p:spPr bwMode="auto">
          <a:xfrm>
            <a:off x="911225" y="2060575"/>
            <a:ext cx="10596563" cy="4681538"/>
          </a:xfrm>
          <a:prstGeom prst="flowChartProcess">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numCol="3" anchor="ctr"/>
          <a:lstStyle/>
          <a:p>
            <a:pPr eaLnBrk="1" fontAlgn="auto" hangingPunct="1">
              <a:spcBef>
                <a:spcPts val="0"/>
              </a:spcBef>
              <a:spcAft>
                <a:spcPts val="0"/>
              </a:spcAft>
              <a:defRPr/>
            </a:pPr>
            <a:endParaRPr lang="zh-CN" altLang="en-US" kern="0">
              <a:solidFill>
                <a:sysClr val="windowText" lastClr="000000"/>
              </a:solidFill>
              <a:cs typeface="+mn-ea"/>
              <a:sym typeface="+mn-lt"/>
            </a:endParaRPr>
          </a:p>
        </p:txBody>
      </p:sp>
      <p:sp>
        <p:nvSpPr>
          <p:cNvPr id="2" name="文本框 1"/>
          <p:cNvSpPr txBox="1"/>
          <p:nvPr/>
        </p:nvSpPr>
        <p:spPr>
          <a:xfrm>
            <a:off x="1415480" y="2571804"/>
            <a:ext cx="2664296" cy="3970318"/>
          </a:xfrm>
          <a:prstGeom prst="rect">
            <a:avLst/>
          </a:prstGeom>
          <a:noFill/>
        </p:spPr>
        <p:txBody>
          <a:bodyPr numCol="2">
            <a:spAutoFit/>
          </a:bodyPr>
          <a:lstStyle/>
          <a:p>
            <a:pPr marL="171450" indent="-171450">
              <a:buFont typeface="Arial" panose="020B0604020202020204" pitchFamily="34" charset="0"/>
              <a:buChar char="•"/>
              <a:defRPr/>
            </a:pPr>
            <a:r>
              <a:rPr lang="zh-CN" altLang="en-US" sz="1400" b="1">
                <a:solidFill>
                  <a:schemeClr val="bg1">
                    <a:lumMod val="95000"/>
                  </a:schemeClr>
                </a:solidFill>
                <a:latin typeface="+mj-ea"/>
                <a:ea typeface="+mj-ea"/>
              </a:rPr>
              <a:t>不对称二甲基 精氨酸</a:t>
            </a:r>
          </a:p>
          <a:p>
            <a:pPr marL="171450" indent="-171450">
              <a:buFont typeface="Arial" panose="020B0604020202020204" pitchFamily="34" charset="0"/>
              <a:buChar char="•"/>
              <a:defRPr/>
            </a:pPr>
            <a:r>
              <a:rPr lang="zh-CN" altLang="en-US" sz="1400" b="1">
                <a:solidFill>
                  <a:schemeClr val="bg1">
                    <a:lumMod val="95000"/>
                  </a:schemeClr>
                </a:solidFill>
                <a:latin typeface="+mj-ea"/>
                <a:ea typeface="+mj-ea"/>
              </a:rPr>
              <a:t>苯甲醇</a:t>
            </a:r>
          </a:p>
          <a:p>
            <a:pPr marL="171450" indent="-171450">
              <a:buFont typeface="Arial" panose="020B0604020202020204" pitchFamily="34" charset="0"/>
              <a:buChar char="•"/>
              <a:defRPr/>
            </a:pPr>
            <a:r>
              <a:rPr lang="en-US" altLang="zh-CN" sz="1400" b="1">
                <a:solidFill>
                  <a:schemeClr val="bg1">
                    <a:lumMod val="95000"/>
                  </a:schemeClr>
                </a:solidFill>
                <a:latin typeface="+mj-ea"/>
                <a:ea typeface="+mj-ea"/>
              </a:rPr>
              <a:t>b-</a:t>
            </a:r>
            <a:r>
              <a:rPr lang="zh-CN" altLang="en-US" sz="1400" b="1">
                <a:solidFill>
                  <a:schemeClr val="bg1">
                    <a:lumMod val="95000"/>
                  </a:schemeClr>
                </a:solidFill>
                <a:latin typeface="+mj-ea"/>
                <a:ea typeface="+mj-ea"/>
              </a:rPr>
              <a:t>胍基丙酸</a:t>
            </a:r>
          </a:p>
          <a:p>
            <a:pPr marL="171450" indent="-171450">
              <a:buFont typeface="Arial" panose="020B0604020202020204" pitchFamily="34" charset="0"/>
              <a:buChar char="•"/>
              <a:defRPr/>
            </a:pPr>
            <a:r>
              <a:rPr lang="en-US" altLang="zh-CN" sz="1400" b="1">
                <a:solidFill>
                  <a:schemeClr val="bg1">
                    <a:lumMod val="95000"/>
                  </a:schemeClr>
                </a:solidFill>
                <a:latin typeface="+mj-ea"/>
                <a:ea typeface="+mj-ea"/>
              </a:rPr>
              <a:t>B-</a:t>
            </a:r>
            <a:r>
              <a:rPr lang="zh-CN" altLang="en-US" sz="1400" b="1">
                <a:solidFill>
                  <a:schemeClr val="bg1">
                    <a:lumMod val="95000"/>
                  </a:schemeClr>
                </a:solidFill>
                <a:latin typeface="+mj-ea"/>
                <a:ea typeface="+mj-ea"/>
              </a:rPr>
              <a:t>促脂解素</a:t>
            </a:r>
          </a:p>
          <a:p>
            <a:pPr marL="285750" indent="-285750">
              <a:buFont typeface="Wingdings" panose="05000000000000000000" pitchFamily="2" charset="2"/>
              <a:buChar char="u"/>
              <a:defRPr/>
            </a:pPr>
            <a:r>
              <a:rPr lang="zh-CN" altLang="en-US" sz="1400" b="1">
                <a:solidFill>
                  <a:srgbClr val="92D050"/>
                </a:solidFill>
                <a:latin typeface="+mj-ea"/>
                <a:ea typeface="+mj-ea"/>
              </a:rPr>
              <a:t>肌酐</a:t>
            </a:r>
          </a:p>
          <a:p>
            <a:pPr marL="171450" indent="-171450">
              <a:buFont typeface="Arial" panose="020B0604020202020204" pitchFamily="34" charset="0"/>
              <a:buChar char="•"/>
              <a:defRPr/>
            </a:pPr>
            <a:r>
              <a:rPr lang="zh-CN" altLang="en-US" sz="1400" b="1">
                <a:solidFill>
                  <a:schemeClr val="bg1">
                    <a:lumMod val="95000"/>
                  </a:schemeClr>
                </a:solidFill>
                <a:latin typeface="+mj-ea"/>
                <a:ea typeface="+mj-ea"/>
              </a:rPr>
              <a:t>胞苷</a:t>
            </a:r>
          </a:p>
          <a:p>
            <a:pPr marL="171450" indent="-171450">
              <a:buFont typeface="Arial" panose="020B0604020202020204" pitchFamily="34" charset="0"/>
              <a:buChar char="•"/>
              <a:defRPr/>
            </a:pPr>
            <a:r>
              <a:rPr lang="zh-CN" altLang="en-US" sz="1400" b="1">
                <a:solidFill>
                  <a:schemeClr val="bg1">
                    <a:lumMod val="95000"/>
                  </a:schemeClr>
                </a:solidFill>
                <a:latin typeface="+mj-ea"/>
                <a:ea typeface="+mj-ea"/>
              </a:rPr>
              <a:t>胍类</a:t>
            </a:r>
          </a:p>
          <a:p>
            <a:pPr marL="171450" indent="-171450">
              <a:buFont typeface="Arial" panose="020B0604020202020204" pitchFamily="34" charset="0"/>
              <a:buChar char="•"/>
              <a:defRPr/>
            </a:pPr>
            <a:r>
              <a:rPr lang="zh-CN" altLang="en-US" sz="1400" b="1">
                <a:solidFill>
                  <a:schemeClr val="bg1">
                    <a:lumMod val="95000"/>
                  </a:schemeClr>
                </a:solidFill>
                <a:latin typeface="+mj-ea"/>
                <a:ea typeface="+mj-ea"/>
              </a:rPr>
              <a:t>胍基乙酸</a:t>
            </a:r>
          </a:p>
          <a:p>
            <a:pPr marL="171450" indent="-171450">
              <a:buFont typeface="Arial" panose="020B0604020202020204" pitchFamily="34" charset="0"/>
              <a:buChar char="•"/>
              <a:defRPr/>
            </a:pPr>
            <a:r>
              <a:rPr lang="zh-CN" altLang="en-US" sz="1400" b="1">
                <a:solidFill>
                  <a:schemeClr val="bg1">
                    <a:lumMod val="95000"/>
                  </a:schemeClr>
                </a:solidFill>
                <a:latin typeface="+mj-ea"/>
                <a:ea typeface="+mj-ea"/>
              </a:rPr>
              <a:t>胍基琥珀酸</a:t>
            </a:r>
          </a:p>
          <a:p>
            <a:pPr marL="171450" indent="-171450">
              <a:buFont typeface="Arial" panose="020B0604020202020204" pitchFamily="34" charset="0"/>
              <a:buChar char="•"/>
              <a:defRPr/>
            </a:pPr>
            <a:r>
              <a:rPr lang="zh-CN" altLang="en-US" sz="1400" b="1">
                <a:solidFill>
                  <a:schemeClr val="bg1">
                    <a:lumMod val="95000"/>
                  </a:schemeClr>
                </a:solidFill>
                <a:latin typeface="+mj-ea"/>
                <a:ea typeface="+mj-ea"/>
              </a:rPr>
              <a:t>次黄嘌呤</a:t>
            </a:r>
          </a:p>
          <a:p>
            <a:pPr marL="171450" indent="-171450">
              <a:buFont typeface="Arial" panose="020B0604020202020204" pitchFamily="34" charset="0"/>
              <a:buChar char="•"/>
              <a:defRPr/>
            </a:pPr>
            <a:r>
              <a:rPr lang="zh-CN" altLang="en-US" sz="1400" b="1">
                <a:solidFill>
                  <a:schemeClr val="bg1">
                    <a:lumMod val="95000"/>
                  </a:schemeClr>
                </a:solidFill>
                <a:latin typeface="+mj-ea"/>
                <a:ea typeface="+mj-ea"/>
              </a:rPr>
              <a:t>丙二醛</a:t>
            </a:r>
          </a:p>
          <a:p>
            <a:pPr marL="171450" indent="-171450">
              <a:buFont typeface="Arial" panose="020B0604020202020204" pitchFamily="34" charset="0"/>
              <a:buChar char="•"/>
              <a:defRPr/>
            </a:pPr>
            <a:r>
              <a:rPr lang="zh-CN" altLang="en-US" sz="1400" b="1">
                <a:solidFill>
                  <a:schemeClr val="bg1">
                    <a:lumMod val="95000"/>
                  </a:schemeClr>
                </a:solidFill>
                <a:latin typeface="+mj-ea"/>
                <a:ea typeface="+mj-ea"/>
              </a:rPr>
              <a:t>甲基胍</a:t>
            </a:r>
          </a:p>
          <a:p>
            <a:pPr marL="171450" indent="-171450">
              <a:buFont typeface="Arial" panose="020B0604020202020204" pitchFamily="34" charset="0"/>
              <a:buChar char="•"/>
              <a:defRPr/>
            </a:pPr>
            <a:r>
              <a:rPr lang="zh-CN" altLang="en-US" sz="1400" b="1">
                <a:solidFill>
                  <a:schemeClr val="bg1">
                    <a:lumMod val="95000"/>
                  </a:schemeClr>
                </a:solidFill>
                <a:latin typeface="+mj-ea"/>
                <a:ea typeface="+mj-ea"/>
              </a:rPr>
              <a:t>肌醇</a:t>
            </a:r>
          </a:p>
          <a:p>
            <a:pPr marL="171450" indent="-171450">
              <a:buFont typeface="Arial" panose="020B0604020202020204" pitchFamily="34" charset="0"/>
              <a:buChar char="•"/>
              <a:defRPr/>
            </a:pPr>
            <a:r>
              <a:rPr lang="zh-CN" altLang="en-US" sz="1400" b="1">
                <a:solidFill>
                  <a:schemeClr val="bg1">
                    <a:lumMod val="95000"/>
                  </a:schemeClr>
                </a:solidFill>
                <a:latin typeface="+mj-ea"/>
                <a:ea typeface="+mj-ea"/>
              </a:rPr>
              <a:t>乳清酸</a:t>
            </a:r>
          </a:p>
          <a:p>
            <a:pPr marL="171450" indent="-171450">
              <a:buFont typeface="Arial" panose="020B0604020202020204" pitchFamily="34" charset="0"/>
              <a:buChar char="•"/>
              <a:defRPr/>
            </a:pPr>
            <a:r>
              <a:rPr lang="zh-CN" altLang="en-US" sz="1400" b="1">
                <a:solidFill>
                  <a:schemeClr val="bg1">
                    <a:lumMod val="95000"/>
                  </a:schemeClr>
                </a:solidFill>
                <a:latin typeface="+mj-ea"/>
                <a:ea typeface="+mj-ea"/>
              </a:rPr>
              <a:t>乳清苷</a:t>
            </a:r>
            <a:endParaRPr lang="en-US" altLang="zh-CN" sz="1400" b="1">
              <a:solidFill>
                <a:schemeClr val="bg1">
                  <a:lumMod val="95000"/>
                </a:schemeClr>
              </a:solidFill>
              <a:latin typeface="+mj-ea"/>
              <a:ea typeface="+mj-ea"/>
            </a:endParaRPr>
          </a:p>
          <a:p>
            <a:pPr marL="171450" indent="-171450">
              <a:buFont typeface="Arial" panose="020B0604020202020204" pitchFamily="34" charset="0"/>
              <a:buChar char="•"/>
              <a:defRPr/>
            </a:pPr>
            <a:r>
              <a:rPr lang="zh-CN" altLang="en-US" sz="1400" b="1">
                <a:solidFill>
                  <a:schemeClr val="bg1">
                    <a:lumMod val="95000"/>
                  </a:schemeClr>
                </a:solidFill>
                <a:latin typeface="+mj-ea"/>
                <a:ea typeface="+mj-ea"/>
              </a:rPr>
              <a:t>草酸盐</a:t>
            </a:r>
          </a:p>
          <a:p>
            <a:pPr marL="171450" indent="-171450">
              <a:buFont typeface="Arial" panose="020B0604020202020204" pitchFamily="34" charset="0"/>
              <a:buChar char="•"/>
              <a:defRPr/>
            </a:pPr>
            <a:r>
              <a:rPr lang="zh-CN" altLang="en-US" sz="1400" b="1">
                <a:solidFill>
                  <a:schemeClr val="bg1">
                    <a:lumMod val="95000"/>
                  </a:schemeClr>
                </a:solidFill>
                <a:latin typeface="+mj-ea"/>
                <a:ea typeface="+mj-ea"/>
              </a:rPr>
              <a:t>假尿苷</a:t>
            </a:r>
          </a:p>
          <a:p>
            <a:pPr marL="171450" indent="-171450">
              <a:buFont typeface="Arial" panose="020B0604020202020204" pitchFamily="34" charset="0"/>
              <a:buChar char="•"/>
              <a:defRPr/>
            </a:pPr>
            <a:r>
              <a:rPr lang="zh-CN" altLang="en-US" sz="1400" b="1">
                <a:solidFill>
                  <a:schemeClr val="bg1">
                    <a:lumMod val="95000"/>
                  </a:schemeClr>
                </a:solidFill>
                <a:latin typeface="+mj-ea"/>
                <a:ea typeface="+mj-ea"/>
              </a:rPr>
              <a:t>对称二甲基精氨酸</a:t>
            </a:r>
          </a:p>
          <a:p>
            <a:pPr marL="285750" indent="-285750">
              <a:buFont typeface="Wingdings" panose="05000000000000000000" pitchFamily="2" charset="2"/>
              <a:buChar char="u"/>
              <a:defRPr/>
            </a:pPr>
            <a:r>
              <a:rPr lang="zh-CN" altLang="en-US" sz="1400" b="1">
                <a:solidFill>
                  <a:srgbClr val="FFC000"/>
                </a:solidFill>
                <a:latin typeface="+mj-ea"/>
                <a:ea typeface="+mj-ea"/>
              </a:rPr>
              <a:t>尿素氮</a:t>
            </a:r>
          </a:p>
          <a:p>
            <a:pPr marL="171450" indent="-171450">
              <a:buFont typeface="Arial" panose="020B0604020202020204" pitchFamily="34" charset="0"/>
              <a:buChar char="•"/>
              <a:defRPr/>
            </a:pPr>
            <a:r>
              <a:rPr lang="zh-CN" altLang="en-US" sz="1400" b="1">
                <a:solidFill>
                  <a:schemeClr val="bg1">
                    <a:lumMod val="95000"/>
                  </a:schemeClr>
                </a:solidFill>
                <a:latin typeface="+mj-ea"/>
                <a:ea typeface="+mj-ea"/>
              </a:rPr>
              <a:t>尿酸</a:t>
            </a:r>
          </a:p>
          <a:p>
            <a:pPr marL="171450" indent="-171450">
              <a:buFont typeface="Arial" panose="020B0604020202020204" pitchFamily="34" charset="0"/>
              <a:buChar char="•"/>
              <a:defRPr/>
            </a:pPr>
            <a:r>
              <a:rPr lang="zh-CN" altLang="en-US" sz="1400" b="1">
                <a:solidFill>
                  <a:schemeClr val="bg1">
                    <a:lumMod val="95000"/>
                  </a:schemeClr>
                </a:solidFill>
                <a:latin typeface="+mj-ea"/>
                <a:ea typeface="+mj-ea"/>
              </a:rPr>
              <a:t>黄嘌呤</a:t>
            </a:r>
          </a:p>
        </p:txBody>
      </p:sp>
      <p:sp>
        <p:nvSpPr>
          <p:cNvPr id="21509" name="文本框 10"/>
          <p:cNvSpPr txBox="1">
            <a:spLocks noChangeArrowheads="1"/>
          </p:cNvSpPr>
          <p:nvPr/>
        </p:nvSpPr>
        <p:spPr bwMode="auto">
          <a:xfrm>
            <a:off x="5448300" y="1474788"/>
            <a:ext cx="48244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800"/>
              <a:t>Vanholder R, Glorieux G, De Smet R, et al. New insights in uremeic toxins. Kidney Int 2003;63:S7</a:t>
            </a:r>
            <a:endParaRPr lang="zh-CN" altLang="en-US" sz="800"/>
          </a:p>
        </p:txBody>
      </p:sp>
      <p:sp>
        <p:nvSpPr>
          <p:cNvPr id="12" name="文本框 11"/>
          <p:cNvSpPr txBox="1"/>
          <p:nvPr/>
        </p:nvSpPr>
        <p:spPr>
          <a:xfrm>
            <a:off x="1631950" y="2147888"/>
            <a:ext cx="2592388" cy="400050"/>
          </a:xfrm>
          <a:prstGeom prst="rect">
            <a:avLst/>
          </a:prstGeom>
          <a:noFill/>
        </p:spPr>
        <p:txBody>
          <a:bodyPr>
            <a:spAutoFit/>
          </a:bodyPr>
          <a:lstStyle/>
          <a:p>
            <a:pPr>
              <a:defRPr/>
            </a:pPr>
            <a:r>
              <a:rPr lang="zh-CN" altLang="en-US" sz="2000"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水溶性小分子毒素</a:t>
            </a:r>
          </a:p>
        </p:txBody>
      </p:sp>
      <p:sp>
        <p:nvSpPr>
          <p:cNvPr id="14" name="文本框 13"/>
          <p:cNvSpPr txBox="1"/>
          <p:nvPr/>
        </p:nvSpPr>
        <p:spPr>
          <a:xfrm>
            <a:off x="4367808" y="2571804"/>
            <a:ext cx="3093162" cy="3755454"/>
          </a:xfrm>
          <a:prstGeom prst="rect">
            <a:avLst/>
          </a:prstGeom>
          <a:noFill/>
        </p:spPr>
        <p:txBody>
          <a:bodyPr numCol="2">
            <a:spAutoFit/>
          </a:bodyPr>
          <a:lstStyle/>
          <a:p>
            <a:pPr marL="285750" indent="-285750">
              <a:buFont typeface="Arial" panose="020B0604020202020204" pitchFamily="34" charset="0"/>
              <a:buChar char="•"/>
              <a:defRPr/>
            </a:pPr>
            <a:r>
              <a:rPr lang="en-US" altLang="zh-CN" sz="1400" b="1">
                <a:solidFill>
                  <a:schemeClr val="bg1">
                    <a:lumMod val="85000"/>
                  </a:schemeClr>
                </a:solidFill>
                <a:latin typeface="+mj-ea"/>
                <a:ea typeface="+mj-ea"/>
              </a:rPr>
              <a:t>3-</a:t>
            </a:r>
            <a:r>
              <a:rPr lang="zh-CN" altLang="en-US" sz="1400" b="1">
                <a:solidFill>
                  <a:schemeClr val="bg1">
                    <a:lumMod val="85000"/>
                  </a:schemeClr>
                </a:solidFill>
                <a:latin typeface="+mj-ea"/>
                <a:ea typeface="+mj-ea"/>
              </a:rPr>
              <a:t>葡糖醛酮</a:t>
            </a:r>
          </a:p>
          <a:p>
            <a:pPr marL="285750" indent="-285750">
              <a:buFont typeface="Arial" panose="020B0604020202020204" pitchFamily="34" charset="0"/>
              <a:buChar char="•"/>
              <a:defRPr/>
            </a:pPr>
            <a:r>
              <a:rPr lang="en-US" altLang="zh-CN" sz="1400" b="1">
                <a:solidFill>
                  <a:schemeClr val="bg1">
                    <a:lumMod val="85000"/>
                  </a:schemeClr>
                </a:solidFill>
                <a:latin typeface="+mj-ea"/>
                <a:ea typeface="+mj-ea"/>
              </a:rPr>
              <a:t>CMPF</a:t>
            </a:r>
          </a:p>
          <a:p>
            <a:pPr marL="285750" indent="-285750">
              <a:buFont typeface="Arial" panose="020B0604020202020204" pitchFamily="34" charset="0"/>
              <a:buChar char="•"/>
              <a:defRPr/>
            </a:pPr>
            <a:r>
              <a:rPr lang="zh-CN" altLang="en-US" sz="1400" b="1">
                <a:solidFill>
                  <a:schemeClr val="bg1">
                    <a:lumMod val="85000"/>
                  </a:schemeClr>
                </a:solidFill>
                <a:latin typeface="+mj-ea"/>
                <a:ea typeface="+mj-ea"/>
              </a:rPr>
              <a:t>果糖赖氨酸</a:t>
            </a:r>
          </a:p>
          <a:p>
            <a:pPr marL="285750" indent="-285750">
              <a:buFont typeface="Arial" panose="020B0604020202020204" pitchFamily="34" charset="0"/>
              <a:buChar char="•"/>
              <a:defRPr/>
            </a:pPr>
            <a:r>
              <a:rPr lang="zh-CN" altLang="en-US" sz="1400" b="1">
                <a:solidFill>
                  <a:schemeClr val="bg1">
                    <a:lumMod val="85000"/>
                  </a:schemeClr>
                </a:solidFill>
                <a:latin typeface="+mj-ea"/>
                <a:ea typeface="+mj-ea"/>
              </a:rPr>
              <a:t>乙二醛</a:t>
            </a:r>
          </a:p>
          <a:p>
            <a:pPr marL="285750" indent="-285750">
              <a:buFont typeface="Arial" panose="020B0604020202020204" pitchFamily="34" charset="0"/>
              <a:buChar char="•"/>
              <a:defRPr/>
            </a:pPr>
            <a:r>
              <a:rPr lang="zh-CN" altLang="en-US" sz="1400" b="1">
                <a:solidFill>
                  <a:schemeClr val="bg1">
                    <a:lumMod val="85000"/>
                  </a:schemeClr>
                </a:solidFill>
                <a:latin typeface="+mj-ea"/>
                <a:ea typeface="+mj-ea"/>
              </a:rPr>
              <a:t>马尿酸</a:t>
            </a:r>
            <a:endParaRPr lang="en-US" altLang="zh-CN" sz="1400" b="1">
              <a:solidFill>
                <a:schemeClr val="bg1">
                  <a:lumMod val="85000"/>
                </a:schemeClr>
              </a:solidFill>
              <a:latin typeface="+mj-ea"/>
              <a:ea typeface="+mj-ea"/>
            </a:endParaRPr>
          </a:p>
          <a:p>
            <a:pPr marL="285750" indent="-285750">
              <a:buFont typeface="Arial" panose="020B0604020202020204" pitchFamily="34" charset="0"/>
              <a:buChar char="•"/>
              <a:defRPr/>
            </a:pPr>
            <a:r>
              <a:rPr lang="zh-CN" altLang="en-US" sz="1400" b="1">
                <a:solidFill>
                  <a:schemeClr val="bg1">
                    <a:lumMod val="85000"/>
                  </a:schemeClr>
                </a:solidFill>
                <a:latin typeface="+mj-ea"/>
                <a:ea typeface="+mj-ea"/>
              </a:rPr>
              <a:t>同型半胱氨酸</a:t>
            </a:r>
          </a:p>
          <a:p>
            <a:pPr marL="285750" indent="-285750">
              <a:buFont typeface="Arial" panose="020B0604020202020204" pitchFamily="34" charset="0"/>
              <a:buChar char="•"/>
              <a:defRPr/>
            </a:pPr>
            <a:r>
              <a:rPr lang="zh-CN" altLang="en-US" sz="1400" b="1">
                <a:solidFill>
                  <a:schemeClr val="bg1">
                    <a:lumMod val="85000"/>
                  </a:schemeClr>
                </a:solidFill>
                <a:latin typeface="+mj-ea"/>
                <a:ea typeface="+mj-ea"/>
              </a:rPr>
              <a:t>对苯二酚</a:t>
            </a:r>
          </a:p>
          <a:p>
            <a:pPr marL="285750" indent="-285750">
              <a:buFont typeface="Arial" panose="020B0604020202020204" pitchFamily="34" charset="0"/>
              <a:buChar char="•"/>
              <a:defRPr/>
            </a:pPr>
            <a:r>
              <a:rPr lang="zh-CN" altLang="en-US" sz="1400" b="1">
                <a:solidFill>
                  <a:schemeClr val="bg1">
                    <a:lumMod val="85000"/>
                  </a:schemeClr>
                </a:solidFill>
                <a:latin typeface="+mj-ea"/>
                <a:ea typeface="+mj-ea"/>
              </a:rPr>
              <a:t>吲哚</a:t>
            </a:r>
            <a:r>
              <a:rPr lang="en-US" altLang="zh-CN" sz="1400" b="1">
                <a:solidFill>
                  <a:schemeClr val="bg1">
                    <a:lumMod val="85000"/>
                  </a:schemeClr>
                </a:solidFill>
                <a:latin typeface="+mj-ea"/>
                <a:ea typeface="+mj-ea"/>
              </a:rPr>
              <a:t>-3-</a:t>
            </a:r>
            <a:r>
              <a:rPr lang="zh-CN" altLang="en-US" sz="1400" b="1">
                <a:solidFill>
                  <a:schemeClr val="bg1">
                    <a:lumMod val="85000"/>
                  </a:schemeClr>
                </a:solidFill>
                <a:latin typeface="+mj-ea"/>
                <a:ea typeface="+mj-ea"/>
              </a:rPr>
              <a:t>乙酸</a:t>
            </a:r>
          </a:p>
          <a:p>
            <a:pPr marL="285750" indent="-285750">
              <a:buFont typeface="Arial" panose="020B0604020202020204" pitchFamily="34" charset="0"/>
              <a:buChar char="•"/>
              <a:defRPr/>
            </a:pPr>
            <a:r>
              <a:rPr lang="zh-CN" altLang="en-US" sz="1400" b="1">
                <a:solidFill>
                  <a:schemeClr val="bg1">
                    <a:lumMod val="85000"/>
                  </a:schemeClr>
                </a:solidFill>
                <a:latin typeface="+mj-ea"/>
                <a:ea typeface="+mj-ea"/>
              </a:rPr>
              <a:t>硫酸吲哚酯</a:t>
            </a:r>
          </a:p>
          <a:p>
            <a:pPr marL="285750" indent="-285750">
              <a:buFont typeface="Arial" panose="020B0604020202020204" pitchFamily="34" charset="0"/>
              <a:buChar char="•"/>
              <a:defRPr/>
            </a:pPr>
            <a:r>
              <a:rPr lang="zh-CN" altLang="en-US" sz="1400" b="1">
                <a:solidFill>
                  <a:schemeClr val="bg1">
                    <a:lumMod val="85000"/>
                  </a:schemeClr>
                </a:solidFill>
                <a:latin typeface="+mj-ea"/>
                <a:ea typeface="+mj-ea"/>
              </a:rPr>
              <a:t>犬尿氨酸</a:t>
            </a:r>
            <a:endParaRPr lang="en-US" altLang="zh-CN" sz="1400" b="1">
              <a:solidFill>
                <a:schemeClr val="bg1">
                  <a:lumMod val="85000"/>
                </a:schemeClr>
              </a:solidFill>
              <a:latin typeface="+mj-ea"/>
              <a:ea typeface="+mj-ea"/>
            </a:endParaRPr>
          </a:p>
          <a:p>
            <a:pPr marL="285750" indent="-285750">
              <a:buFont typeface="Arial" panose="020B0604020202020204" pitchFamily="34" charset="0"/>
              <a:buChar char="•"/>
              <a:defRPr/>
            </a:pPr>
            <a:r>
              <a:rPr lang="zh-CN" altLang="en-US" sz="1400" b="1">
                <a:solidFill>
                  <a:schemeClr val="bg1">
                    <a:lumMod val="85000"/>
                  </a:schemeClr>
                </a:solidFill>
                <a:latin typeface="+mj-ea"/>
                <a:ea typeface="+mj-ea"/>
              </a:rPr>
              <a:t>犬尿喹啉酸</a:t>
            </a:r>
          </a:p>
          <a:p>
            <a:pPr marL="285750" indent="-285750">
              <a:buFont typeface="Arial" panose="020B0604020202020204" pitchFamily="34" charset="0"/>
              <a:buChar char="•"/>
              <a:defRPr/>
            </a:pPr>
            <a:r>
              <a:rPr lang="zh-CN" altLang="en-US" sz="1400" b="1">
                <a:solidFill>
                  <a:schemeClr val="bg1">
                    <a:lumMod val="85000"/>
                  </a:schemeClr>
                </a:solidFill>
                <a:latin typeface="+mj-ea"/>
                <a:ea typeface="+mj-ea"/>
              </a:rPr>
              <a:t>甲基乙二醛</a:t>
            </a:r>
          </a:p>
          <a:p>
            <a:pPr marL="285750" indent="-285750">
              <a:buFont typeface="Arial" panose="020B0604020202020204" pitchFamily="34" charset="0"/>
              <a:buChar char="•"/>
              <a:defRPr/>
            </a:pPr>
            <a:r>
              <a:rPr lang="en-US" altLang="zh-CN" sz="1400" b="1">
                <a:solidFill>
                  <a:schemeClr val="bg1">
                    <a:lumMod val="85000"/>
                  </a:schemeClr>
                </a:solidFill>
                <a:latin typeface="+mj-ea"/>
                <a:ea typeface="+mj-ea"/>
              </a:rPr>
              <a:t>N-</a:t>
            </a:r>
            <a:r>
              <a:rPr lang="zh-CN" altLang="en-US" sz="1400" b="1">
                <a:solidFill>
                  <a:schemeClr val="bg1">
                    <a:lumMod val="85000"/>
                  </a:schemeClr>
                </a:solidFill>
                <a:latin typeface="+mj-ea"/>
                <a:ea typeface="+mj-ea"/>
              </a:rPr>
              <a:t>二羧甲基</a:t>
            </a:r>
          </a:p>
          <a:p>
            <a:pPr marL="285750" indent="-285750">
              <a:buFont typeface="Arial" panose="020B0604020202020204" pitchFamily="34" charset="0"/>
              <a:buChar char="•"/>
              <a:defRPr/>
            </a:pPr>
            <a:r>
              <a:rPr lang="zh-CN" altLang="en-US" sz="1400" b="1">
                <a:solidFill>
                  <a:schemeClr val="bg1">
                    <a:lumMod val="85000"/>
                  </a:schemeClr>
                </a:solidFill>
                <a:latin typeface="+mj-ea"/>
                <a:ea typeface="+mj-ea"/>
              </a:rPr>
              <a:t>对甲酚</a:t>
            </a:r>
          </a:p>
          <a:p>
            <a:pPr marL="285750" indent="-285750">
              <a:buFont typeface="Arial" panose="020B0604020202020204" pitchFamily="34" charset="0"/>
              <a:buChar char="•"/>
              <a:defRPr/>
            </a:pPr>
            <a:r>
              <a:rPr lang="zh-CN" altLang="en-US" sz="1400" b="1">
                <a:solidFill>
                  <a:schemeClr val="bg1">
                    <a:lumMod val="85000"/>
                  </a:schemeClr>
                </a:solidFill>
                <a:latin typeface="+mj-ea"/>
                <a:ea typeface="+mj-ea"/>
              </a:rPr>
              <a:t>戊糖</a:t>
            </a:r>
          </a:p>
          <a:p>
            <a:pPr marL="285750" indent="-285750">
              <a:buFont typeface="Arial" panose="020B0604020202020204" pitchFamily="34" charset="0"/>
              <a:buChar char="•"/>
              <a:defRPr/>
            </a:pPr>
            <a:r>
              <a:rPr lang="zh-CN" altLang="en-US" sz="1400" b="1">
                <a:solidFill>
                  <a:schemeClr val="bg1">
                    <a:lumMod val="85000"/>
                  </a:schemeClr>
                </a:solidFill>
                <a:latin typeface="+mj-ea"/>
                <a:ea typeface="+mj-ea"/>
              </a:rPr>
              <a:t>苯酚</a:t>
            </a:r>
          </a:p>
          <a:p>
            <a:pPr marL="285750" indent="-285750">
              <a:buFont typeface="Arial" panose="020B0604020202020204" pitchFamily="34" charset="0"/>
              <a:buChar char="•"/>
              <a:defRPr/>
            </a:pPr>
            <a:r>
              <a:rPr lang="en-US" altLang="zh-CN" sz="1400" b="1">
                <a:solidFill>
                  <a:schemeClr val="bg1">
                    <a:lumMod val="85000"/>
                  </a:schemeClr>
                </a:solidFill>
                <a:latin typeface="+mj-ea"/>
                <a:ea typeface="+mj-ea"/>
              </a:rPr>
              <a:t>P-OH</a:t>
            </a:r>
            <a:r>
              <a:rPr lang="zh-CN" altLang="en-US" sz="1400" b="1">
                <a:solidFill>
                  <a:schemeClr val="bg1">
                    <a:lumMod val="85000"/>
                  </a:schemeClr>
                </a:solidFill>
                <a:latin typeface="+mj-ea"/>
                <a:ea typeface="+mj-ea"/>
              </a:rPr>
              <a:t>马尿酸</a:t>
            </a:r>
          </a:p>
          <a:p>
            <a:pPr marL="285750" indent="-285750">
              <a:buFont typeface="Arial" panose="020B0604020202020204" pitchFamily="34" charset="0"/>
              <a:buChar char="•"/>
              <a:defRPr/>
            </a:pPr>
            <a:r>
              <a:rPr lang="zh-CN" altLang="en-US" sz="1400" b="1">
                <a:solidFill>
                  <a:schemeClr val="bg1">
                    <a:lumMod val="85000"/>
                  </a:schemeClr>
                </a:solidFill>
                <a:latin typeface="+mj-ea"/>
                <a:ea typeface="+mj-ea"/>
              </a:rPr>
              <a:t>喹啉酸</a:t>
            </a:r>
          </a:p>
          <a:p>
            <a:pPr marL="285750" indent="-285750">
              <a:buFont typeface="Arial" panose="020B0604020202020204" pitchFamily="34" charset="0"/>
              <a:buChar char="•"/>
              <a:defRPr/>
            </a:pPr>
            <a:r>
              <a:rPr lang="zh-CN" altLang="en-US" sz="1400" b="1">
                <a:solidFill>
                  <a:schemeClr val="bg1">
                    <a:lumMod val="85000"/>
                  </a:schemeClr>
                </a:solidFill>
                <a:latin typeface="+mj-ea"/>
                <a:ea typeface="+mj-ea"/>
              </a:rPr>
              <a:t>亚精胺</a:t>
            </a:r>
          </a:p>
          <a:p>
            <a:pPr marL="285750" indent="-285750">
              <a:buFont typeface="Arial" panose="020B0604020202020204" pitchFamily="34" charset="0"/>
              <a:buChar char="•"/>
              <a:defRPr/>
            </a:pPr>
            <a:r>
              <a:rPr lang="zh-CN" altLang="en-US" sz="1400" b="1">
                <a:solidFill>
                  <a:schemeClr val="bg1">
                    <a:lumMod val="85000"/>
                  </a:schemeClr>
                </a:solidFill>
                <a:latin typeface="+mj-ea"/>
                <a:ea typeface="+mj-ea"/>
              </a:rPr>
              <a:t>精胺</a:t>
            </a:r>
          </a:p>
        </p:txBody>
      </p:sp>
      <p:sp>
        <p:nvSpPr>
          <p:cNvPr id="15" name="文本框 14"/>
          <p:cNvSpPr txBox="1"/>
          <p:nvPr/>
        </p:nvSpPr>
        <p:spPr>
          <a:xfrm>
            <a:off x="4868863" y="2122488"/>
            <a:ext cx="2952750" cy="400050"/>
          </a:xfrm>
          <a:prstGeom prst="rect">
            <a:avLst/>
          </a:prstGeom>
          <a:noFill/>
        </p:spPr>
        <p:txBody>
          <a:bodyPr>
            <a:spAutoFit/>
          </a:bodyPr>
          <a:lstStyle/>
          <a:p>
            <a:pPr>
              <a:defRPr/>
            </a:pPr>
            <a:r>
              <a:rPr lang="zh-CN" altLang="en-US" sz="2000" b="1">
                <a:solidFill>
                  <a:schemeClr val="bg1">
                    <a:lumMod val="95000"/>
                  </a:schemeClr>
                </a:solidFill>
                <a:latin typeface="微软雅黑" panose="020B0503020204020204" pitchFamily="34" charset="-122"/>
                <a:ea typeface="微软雅黑" panose="020B0503020204020204" pitchFamily="34" charset="-122"/>
              </a:rPr>
              <a:t>蛋白结合类毒素</a:t>
            </a:r>
          </a:p>
        </p:txBody>
      </p:sp>
      <p:sp>
        <p:nvSpPr>
          <p:cNvPr id="21513" name="文本框 15"/>
          <p:cNvSpPr txBox="1">
            <a:spLocks noChangeArrowheads="1"/>
          </p:cNvSpPr>
          <p:nvPr/>
        </p:nvSpPr>
        <p:spPr bwMode="auto">
          <a:xfrm>
            <a:off x="8447088" y="2100263"/>
            <a:ext cx="3060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000" b="1">
                <a:solidFill>
                  <a:schemeClr val="bg1"/>
                </a:solidFill>
                <a:latin typeface="微软雅黑" panose="020B0503020204020204" pitchFamily="34" charset="-122"/>
                <a:ea typeface="微软雅黑" panose="020B0503020204020204" pitchFamily="34" charset="-122"/>
              </a:rPr>
              <a:t>中、大分子毒素</a:t>
            </a:r>
          </a:p>
        </p:txBody>
      </p:sp>
      <p:sp>
        <p:nvSpPr>
          <p:cNvPr id="18" name="文本框 17"/>
          <p:cNvSpPr txBox="1"/>
          <p:nvPr/>
        </p:nvSpPr>
        <p:spPr>
          <a:xfrm>
            <a:off x="7880634" y="2539849"/>
            <a:ext cx="3384377" cy="3993517"/>
          </a:xfrm>
          <a:prstGeom prst="rect">
            <a:avLst/>
          </a:prstGeom>
          <a:noFill/>
        </p:spPr>
        <p:txBody>
          <a:bodyPr numCol="2">
            <a:spAutoFit/>
          </a:bodyPr>
          <a:lstStyle/>
          <a:p>
            <a:pPr marL="285750" indent="-285750">
              <a:buFont typeface="Arial" panose="020B0604020202020204" pitchFamily="34" charset="0"/>
              <a:buChar char="•"/>
              <a:defRPr/>
            </a:pPr>
            <a:r>
              <a:rPr lang="zh-CN" altLang="en-US" sz="1400" b="1">
                <a:solidFill>
                  <a:schemeClr val="bg1">
                    <a:lumMod val="95000"/>
                  </a:schemeClr>
                </a:solidFill>
                <a:latin typeface="+mj-ea"/>
                <a:ea typeface="+mj-ea"/>
              </a:rPr>
              <a:t>肾上腺髓质素</a:t>
            </a:r>
          </a:p>
          <a:p>
            <a:pPr marL="285750" indent="-285750">
              <a:buFont typeface="Arial" panose="020B0604020202020204" pitchFamily="34" charset="0"/>
              <a:buChar char="•"/>
              <a:defRPr/>
            </a:pPr>
            <a:r>
              <a:rPr lang="zh-CN" altLang="en-US" sz="1400" b="1">
                <a:solidFill>
                  <a:schemeClr val="bg1">
                    <a:lumMod val="95000"/>
                  </a:schemeClr>
                </a:solidFill>
                <a:latin typeface="+mj-ea"/>
                <a:ea typeface="+mj-ea"/>
              </a:rPr>
              <a:t>心房利钠肽</a:t>
            </a:r>
          </a:p>
          <a:p>
            <a:pPr marL="285750" indent="-285750">
              <a:buFont typeface="Arial" panose="020B0604020202020204" pitchFamily="34" charset="0"/>
              <a:buChar char="•"/>
              <a:defRPr/>
            </a:pPr>
            <a:r>
              <a:rPr lang="en-US" altLang="zh-CN" sz="1400" b="1">
                <a:solidFill>
                  <a:schemeClr val="bg1">
                    <a:lumMod val="95000"/>
                  </a:schemeClr>
                </a:solidFill>
                <a:latin typeface="+mj-ea"/>
                <a:ea typeface="+mj-ea"/>
              </a:rPr>
              <a:t>B2</a:t>
            </a:r>
            <a:r>
              <a:rPr lang="zh-CN" altLang="en-US" sz="1400" b="1">
                <a:solidFill>
                  <a:schemeClr val="bg1">
                    <a:lumMod val="95000"/>
                  </a:schemeClr>
                </a:solidFill>
                <a:latin typeface="+mj-ea"/>
                <a:ea typeface="+mj-ea"/>
              </a:rPr>
              <a:t>微球蛋白</a:t>
            </a:r>
          </a:p>
          <a:p>
            <a:pPr marL="285750" indent="-285750">
              <a:buFont typeface="Arial" panose="020B0604020202020204" pitchFamily="34" charset="0"/>
              <a:buChar char="•"/>
              <a:defRPr/>
            </a:pPr>
            <a:r>
              <a:rPr lang="en-US" altLang="zh-CN" sz="1400" b="1">
                <a:solidFill>
                  <a:schemeClr val="bg1">
                    <a:lumMod val="95000"/>
                  </a:schemeClr>
                </a:solidFill>
                <a:latin typeface="+mj-ea"/>
                <a:ea typeface="+mj-ea"/>
              </a:rPr>
              <a:t>B-</a:t>
            </a:r>
            <a:r>
              <a:rPr lang="zh-CN" altLang="en-US" sz="1400" b="1">
                <a:solidFill>
                  <a:schemeClr val="bg1">
                    <a:lumMod val="95000"/>
                  </a:schemeClr>
                </a:solidFill>
                <a:latin typeface="+mj-ea"/>
                <a:ea typeface="+mj-ea"/>
              </a:rPr>
              <a:t>内啡肽</a:t>
            </a:r>
          </a:p>
          <a:p>
            <a:pPr marL="285750" indent="-285750">
              <a:buFont typeface="Arial" panose="020B0604020202020204" pitchFamily="34" charset="0"/>
              <a:buChar char="•"/>
              <a:defRPr/>
            </a:pPr>
            <a:r>
              <a:rPr lang="zh-CN" altLang="en-US" sz="1400" b="1">
                <a:solidFill>
                  <a:schemeClr val="bg1">
                    <a:lumMod val="95000"/>
                  </a:schemeClr>
                </a:solidFill>
                <a:latin typeface="+mj-ea"/>
                <a:ea typeface="+mj-ea"/>
              </a:rPr>
              <a:t>胆囊收缩素</a:t>
            </a:r>
          </a:p>
          <a:p>
            <a:pPr marL="285750" indent="-285750">
              <a:buFont typeface="Arial" panose="020B0604020202020204" pitchFamily="34" charset="0"/>
              <a:buChar char="•"/>
              <a:defRPr/>
            </a:pPr>
            <a:r>
              <a:rPr lang="zh-CN" altLang="en-US" sz="1400" b="1">
                <a:solidFill>
                  <a:schemeClr val="bg1">
                    <a:lumMod val="95000"/>
                  </a:schemeClr>
                </a:solidFill>
                <a:latin typeface="+mj-ea"/>
                <a:ea typeface="+mj-ea"/>
              </a:rPr>
              <a:t>克拉拉细胞蛋白</a:t>
            </a:r>
          </a:p>
          <a:p>
            <a:pPr marL="285750" indent="-285750">
              <a:buFont typeface="Arial" panose="020B0604020202020204" pitchFamily="34" charset="0"/>
              <a:buChar char="•"/>
              <a:defRPr/>
            </a:pPr>
            <a:r>
              <a:rPr lang="zh-CN" altLang="en-US" sz="1400" b="1">
                <a:solidFill>
                  <a:schemeClr val="bg1">
                    <a:lumMod val="95000"/>
                  </a:schemeClr>
                </a:solidFill>
                <a:latin typeface="+mj-ea"/>
                <a:ea typeface="+mj-ea"/>
              </a:rPr>
              <a:t>补充因子</a:t>
            </a:r>
            <a:r>
              <a:rPr lang="en-US" altLang="zh-CN" sz="1400" b="1">
                <a:solidFill>
                  <a:schemeClr val="bg1">
                    <a:lumMod val="95000"/>
                  </a:schemeClr>
                </a:solidFill>
                <a:latin typeface="+mj-ea"/>
                <a:ea typeface="+mj-ea"/>
              </a:rPr>
              <a:t>D.</a:t>
            </a:r>
          </a:p>
          <a:p>
            <a:pPr marL="285750" indent="-285750">
              <a:buFont typeface="Arial" panose="020B0604020202020204" pitchFamily="34" charset="0"/>
              <a:buChar char="•"/>
              <a:defRPr/>
            </a:pPr>
            <a:r>
              <a:rPr lang="zh-CN" altLang="en-US" sz="1400" b="1">
                <a:solidFill>
                  <a:schemeClr val="bg1">
                    <a:lumMod val="95000"/>
                  </a:schemeClr>
                </a:solidFill>
                <a:latin typeface="+mj-ea"/>
                <a:ea typeface="+mj-ea"/>
              </a:rPr>
              <a:t>胱抑素</a:t>
            </a:r>
            <a:r>
              <a:rPr lang="en-US" altLang="zh-CN" sz="1400" b="1">
                <a:solidFill>
                  <a:schemeClr val="bg1">
                    <a:lumMod val="95000"/>
                  </a:schemeClr>
                </a:solidFill>
                <a:latin typeface="+mj-ea"/>
                <a:ea typeface="+mj-ea"/>
              </a:rPr>
              <a:t>C.</a:t>
            </a:r>
          </a:p>
          <a:p>
            <a:pPr marL="285750" indent="-285750">
              <a:buFont typeface="Arial" panose="020B0604020202020204" pitchFamily="34" charset="0"/>
              <a:buChar char="•"/>
              <a:defRPr/>
            </a:pPr>
            <a:r>
              <a:rPr lang="zh-CN" altLang="en-US" sz="1400" b="1">
                <a:solidFill>
                  <a:schemeClr val="bg1">
                    <a:lumMod val="95000"/>
                  </a:schemeClr>
                </a:solidFill>
                <a:latin typeface="+mj-ea"/>
                <a:ea typeface="+mj-ea"/>
              </a:rPr>
              <a:t>脱颗粒抑制蛋白</a:t>
            </a:r>
            <a:r>
              <a:rPr lang="en-US" altLang="zh-CN" sz="1400" b="1">
                <a:solidFill>
                  <a:schemeClr val="bg1">
                    <a:lumMod val="95000"/>
                  </a:schemeClr>
                </a:solidFill>
                <a:latin typeface="+mj-ea"/>
                <a:ea typeface="+mj-ea"/>
              </a:rPr>
              <a:t>I</a:t>
            </a:r>
          </a:p>
          <a:p>
            <a:pPr marL="285750" indent="-285750">
              <a:buFont typeface="Arial" panose="020B0604020202020204" pitchFamily="34" charset="0"/>
              <a:buChar char="•"/>
              <a:defRPr/>
            </a:pPr>
            <a:r>
              <a:rPr lang="en-US" altLang="zh-CN" sz="1400" b="1">
                <a:solidFill>
                  <a:schemeClr val="bg1">
                    <a:lumMod val="95000"/>
                  </a:schemeClr>
                </a:solidFill>
                <a:latin typeface="+mj-ea"/>
                <a:ea typeface="+mj-ea"/>
              </a:rPr>
              <a:t>Delta-</a:t>
            </a:r>
            <a:r>
              <a:rPr lang="zh-CN" altLang="en-US" sz="1400" b="1">
                <a:solidFill>
                  <a:schemeClr val="bg1">
                    <a:lumMod val="95000"/>
                  </a:schemeClr>
                </a:solidFill>
                <a:latin typeface="+mj-ea"/>
                <a:ea typeface="+mj-ea"/>
              </a:rPr>
              <a:t>睡眠诱导肽</a:t>
            </a:r>
          </a:p>
          <a:p>
            <a:pPr marL="285750" indent="-285750">
              <a:buFont typeface="Arial" panose="020B0604020202020204" pitchFamily="34" charset="0"/>
              <a:buChar char="•"/>
              <a:defRPr/>
            </a:pPr>
            <a:r>
              <a:rPr lang="zh-CN" altLang="en-US" sz="1400" b="1">
                <a:solidFill>
                  <a:schemeClr val="bg1">
                    <a:lumMod val="95000"/>
                  </a:schemeClr>
                </a:solidFill>
                <a:latin typeface="+mj-ea"/>
                <a:ea typeface="+mj-ea"/>
              </a:rPr>
              <a:t>内皮素</a:t>
            </a:r>
          </a:p>
          <a:p>
            <a:pPr marL="285750" indent="-285750">
              <a:buFont typeface="Arial" panose="020B0604020202020204" pitchFamily="34" charset="0"/>
              <a:buChar char="•"/>
              <a:defRPr/>
            </a:pPr>
            <a:r>
              <a:rPr lang="zh-CN" altLang="en-US" sz="1400" b="1">
                <a:solidFill>
                  <a:schemeClr val="bg1">
                    <a:lumMod val="95000"/>
                  </a:schemeClr>
                </a:solidFill>
                <a:latin typeface="+mj-ea"/>
                <a:ea typeface="+mj-ea"/>
              </a:rPr>
              <a:t>透明质酸</a:t>
            </a:r>
          </a:p>
          <a:p>
            <a:pPr marL="285750" indent="-285750">
              <a:buFont typeface="Arial" panose="020B0604020202020204" pitchFamily="34" charset="0"/>
              <a:buChar char="•"/>
              <a:defRPr/>
            </a:pPr>
            <a:r>
              <a:rPr lang="zh-CN" altLang="en-US" sz="1400" b="1">
                <a:solidFill>
                  <a:schemeClr val="bg1">
                    <a:lumMod val="95000"/>
                  </a:schemeClr>
                </a:solidFill>
                <a:latin typeface="+mj-ea"/>
                <a:ea typeface="+mj-ea"/>
              </a:rPr>
              <a:t>白介素</a:t>
            </a:r>
            <a:r>
              <a:rPr lang="en-US" altLang="zh-CN" sz="1400" b="1">
                <a:solidFill>
                  <a:schemeClr val="bg1">
                    <a:lumMod val="95000"/>
                  </a:schemeClr>
                </a:solidFill>
                <a:latin typeface="+mj-ea"/>
                <a:ea typeface="+mj-ea"/>
              </a:rPr>
              <a:t>1b</a:t>
            </a:r>
          </a:p>
          <a:p>
            <a:pPr marL="285750" indent="-285750">
              <a:buFont typeface="Arial" panose="020B0604020202020204" pitchFamily="34" charset="0"/>
              <a:buChar char="•"/>
              <a:defRPr/>
            </a:pPr>
            <a:r>
              <a:rPr lang="zh-CN" altLang="en-US" sz="1400" b="1">
                <a:solidFill>
                  <a:schemeClr val="bg1">
                    <a:lumMod val="95000"/>
                  </a:schemeClr>
                </a:solidFill>
                <a:latin typeface="+mj-ea"/>
                <a:ea typeface="+mj-ea"/>
              </a:rPr>
              <a:t>白介素</a:t>
            </a:r>
            <a:r>
              <a:rPr lang="en-US" altLang="zh-CN" sz="1400" b="1">
                <a:solidFill>
                  <a:schemeClr val="bg1">
                    <a:lumMod val="95000"/>
                  </a:schemeClr>
                </a:solidFill>
                <a:latin typeface="+mj-ea"/>
                <a:ea typeface="+mj-ea"/>
              </a:rPr>
              <a:t>6</a:t>
            </a:r>
          </a:p>
          <a:p>
            <a:pPr marL="285750" indent="-285750">
              <a:buFont typeface="Arial" panose="020B0604020202020204" pitchFamily="34" charset="0"/>
              <a:buChar char="•"/>
              <a:defRPr/>
            </a:pPr>
            <a:r>
              <a:rPr lang="en-US" altLang="zh-CN" sz="1400" b="1">
                <a:solidFill>
                  <a:schemeClr val="bg1">
                    <a:lumMod val="95000"/>
                  </a:schemeClr>
                </a:solidFill>
                <a:latin typeface="+mj-ea"/>
                <a:ea typeface="+mj-ea"/>
              </a:rPr>
              <a:t>Kappa</a:t>
            </a:r>
            <a:r>
              <a:rPr lang="zh-CN" altLang="en-US" sz="1400" b="1">
                <a:solidFill>
                  <a:schemeClr val="bg1">
                    <a:lumMod val="95000"/>
                  </a:schemeClr>
                </a:solidFill>
                <a:latin typeface="+mj-ea"/>
                <a:ea typeface="+mj-ea"/>
              </a:rPr>
              <a:t>轻链抗体</a:t>
            </a:r>
          </a:p>
          <a:p>
            <a:pPr marL="285750" indent="-285750">
              <a:buFont typeface="Arial" panose="020B0604020202020204" pitchFamily="34" charset="0"/>
              <a:buChar char="•"/>
              <a:defRPr/>
            </a:pPr>
            <a:r>
              <a:rPr lang="en-US" altLang="zh-CN" sz="1400" b="1">
                <a:solidFill>
                  <a:schemeClr val="bg1">
                    <a:lumMod val="95000"/>
                  </a:schemeClr>
                </a:solidFill>
                <a:latin typeface="+mj-ea"/>
                <a:ea typeface="+mj-ea"/>
              </a:rPr>
              <a:t>Lambda</a:t>
            </a:r>
            <a:r>
              <a:rPr lang="zh-CN" altLang="en-US" sz="1400" b="1">
                <a:solidFill>
                  <a:schemeClr val="bg1">
                    <a:lumMod val="95000"/>
                  </a:schemeClr>
                </a:solidFill>
                <a:latin typeface="+mj-ea"/>
                <a:ea typeface="+mj-ea"/>
              </a:rPr>
              <a:t>轻链抗体</a:t>
            </a:r>
          </a:p>
          <a:p>
            <a:pPr marL="285750" indent="-285750">
              <a:buFont typeface="Arial" panose="020B0604020202020204" pitchFamily="34" charset="0"/>
              <a:buChar char="•"/>
              <a:defRPr/>
            </a:pPr>
            <a:r>
              <a:rPr lang="zh-CN" altLang="en-US" sz="1400" b="1">
                <a:solidFill>
                  <a:schemeClr val="bg1">
                    <a:lumMod val="95000"/>
                  </a:schemeClr>
                </a:solidFill>
                <a:latin typeface="+mj-ea"/>
                <a:ea typeface="+mj-ea"/>
              </a:rPr>
              <a:t>瘦素</a:t>
            </a:r>
          </a:p>
          <a:p>
            <a:pPr marL="285750" indent="-285750">
              <a:buFont typeface="Arial" panose="020B0604020202020204" pitchFamily="34" charset="0"/>
              <a:buChar char="•"/>
              <a:defRPr/>
            </a:pPr>
            <a:r>
              <a:rPr lang="zh-CN" altLang="en-US" sz="1400" b="1">
                <a:solidFill>
                  <a:schemeClr val="bg1">
                    <a:lumMod val="95000"/>
                  </a:schemeClr>
                </a:solidFill>
                <a:latin typeface="+mj-ea"/>
                <a:ea typeface="+mj-ea"/>
              </a:rPr>
              <a:t>甲脑啡肽</a:t>
            </a:r>
            <a:endParaRPr lang="en-US" altLang="zh-CN" sz="1400" b="1">
              <a:solidFill>
                <a:schemeClr val="bg1">
                  <a:lumMod val="95000"/>
                </a:schemeClr>
              </a:solidFill>
              <a:latin typeface="+mj-ea"/>
              <a:ea typeface="+mj-ea"/>
            </a:endParaRPr>
          </a:p>
          <a:p>
            <a:pPr marL="285750" indent="-285750">
              <a:buFont typeface="Arial" panose="020B0604020202020204" pitchFamily="34" charset="0"/>
              <a:buChar char="•"/>
              <a:defRPr/>
            </a:pPr>
            <a:r>
              <a:rPr lang="zh-CN" altLang="en-US" sz="1400" b="1">
                <a:solidFill>
                  <a:schemeClr val="bg1">
                    <a:lumMod val="95000"/>
                  </a:schemeClr>
                </a:solidFill>
                <a:latin typeface="+mj-ea"/>
                <a:ea typeface="+mj-ea"/>
              </a:rPr>
              <a:t>神经肽</a:t>
            </a:r>
            <a:r>
              <a:rPr lang="en-US" altLang="zh-CN" sz="1400" b="1">
                <a:solidFill>
                  <a:schemeClr val="bg1">
                    <a:lumMod val="95000"/>
                  </a:schemeClr>
                </a:solidFill>
                <a:latin typeface="+mj-ea"/>
                <a:ea typeface="+mj-ea"/>
              </a:rPr>
              <a:t>Y</a:t>
            </a:r>
          </a:p>
          <a:p>
            <a:pPr marL="285750" indent="-285750">
              <a:buFont typeface="Arial" panose="020B0604020202020204" pitchFamily="34" charset="0"/>
              <a:buChar char="•"/>
              <a:defRPr/>
            </a:pPr>
            <a:r>
              <a:rPr lang="zh-CN" altLang="en-US" sz="1400" b="1">
                <a:solidFill>
                  <a:srgbClr val="C00000"/>
                </a:solidFill>
                <a:latin typeface="+mj-ea"/>
                <a:ea typeface="+mj-ea"/>
              </a:rPr>
              <a:t>甲旁腺激素</a:t>
            </a:r>
          </a:p>
          <a:p>
            <a:pPr marL="285750" indent="-285750">
              <a:buFont typeface="Arial" panose="020B0604020202020204" pitchFamily="34" charset="0"/>
              <a:buChar char="•"/>
              <a:defRPr/>
            </a:pPr>
            <a:r>
              <a:rPr lang="zh-CN" altLang="en-US" sz="1400" b="1">
                <a:solidFill>
                  <a:schemeClr val="bg1">
                    <a:lumMod val="95000"/>
                  </a:schemeClr>
                </a:solidFill>
                <a:latin typeface="+mj-ea"/>
                <a:ea typeface="+mj-ea"/>
              </a:rPr>
              <a:t>视黄醇结合蛋白</a:t>
            </a:r>
          </a:p>
          <a:p>
            <a:pPr marL="285750" indent="-285750">
              <a:buFont typeface="Arial" panose="020B0604020202020204" pitchFamily="34" charset="0"/>
              <a:buChar char="•"/>
              <a:defRPr/>
            </a:pPr>
            <a:r>
              <a:rPr lang="zh-CN" altLang="en-US" sz="1400" b="1">
                <a:solidFill>
                  <a:schemeClr val="bg1">
                    <a:lumMod val="95000"/>
                  </a:schemeClr>
                </a:solidFill>
                <a:latin typeface="+mj-ea"/>
                <a:ea typeface="+mj-ea"/>
              </a:rPr>
              <a:t>肿瘤坏死因子</a:t>
            </a:r>
            <a:r>
              <a:rPr lang="en-US" altLang="zh-CN" sz="1400" b="1">
                <a:solidFill>
                  <a:schemeClr val="bg1">
                    <a:lumMod val="95000"/>
                  </a:schemeClr>
                </a:solidFill>
                <a:latin typeface="+mj-ea"/>
                <a:ea typeface="+mj-ea"/>
              </a:rPr>
              <a:t>α</a:t>
            </a:r>
          </a:p>
          <a:p>
            <a:pPr marL="285750" indent="-285750">
              <a:buFont typeface="Arial" panose="020B0604020202020204" pitchFamily="34" charset="0"/>
              <a:buChar char="•"/>
              <a:defRPr/>
            </a:pPr>
            <a:r>
              <a:rPr lang="en-US" altLang="zh-CN" sz="1400" b="1">
                <a:solidFill>
                  <a:srgbClr val="C00000"/>
                </a:solidFill>
                <a:latin typeface="+mj-ea"/>
                <a:ea typeface="+mj-ea"/>
              </a:rPr>
              <a:t>FGF-23</a:t>
            </a:r>
            <a:endParaRPr lang="zh-CN" altLang="en-US" sz="1400" b="1">
              <a:solidFill>
                <a:srgbClr val="C00000"/>
              </a:solidFill>
              <a:latin typeface="+mj-ea"/>
              <a:ea typeface="+mj-ea"/>
            </a:endParaRPr>
          </a:p>
        </p:txBody>
      </p:sp>
      <p:sp>
        <p:nvSpPr>
          <p:cNvPr id="3" name="文本框 2"/>
          <p:cNvSpPr txBox="1"/>
          <p:nvPr/>
        </p:nvSpPr>
        <p:spPr>
          <a:xfrm>
            <a:off x="870905" y="1346693"/>
            <a:ext cx="2547602" cy="646331"/>
          </a:xfrm>
          <a:prstGeom prst="rect">
            <a:avLst/>
          </a:prstGeom>
          <a:noFill/>
        </p:spPr>
        <p:txBody>
          <a:bodyPr wrap="square" rtlCol="0">
            <a:spAutoFit/>
          </a:bodyPr>
          <a:lstStyle/>
          <a:p>
            <a:r>
              <a:rPr lang="zh-CN" altLang="en-US" b="1">
                <a:solidFill>
                  <a:schemeClr val="bg1">
                    <a:lumMod val="95000"/>
                  </a:schemeClr>
                </a:solidFill>
                <a:effectLst>
                  <a:outerShdw blurRad="38100" dist="38100" dir="2700000" algn="tl">
                    <a:srgbClr val="000000">
                      <a:alpha val="43137"/>
                    </a:srgbClr>
                  </a:outerShdw>
                </a:effectLst>
                <a:latin typeface="+mj-ea"/>
                <a:ea typeface="+mj-ea"/>
              </a:rPr>
              <a:t>目前</a:t>
            </a:r>
            <a:r>
              <a:rPr lang="en-US" altLang="zh-CN" b="1">
                <a:solidFill>
                  <a:schemeClr val="bg1">
                    <a:lumMod val="95000"/>
                  </a:schemeClr>
                </a:solidFill>
                <a:effectLst>
                  <a:outerShdw blurRad="38100" dist="38100" dir="2700000" algn="tl">
                    <a:srgbClr val="000000">
                      <a:alpha val="43137"/>
                    </a:srgbClr>
                  </a:outerShdw>
                </a:effectLst>
                <a:latin typeface="+mj-ea"/>
                <a:ea typeface="+mj-ea"/>
              </a:rPr>
              <a:t>Eutox</a:t>
            </a:r>
            <a:r>
              <a:rPr lang="zh-CN" altLang="en-US" b="1">
                <a:solidFill>
                  <a:schemeClr val="bg1">
                    <a:lumMod val="95000"/>
                  </a:schemeClr>
                </a:solidFill>
                <a:effectLst>
                  <a:outerShdw blurRad="38100" dist="38100" dir="2700000" algn="tl">
                    <a:srgbClr val="000000">
                      <a:alpha val="43137"/>
                    </a:srgbClr>
                  </a:outerShdw>
                </a:effectLst>
                <a:latin typeface="+mj-ea"/>
                <a:ea typeface="+mj-ea"/>
              </a:rPr>
              <a:t>数据库中共有尿毒症毒素</a:t>
            </a:r>
            <a:r>
              <a:rPr lang="en-US" altLang="zh-CN" b="1">
                <a:solidFill>
                  <a:schemeClr val="bg1">
                    <a:lumMod val="95000"/>
                  </a:schemeClr>
                </a:solidFill>
                <a:effectLst>
                  <a:outerShdw blurRad="38100" dist="38100" dir="2700000" algn="tl">
                    <a:srgbClr val="000000">
                      <a:alpha val="43137"/>
                    </a:srgbClr>
                  </a:outerShdw>
                </a:effectLst>
                <a:latin typeface="+mj-ea"/>
                <a:ea typeface="+mj-ea"/>
              </a:rPr>
              <a:t>130</a:t>
            </a:r>
            <a:r>
              <a:rPr lang="zh-CN" altLang="en-US" b="1">
                <a:solidFill>
                  <a:schemeClr val="bg1">
                    <a:lumMod val="95000"/>
                  </a:schemeClr>
                </a:solidFill>
                <a:effectLst>
                  <a:outerShdw blurRad="38100" dist="38100" dir="2700000" algn="tl">
                    <a:srgbClr val="000000">
                      <a:alpha val="43137"/>
                    </a:srgbClr>
                  </a:outerShdw>
                </a:effectLst>
                <a:latin typeface="+mj-ea"/>
                <a:ea typeface="+mj-ea"/>
              </a:rPr>
              <a:t>种</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pic>
        <p:nvPicPr>
          <p:cNvPr id="9218" name="图片 2">
            <a:extLst/>
          </p:cNvPr>
          <p:cNvPicPr>
            <a:picLocks noChangeAspect="1" noChangeArrowheads="1"/>
          </p:cNvPicPr>
          <p:nvPr/>
        </p:nvPicPr>
        <p:blipFill>
          <a:blip r:embed="rId2">
            <a:duotone>
              <a:prstClr val="black"/>
              <a:schemeClr val="accent3">
                <a:tint val="45000"/>
                <a:satMod val="400000"/>
              </a:schemeClr>
            </a:duotone>
            <a:extLst>
              <a:ext uri="{28A0092B-C50C-407E-A947-70E740481C1C}">
                <a14:useLocalDpi xmlns:a14="http://schemas.microsoft.com/office/drawing/2010/main" val="0"/>
              </a:ext>
            </a:extLst>
          </a:blip>
          <a:srcRect l="7875" r="25414"/>
          <a:stretch>
            <a:fillRect/>
          </a:stretch>
        </p:blipFill>
        <p:spPr bwMode="auto">
          <a:xfrm>
            <a:off x="-74310" y="-17714"/>
            <a:ext cx="7356475" cy="689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7" name="组合 16">
            <a:extLst/>
          </p:cNvPr>
          <p:cNvGrpSpPr/>
          <p:nvPr/>
        </p:nvGrpSpPr>
        <p:grpSpPr>
          <a:xfrm>
            <a:off x="4871863" y="330676"/>
            <a:ext cx="7320137" cy="1143935"/>
            <a:chOff x="8112223" y="330676"/>
            <a:chExt cx="4194115" cy="1143935"/>
          </a:xfrm>
          <a:effectLst>
            <a:outerShdw blurRad="50800" dist="38100" dir="5400000" algn="t" rotWithShape="0">
              <a:prstClr val="black">
                <a:alpha val="40000"/>
              </a:prstClr>
            </a:outerShdw>
          </a:effectLst>
        </p:grpSpPr>
        <p:sp>
          <p:nvSpPr>
            <p:cNvPr id="4"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5" name="组合 22">
              <a:extLst/>
            </p:cNvPr>
            <p:cNvGrpSpPr>
              <a:grpSpLocks/>
            </p:cNvGrpSpPr>
            <p:nvPr/>
          </p:nvGrpSpPr>
          <p:grpSpPr bwMode="auto">
            <a:xfrm>
              <a:off x="8281096" y="330676"/>
              <a:ext cx="3956867" cy="1143935"/>
              <a:chOff x="-461843" y="2729730"/>
              <a:chExt cx="4660664" cy="1599633"/>
            </a:xfrm>
          </p:grpSpPr>
          <p:sp>
            <p:nvSpPr>
              <p:cNvPr id="6"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7" name="文本框 14">
                <a:extLst/>
              </p:cNvPr>
              <p:cNvSpPr txBox="1">
                <a:spLocks noChangeArrowheads="1"/>
              </p:cNvSpPr>
              <p:nvPr/>
            </p:nvSpPr>
            <p:spPr bwMode="auto">
              <a:xfrm>
                <a:off x="1080991" y="2779986"/>
                <a:ext cx="3117830" cy="1549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000" b="1">
                    <a:solidFill>
                      <a:schemeClr val="tx2">
                        <a:lumMod val="75000"/>
                      </a:schemeClr>
                    </a:solidFill>
                    <a:latin typeface="微软雅黑" panose="020B0503020204020204" pitchFamily="34" charset="-122"/>
                    <a:ea typeface="微软雅黑" panose="020B0503020204020204" pitchFamily="34" charset="-122"/>
                    <a:cs typeface="+mn-ea"/>
                    <a:sym typeface="+mn-lt"/>
                  </a:rPr>
                  <a:t>猫慢性肾病风险因素</a:t>
                </a:r>
                <a:endParaRPr lang="en-US" altLang="zh-CN" sz="2000" b="1">
                  <a:solidFill>
                    <a:schemeClr val="tx2">
                      <a:lumMod val="75000"/>
                    </a:schemeClr>
                  </a:solidFill>
                  <a:latin typeface="微软雅黑" panose="020B0503020204020204" pitchFamily="34" charset="-122"/>
                  <a:ea typeface="微软雅黑" panose="020B0503020204020204" pitchFamily="34" charset="-122"/>
                  <a:cs typeface="+mn-ea"/>
                  <a:sym typeface="+mn-lt"/>
                </a:endParaRPr>
              </a:p>
              <a:p>
                <a:pPr eaLnBrk="1" hangingPunct="1">
                  <a:lnSpc>
                    <a:spcPct val="150000"/>
                  </a:lnSpc>
                  <a:spcBef>
                    <a:spcPct val="0"/>
                  </a:spcBef>
                  <a:buFontTx/>
                  <a:buNone/>
                  <a:defRPr/>
                </a:pPr>
                <a:r>
                  <a:rPr lang="zh-CN" altLang="en-US" sz="2400" b="1">
                    <a:solidFill>
                      <a:schemeClr val="tx2">
                        <a:lumMod val="75000"/>
                      </a:schemeClr>
                    </a:solidFill>
                    <a:latin typeface="微软雅黑" panose="020B0503020204020204" pitchFamily="34" charset="-122"/>
                    <a:ea typeface="微软雅黑" panose="020B0503020204020204" pitchFamily="34" charset="-122"/>
                    <a:cs typeface="+mn-ea"/>
                    <a:sym typeface="+mn-lt"/>
                  </a:rPr>
                  <a:t>我的猫肾病都怪高蛋白！</a:t>
                </a:r>
                <a:endParaRPr lang="en-US" altLang="zh-CN" sz="2400" b="1">
                  <a:solidFill>
                    <a:schemeClr val="tx2">
                      <a:lumMod val="75000"/>
                    </a:schemeClr>
                  </a:solidFill>
                  <a:latin typeface="微软雅黑" panose="020B0503020204020204" pitchFamily="34" charset="-122"/>
                  <a:ea typeface="微软雅黑" panose="020B0503020204020204" pitchFamily="34" charset="-122"/>
                  <a:cs typeface="+mn-ea"/>
                  <a:sym typeface="+mn-lt"/>
                </a:endParaRPr>
              </a:p>
            </p:txBody>
          </p:sp>
          <p:cxnSp>
            <p:nvCxnSpPr>
              <p:cNvPr id="8" name="直接连接符 7">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9" name="矩形 20">
                <a:extLst/>
              </p:cNvPr>
              <p:cNvSpPr>
                <a:spLocks noChangeArrowheads="1"/>
              </p:cNvSpPr>
              <p:nvPr/>
            </p:nvSpPr>
            <p:spPr bwMode="auto">
              <a:xfrm>
                <a:off x="506334" y="3461621"/>
                <a:ext cx="574658"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ONE</a:t>
                </a:r>
                <a:endParaRPr lang="zh-CN" altLang="en-US" sz="1200">
                  <a:latin typeface="+mn-lt"/>
                  <a:ea typeface="+mn-ea"/>
                  <a:cs typeface="+mn-ea"/>
                  <a:sym typeface="+mn-lt"/>
                </a:endParaRPr>
              </a:p>
            </p:txBody>
          </p:sp>
        </p:grpSp>
      </p:grpSp>
      <p:grpSp>
        <p:nvGrpSpPr>
          <p:cNvPr id="22532" name="组合 17"/>
          <p:cNvGrpSpPr>
            <a:grpSpLocks/>
          </p:cNvGrpSpPr>
          <p:nvPr/>
        </p:nvGrpSpPr>
        <p:grpSpPr bwMode="auto">
          <a:xfrm>
            <a:off x="1444625" y="2411413"/>
            <a:ext cx="10628313" cy="3681883"/>
            <a:chOff x="170987" y="2984657"/>
            <a:chExt cx="9768408" cy="3510340"/>
          </a:xfrm>
        </p:grpSpPr>
        <p:sp>
          <p:nvSpPr>
            <p:cNvPr id="21" name="矩形 20">
              <a:extLst/>
            </p:cNvPr>
            <p:cNvSpPr/>
            <p:nvPr/>
          </p:nvSpPr>
          <p:spPr>
            <a:xfrm>
              <a:off x="170987" y="2984657"/>
              <a:ext cx="9768408" cy="351034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kern="0">
                <a:solidFill>
                  <a:sysClr val="windowText" lastClr="000000"/>
                </a:solidFill>
                <a:cs typeface="+mn-ea"/>
                <a:sym typeface="+mn-lt"/>
              </a:endParaRPr>
            </a:p>
          </p:txBody>
        </p:sp>
        <p:sp>
          <p:nvSpPr>
            <p:cNvPr id="23" name="矩形 22">
              <a:extLst/>
            </p:cNvPr>
            <p:cNvSpPr/>
            <p:nvPr/>
          </p:nvSpPr>
          <p:spPr>
            <a:xfrm>
              <a:off x="5238303" y="3281903"/>
              <a:ext cx="4153944" cy="393755"/>
            </a:xfrm>
            <a:prstGeom prst="rect">
              <a:avLst/>
            </a:prstGeom>
          </p:spPr>
          <p:txBody>
            <a:bodyPr>
              <a:spAutoFit/>
            </a:bodyPr>
            <a:lstStyle/>
            <a:p>
              <a:pPr eaLnBrk="1" fontAlgn="auto" hangingPunct="1">
                <a:lnSpc>
                  <a:spcPct val="150000"/>
                </a:lnSpc>
                <a:spcBef>
                  <a:spcPts val="0"/>
                </a:spcBef>
                <a:spcAft>
                  <a:spcPts val="0"/>
                </a:spcAft>
                <a:defRPr/>
              </a:pPr>
              <a:endParaRPr lang="zh-CN" altLang="en-US" sz="1600" kern="0">
                <a:solidFill>
                  <a:srgbClr val="4F4F4F"/>
                </a:solidFill>
                <a:latin typeface="+mn-lt"/>
                <a:ea typeface="+mn-ea"/>
                <a:cs typeface="+mn-ea"/>
                <a:sym typeface="+mn-lt"/>
              </a:endParaRPr>
            </a:p>
          </p:txBody>
        </p:sp>
      </p:grpSp>
      <p:sp>
        <p:nvSpPr>
          <p:cNvPr id="22533" name="文本框 9"/>
          <p:cNvSpPr txBox="1">
            <a:spLocks noChangeArrowheads="1"/>
          </p:cNvSpPr>
          <p:nvPr/>
        </p:nvSpPr>
        <p:spPr bwMode="auto">
          <a:xfrm>
            <a:off x="1558925" y="2636838"/>
            <a:ext cx="439261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en-US" altLang="zh-CN" b="1"/>
          </a:p>
          <a:p>
            <a:endParaRPr lang="en-US" altLang="zh-CN" b="1"/>
          </a:p>
        </p:txBody>
      </p:sp>
      <p:sp>
        <p:nvSpPr>
          <p:cNvPr id="22534" name="文本框 11"/>
          <p:cNvSpPr txBox="1">
            <a:spLocks noChangeArrowheads="1"/>
          </p:cNvSpPr>
          <p:nvPr/>
        </p:nvSpPr>
        <p:spPr bwMode="auto">
          <a:xfrm>
            <a:off x="1457325" y="2549525"/>
            <a:ext cx="41338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2" name="文本框 1"/>
          <p:cNvSpPr txBox="1"/>
          <p:nvPr/>
        </p:nvSpPr>
        <p:spPr>
          <a:xfrm>
            <a:off x="6958013" y="5269164"/>
            <a:ext cx="4789488" cy="738188"/>
          </a:xfrm>
          <a:prstGeom prst="rect">
            <a:avLst/>
          </a:prstGeom>
          <a:noFill/>
        </p:spPr>
        <p:txBody>
          <a:bodyPr>
            <a:spAutoFit/>
          </a:bodyPr>
          <a:lstStyle/>
          <a:p>
            <a:pPr>
              <a:defRPr/>
            </a:pPr>
            <a:r>
              <a:rPr lang="en-US" altLang="zh-CN" sz="1200" b="1">
                <a:latin typeface="+mj-ea"/>
              </a:rPr>
              <a:t>《A Staged Approach to Diagnosis and Management of Chronic Kidney Disease in Cats》 2018</a:t>
            </a:r>
            <a:endParaRPr lang="zh-CN" altLang="en-US" sz="1200" b="1">
              <a:latin typeface="+mj-ea"/>
            </a:endParaRPr>
          </a:p>
          <a:p>
            <a:pPr>
              <a:defRPr/>
            </a:pPr>
            <a:endParaRPr lang="zh-CN" altLang="en-US" b="1">
              <a:latin typeface="+mj-ea"/>
              <a:ea typeface="+mj-ea"/>
            </a:endParaRPr>
          </a:p>
        </p:txBody>
      </p:sp>
      <p:pic>
        <p:nvPicPr>
          <p:cNvPr id="22536"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92325" y="2549525"/>
            <a:ext cx="1771650" cy="240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文本框 10"/>
          <p:cNvSpPr txBox="1"/>
          <p:nvPr/>
        </p:nvSpPr>
        <p:spPr>
          <a:xfrm>
            <a:off x="1934034" y="4980280"/>
            <a:ext cx="2145742" cy="1015663"/>
          </a:xfrm>
          <a:prstGeom prst="rect">
            <a:avLst/>
          </a:prstGeom>
          <a:noFill/>
        </p:spPr>
        <p:txBody>
          <a:bodyPr wrap="square">
            <a:spAutoFit/>
          </a:bodyPr>
          <a:lstStyle/>
          <a:p>
            <a:pPr>
              <a:defRPr/>
            </a:pPr>
            <a:r>
              <a:rPr lang="en-US" altLang="zh-CN" sz="1200">
                <a:effectLst>
                  <a:outerShdw blurRad="38100" dist="38100" dir="2700000" algn="tl">
                    <a:srgbClr val="000000">
                      <a:alpha val="43137"/>
                    </a:srgbClr>
                  </a:outerShdw>
                </a:effectLst>
                <a:latin typeface="+mj-ea"/>
                <a:ea typeface="+mj-ea"/>
              </a:rPr>
              <a:t>Scott Brown</a:t>
            </a:r>
            <a:r>
              <a:rPr lang="zh-CN" altLang="en-US" sz="1200">
                <a:effectLst>
                  <a:outerShdw blurRad="38100" dist="38100" dir="2700000" algn="tl">
                    <a:srgbClr val="000000">
                      <a:alpha val="43137"/>
                    </a:srgbClr>
                  </a:outerShdw>
                </a:effectLst>
                <a:latin typeface="+mj-ea"/>
                <a:ea typeface="+mj-ea"/>
              </a:rPr>
              <a:t>教授，兽医，小动物内科专家，专注于肾病与高血压方面的研究。乔治亚大学动医学院教务处副主任，梅格斯教学奖获得者。</a:t>
            </a:r>
          </a:p>
        </p:txBody>
      </p:sp>
      <p:sp>
        <p:nvSpPr>
          <p:cNvPr id="14" name="文本框 13"/>
          <p:cNvSpPr txBox="1"/>
          <p:nvPr/>
        </p:nvSpPr>
        <p:spPr>
          <a:xfrm>
            <a:off x="4511675" y="2563813"/>
            <a:ext cx="7056438" cy="1014412"/>
          </a:xfrm>
          <a:prstGeom prst="rect">
            <a:avLst/>
          </a:prstGeom>
          <a:noFill/>
        </p:spPr>
        <p:txBody>
          <a:bodyPr>
            <a:spAutoFit/>
          </a:bodyPr>
          <a:lstStyle/>
          <a:p>
            <a:pPr>
              <a:defRPr/>
            </a:pPr>
            <a:r>
              <a:rPr lang="zh-CN" altLang="en-US">
                <a:effectLst>
                  <a:outerShdw blurRad="38100" dist="38100" dir="2700000" algn="tl">
                    <a:srgbClr val="000000">
                      <a:alpha val="43137"/>
                    </a:srgbClr>
                  </a:outerShdw>
                </a:effectLst>
              </a:rPr>
              <a:t>“</a:t>
            </a:r>
            <a:r>
              <a:rPr lang="en-US" altLang="zh-CN">
                <a:effectLst>
                  <a:outerShdw blurRad="38100" dist="38100" dir="2700000" algn="tl">
                    <a:srgbClr val="000000">
                      <a:alpha val="43137"/>
                    </a:srgbClr>
                  </a:outerShdw>
                </a:effectLst>
              </a:rPr>
              <a:t>…</a:t>
            </a:r>
            <a:r>
              <a:rPr lang="en-US" altLang="zh-CN" sz="2000">
                <a:effectLst>
                  <a:outerShdw blurRad="38100" dist="38100" dir="2700000" algn="tl">
                    <a:srgbClr val="000000">
                      <a:alpha val="43137"/>
                    </a:srgbClr>
                  </a:outerShdw>
                </a:effectLst>
              </a:rPr>
              <a:t>most—or all—of the benefits to renal diets seen in some studies could have been attributable to phosphorus restriction.</a:t>
            </a:r>
            <a:r>
              <a:rPr lang="zh-CN" altLang="en-US">
                <a:effectLst>
                  <a:outerShdw blurRad="38100" dist="38100" dir="2700000" algn="tl">
                    <a:srgbClr val="000000">
                      <a:alpha val="43137"/>
                    </a:srgbClr>
                  </a:outerShdw>
                </a:effectLst>
              </a:rPr>
              <a:t>”</a:t>
            </a:r>
          </a:p>
        </p:txBody>
      </p:sp>
      <p:sp>
        <p:nvSpPr>
          <p:cNvPr id="15" name="文本框 14"/>
          <p:cNvSpPr txBox="1"/>
          <p:nvPr/>
        </p:nvSpPr>
        <p:spPr>
          <a:xfrm>
            <a:off x="4511675" y="3868738"/>
            <a:ext cx="6594475" cy="646112"/>
          </a:xfrm>
          <a:prstGeom prst="rect">
            <a:avLst/>
          </a:prstGeom>
          <a:noFill/>
        </p:spPr>
        <p:txBody>
          <a:bodyPr>
            <a:spAutoFit/>
          </a:bodyPr>
          <a:lstStyle/>
          <a:p>
            <a:pPr>
              <a:defRPr/>
            </a:pPr>
            <a:r>
              <a:rPr lang="zh-CN" altLang="en-US">
                <a:effectLst>
                  <a:outerShdw blurRad="38100" dist="38100" dir="2700000" algn="tl">
                    <a:srgbClr val="000000">
                      <a:alpha val="43137"/>
                    </a:srgbClr>
                  </a:outerShdw>
                </a:effectLst>
                <a:latin typeface="+mn-ea"/>
                <a:ea typeface="+mn-ea"/>
              </a:rPr>
              <a:t>过往肾病处方粮研究中的大多数</a:t>
            </a:r>
            <a:r>
              <a:rPr lang="en-US" altLang="zh-CN">
                <a:effectLst>
                  <a:outerShdw blurRad="38100" dist="38100" dir="2700000" algn="tl">
                    <a:srgbClr val="000000">
                      <a:alpha val="43137"/>
                    </a:srgbClr>
                  </a:outerShdw>
                </a:effectLst>
                <a:latin typeface="+mn-ea"/>
                <a:ea typeface="+mn-ea"/>
              </a:rPr>
              <a:t>——</a:t>
            </a:r>
            <a:r>
              <a:rPr lang="zh-CN" altLang="en-US">
                <a:effectLst>
                  <a:outerShdw blurRad="38100" dist="38100" dir="2700000" algn="tl">
                    <a:srgbClr val="000000">
                      <a:alpha val="43137"/>
                    </a:srgbClr>
                  </a:outerShdw>
                </a:effectLst>
                <a:latin typeface="+mn-ea"/>
                <a:ea typeface="+mn-ea"/>
              </a:rPr>
              <a:t>甚至全部正面效果可能都来自于控制磷元素摄入。</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pic>
        <p:nvPicPr>
          <p:cNvPr id="9218" name="图片 2">
            <a:extLst/>
          </p:cNvPr>
          <p:cNvPicPr>
            <a:picLocks noChangeAspect="1" noChangeArrowheads="1"/>
          </p:cNvPicPr>
          <p:nvPr/>
        </p:nvPicPr>
        <p:blipFill>
          <a:blip r:embed="rId2">
            <a:duotone>
              <a:prstClr val="black"/>
              <a:schemeClr val="accent3">
                <a:tint val="45000"/>
                <a:satMod val="400000"/>
              </a:schemeClr>
            </a:duotone>
            <a:extLst>
              <a:ext uri="{28A0092B-C50C-407E-A947-70E740481C1C}">
                <a14:useLocalDpi xmlns:a14="http://schemas.microsoft.com/office/drawing/2010/main" val="0"/>
              </a:ext>
            </a:extLst>
          </a:blip>
          <a:srcRect l="7875" r="25414"/>
          <a:stretch>
            <a:fillRect/>
          </a:stretch>
        </p:blipFill>
        <p:spPr bwMode="auto">
          <a:xfrm>
            <a:off x="-74310" y="-17714"/>
            <a:ext cx="7356475" cy="689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7" name="组合 16">
            <a:extLst/>
          </p:cNvPr>
          <p:cNvGrpSpPr/>
          <p:nvPr/>
        </p:nvGrpSpPr>
        <p:grpSpPr>
          <a:xfrm>
            <a:off x="4873211" y="5144456"/>
            <a:ext cx="7320137" cy="1143935"/>
            <a:chOff x="8112223" y="330676"/>
            <a:chExt cx="4194115" cy="1143935"/>
          </a:xfrm>
          <a:effectLst>
            <a:outerShdw blurRad="50800" dist="38100" dir="5400000" algn="t" rotWithShape="0">
              <a:prstClr val="black">
                <a:alpha val="40000"/>
              </a:prstClr>
            </a:outerShdw>
          </a:effectLst>
        </p:grpSpPr>
        <p:sp>
          <p:nvSpPr>
            <p:cNvPr id="4"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5" name="组合 22">
              <a:extLst/>
            </p:cNvPr>
            <p:cNvGrpSpPr>
              <a:grpSpLocks/>
            </p:cNvGrpSpPr>
            <p:nvPr/>
          </p:nvGrpSpPr>
          <p:grpSpPr bwMode="auto">
            <a:xfrm>
              <a:off x="8281096" y="330676"/>
              <a:ext cx="3956867" cy="1143935"/>
              <a:chOff x="-461843" y="2729730"/>
              <a:chExt cx="4660664" cy="1599633"/>
            </a:xfrm>
          </p:grpSpPr>
          <p:sp>
            <p:nvSpPr>
              <p:cNvPr id="6"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7" name="文本框 14">
                <a:extLst/>
              </p:cNvPr>
              <p:cNvSpPr txBox="1">
                <a:spLocks noChangeArrowheads="1"/>
              </p:cNvSpPr>
              <p:nvPr/>
            </p:nvSpPr>
            <p:spPr bwMode="auto">
              <a:xfrm>
                <a:off x="1080991" y="2779986"/>
                <a:ext cx="3117830" cy="1549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000" b="1">
                    <a:solidFill>
                      <a:schemeClr val="tx2">
                        <a:lumMod val="75000"/>
                      </a:schemeClr>
                    </a:solidFill>
                    <a:latin typeface="微软雅黑" panose="020B0503020204020204" pitchFamily="34" charset="-122"/>
                    <a:ea typeface="微软雅黑" panose="020B0503020204020204" pitchFamily="34" charset="-122"/>
                    <a:cs typeface="+mn-ea"/>
                    <a:sym typeface="+mn-lt"/>
                  </a:rPr>
                  <a:t>猫慢性肾病风险因素</a:t>
                </a:r>
                <a:endParaRPr lang="en-US" altLang="zh-CN" sz="2000" b="1">
                  <a:solidFill>
                    <a:schemeClr val="tx2">
                      <a:lumMod val="75000"/>
                    </a:schemeClr>
                  </a:solidFill>
                  <a:latin typeface="微软雅黑" panose="020B0503020204020204" pitchFamily="34" charset="-122"/>
                  <a:ea typeface="微软雅黑" panose="020B0503020204020204" pitchFamily="34" charset="-122"/>
                  <a:cs typeface="+mn-ea"/>
                  <a:sym typeface="+mn-lt"/>
                </a:endParaRPr>
              </a:p>
              <a:p>
                <a:pPr eaLnBrk="1" hangingPunct="1">
                  <a:lnSpc>
                    <a:spcPct val="150000"/>
                  </a:lnSpc>
                  <a:spcBef>
                    <a:spcPct val="0"/>
                  </a:spcBef>
                  <a:buFontTx/>
                  <a:buNone/>
                  <a:defRPr/>
                </a:pPr>
                <a:r>
                  <a:rPr lang="zh-CN" altLang="en-US" sz="2400" b="1">
                    <a:solidFill>
                      <a:schemeClr val="tx2">
                        <a:lumMod val="75000"/>
                      </a:schemeClr>
                    </a:solidFill>
                    <a:latin typeface="微软雅黑" panose="020B0503020204020204" pitchFamily="34" charset="-122"/>
                    <a:ea typeface="微软雅黑" panose="020B0503020204020204" pitchFamily="34" charset="-122"/>
                    <a:cs typeface="+mn-ea"/>
                    <a:sym typeface="+mn-lt"/>
                  </a:rPr>
                  <a:t>猫得肾病怪吃太咸！？</a:t>
                </a:r>
                <a:endParaRPr lang="en-US" altLang="zh-CN" sz="2400" b="1">
                  <a:solidFill>
                    <a:schemeClr val="tx2">
                      <a:lumMod val="75000"/>
                    </a:schemeClr>
                  </a:solidFill>
                  <a:latin typeface="微软雅黑" panose="020B0503020204020204" pitchFamily="34" charset="-122"/>
                  <a:ea typeface="微软雅黑" panose="020B0503020204020204" pitchFamily="34" charset="-122"/>
                  <a:cs typeface="+mn-ea"/>
                  <a:sym typeface="+mn-lt"/>
                </a:endParaRPr>
              </a:p>
            </p:txBody>
          </p:sp>
          <p:cxnSp>
            <p:nvCxnSpPr>
              <p:cNvPr id="8" name="直接连接符 7">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9" name="矩形 20">
                <a:extLst/>
              </p:cNvPr>
              <p:cNvSpPr>
                <a:spLocks noChangeArrowheads="1"/>
              </p:cNvSpPr>
              <p:nvPr/>
            </p:nvSpPr>
            <p:spPr bwMode="auto">
              <a:xfrm>
                <a:off x="506334" y="3461621"/>
                <a:ext cx="574658"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ONE</a:t>
                </a:r>
                <a:endParaRPr lang="zh-CN" altLang="en-US" sz="1200">
                  <a:latin typeface="+mn-lt"/>
                  <a:ea typeface="+mn-ea"/>
                  <a:cs typeface="+mn-ea"/>
                  <a:sym typeface="+mn-lt"/>
                </a:endParaRPr>
              </a:p>
            </p:txBody>
          </p:sp>
        </p:grpSp>
      </p:grpSp>
      <p:grpSp>
        <p:nvGrpSpPr>
          <p:cNvPr id="23556" name="组合 17"/>
          <p:cNvGrpSpPr>
            <a:grpSpLocks/>
          </p:cNvGrpSpPr>
          <p:nvPr/>
        </p:nvGrpSpPr>
        <p:grpSpPr bwMode="auto">
          <a:xfrm>
            <a:off x="1343025" y="765175"/>
            <a:ext cx="10628313" cy="4402138"/>
            <a:chOff x="170987" y="2984657"/>
            <a:chExt cx="9768408" cy="3510340"/>
          </a:xfrm>
        </p:grpSpPr>
        <p:sp>
          <p:nvSpPr>
            <p:cNvPr id="21" name="矩形 20">
              <a:extLst/>
            </p:cNvPr>
            <p:cNvSpPr/>
            <p:nvPr/>
          </p:nvSpPr>
          <p:spPr>
            <a:xfrm>
              <a:off x="170987" y="2984657"/>
              <a:ext cx="9768408" cy="351034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kern="0">
                <a:solidFill>
                  <a:sysClr val="windowText" lastClr="000000"/>
                </a:solidFill>
                <a:cs typeface="+mn-ea"/>
                <a:sym typeface="+mn-lt"/>
              </a:endParaRPr>
            </a:p>
          </p:txBody>
        </p:sp>
        <p:sp>
          <p:nvSpPr>
            <p:cNvPr id="23" name="矩形 22">
              <a:extLst/>
            </p:cNvPr>
            <p:cNvSpPr/>
            <p:nvPr/>
          </p:nvSpPr>
          <p:spPr>
            <a:xfrm>
              <a:off x="5187236" y="3342907"/>
              <a:ext cx="4153945" cy="2650604"/>
            </a:xfrm>
            <a:prstGeom prst="rect">
              <a:avLst/>
            </a:prstGeom>
          </p:spPr>
          <p:txBody>
            <a:bodyPr>
              <a:spAutoFit/>
            </a:bodyPr>
            <a:lstStyle/>
            <a:p>
              <a:pPr marL="285750" indent="-285750" eaLnBrk="1" fontAlgn="auto" hangingPunct="1">
                <a:lnSpc>
                  <a:spcPct val="150000"/>
                </a:lnSpc>
                <a:spcBef>
                  <a:spcPts val="0"/>
                </a:spcBef>
                <a:spcAft>
                  <a:spcPts val="0"/>
                </a:spcAft>
                <a:buFont typeface="Arial" panose="020B0604020202020204" pitchFamily="34" charset="0"/>
                <a:buChar char="•"/>
                <a:defRPr/>
              </a:pPr>
              <a:r>
                <a:rPr lang="zh-CN" altLang="en-US" sz="1400" kern="0">
                  <a:solidFill>
                    <a:srgbClr val="4F4F4F"/>
                  </a:solidFill>
                  <a:latin typeface="+mn-lt"/>
                  <a:ea typeface="+mn-ea"/>
                  <a:cs typeface="+mn-ea"/>
                  <a:sym typeface="+mn-lt"/>
                </a:rPr>
                <a:t>高血压会损害肾脏机能</a:t>
              </a:r>
              <a:endParaRPr lang="en-US" altLang="zh-CN" sz="1400" kern="0">
                <a:solidFill>
                  <a:srgbClr val="4F4F4F"/>
                </a:solidFill>
                <a:latin typeface="+mn-lt"/>
                <a:ea typeface="+mn-ea"/>
                <a:cs typeface="+mn-ea"/>
                <a:sym typeface="+mn-lt"/>
              </a:endParaRPr>
            </a:p>
            <a:p>
              <a:pPr marL="285750" indent="-285750" eaLnBrk="1" fontAlgn="auto" hangingPunct="1">
                <a:lnSpc>
                  <a:spcPct val="150000"/>
                </a:lnSpc>
                <a:spcBef>
                  <a:spcPts val="0"/>
                </a:spcBef>
                <a:spcAft>
                  <a:spcPts val="0"/>
                </a:spcAft>
                <a:buFont typeface="Arial" panose="020B0604020202020204" pitchFamily="34" charset="0"/>
                <a:buChar char="•"/>
                <a:defRPr/>
              </a:pPr>
              <a:r>
                <a:rPr lang="zh-CN" altLang="en-US" sz="1400" kern="0">
                  <a:solidFill>
                    <a:srgbClr val="4F4F4F"/>
                  </a:solidFill>
                  <a:latin typeface="+mn-lt"/>
                  <a:ea typeface="+mn-ea"/>
                  <a:cs typeface="+mn-ea"/>
                  <a:sym typeface="+mn-lt"/>
                </a:rPr>
                <a:t>长期以来高钠饮食被认为与</a:t>
              </a:r>
              <a:r>
                <a:rPr lang="zh-CN" altLang="en-US" sz="1400" b="1" kern="0">
                  <a:solidFill>
                    <a:srgbClr val="4F4F4F"/>
                  </a:solidFill>
                  <a:latin typeface="+mn-lt"/>
                  <a:ea typeface="+mn-ea"/>
                  <a:cs typeface="+mn-ea"/>
                  <a:sym typeface="+mn-lt"/>
                </a:rPr>
                <a:t>人</a:t>
              </a:r>
              <a:r>
                <a:rPr lang="zh-CN" altLang="en-US" sz="1400" kern="0">
                  <a:solidFill>
                    <a:srgbClr val="4F4F4F"/>
                  </a:solidFill>
                  <a:latin typeface="+mn-lt"/>
                  <a:ea typeface="+mn-ea"/>
                  <a:cs typeface="+mn-ea"/>
                  <a:sym typeface="+mn-lt"/>
                </a:rPr>
                <a:t>高血压有关。</a:t>
              </a:r>
              <a:endParaRPr lang="en-US" altLang="zh-CN" sz="1400" kern="0">
                <a:solidFill>
                  <a:srgbClr val="4F4F4F"/>
                </a:solidFill>
                <a:latin typeface="+mn-lt"/>
                <a:ea typeface="+mn-ea"/>
                <a:cs typeface="+mn-ea"/>
                <a:sym typeface="+mn-lt"/>
              </a:endParaRPr>
            </a:p>
            <a:p>
              <a:pPr marL="285750" indent="-285750" eaLnBrk="1" fontAlgn="auto" hangingPunct="1">
                <a:lnSpc>
                  <a:spcPct val="150000"/>
                </a:lnSpc>
                <a:spcBef>
                  <a:spcPts val="0"/>
                </a:spcBef>
                <a:spcAft>
                  <a:spcPts val="0"/>
                </a:spcAft>
                <a:buFont typeface="Arial" panose="020B0604020202020204" pitchFamily="34" charset="0"/>
                <a:buChar char="•"/>
                <a:defRPr/>
              </a:pPr>
              <a:r>
                <a:rPr lang="zh-CN" altLang="en-US" sz="1400" kern="0">
                  <a:solidFill>
                    <a:srgbClr val="4F4F4F"/>
                  </a:solidFill>
                  <a:latin typeface="+mn-lt"/>
                  <a:ea typeface="+mn-ea"/>
                  <a:cs typeface="+mn-ea"/>
                  <a:sym typeface="+mn-lt"/>
                </a:rPr>
                <a:t>现有研究无一发现高盐份摄入会引起</a:t>
              </a:r>
              <a:r>
                <a:rPr lang="zh-CN" altLang="en-US" sz="1400" b="1" kern="0">
                  <a:solidFill>
                    <a:srgbClr val="4F4F4F"/>
                  </a:solidFill>
                  <a:latin typeface="+mn-lt"/>
                  <a:ea typeface="+mn-ea"/>
                  <a:cs typeface="+mn-ea"/>
                  <a:sym typeface="+mn-lt"/>
                </a:rPr>
                <a:t>猫</a:t>
              </a:r>
              <a:r>
                <a:rPr lang="zh-CN" altLang="en-US" sz="1400" kern="0">
                  <a:solidFill>
                    <a:srgbClr val="4F4F4F"/>
                  </a:solidFill>
                  <a:latin typeface="+mn-lt"/>
                  <a:ea typeface="+mn-ea"/>
                  <a:cs typeface="+mn-ea"/>
                  <a:sym typeface="+mn-lt"/>
                </a:rPr>
                <a:t>高血压。</a:t>
              </a:r>
              <a:endParaRPr lang="en-US" altLang="zh-CN" sz="1400" kern="0">
                <a:solidFill>
                  <a:srgbClr val="4F4F4F"/>
                </a:solidFill>
                <a:latin typeface="+mn-lt"/>
                <a:ea typeface="+mn-ea"/>
                <a:cs typeface="+mn-ea"/>
                <a:sym typeface="+mn-lt"/>
              </a:endParaRPr>
            </a:p>
            <a:p>
              <a:pPr marL="285750" indent="-285750" eaLnBrk="1" fontAlgn="auto" hangingPunct="1">
                <a:lnSpc>
                  <a:spcPct val="150000"/>
                </a:lnSpc>
                <a:spcBef>
                  <a:spcPts val="0"/>
                </a:spcBef>
                <a:spcAft>
                  <a:spcPts val="0"/>
                </a:spcAft>
                <a:buFont typeface="Arial" panose="020B0604020202020204" pitchFamily="34" charset="0"/>
                <a:buChar char="•"/>
                <a:defRPr/>
              </a:pPr>
              <a:r>
                <a:rPr lang="zh-CN" altLang="en-US" sz="1400" kern="0">
                  <a:solidFill>
                    <a:srgbClr val="4F4F4F"/>
                  </a:solidFill>
                  <a:latin typeface="+mn-ea"/>
                  <a:ea typeface="+mn-ea"/>
                  <a:cs typeface="+mn-ea"/>
                  <a:sym typeface="+mn-lt"/>
                </a:rPr>
                <a:t>发现高盐份摄入会引起</a:t>
              </a:r>
              <a:r>
                <a:rPr lang="zh-CN" altLang="en-US" sz="1400" b="1" kern="0">
                  <a:solidFill>
                    <a:srgbClr val="4F4F4F"/>
                  </a:solidFill>
                  <a:latin typeface="+mn-ea"/>
                  <a:ea typeface="+mn-ea"/>
                  <a:cs typeface="+mn-ea"/>
                  <a:sym typeface="+mn-lt"/>
                </a:rPr>
                <a:t>猫</a:t>
              </a:r>
              <a:r>
                <a:rPr lang="zh-CN" altLang="en-US" sz="1400" kern="0">
                  <a:solidFill>
                    <a:srgbClr val="4F4F4F"/>
                  </a:solidFill>
                  <a:latin typeface="+mn-ea"/>
                  <a:ea typeface="+mn-ea"/>
                  <a:cs typeface="+mn-ea"/>
                  <a:sym typeface="+mn-lt"/>
                </a:rPr>
                <a:t>肾机能损伤的研究仅有一个</a:t>
              </a:r>
              <a:r>
                <a:rPr lang="en-US" altLang="zh-CN" sz="1050" kern="0">
                  <a:solidFill>
                    <a:schemeClr val="tx1">
                      <a:lumMod val="75000"/>
                      <a:lumOff val="25000"/>
                    </a:schemeClr>
                  </a:solidFill>
                  <a:latin typeface="+mn-ea"/>
                  <a:ea typeface="+mn-ea"/>
                  <a:cs typeface="+mn-ea"/>
                  <a:sym typeface="+mn-lt"/>
                </a:rPr>
                <a:t>(</a:t>
              </a:r>
              <a:r>
                <a:rPr lang="en-US" altLang="zh-CN" sz="1050">
                  <a:solidFill>
                    <a:schemeClr val="tx1">
                      <a:lumMod val="75000"/>
                      <a:lumOff val="25000"/>
                    </a:schemeClr>
                  </a:solidFill>
                  <a:latin typeface="+mn-ea"/>
                  <a:ea typeface="+mn-ea"/>
                </a:rPr>
                <a:t>Kirk CA et al.2006)</a:t>
              </a:r>
              <a:r>
                <a:rPr lang="en-US" altLang="zh-CN" sz="1050" kern="0">
                  <a:solidFill>
                    <a:schemeClr val="tx1">
                      <a:lumMod val="75000"/>
                      <a:lumOff val="25000"/>
                    </a:schemeClr>
                  </a:solidFill>
                  <a:latin typeface="+mn-ea"/>
                  <a:ea typeface="+mn-ea"/>
                  <a:cs typeface="+mn-ea"/>
                  <a:sym typeface="+mn-lt"/>
                </a:rPr>
                <a:t> </a:t>
              </a:r>
              <a:r>
                <a:rPr lang="zh-CN" altLang="en-US" sz="1400" kern="0">
                  <a:solidFill>
                    <a:srgbClr val="4F4F4F"/>
                  </a:solidFill>
                  <a:latin typeface="+mn-ea"/>
                  <a:ea typeface="+mn-ea"/>
                  <a:cs typeface="+mn-ea"/>
                  <a:sym typeface="+mn-lt"/>
                </a:rPr>
                <a:t>，其结果却无法被后续研究重复。</a:t>
              </a:r>
              <a:r>
                <a:rPr lang="zh-CN" altLang="en-US" sz="1050" kern="0">
                  <a:solidFill>
                    <a:srgbClr val="4F4F4F"/>
                  </a:solidFill>
                  <a:latin typeface="+mn-ea"/>
                  <a:ea typeface="+mn-ea"/>
                  <a:cs typeface="+mn-ea"/>
                  <a:sym typeface="+mn-lt"/>
                </a:rPr>
                <a:t>（</a:t>
              </a:r>
              <a:r>
                <a:rPr lang="en-US" altLang="zh-CN" sz="1050" kern="0">
                  <a:solidFill>
                    <a:srgbClr val="4F4F4F"/>
                  </a:solidFill>
                  <a:latin typeface="+mn-ea"/>
                  <a:ea typeface="+mn-ea"/>
                  <a:cs typeface="+mn-ea"/>
                  <a:sym typeface="+mn-lt"/>
                </a:rPr>
                <a:t>HuiXu et al.2009</a:t>
              </a:r>
              <a:r>
                <a:rPr lang="zh-CN" altLang="en-US" sz="1050" kern="0">
                  <a:solidFill>
                    <a:srgbClr val="4F4F4F"/>
                  </a:solidFill>
                  <a:latin typeface="+mn-ea"/>
                  <a:ea typeface="+mn-ea"/>
                  <a:cs typeface="+mn-ea"/>
                  <a:sym typeface="+mn-lt"/>
                </a:rPr>
                <a:t>，</a:t>
              </a:r>
              <a:r>
                <a:rPr lang="en-US" altLang="zh-CN" sz="1050" kern="0">
                  <a:solidFill>
                    <a:srgbClr val="4F4F4F"/>
                  </a:solidFill>
                  <a:latin typeface="+mn-ea"/>
                  <a:ea typeface="+mn-ea"/>
                  <a:cs typeface="+mn-ea"/>
                  <a:sym typeface="+mn-lt"/>
                </a:rPr>
                <a:t>Reynolds BS et al. 2013 )</a:t>
              </a:r>
            </a:p>
            <a:p>
              <a:pPr eaLnBrk="1" fontAlgn="auto" hangingPunct="1">
                <a:lnSpc>
                  <a:spcPct val="150000"/>
                </a:lnSpc>
                <a:spcBef>
                  <a:spcPts val="0"/>
                </a:spcBef>
                <a:spcAft>
                  <a:spcPts val="0"/>
                </a:spcAft>
                <a:defRPr/>
              </a:pPr>
              <a:endParaRPr lang="en-US" altLang="zh-CN" sz="1400" kern="0">
                <a:solidFill>
                  <a:srgbClr val="4F4F4F"/>
                </a:solidFill>
                <a:latin typeface="+mn-lt"/>
                <a:ea typeface="+mn-ea"/>
                <a:cs typeface="+mn-ea"/>
                <a:sym typeface="+mn-lt"/>
              </a:endParaRPr>
            </a:p>
            <a:p>
              <a:pPr marL="285750" indent="-285750" eaLnBrk="1" fontAlgn="auto" hangingPunct="1">
                <a:lnSpc>
                  <a:spcPct val="150000"/>
                </a:lnSpc>
                <a:spcBef>
                  <a:spcPts val="0"/>
                </a:spcBef>
                <a:spcAft>
                  <a:spcPts val="0"/>
                </a:spcAft>
                <a:buFont typeface="Arial" panose="020B0604020202020204" pitchFamily="34" charset="0"/>
                <a:buChar char="•"/>
                <a:defRPr/>
              </a:pPr>
              <a:r>
                <a:rPr lang="zh-CN" altLang="en-US" sz="1400" kern="0">
                  <a:solidFill>
                    <a:srgbClr val="4F4F4F"/>
                  </a:solidFill>
                  <a:latin typeface="+mn-lt"/>
                  <a:ea typeface="+mn-ea"/>
                  <a:cs typeface="+mn-ea"/>
                  <a:sym typeface="+mn-lt"/>
                </a:rPr>
                <a:t>另研究反而发现：低盐份饮食会造成健康猫钾元素流失，加剧肾病猫</a:t>
              </a:r>
              <a:r>
                <a:rPr lang="en-US" altLang="zh-CN" sz="1400" kern="0">
                  <a:solidFill>
                    <a:srgbClr val="4F4F4F"/>
                  </a:solidFill>
                  <a:latin typeface="+mn-lt"/>
                  <a:ea typeface="+mn-ea"/>
                  <a:cs typeface="+mn-ea"/>
                  <a:sym typeface="+mn-lt"/>
                </a:rPr>
                <a:t>RAAS</a:t>
              </a:r>
              <a:r>
                <a:rPr lang="zh-CN" altLang="en-US" sz="1400" kern="0">
                  <a:solidFill>
                    <a:srgbClr val="4F4F4F"/>
                  </a:solidFill>
                  <a:latin typeface="+mn-lt"/>
                  <a:ea typeface="+mn-ea"/>
                  <a:cs typeface="+mn-ea"/>
                  <a:sym typeface="+mn-lt"/>
                </a:rPr>
                <a:t>相关激素的活跃度，</a:t>
              </a:r>
              <a:r>
                <a:rPr lang="zh-CN" altLang="en-US" sz="1400" b="1" kern="0">
                  <a:solidFill>
                    <a:srgbClr val="C00000"/>
                  </a:solidFill>
                  <a:latin typeface="+mn-lt"/>
                  <a:ea typeface="+mn-ea"/>
                  <a:cs typeface="+mn-ea"/>
                  <a:sym typeface="+mn-lt"/>
                </a:rPr>
                <a:t>低钠搭配低钾有造成潜在肾损伤的可能</a:t>
              </a:r>
              <a:r>
                <a:rPr lang="zh-CN" altLang="en-US" sz="1400" kern="0">
                  <a:solidFill>
                    <a:srgbClr val="C00000"/>
                  </a:solidFill>
                  <a:latin typeface="+mn-lt"/>
                  <a:ea typeface="+mn-ea"/>
                  <a:cs typeface="+mn-ea"/>
                  <a:sym typeface="+mn-lt"/>
                </a:rPr>
                <a:t>。</a:t>
              </a:r>
              <a:endParaRPr lang="zh-CN" altLang="en-US" sz="1600" kern="0">
                <a:solidFill>
                  <a:srgbClr val="C00000"/>
                </a:solidFill>
                <a:latin typeface="+mn-lt"/>
                <a:ea typeface="+mn-ea"/>
                <a:cs typeface="+mn-ea"/>
                <a:sym typeface="+mn-lt"/>
              </a:endParaRPr>
            </a:p>
          </p:txBody>
        </p:sp>
      </p:grpSp>
      <p:sp>
        <p:nvSpPr>
          <p:cNvPr id="23557" name="文本框 9"/>
          <p:cNvSpPr txBox="1">
            <a:spLocks noChangeArrowheads="1"/>
          </p:cNvSpPr>
          <p:nvPr/>
        </p:nvSpPr>
        <p:spPr bwMode="auto">
          <a:xfrm>
            <a:off x="1558925" y="2636838"/>
            <a:ext cx="439261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en-US" altLang="zh-CN" b="1"/>
          </a:p>
          <a:p>
            <a:endParaRPr lang="en-US" altLang="zh-CN" b="1"/>
          </a:p>
        </p:txBody>
      </p:sp>
      <p:sp>
        <p:nvSpPr>
          <p:cNvPr id="23558" name="文本框 11"/>
          <p:cNvSpPr txBox="1">
            <a:spLocks noChangeArrowheads="1"/>
          </p:cNvSpPr>
          <p:nvPr/>
        </p:nvSpPr>
        <p:spPr bwMode="auto">
          <a:xfrm>
            <a:off x="1457325" y="2549525"/>
            <a:ext cx="41338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2" name="文本框 1"/>
          <p:cNvSpPr txBox="1"/>
          <p:nvPr/>
        </p:nvSpPr>
        <p:spPr>
          <a:xfrm>
            <a:off x="1457325" y="4667250"/>
            <a:ext cx="5343525" cy="400050"/>
          </a:xfrm>
          <a:prstGeom prst="rect">
            <a:avLst/>
          </a:prstGeom>
          <a:noFill/>
        </p:spPr>
        <p:txBody>
          <a:bodyPr>
            <a:spAutoFit/>
          </a:bodyPr>
          <a:lstStyle/>
          <a:p>
            <a:pPr>
              <a:defRPr/>
            </a:pPr>
            <a:r>
              <a:rPr lang="en-US" altLang="zh-CN" sz="1000">
                <a:latin typeface="+mn-ea"/>
                <a:ea typeface="+mn-ea"/>
              </a:rPr>
              <a:t>《Effects of dietary sodium chloride intake on renal function and blood pressure in cats with normal and reduced renal function》 Chollada Buranakarl et al.2004</a:t>
            </a:r>
            <a:endParaRPr lang="zh-CN" altLang="en-US" sz="1000">
              <a:latin typeface="+mn-ea"/>
              <a:ea typeface="+mn-ea"/>
            </a:endParaRPr>
          </a:p>
        </p:txBody>
      </p:sp>
      <p:pic>
        <p:nvPicPr>
          <p:cNvPr id="23560" name="图片 1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55750" y="1487488"/>
            <a:ext cx="4251325" cy="852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1" name="文本框 14"/>
          <p:cNvSpPr txBox="1">
            <a:spLocks noChangeArrowheads="1"/>
          </p:cNvSpPr>
          <p:nvPr/>
        </p:nvSpPr>
        <p:spPr bwMode="auto">
          <a:xfrm>
            <a:off x="2495550" y="1165225"/>
            <a:ext cx="3744913"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200" b="1"/>
              <a:t>LS:</a:t>
            </a:r>
            <a:r>
              <a:rPr lang="zh-CN" altLang="en-US" sz="1200" b="1"/>
              <a:t>低盐 </a:t>
            </a:r>
            <a:r>
              <a:rPr lang="en-US" altLang="zh-CN" sz="1200" b="1"/>
              <a:t>MS</a:t>
            </a:r>
            <a:r>
              <a:rPr lang="zh-CN" altLang="en-US" sz="1200" b="1"/>
              <a:t>：中等盐 </a:t>
            </a:r>
            <a:r>
              <a:rPr lang="en-US" altLang="zh-CN" sz="1200" b="1"/>
              <a:t>HS</a:t>
            </a:r>
            <a:r>
              <a:rPr lang="zh-CN" altLang="en-US" sz="1200" b="1"/>
              <a:t>：高盐</a:t>
            </a:r>
            <a:endParaRPr lang="en-US" altLang="zh-CN" sz="1200" b="1"/>
          </a:p>
        </p:txBody>
      </p:sp>
      <p:sp>
        <p:nvSpPr>
          <p:cNvPr id="16" name="文本框 15"/>
          <p:cNvSpPr txBox="1"/>
          <p:nvPr/>
        </p:nvSpPr>
        <p:spPr>
          <a:xfrm>
            <a:off x="2382838" y="2359025"/>
            <a:ext cx="3000375" cy="254000"/>
          </a:xfrm>
          <a:prstGeom prst="rect">
            <a:avLst/>
          </a:prstGeom>
          <a:noFill/>
        </p:spPr>
        <p:txBody>
          <a:bodyPr>
            <a:spAutoFit/>
          </a:bodyPr>
          <a:lstStyle/>
          <a:p>
            <a:pPr>
              <a:defRPr/>
            </a:pPr>
            <a:r>
              <a:rPr lang="zh-CN" altLang="en-US" sz="1050">
                <a:solidFill>
                  <a:srgbClr val="C00000"/>
                </a:solidFill>
                <a:latin typeface="微软雅黑" panose="020B0503020204020204" pitchFamily="34" charset="-122"/>
                <a:ea typeface="微软雅黑" panose="020B0503020204020204" pitchFamily="34" charset="-122"/>
              </a:rPr>
              <a:t>数倍的盐份差异未造成健康猫或肾猫血压波动</a:t>
            </a:r>
          </a:p>
        </p:txBody>
      </p:sp>
      <p:pic>
        <p:nvPicPr>
          <p:cNvPr id="23563" name="图片 1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457325" y="2641600"/>
            <a:ext cx="4649788"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文本框 18"/>
          <p:cNvSpPr txBox="1"/>
          <p:nvPr/>
        </p:nvSpPr>
        <p:spPr>
          <a:xfrm>
            <a:off x="2781300" y="3309938"/>
            <a:ext cx="2203450" cy="254000"/>
          </a:xfrm>
          <a:prstGeom prst="rect">
            <a:avLst/>
          </a:prstGeom>
          <a:noFill/>
        </p:spPr>
        <p:txBody>
          <a:bodyPr>
            <a:spAutoFit/>
          </a:bodyPr>
          <a:lstStyle/>
          <a:p>
            <a:pPr>
              <a:defRPr/>
            </a:pPr>
            <a:r>
              <a:rPr lang="zh-CN" altLang="en-US" sz="1050">
                <a:solidFill>
                  <a:srgbClr val="C00000"/>
                </a:solidFill>
                <a:latin typeface="微软雅黑" panose="020B0503020204020204" pitchFamily="34" charset="-122"/>
                <a:ea typeface="微软雅黑" panose="020B0503020204020204" pitchFamily="34" charset="-122"/>
              </a:rPr>
              <a:t>低盐组钾排出量最多</a:t>
            </a:r>
          </a:p>
        </p:txBody>
      </p:sp>
      <p:pic>
        <p:nvPicPr>
          <p:cNvPr id="23565" name="图片 21"/>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555750" y="3627438"/>
            <a:ext cx="4551363"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文本框 23"/>
          <p:cNvSpPr txBox="1"/>
          <p:nvPr/>
        </p:nvSpPr>
        <p:spPr>
          <a:xfrm>
            <a:off x="1785938" y="4305300"/>
            <a:ext cx="4321175" cy="254000"/>
          </a:xfrm>
          <a:prstGeom prst="rect">
            <a:avLst/>
          </a:prstGeom>
          <a:noFill/>
        </p:spPr>
        <p:txBody>
          <a:bodyPr>
            <a:spAutoFit/>
          </a:bodyPr>
          <a:lstStyle/>
          <a:p>
            <a:pPr>
              <a:defRPr/>
            </a:pPr>
            <a:r>
              <a:rPr lang="zh-CN" altLang="en-US" sz="1050">
                <a:solidFill>
                  <a:srgbClr val="C00000"/>
                </a:solidFill>
                <a:latin typeface="微软雅黑" panose="020B0503020204020204" pitchFamily="34" charset="-122"/>
                <a:ea typeface="微软雅黑" panose="020B0503020204020204" pitchFamily="34" charset="-122"/>
              </a:rPr>
              <a:t>肾病猫低盐时醛甾酮分泌更多，</a:t>
            </a:r>
            <a:r>
              <a:rPr lang="en-US" altLang="zh-CN" sz="1050">
                <a:solidFill>
                  <a:srgbClr val="C00000"/>
                </a:solidFill>
                <a:latin typeface="微软雅黑" panose="020B0503020204020204" pitchFamily="34" charset="-122"/>
                <a:ea typeface="微软雅黑" panose="020B0503020204020204" pitchFamily="34" charset="-122"/>
              </a:rPr>
              <a:t>RAAS</a:t>
            </a:r>
            <a:r>
              <a:rPr lang="zh-CN" altLang="en-US" sz="1050">
                <a:solidFill>
                  <a:srgbClr val="C00000"/>
                </a:solidFill>
                <a:latin typeface="微软雅黑" panose="020B0503020204020204" pitchFamily="34" charset="-122"/>
                <a:ea typeface="微软雅黑" panose="020B0503020204020204" pitchFamily="34" charset="-122"/>
              </a:rPr>
              <a:t>系统更活跃，对肾不利。</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17" name="组合 16">
            <a:extLst/>
          </p:cNvPr>
          <p:cNvGrpSpPr/>
          <p:nvPr/>
        </p:nvGrpSpPr>
        <p:grpSpPr>
          <a:xfrm>
            <a:off x="4866703" y="690833"/>
            <a:ext cx="7320137" cy="1050331"/>
            <a:chOff x="8112223" y="330678"/>
            <a:chExt cx="4194115" cy="1050331"/>
          </a:xfrm>
          <a:effectLst>
            <a:outerShdw blurRad="50800" dist="38100" dir="5400000" algn="t" rotWithShape="0">
              <a:prstClr val="black">
                <a:alpha val="40000"/>
              </a:prstClr>
            </a:outerShdw>
          </a:effectLst>
        </p:grpSpPr>
        <p:sp>
          <p:nvSpPr>
            <p:cNvPr id="4"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5" name="组合 22">
              <a:extLst/>
            </p:cNvPr>
            <p:cNvGrpSpPr>
              <a:grpSpLocks/>
            </p:cNvGrpSpPr>
            <p:nvPr/>
          </p:nvGrpSpPr>
          <p:grpSpPr bwMode="auto">
            <a:xfrm>
              <a:off x="8281096" y="330678"/>
              <a:ext cx="3829412" cy="1050331"/>
              <a:chOff x="-461843" y="2729730"/>
              <a:chExt cx="4510539" cy="1468739"/>
            </a:xfrm>
          </p:grpSpPr>
          <p:sp>
            <p:nvSpPr>
              <p:cNvPr id="6"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7" name="文本框 14">
                <a:extLst/>
              </p:cNvPr>
              <p:cNvSpPr txBox="1">
                <a:spLocks noChangeArrowheads="1"/>
              </p:cNvSpPr>
              <p:nvPr/>
            </p:nvSpPr>
            <p:spPr bwMode="auto">
              <a:xfrm>
                <a:off x="1185870" y="2907323"/>
                <a:ext cx="2862826" cy="1291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1600" b="1">
                    <a:solidFill>
                      <a:srgbClr val="010101"/>
                    </a:solidFill>
                    <a:latin typeface="+mj-ea"/>
                    <a:ea typeface="+mj-ea"/>
                    <a:cs typeface="+mn-ea"/>
                    <a:sym typeface="+mn-lt"/>
                  </a:rPr>
                  <a:t>猫肾病是什么？</a:t>
                </a:r>
                <a:endParaRPr lang="en-US" altLang="zh-CN" sz="1600" b="1">
                  <a:solidFill>
                    <a:srgbClr val="010101"/>
                  </a:solidFill>
                  <a:latin typeface="+mj-ea"/>
                  <a:ea typeface="+mj-ea"/>
                  <a:cs typeface="+mn-ea"/>
                  <a:sym typeface="+mn-lt"/>
                </a:endParaRPr>
              </a:p>
              <a:p>
                <a:pPr eaLnBrk="1" hangingPunct="1">
                  <a:lnSpc>
                    <a:spcPct val="150000"/>
                  </a:lnSpc>
                  <a:spcBef>
                    <a:spcPct val="0"/>
                  </a:spcBef>
                  <a:buFontTx/>
                  <a:buNone/>
                  <a:defRPr/>
                </a:pPr>
                <a:r>
                  <a:rPr lang="zh-CN" altLang="en-US" sz="2000" b="1">
                    <a:solidFill>
                      <a:schemeClr val="tx2">
                        <a:lumMod val="75000"/>
                      </a:schemeClr>
                    </a:solidFill>
                    <a:latin typeface="微软雅黑" panose="020B0503020204020204" pitchFamily="34" charset="-122"/>
                    <a:ea typeface="微软雅黑" panose="020B0503020204020204" pitchFamily="34" charset="-122"/>
                    <a:cs typeface="+mn-ea"/>
                    <a:sym typeface="+mn-lt"/>
                  </a:rPr>
                  <a:t>猫慢性肾病危险因素？</a:t>
                </a:r>
                <a:endParaRPr lang="en-US" altLang="zh-CN" sz="2000" b="1">
                  <a:solidFill>
                    <a:schemeClr val="tx2">
                      <a:lumMod val="75000"/>
                    </a:schemeClr>
                  </a:solidFill>
                  <a:latin typeface="微软雅黑" panose="020B0503020204020204" pitchFamily="34" charset="-122"/>
                  <a:ea typeface="微软雅黑" panose="020B0503020204020204" pitchFamily="34" charset="-122"/>
                  <a:cs typeface="+mn-ea"/>
                  <a:sym typeface="+mn-lt"/>
                </a:endParaRPr>
              </a:p>
            </p:txBody>
          </p:sp>
          <p:cxnSp>
            <p:nvCxnSpPr>
              <p:cNvPr id="8" name="直接连接符 7">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9" name="矩形 20">
                <a:extLst/>
              </p:cNvPr>
              <p:cNvSpPr>
                <a:spLocks noChangeArrowheads="1"/>
              </p:cNvSpPr>
              <p:nvPr/>
            </p:nvSpPr>
            <p:spPr bwMode="auto">
              <a:xfrm>
                <a:off x="506334" y="3461619"/>
                <a:ext cx="58980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ONE</a:t>
                </a:r>
                <a:endParaRPr lang="zh-CN" altLang="en-US" sz="1200">
                  <a:latin typeface="+mn-lt"/>
                  <a:ea typeface="+mn-ea"/>
                  <a:cs typeface="+mn-ea"/>
                  <a:sym typeface="+mn-lt"/>
                </a:endParaRPr>
              </a:p>
            </p:txBody>
          </p:sp>
        </p:grpSp>
      </p:grpSp>
      <p:sp>
        <p:nvSpPr>
          <p:cNvPr id="2" name="文本框 1"/>
          <p:cNvSpPr txBox="1"/>
          <p:nvPr/>
        </p:nvSpPr>
        <p:spPr>
          <a:xfrm>
            <a:off x="1416050" y="2970213"/>
            <a:ext cx="8742363" cy="3508375"/>
          </a:xfrm>
          <a:prstGeom prst="rect">
            <a:avLst/>
          </a:prstGeom>
          <a:noFill/>
        </p:spPr>
        <p:txBody>
          <a:bodyPr>
            <a:spAutoFit/>
          </a:bodyPr>
          <a:lstStyle/>
          <a:p>
            <a:pPr>
              <a:defRPr/>
            </a:pPr>
            <a:r>
              <a:rPr lang="zh-CN" altLang="en-US" sz="2400" b="1">
                <a:solidFill>
                  <a:schemeClr val="bg1"/>
                </a:solidFill>
                <a:effectLst>
                  <a:outerShdw blurRad="38100" dist="38100" dir="2700000" algn="tl">
                    <a:srgbClr val="000000">
                      <a:alpha val="43137"/>
                    </a:srgbClr>
                  </a:outerShdw>
                </a:effectLst>
                <a:latin typeface="+mn-ea"/>
                <a:ea typeface="+mn-ea"/>
              </a:rPr>
              <a:t>“</a:t>
            </a:r>
            <a:r>
              <a:rPr lang="en-US" altLang="zh-CN" sz="2400" b="1">
                <a:solidFill>
                  <a:schemeClr val="bg1"/>
                </a:solidFill>
                <a:effectLst>
                  <a:outerShdw blurRad="38100" dist="38100" dir="2700000" algn="tl">
                    <a:srgbClr val="000000">
                      <a:alpha val="43137"/>
                    </a:srgbClr>
                  </a:outerShdw>
                </a:effectLst>
                <a:latin typeface="+mn-ea"/>
                <a:ea typeface="+mn-ea"/>
              </a:rPr>
              <a:t>Results of our study suggest there is no single risk factor, exposure, or predictor that can explain development of CKD in cats and therefore cumulative effects of multiple risk factors and interactive factors should be considered. Cumulative exposure to risk factors in certain possibly genetically predisposed cats may contribute to a decrease in renal function.</a:t>
            </a:r>
            <a:r>
              <a:rPr lang="zh-CN" altLang="en-US" sz="2400" b="1">
                <a:solidFill>
                  <a:schemeClr val="bg1"/>
                </a:solidFill>
                <a:effectLst>
                  <a:outerShdw blurRad="38100" dist="38100" dir="2700000" algn="tl">
                    <a:srgbClr val="000000">
                      <a:alpha val="43137"/>
                    </a:srgbClr>
                  </a:outerShdw>
                </a:effectLst>
                <a:latin typeface="+mn-ea"/>
                <a:ea typeface="+mn-ea"/>
              </a:rPr>
              <a:t>”</a:t>
            </a:r>
            <a:endParaRPr lang="en-US" altLang="zh-CN" sz="2400" b="1">
              <a:solidFill>
                <a:schemeClr val="bg1"/>
              </a:solidFill>
              <a:effectLst>
                <a:outerShdw blurRad="38100" dist="38100" dir="2700000" algn="tl">
                  <a:srgbClr val="000000">
                    <a:alpha val="43137"/>
                  </a:srgbClr>
                </a:outerShdw>
              </a:effectLst>
              <a:latin typeface="+mn-ea"/>
              <a:ea typeface="+mn-ea"/>
            </a:endParaRPr>
          </a:p>
          <a:p>
            <a:pPr>
              <a:defRPr/>
            </a:pPr>
            <a:r>
              <a:rPr lang="en-US" altLang="zh-CN" b="1">
                <a:solidFill>
                  <a:schemeClr val="bg1"/>
                </a:solidFill>
                <a:effectLst>
                  <a:outerShdw blurRad="38100" dist="38100" dir="2700000" algn="tl">
                    <a:srgbClr val="000000">
                      <a:alpha val="43137"/>
                    </a:srgbClr>
                  </a:outerShdw>
                </a:effectLst>
                <a:latin typeface="+mn-ea"/>
                <a:ea typeface="+mn-ea"/>
              </a:rPr>
              <a:t>         </a:t>
            </a:r>
          </a:p>
          <a:p>
            <a:pPr>
              <a:defRPr/>
            </a:pPr>
            <a:r>
              <a:rPr lang="en-US" altLang="zh-CN" b="1">
                <a:solidFill>
                  <a:schemeClr val="bg1"/>
                </a:solidFill>
                <a:effectLst>
                  <a:outerShdw blurRad="38100" dist="38100" dir="2700000" algn="tl">
                    <a:srgbClr val="000000">
                      <a:alpha val="43137"/>
                    </a:srgbClr>
                  </a:outerShdw>
                </a:effectLst>
                <a:latin typeface="+mn-ea"/>
                <a:ea typeface="+mn-ea"/>
              </a:rPr>
              <a:t>——《Risk factors for development of chronic kidney disease in cats 》Finch NC et al. 2016</a:t>
            </a:r>
            <a:endParaRPr lang="zh-CN" altLang="en-US" b="1">
              <a:solidFill>
                <a:schemeClr val="bg1"/>
              </a:solidFill>
              <a:effectLst>
                <a:outerShdw blurRad="38100" dist="38100" dir="2700000" algn="tl">
                  <a:srgbClr val="000000">
                    <a:alpha val="43137"/>
                  </a:srgbClr>
                </a:outerShdw>
              </a:effectLst>
              <a:latin typeface="+mn-ea"/>
              <a:ea typeface="+mn-ea"/>
            </a:endParaRPr>
          </a:p>
        </p:txBody>
      </p:sp>
      <p:sp>
        <p:nvSpPr>
          <p:cNvPr id="3" name="矩形 2"/>
          <p:cNvSpPr/>
          <p:nvPr/>
        </p:nvSpPr>
        <p:spPr>
          <a:xfrm>
            <a:off x="1512888" y="2117725"/>
            <a:ext cx="6356350" cy="461963"/>
          </a:xfrm>
          <a:prstGeom prst="rect">
            <a:avLst/>
          </a:prstGeom>
        </p:spPr>
        <p:txBody>
          <a:bodyPr wrap="none">
            <a:spAutoFit/>
          </a:bodyPr>
          <a:lstStyle/>
          <a:p>
            <a:pPr algn="ctr" eaLnBrk="1" fontAlgn="auto" hangingPunct="1">
              <a:spcAft>
                <a:spcPts val="0"/>
              </a:spcAft>
              <a:defRPr/>
            </a:pPr>
            <a:r>
              <a:rPr lang="zh-CN" altLang="en-US" sz="2400" b="1" kern="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为什么我的猫会得慢性肾病？</a:t>
            </a:r>
            <a:r>
              <a:rPr lang="en-US" altLang="zh-CN" sz="2000" b="1" kern="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 </a:t>
            </a:r>
            <a:r>
              <a:rPr lang="zh-CN" altLang="en-US" sz="2000" b="1" kern="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并没有人知道</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17" name="组合 16">
            <a:extLst/>
          </p:cNvPr>
          <p:cNvGrpSpPr/>
          <p:nvPr/>
        </p:nvGrpSpPr>
        <p:grpSpPr>
          <a:xfrm>
            <a:off x="4866703" y="690835"/>
            <a:ext cx="7320137" cy="1035879"/>
            <a:chOff x="8112223" y="330680"/>
            <a:chExt cx="4194115" cy="1035879"/>
          </a:xfrm>
          <a:effectLst>
            <a:outerShdw blurRad="50800" dist="38100" dir="5400000" algn="t" rotWithShape="0">
              <a:prstClr val="black">
                <a:alpha val="40000"/>
              </a:prstClr>
            </a:outerShdw>
          </a:effectLst>
        </p:grpSpPr>
        <p:sp>
          <p:nvSpPr>
            <p:cNvPr id="4"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5" name="组合 22">
              <a:extLst/>
            </p:cNvPr>
            <p:cNvGrpSpPr>
              <a:grpSpLocks/>
            </p:cNvGrpSpPr>
            <p:nvPr/>
          </p:nvGrpSpPr>
          <p:grpSpPr bwMode="auto">
            <a:xfrm>
              <a:off x="8281096" y="330680"/>
              <a:ext cx="3768353" cy="997315"/>
              <a:chOff x="-461843" y="2729730"/>
              <a:chExt cx="4438620" cy="1394602"/>
            </a:xfrm>
          </p:grpSpPr>
          <p:sp>
            <p:nvSpPr>
              <p:cNvPr id="6"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7" name="文本框 14">
                <a:extLst/>
              </p:cNvPr>
              <p:cNvSpPr txBox="1">
                <a:spLocks noChangeArrowheads="1"/>
              </p:cNvSpPr>
              <p:nvPr/>
            </p:nvSpPr>
            <p:spPr bwMode="auto">
              <a:xfrm>
                <a:off x="1113951" y="2833187"/>
                <a:ext cx="2862826" cy="1291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1200" b="1">
                    <a:solidFill>
                      <a:schemeClr val="tx2">
                        <a:lumMod val="75000"/>
                      </a:schemeClr>
                    </a:solidFill>
                    <a:latin typeface="微软雅黑" panose="020B0503020204020204" pitchFamily="34" charset="-122"/>
                    <a:ea typeface="微软雅黑" panose="020B0503020204020204" pitchFamily="34" charset="-122"/>
                    <a:cs typeface="+mn-ea"/>
                    <a:sym typeface="+mn-lt"/>
                  </a:rPr>
                  <a:t>第一部份终章</a:t>
                </a:r>
                <a:endParaRPr lang="en-US" altLang="zh-CN" sz="1200" b="1">
                  <a:solidFill>
                    <a:schemeClr val="tx2">
                      <a:lumMod val="75000"/>
                    </a:schemeClr>
                  </a:solidFill>
                  <a:latin typeface="微软雅黑" panose="020B0503020204020204" pitchFamily="34" charset="-122"/>
                  <a:ea typeface="微软雅黑" panose="020B0503020204020204" pitchFamily="34" charset="-122"/>
                  <a:cs typeface="+mn-ea"/>
                  <a:sym typeface="+mn-lt"/>
                </a:endParaRPr>
              </a:p>
              <a:p>
                <a:pPr eaLnBrk="1" hangingPunct="1">
                  <a:lnSpc>
                    <a:spcPct val="150000"/>
                  </a:lnSpc>
                  <a:spcBef>
                    <a:spcPct val="0"/>
                  </a:spcBef>
                  <a:buFontTx/>
                  <a:buNone/>
                  <a:defRPr/>
                </a:pPr>
                <a:r>
                  <a:rPr lang="zh-CN" altLang="en-US" sz="2400" b="1">
                    <a:solidFill>
                      <a:schemeClr val="tx2">
                        <a:lumMod val="75000"/>
                      </a:schemeClr>
                    </a:solidFill>
                    <a:latin typeface="微软雅黑" panose="020B0503020204020204" pitchFamily="34" charset="-122"/>
                    <a:ea typeface="微软雅黑" panose="020B0503020204020204" pitchFamily="34" charset="-122"/>
                    <a:cs typeface="+mn-ea"/>
                    <a:sym typeface="+mn-lt"/>
                  </a:rPr>
                  <a:t>猫慢性肾病就不能预防吗？</a:t>
                </a:r>
                <a:endParaRPr lang="en-US" altLang="zh-CN" sz="2400" b="1">
                  <a:solidFill>
                    <a:schemeClr val="tx2">
                      <a:lumMod val="75000"/>
                    </a:schemeClr>
                  </a:solidFill>
                  <a:latin typeface="微软雅黑" panose="020B0503020204020204" pitchFamily="34" charset="-122"/>
                  <a:ea typeface="微软雅黑" panose="020B0503020204020204" pitchFamily="34" charset="-122"/>
                  <a:cs typeface="+mn-ea"/>
                  <a:sym typeface="+mn-lt"/>
                </a:endParaRPr>
              </a:p>
            </p:txBody>
          </p:sp>
          <p:cxnSp>
            <p:nvCxnSpPr>
              <p:cNvPr id="8" name="直接连接符 7">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9" name="矩形 20">
                <a:extLst/>
              </p:cNvPr>
              <p:cNvSpPr>
                <a:spLocks noChangeArrowheads="1"/>
              </p:cNvSpPr>
              <p:nvPr/>
            </p:nvSpPr>
            <p:spPr bwMode="auto">
              <a:xfrm>
                <a:off x="506334" y="3461619"/>
                <a:ext cx="58980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ONE</a:t>
                </a:r>
                <a:endParaRPr lang="zh-CN" altLang="en-US" sz="1200">
                  <a:latin typeface="+mn-lt"/>
                  <a:ea typeface="+mn-ea"/>
                  <a:cs typeface="+mn-ea"/>
                  <a:sym typeface="+mn-lt"/>
                </a:endParaRPr>
              </a:p>
            </p:txBody>
          </p:sp>
        </p:grpSp>
      </p:grpSp>
      <p:sp>
        <p:nvSpPr>
          <p:cNvPr id="21" name="流程图: 过程 20">
            <a:extLst/>
          </p:cNvPr>
          <p:cNvSpPr/>
          <p:nvPr/>
        </p:nvSpPr>
        <p:spPr bwMode="auto">
          <a:xfrm>
            <a:off x="242888" y="1846263"/>
            <a:ext cx="11664950" cy="2414587"/>
          </a:xfrm>
          <a:prstGeom prst="flowChartProcess">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kern="0">
              <a:solidFill>
                <a:sysClr val="windowText" lastClr="000000"/>
              </a:solidFill>
              <a:cs typeface="+mn-ea"/>
              <a:sym typeface="+mn-lt"/>
            </a:endParaRPr>
          </a:p>
        </p:txBody>
      </p:sp>
      <p:sp>
        <p:nvSpPr>
          <p:cNvPr id="22" name="流程图: 过程 21">
            <a:extLst/>
          </p:cNvPr>
          <p:cNvSpPr/>
          <p:nvPr/>
        </p:nvSpPr>
        <p:spPr bwMode="auto">
          <a:xfrm>
            <a:off x="263525" y="4287838"/>
            <a:ext cx="11644313" cy="2249487"/>
          </a:xfrm>
          <a:prstGeom prst="flowChartProcess">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kern="0">
              <a:solidFill>
                <a:sysClr val="windowText" lastClr="000000"/>
              </a:solidFill>
              <a:cs typeface="+mn-ea"/>
              <a:sym typeface="+mn-lt"/>
            </a:endParaRPr>
          </a:p>
        </p:txBody>
      </p:sp>
      <p:sp>
        <p:nvSpPr>
          <p:cNvPr id="2" name="文本框 1"/>
          <p:cNvSpPr txBox="1"/>
          <p:nvPr/>
        </p:nvSpPr>
        <p:spPr>
          <a:xfrm>
            <a:off x="371475" y="1873250"/>
            <a:ext cx="2736850" cy="400110"/>
          </a:xfrm>
          <a:prstGeom prst="rect">
            <a:avLst/>
          </a:prstGeom>
          <a:noFill/>
        </p:spPr>
        <p:txBody>
          <a:bodyPr>
            <a:spAutoFit/>
          </a:bodyPr>
          <a:lstStyle/>
          <a:p>
            <a:pPr marL="342900" indent="-342900">
              <a:buFont typeface="Wingdings" panose="05000000000000000000" pitchFamily="2" charset="2"/>
              <a:buChar char="Ø"/>
              <a:defRPr/>
            </a:pPr>
            <a:r>
              <a:rPr lang="zh-CN" altLang="en-US" sz="2000" b="1">
                <a:solidFill>
                  <a:srgbClr val="FFC000"/>
                </a:solidFill>
                <a:latin typeface="+mj-ea"/>
                <a:ea typeface="+mj-ea"/>
              </a:rPr>
              <a:t>改变生活习惯</a:t>
            </a:r>
          </a:p>
        </p:txBody>
      </p:sp>
      <p:sp>
        <p:nvSpPr>
          <p:cNvPr id="25606" name="文本框 2"/>
          <p:cNvSpPr txBox="1">
            <a:spLocks noChangeArrowheads="1"/>
          </p:cNvSpPr>
          <p:nvPr/>
        </p:nvSpPr>
        <p:spPr bwMode="auto">
          <a:xfrm>
            <a:off x="407988" y="4406900"/>
            <a:ext cx="26638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buFont typeface="Wingdings" panose="05000000000000000000" pitchFamily="2" charset="2"/>
              <a:buChar char="Ø"/>
            </a:pPr>
            <a:r>
              <a:rPr lang="zh-CN" altLang="en-US" sz="2000" b="1">
                <a:solidFill>
                  <a:srgbClr val="FFC000"/>
                </a:solidFill>
                <a:latin typeface="微软雅黑" panose="020B0503020204020204" pitchFamily="34" charset="-122"/>
                <a:ea typeface="微软雅黑" panose="020B0503020204020204" pitchFamily="34" charset="-122"/>
              </a:rPr>
              <a:t>为将来做打算</a:t>
            </a:r>
          </a:p>
        </p:txBody>
      </p:sp>
      <p:sp>
        <p:nvSpPr>
          <p:cNvPr id="10" name="文本框 9"/>
          <p:cNvSpPr txBox="1"/>
          <p:nvPr/>
        </p:nvSpPr>
        <p:spPr>
          <a:xfrm>
            <a:off x="363308" y="2242750"/>
            <a:ext cx="6333981" cy="1754326"/>
          </a:xfrm>
          <a:prstGeom prst="rect">
            <a:avLst/>
          </a:prstGeom>
          <a:noFill/>
        </p:spPr>
        <p:txBody>
          <a:bodyPr wrap="square">
            <a:spAutoFit/>
          </a:bodyPr>
          <a:lstStyle/>
          <a:p>
            <a:pPr marL="285750" indent="-285750">
              <a:buFont typeface="Wingdings" panose="05000000000000000000" pitchFamily="2" charset="2"/>
              <a:buChar char="n"/>
              <a:defRPr/>
            </a:pPr>
            <a:r>
              <a:rPr lang="zh-CN" altLang="en-US">
                <a:solidFill>
                  <a:schemeClr val="bg1"/>
                </a:solidFill>
                <a:latin typeface="+mj-ea"/>
                <a:ea typeface="+mj-ea"/>
              </a:rPr>
              <a:t>注意宠物的口腔环境，预防牙周病</a:t>
            </a:r>
            <a:r>
              <a:rPr lang="en-US" altLang="zh-CN">
                <a:solidFill>
                  <a:schemeClr val="bg1"/>
                </a:solidFill>
                <a:latin typeface="+mj-ea"/>
                <a:ea typeface="+mj-ea"/>
              </a:rPr>
              <a:t>,</a:t>
            </a:r>
            <a:r>
              <a:rPr lang="zh-CN" altLang="en-US">
                <a:solidFill>
                  <a:schemeClr val="bg1"/>
                </a:solidFill>
                <a:latin typeface="+mj-ea"/>
                <a:ea typeface="+mj-ea"/>
              </a:rPr>
              <a:t>尽可能训练刷牙。</a:t>
            </a:r>
            <a:endParaRPr lang="en-US" altLang="zh-CN">
              <a:solidFill>
                <a:schemeClr val="bg1"/>
              </a:solidFill>
              <a:latin typeface="+mj-ea"/>
              <a:ea typeface="+mj-ea"/>
            </a:endParaRPr>
          </a:p>
          <a:p>
            <a:pPr>
              <a:defRPr/>
            </a:pPr>
            <a:endParaRPr lang="en-US" altLang="zh-CN">
              <a:solidFill>
                <a:schemeClr val="bg1"/>
              </a:solidFill>
              <a:latin typeface="+mj-ea"/>
              <a:ea typeface="+mj-ea"/>
            </a:endParaRPr>
          </a:p>
          <a:p>
            <a:pPr marL="285750" indent="-285750">
              <a:buFont typeface="Wingdings" panose="05000000000000000000" pitchFamily="2" charset="2"/>
              <a:buChar char="n"/>
              <a:defRPr/>
            </a:pPr>
            <a:r>
              <a:rPr lang="zh-CN" altLang="en-US">
                <a:solidFill>
                  <a:schemeClr val="bg1"/>
                </a:solidFill>
                <a:latin typeface="+mj-ea"/>
                <a:ea typeface="+mj-ea"/>
              </a:rPr>
              <a:t>给猫，</a:t>
            </a:r>
            <a:r>
              <a:rPr lang="zh-CN" altLang="en-US" b="1">
                <a:solidFill>
                  <a:srgbClr val="C00000"/>
                </a:solidFill>
                <a:effectLst>
                  <a:outerShdw blurRad="38100" dist="38100" dir="2700000" algn="tl">
                    <a:srgbClr val="000000">
                      <a:alpha val="43137"/>
                    </a:srgbClr>
                  </a:outerShdw>
                </a:effectLst>
                <a:latin typeface="+mj-ea"/>
                <a:ea typeface="+mj-ea"/>
              </a:rPr>
              <a:t>尤其是老猫</a:t>
            </a:r>
            <a:r>
              <a:rPr lang="zh-CN" altLang="en-US">
                <a:solidFill>
                  <a:schemeClr val="bg1"/>
                </a:solidFill>
                <a:latin typeface="+mj-ea"/>
                <a:ea typeface="+mj-ea"/>
              </a:rPr>
              <a:t>高蛋白、高水份饮食，尽可能预防下泌尿道疾病，同时可保证猫有充沛的瘦体组织，以抵御疾病，延长寿命</a:t>
            </a:r>
            <a:r>
              <a:rPr lang="zh-CN" altLang="en-US" sz="1000">
                <a:solidFill>
                  <a:schemeClr val="bg1"/>
                </a:solidFill>
                <a:latin typeface="+mj-ea"/>
                <a:ea typeface="+mj-ea"/>
              </a:rPr>
              <a:t>（</a:t>
            </a:r>
            <a:r>
              <a:rPr lang="en-US" altLang="zh-CN" sz="1000">
                <a:solidFill>
                  <a:schemeClr val="bg1"/>
                </a:solidFill>
              </a:rPr>
              <a:t>Cupp CJ et al.2010)</a:t>
            </a:r>
            <a:r>
              <a:rPr lang="zh-CN" altLang="en-US">
                <a:solidFill>
                  <a:schemeClr val="bg1"/>
                </a:solidFill>
                <a:latin typeface="+mj-ea"/>
                <a:ea typeface="+mj-ea"/>
              </a:rPr>
              <a:t>。</a:t>
            </a:r>
            <a:endParaRPr lang="en-US" altLang="zh-CN">
              <a:solidFill>
                <a:schemeClr val="bg1"/>
              </a:solidFill>
              <a:latin typeface="+mj-ea"/>
              <a:ea typeface="+mj-ea"/>
            </a:endParaRPr>
          </a:p>
          <a:p>
            <a:pPr marL="285750" indent="-285750">
              <a:buFont typeface="Wingdings" panose="05000000000000000000" pitchFamily="2" charset="2"/>
              <a:buChar char="n"/>
              <a:defRPr/>
            </a:pPr>
            <a:r>
              <a:rPr lang="zh-CN" altLang="en-US">
                <a:solidFill>
                  <a:schemeClr val="bg1"/>
                </a:solidFill>
                <a:latin typeface="+mj-ea"/>
                <a:ea typeface="+mj-ea"/>
              </a:rPr>
              <a:t>避免高磷低钙的饮食，或磷总量过高的饮食。</a:t>
            </a:r>
          </a:p>
        </p:txBody>
      </p:sp>
      <p:sp>
        <p:nvSpPr>
          <p:cNvPr id="11" name="文本框 10"/>
          <p:cNvSpPr txBox="1"/>
          <p:nvPr/>
        </p:nvSpPr>
        <p:spPr>
          <a:xfrm>
            <a:off x="6817710" y="2201724"/>
            <a:ext cx="4904998" cy="1754326"/>
          </a:xfrm>
          <a:prstGeom prst="rect">
            <a:avLst/>
          </a:prstGeom>
          <a:noFill/>
        </p:spPr>
        <p:txBody>
          <a:bodyPr wrap="square">
            <a:spAutoFit/>
          </a:bodyPr>
          <a:lstStyle/>
          <a:p>
            <a:pPr marL="285750" indent="-285750">
              <a:buFont typeface="Wingdings" panose="05000000000000000000" pitchFamily="2" charset="2"/>
              <a:buChar char="n"/>
              <a:defRPr/>
            </a:pPr>
            <a:r>
              <a:rPr lang="zh-CN" altLang="en-US">
                <a:solidFill>
                  <a:schemeClr val="bg1"/>
                </a:solidFill>
                <a:latin typeface="+mj-ea"/>
                <a:ea typeface="+mj-ea"/>
              </a:rPr>
              <a:t>开始注意猫的热量摄入，预防糖尿病。</a:t>
            </a:r>
            <a:endParaRPr lang="en-US" altLang="zh-CN">
              <a:solidFill>
                <a:schemeClr val="bg1"/>
              </a:solidFill>
              <a:latin typeface="+mj-ea"/>
              <a:ea typeface="+mj-ea"/>
            </a:endParaRPr>
          </a:p>
          <a:p>
            <a:pPr>
              <a:defRPr/>
            </a:pPr>
            <a:endParaRPr lang="en-US" altLang="zh-CN">
              <a:solidFill>
                <a:schemeClr val="bg1"/>
              </a:solidFill>
              <a:latin typeface="+mj-ea"/>
              <a:ea typeface="+mj-ea"/>
            </a:endParaRPr>
          </a:p>
          <a:p>
            <a:pPr marL="285750" indent="-285750">
              <a:buFont typeface="Wingdings" panose="05000000000000000000" pitchFamily="2" charset="2"/>
              <a:buChar char="n"/>
              <a:defRPr/>
            </a:pPr>
            <a:r>
              <a:rPr lang="zh-CN" altLang="en-US">
                <a:solidFill>
                  <a:schemeClr val="bg1"/>
                </a:solidFill>
                <a:latin typeface="+mj-ea"/>
                <a:ea typeface="+mj-ea"/>
              </a:rPr>
              <a:t>务必为宠物进行疫苗注射，但没必要的重复加强应当避免。</a:t>
            </a:r>
            <a:endParaRPr lang="en-US" altLang="zh-CN">
              <a:solidFill>
                <a:schemeClr val="bg1"/>
              </a:solidFill>
              <a:latin typeface="+mj-ea"/>
              <a:ea typeface="+mj-ea"/>
            </a:endParaRPr>
          </a:p>
          <a:p>
            <a:pPr>
              <a:defRPr/>
            </a:pPr>
            <a:endParaRPr lang="en-US" altLang="zh-CN">
              <a:solidFill>
                <a:schemeClr val="bg1"/>
              </a:solidFill>
              <a:latin typeface="+mj-ea"/>
              <a:ea typeface="+mj-ea"/>
            </a:endParaRPr>
          </a:p>
          <a:p>
            <a:pPr marL="285750" indent="-285750">
              <a:buFont typeface="Wingdings" panose="05000000000000000000" pitchFamily="2" charset="2"/>
              <a:buChar char="n"/>
              <a:defRPr/>
            </a:pPr>
            <a:r>
              <a:rPr lang="en-US" altLang="zh-CN">
                <a:solidFill>
                  <a:schemeClr val="bg1"/>
                </a:solidFill>
                <a:latin typeface="+mj-ea"/>
                <a:ea typeface="+mj-ea"/>
              </a:rPr>
              <a:t>Omega6</a:t>
            </a:r>
            <a:r>
              <a:rPr lang="zh-CN" altLang="en-US">
                <a:solidFill>
                  <a:schemeClr val="bg1"/>
                </a:solidFill>
                <a:latin typeface="+mj-ea"/>
                <a:ea typeface="+mj-ea"/>
              </a:rPr>
              <a:t>脂肪酸的过多摄入应注意。</a:t>
            </a:r>
            <a:endParaRPr lang="zh-CN" altLang="en-US">
              <a:solidFill>
                <a:schemeClr val="bg1"/>
              </a:solidFill>
            </a:endParaRPr>
          </a:p>
        </p:txBody>
      </p:sp>
      <p:sp>
        <p:nvSpPr>
          <p:cNvPr id="13" name="文本框 12"/>
          <p:cNvSpPr txBox="1"/>
          <p:nvPr/>
        </p:nvSpPr>
        <p:spPr>
          <a:xfrm>
            <a:off x="551383" y="4951413"/>
            <a:ext cx="4715941" cy="1200329"/>
          </a:xfrm>
          <a:prstGeom prst="rect">
            <a:avLst/>
          </a:prstGeom>
          <a:noFill/>
        </p:spPr>
        <p:txBody>
          <a:bodyPr wrap="square">
            <a:spAutoFit/>
          </a:bodyPr>
          <a:lstStyle/>
          <a:p>
            <a:pPr marL="285750" indent="-285750">
              <a:buFont typeface="Wingdings" panose="05000000000000000000" pitchFamily="2" charset="2"/>
              <a:buChar char="n"/>
              <a:defRPr/>
            </a:pPr>
            <a:r>
              <a:rPr lang="zh-CN" altLang="en-US">
                <a:solidFill>
                  <a:schemeClr val="accent4">
                    <a:lumMod val="60000"/>
                    <a:lumOff val="40000"/>
                  </a:schemeClr>
                </a:solidFill>
                <a:latin typeface="+mj-ea"/>
                <a:ea typeface="+mj-ea"/>
              </a:rPr>
              <a:t>提前结交优秀、相处愉快的兽医师。</a:t>
            </a:r>
            <a:endParaRPr lang="en-US" altLang="zh-CN">
              <a:solidFill>
                <a:schemeClr val="accent4">
                  <a:lumMod val="60000"/>
                  <a:lumOff val="40000"/>
                </a:schemeClr>
              </a:solidFill>
              <a:latin typeface="+mj-ea"/>
              <a:ea typeface="+mj-ea"/>
            </a:endParaRPr>
          </a:p>
          <a:p>
            <a:pPr marL="285750" indent="-285750">
              <a:buFont typeface="Wingdings" panose="05000000000000000000" pitchFamily="2" charset="2"/>
              <a:buChar char="n"/>
              <a:defRPr/>
            </a:pPr>
            <a:endParaRPr lang="en-US" altLang="zh-CN">
              <a:solidFill>
                <a:schemeClr val="accent4">
                  <a:lumMod val="60000"/>
                  <a:lumOff val="40000"/>
                </a:schemeClr>
              </a:solidFill>
              <a:latin typeface="+mj-ea"/>
              <a:ea typeface="+mj-ea"/>
            </a:endParaRPr>
          </a:p>
          <a:p>
            <a:pPr marL="285750" indent="-285750">
              <a:buFont typeface="Wingdings" panose="05000000000000000000" pitchFamily="2" charset="2"/>
              <a:buChar char="n"/>
              <a:defRPr/>
            </a:pPr>
            <a:r>
              <a:rPr lang="zh-CN" altLang="en-US">
                <a:solidFill>
                  <a:schemeClr val="accent4">
                    <a:lumMod val="60000"/>
                    <a:lumOff val="40000"/>
                  </a:schemeClr>
                </a:solidFill>
                <a:latin typeface="+mj-ea"/>
                <a:ea typeface="+mj-ea"/>
              </a:rPr>
              <a:t>熟悉为猫喂药、皮下注射的方法，让猫熟悉就诊环境。</a:t>
            </a:r>
            <a:endParaRPr lang="en-US" altLang="zh-CN">
              <a:solidFill>
                <a:schemeClr val="accent4">
                  <a:lumMod val="60000"/>
                  <a:lumOff val="40000"/>
                </a:schemeClr>
              </a:solidFill>
              <a:latin typeface="+mj-ea"/>
              <a:ea typeface="+mj-ea"/>
            </a:endParaRPr>
          </a:p>
        </p:txBody>
      </p:sp>
      <p:sp>
        <p:nvSpPr>
          <p:cNvPr id="14" name="文本框 13"/>
          <p:cNvSpPr txBox="1"/>
          <p:nvPr/>
        </p:nvSpPr>
        <p:spPr>
          <a:xfrm>
            <a:off x="5953125" y="4951413"/>
            <a:ext cx="5637213" cy="1200150"/>
          </a:xfrm>
          <a:prstGeom prst="rect">
            <a:avLst/>
          </a:prstGeom>
          <a:noFill/>
        </p:spPr>
        <p:txBody>
          <a:bodyPr>
            <a:spAutoFit/>
          </a:bodyPr>
          <a:lstStyle/>
          <a:p>
            <a:pPr marL="285750" indent="-285750">
              <a:buFont typeface="Wingdings" panose="05000000000000000000" pitchFamily="2" charset="2"/>
              <a:buChar char="n"/>
              <a:defRPr/>
            </a:pPr>
            <a:r>
              <a:rPr lang="zh-CN" altLang="en-US">
                <a:solidFill>
                  <a:schemeClr val="accent4">
                    <a:lumMod val="60000"/>
                    <a:lumOff val="40000"/>
                  </a:schemeClr>
                </a:solidFill>
                <a:latin typeface="+mj-ea"/>
                <a:ea typeface="+mj-ea"/>
              </a:rPr>
              <a:t>让猫认识多种饮食，增加今后饮食方面的灵活性。</a:t>
            </a:r>
            <a:endParaRPr lang="en-US" altLang="zh-CN">
              <a:solidFill>
                <a:schemeClr val="accent4">
                  <a:lumMod val="60000"/>
                  <a:lumOff val="40000"/>
                </a:schemeClr>
              </a:solidFill>
              <a:latin typeface="+mj-ea"/>
              <a:ea typeface="+mj-ea"/>
            </a:endParaRPr>
          </a:p>
          <a:p>
            <a:pPr marL="285750" indent="-285750">
              <a:buFont typeface="Wingdings" panose="05000000000000000000" pitchFamily="2" charset="2"/>
              <a:buChar char="n"/>
              <a:defRPr/>
            </a:pPr>
            <a:endParaRPr lang="en-US" altLang="zh-CN">
              <a:solidFill>
                <a:schemeClr val="accent4">
                  <a:lumMod val="60000"/>
                  <a:lumOff val="40000"/>
                </a:schemeClr>
              </a:solidFill>
              <a:latin typeface="+mj-ea"/>
              <a:ea typeface="+mj-ea"/>
            </a:endParaRPr>
          </a:p>
          <a:p>
            <a:pPr marL="285750" indent="-285750">
              <a:buFont typeface="Wingdings" panose="05000000000000000000" pitchFamily="2" charset="2"/>
              <a:buChar char="n"/>
              <a:defRPr/>
            </a:pPr>
            <a:r>
              <a:rPr lang="zh-CN" altLang="en-US">
                <a:solidFill>
                  <a:schemeClr val="accent4">
                    <a:lumMod val="60000"/>
                    <a:lumOff val="40000"/>
                  </a:schemeClr>
                </a:solidFill>
                <a:latin typeface="+mj-ea"/>
                <a:ea typeface="+mj-ea"/>
              </a:rPr>
              <a:t>为猫，尤其老猫每年体检，在家养成给猫</a:t>
            </a:r>
            <a:r>
              <a:rPr lang="en-US" altLang="zh-CN">
                <a:solidFill>
                  <a:schemeClr val="accent4">
                    <a:lumMod val="60000"/>
                    <a:lumOff val="40000"/>
                  </a:schemeClr>
                </a:solidFill>
                <a:latin typeface="+mj-ea"/>
                <a:ea typeface="+mj-ea"/>
              </a:rPr>
              <a:t>3-4</a:t>
            </a:r>
            <a:r>
              <a:rPr lang="zh-CN" altLang="en-US">
                <a:solidFill>
                  <a:schemeClr val="accent4">
                    <a:lumMod val="60000"/>
                    <a:lumOff val="40000"/>
                  </a:schemeClr>
                </a:solidFill>
                <a:latin typeface="+mj-ea"/>
                <a:ea typeface="+mj-ea"/>
              </a:rPr>
              <a:t>周称体重一次的习惯。</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17" name="组合 16">
            <a:extLst/>
          </p:cNvPr>
          <p:cNvGrpSpPr/>
          <p:nvPr/>
        </p:nvGrpSpPr>
        <p:grpSpPr>
          <a:xfrm>
            <a:off x="4871863" y="330679"/>
            <a:ext cx="7320137" cy="1035880"/>
            <a:chOff x="8112223" y="330679"/>
            <a:chExt cx="4194115" cy="1035880"/>
          </a:xfrm>
          <a:effectLst>
            <a:outerShdw blurRad="50800" dist="38100" dir="5400000" algn="t" rotWithShape="0">
              <a:prstClr val="black">
                <a:alpha val="40000"/>
              </a:prstClr>
            </a:outerShdw>
          </a:effectLst>
        </p:grpSpPr>
        <p:sp>
          <p:nvSpPr>
            <p:cNvPr id="4"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5" name="组合 22">
              <a:extLst/>
            </p:cNvPr>
            <p:cNvGrpSpPr>
              <a:grpSpLocks/>
            </p:cNvGrpSpPr>
            <p:nvPr/>
          </p:nvGrpSpPr>
          <p:grpSpPr bwMode="auto">
            <a:xfrm>
              <a:off x="8281096" y="330679"/>
              <a:ext cx="3829412" cy="985057"/>
              <a:chOff x="-461843" y="2729730"/>
              <a:chExt cx="4510539" cy="1377462"/>
            </a:xfrm>
          </p:grpSpPr>
          <p:sp>
            <p:nvSpPr>
              <p:cNvPr id="6"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7" name="文本框 14">
                <a:extLst/>
              </p:cNvPr>
              <p:cNvSpPr txBox="1">
                <a:spLocks noChangeArrowheads="1"/>
              </p:cNvSpPr>
              <p:nvPr/>
            </p:nvSpPr>
            <p:spPr bwMode="auto">
              <a:xfrm>
                <a:off x="1185870" y="3043997"/>
                <a:ext cx="2862826" cy="903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latin typeface="+mn-lt"/>
                    <a:ea typeface="+mn-ea"/>
                    <a:cs typeface="+mn-ea"/>
                    <a:sym typeface="+mn-lt"/>
                  </a:rPr>
                  <a:t>第一部份结束，提问时间</a:t>
                </a:r>
                <a:endParaRPr lang="en-US" altLang="zh-CN" sz="2400" b="1">
                  <a:solidFill>
                    <a:srgbClr val="010101"/>
                  </a:solidFill>
                  <a:latin typeface="+mn-lt"/>
                  <a:ea typeface="+mn-ea"/>
                  <a:cs typeface="+mn-ea"/>
                  <a:sym typeface="+mn-lt"/>
                </a:endParaRPr>
              </a:p>
            </p:txBody>
          </p:sp>
          <p:cxnSp>
            <p:nvCxnSpPr>
              <p:cNvPr id="8" name="直接连接符 7">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9" name="矩形 20">
                <a:extLst/>
              </p:cNvPr>
              <p:cNvSpPr>
                <a:spLocks noChangeArrowheads="1"/>
              </p:cNvSpPr>
              <p:nvPr/>
            </p:nvSpPr>
            <p:spPr bwMode="auto">
              <a:xfrm>
                <a:off x="506334" y="3461619"/>
                <a:ext cx="58980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ONE</a:t>
                </a:r>
                <a:endParaRPr lang="zh-CN" altLang="en-US" sz="1200">
                  <a:latin typeface="+mn-lt"/>
                  <a:ea typeface="+mn-ea"/>
                  <a:cs typeface="+mn-ea"/>
                  <a:sym typeface="+mn-lt"/>
                </a:endParaRPr>
              </a:p>
            </p:txBody>
          </p:sp>
        </p:grpSp>
      </p:grpSp>
      <p:sp>
        <p:nvSpPr>
          <p:cNvPr id="14" name="文本框 66">
            <a:extLst/>
          </p:cNvPr>
          <p:cNvSpPr txBox="1">
            <a:spLocks noChangeArrowheads="1"/>
          </p:cNvSpPr>
          <p:nvPr/>
        </p:nvSpPr>
        <p:spPr bwMode="auto">
          <a:xfrm>
            <a:off x="6751638" y="4005263"/>
            <a:ext cx="38766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spcBef>
                <a:spcPts val="0"/>
              </a:spcBef>
              <a:spcAft>
                <a:spcPts val="0"/>
              </a:spcAft>
              <a:defRPr/>
            </a:pPr>
            <a:r>
              <a:rPr lang="zh-CN" altLang="en-US" sz="2400" b="1" kern="0">
                <a:solidFill>
                  <a:schemeClr val="tx1">
                    <a:lumMod val="95000"/>
                    <a:lumOff val="5000"/>
                  </a:schemeClr>
                </a:solidFill>
                <a:latin typeface="微软雅黑" panose="020B0503020204020204" pitchFamily="34" charset="-122"/>
                <a:ea typeface="微软雅黑" panose="020B0503020204020204" pitchFamily="34" charset="-122"/>
                <a:cs typeface="+mn-ea"/>
                <a:sym typeface="+mn-lt"/>
              </a:rPr>
              <a:t>猫慢性肾病是什么引起的？</a:t>
            </a:r>
          </a:p>
        </p:txBody>
      </p:sp>
      <p:sp>
        <p:nvSpPr>
          <p:cNvPr id="18" name="文本框 66">
            <a:extLst/>
          </p:cNvPr>
          <p:cNvSpPr txBox="1">
            <a:spLocks noChangeArrowheads="1"/>
          </p:cNvSpPr>
          <p:nvPr/>
        </p:nvSpPr>
        <p:spPr bwMode="auto">
          <a:xfrm>
            <a:off x="6748463" y="1793875"/>
            <a:ext cx="42576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spcBef>
                <a:spcPts val="0"/>
              </a:spcBef>
              <a:spcAft>
                <a:spcPts val="0"/>
              </a:spcAft>
              <a:defRPr/>
            </a:pPr>
            <a:r>
              <a:rPr lang="zh-CN" altLang="en-US" sz="2400" b="1" kern="0">
                <a:solidFill>
                  <a:schemeClr val="tx1">
                    <a:lumMod val="95000"/>
                    <a:lumOff val="5000"/>
                  </a:schemeClr>
                </a:solidFill>
                <a:latin typeface="+mn-lt"/>
                <a:ea typeface="+mn-ea"/>
                <a:cs typeface="+mn-ea"/>
                <a:sym typeface="+mn-lt"/>
              </a:rPr>
              <a:t>猫慢性肾病是什么？</a:t>
            </a:r>
          </a:p>
        </p:txBody>
      </p:sp>
      <p:sp>
        <p:nvSpPr>
          <p:cNvPr id="19" name="矩形 18">
            <a:extLst/>
          </p:cNvPr>
          <p:cNvSpPr/>
          <p:nvPr/>
        </p:nvSpPr>
        <p:spPr bwMode="auto">
          <a:xfrm>
            <a:off x="6748463" y="2254250"/>
            <a:ext cx="4498975" cy="1169988"/>
          </a:xfrm>
          <a:prstGeom prst="rect">
            <a:avLst/>
          </a:prstGeom>
        </p:spPr>
        <p:txBody>
          <a:bodyPr>
            <a:spAutoFit/>
          </a:bodyPr>
          <a:lstStyle/>
          <a:p>
            <a:pPr eaLnBrk="1" fontAlgn="auto" hangingPunct="1">
              <a:spcBef>
                <a:spcPts val="0"/>
              </a:spcBef>
              <a:spcAft>
                <a:spcPts val="0"/>
              </a:spcAft>
              <a:defRPr/>
            </a:pPr>
            <a:r>
              <a:rPr lang="zh-CN" altLang="en-US" sz="1400" kern="0">
                <a:solidFill>
                  <a:schemeClr val="tx1">
                    <a:lumMod val="95000"/>
                    <a:lumOff val="5000"/>
                  </a:schemeClr>
                </a:solidFill>
                <a:latin typeface="+mn-ea"/>
                <a:ea typeface="+mn-ea"/>
                <a:cs typeface="+mn-ea"/>
                <a:sym typeface="+mn-lt"/>
              </a:rPr>
              <a:t>所谓慢性肾病（</a:t>
            </a:r>
            <a:r>
              <a:rPr lang="en-US" altLang="zh-CN" sz="1400" kern="0">
                <a:solidFill>
                  <a:schemeClr val="tx1">
                    <a:lumMod val="95000"/>
                    <a:lumOff val="5000"/>
                  </a:schemeClr>
                </a:solidFill>
                <a:latin typeface="+mn-ea"/>
                <a:ea typeface="+mn-ea"/>
                <a:cs typeface="+mn-ea"/>
                <a:sym typeface="+mn-lt"/>
              </a:rPr>
              <a:t>CKD</a:t>
            </a:r>
            <a:r>
              <a:rPr lang="zh-CN" altLang="en-US" sz="1400" kern="0">
                <a:solidFill>
                  <a:schemeClr val="tx1">
                    <a:lumMod val="95000"/>
                    <a:lumOff val="5000"/>
                  </a:schemeClr>
                </a:solidFill>
                <a:latin typeface="+mn-ea"/>
                <a:ea typeface="+mn-ea"/>
                <a:cs typeface="+mn-ea"/>
                <a:sym typeface="+mn-lt"/>
              </a:rPr>
              <a:t>）是一个笼统的概称，包括多种疾病。这一类疾病最终结局都是肾细胞纤维化、丧失机能，但其起因各不相同，各个物种容易得的类型也不同，主要的诱发因素更不被科学界知晓。其中，猫慢性肾病中最常见的是慢性肾间质炎。</a:t>
            </a:r>
          </a:p>
        </p:txBody>
      </p:sp>
      <p:sp>
        <p:nvSpPr>
          <p:cNvPr id="26630" name="文本框 1"/>
          <p:cNvSpPr txBox="1">
            <a:spLocks noChangeArrowheads="1"/>
          </p:cNvSpPr>
          <p:nvPr/>
        </p:nvSpPr>
        <p:spPr bwMode="auto">
          <a:xfrm>
            <a:off x="6748463" y="4467225"/>
            <a:ext cx="4822825"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a:latin typeface="微软雅黑" panose="020B0503020204020204" pitchFamily="34" charset="-122"/>
                <a:ea typeface="微软雅黑" panose="020B0503020204020204" pitchFamily="34" charset="-122"/>
              </a:rPr>
              <a:t>迄今为止，科学界还没有找到一个单独、特定的诱发原因，慢性肾病的</a:t>
            </a:r>
            <a:r>
              <a:rPr lang="zh-CN" altLang="en-US" sz="1400" b="1">
                <a:latin typeface="微软雅黑" panose="020B0503020204020204" pitchFamily="34" charset="-122"/>
                <a:ea typeface="微软雅黑" panose="020B0503020204020204" pitchFamily="34" charset="-122"/>
              </a:rPr>
              <a:t>彻底预防没有可能</a:t>
            </a:r>
            <a:r>
              <a:rPr lang="zh-CN" altLang="en-US" sz="1400">
                <a:latin typeface="微软雅黑" panose="020B0503020204020204" pitchFamily="34" charset="-122"/>
                <a:ea typeface="微软雅黑" panose="020B0503020204020204" pitchFamily="34" charset="-122"/>
              </a:rPr>
              <a:t>。</a:t>
            </a:r>
            <a:endParaRPr lang="en-US" altLang="zh-CN" sz="1400">
              <a:latin typeface="微软雅黑" panose="020B0503020204020204" pitchFamily="34" charset="-122"/>
              <a:ea typeface="微软雅黑" panose="020B0503020204020204" pitchFamily="34" charset="-122"/>
            </a:endParaRPr>
          </a:p>
          <a:p>
            <a:r>
              <a:rPr lang="zh-CN" altLang="en-US" sz="1400">
                <a:latin typeface="微软雅黑" panose="020B0503020204020204" pitchFamily="34" charset="-122"/>
                <a:ea typeface="微软雅黑" panose="020B0503020204020204" pitchFamily="34" charset="-122"/>
              </a:rPr>
              <a:t>从现有文献中可以得到的结论是：猫慢性肾病是多种因素共同作用，包括基因、环境、饮食等引起的一类疾病。主要的危险因素是年龄，此外还有牙周病、严重脱水与麻醉、肾损药物、重复疫苗注射、高磷摄入等；民间流传的高盐与高蛋白饮食引起猫慢性肾病说没有科学证据可言，反之存在文献表示低盐摄入和低蛋白饮食会提高患病风险。</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6" name="箭头: 五边形 6">
            <a:extLst/>
          </p:cNvPr>
          <p:cNvSpPr/>
          <p:nvPr/>
        </p:nvSpPr>
        <p:spPr>
          <a:xfrm rot="10800000">
            <a:off x="5233988" y="3429000"/>
            <a:ext cx="6958012" cy="2822575"/>
          </a:xfrm>
          <a:prstGeom prst="homePlate">
            <a:avLst>
              <a:gd name="adj" fmla="val 32692"/>
            </a:avLst>
          </a:prstGeom>
          <a:solidFill>
            <a:srgbClr val="FFFF00">
              <a:alpha val="6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sp>
        <p:nvSpPr>
          <p:cNvPr id="7" name="箭头: 五边形 6">
            <a:extLst/>
          </p:cNvPr>
          <p:cNvSpPr/>
          <p:nvPr/>
        </p:nvSpPr>
        <p:spPr>
          <a:xfrm rot="10800000">
            <a:off x="6253163" y="3429000"/>
            <a:ext cx="5938837" cy="282257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sp>
        <p:nvSpPr>
          <p:cNvPr id="8" name="箭头: 五边形 6">
            <a:extLst/>
          </p:cNvPr>
          <p:cNvSpPr/>
          <p:nvPr/>
        </p:nvSpPr>
        <p:spPr>
          <a:xfrm rot="10800000">
            <a:off x="7313613" y="3429000"/>
            <a:ext cx="4878387" cy="2822575"/>
          </a:xfrm>
          <a:prstGeom prst="homePlate">
            <a:avLst>
              <a:gd name="adj" fmla="val 32692"/>
            </a:avLst>
          </a:prstGeom>
          <a:solidFill>
            <a:srgbClr val="FFFF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sp>
        <p:nvSpPr>
          <p:cNvPr id="17413" name="矩形 8">
            <a:extLst/>
          </p:cNvPr>
          <p:cNvSpPr>
            <a:spLocks noChangeArrowheads="1"/>
          </p:cNvSpPr>
          <p:nvPr/>
        </p:nvSpPr>
        <p:spPr bwMode="auto">
          <a:xfrm flipH="1">
            <a:off x="7947025" y="4160838"/>
            <a:ext cx="435768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defRPr/>
            </a:pPr>
            <a:r>
              <a:rPr lang="en-US" altLang="zh-CN" sz="6000">
                <a:latin typeface="+mn-lt"/>
                <a:ea typeface="+mn-ea"/>
                <a:cs typeface="+mn-ea"/>
                <a:sym typeface="+mn-lt"/>
              </a:rPr>
              <a:t>PART TWO </a:t>
            </a:r>
          </a:p>
        </p:txBody>
      </p:sp>
      <p:sp>
        <p:nvSpPr>
          <p:cNvPr id="17414" name="文本框 9">
            <a:extLst/>
          </p:cNvPr>
          <p:cNvSpPr txBox="1">
            <a:spLocks noChangeArrowheads="1"/>
          </p:cNvSpPr>
          <p:nvPr/>
        </p:nvSpPr>
        <p:spPr bwMode="auto">
          <a:xfrm flipH="1">
            <a:off x="8266113" y="5086350"/>
            <a:ext cx="4038600" cy="66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b="1">
                <a:solidFill>
                  <a:schemeClr val="tx2">
                    <a:lumMod val="75000"/>
                  </a:schemeClr>
                </a:solidFill>
                <a:latin typeface="+mn-lt"/>
                <a:ea typeface="+mn-ea"/>
                <a:cs typeface="+mn-ea"/>
                <a:sym typeface="+mn-lt"/>
              </a:rPr>
              <a:t>慢性肾病的征兆与诊断</a:t>
            </a:r>
            <a:endParaRPr lang="en-US" altLang="zh-CN" b="1">
              <a:solidFill>
                <a:schemeClr val="tx2">
                  <a:lumMod val="75000"/>
                </a:schemeClr>
              </a:solidFill>
              <a:latin typeface="+mn-lt"/>
              <a:ea typeface="+mn-ea"/>
              <a:cs typeface="+mn-ea"/>
              <a:sym typeface="+mn-lt"/>
            </a:endParaRPr>
          </a:p>
        </p:txBody>
      </p:sp>
      <p:cxnSp>
        <p:nvCxnSpPr>
          <p:cNvPr id="11" name="直接连接符 10">
            <a:extLst/>
          </p:cNvPr>
          <p:cNvCxnSpPr>
            <a:cxnSpLocks/>
          </p:cNvCxnSpPr>
          <p:nvPr/>
        </p:nvCxnSpPr>
        <p:spPr>
          <a:xfrm flipH="1">
            <a:off x="8221663" y="5176838"/>
            <a:ext cx="408305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文本框 21">
            <a:extLst>
              <a:ext uri="{FF2B5EF4-FFF2-40B4-BE49-F238E27FC236}">
                <a16:creationId xmlns:a16="http://schemas.microsoft.com/office/drawing/2014/main" id="{D6E0A203-166B-4F19-905D-8FF82D60B99E}"/>
              </a:ext>
            </a:extLst>
          </p:cNvPr>
          <p:cNvSpPr txBox="1">
            <a:spLocks noChangeArrowheads="1"/>
          </p:cNvSpPr>
          <p:nvPr/>
        </p:nvSpPr>
        <p:spPr bwMode="auto">
          <a:xfrm>
            <a:off x="0" y="5811044"/>
            <a:ext cx="2782888" cy="88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r" eaLnBrk="1" hangingPunct="1">
              <a:lnSpc>
                <a:spcPct val="150000"/>
              </a:lnSpc>
              <a:spcBef>
                <a:spcPct val="0"/>
              </a:spcBef>
              <a:buFontTx/>
              <a:buNone/>
              <a:defRPr/>
            </a:pPr>
            <a:r>
              <a:rPr lang="zh-CN" altLang="en-US" sz="1800" b="1">
                <a:solidFill>
                  <a:srgbClr val="0F0F0F"/>
                </a:solidFill>
                <a:latin typeface="等线" panose="02010600030101010101" pitchFamily="2" charset="-122"/>
                <a:ea typeface="等线" panose="02010600030101010101" pitchFamily="2" charset="-122"/>
                <a:cs typeface="+mn-ea"/>
                <a:sym typeface="+mn-lt"/>
              </a:rPr>
              <a:t>厨子</a:t>
            </a:r>
            <a:r>
              <a:rPr lang="en-US" altLang="zh-CN" sz="1800" b="1">
                <a:solidFill>
                  <a:srgbClr val="0F0F0F"/>
                </a:solidFill>
                <a:latin typeface="等线" panose="02010600030101010101" pitchFamily="2" charset="-122"/>
                <a:ea typeface="等线" panose="02010600030101010101" pitchFamily="2" charset="-122"/>
                <a:cs typeface="+mn-ea"/>
                <a:sym typeface="+mn-lt"/>
              </a:rPr>
              <a:t>@</a:t>
            </a:r>
            <a:r>
              <a:rPr lang="zh-CN" altLang="en-US" sz="1800" b="1">
                <a:solidFill>
                  <a:srgbClr val="0F0F0F"/>
                </a:solidFill>
                <a:latin typeface="等线" panose="02010600030101010101" pitchFamily="2" charset="-122"/>
                <a:ea typeface="等线" panose="02010600030101010101" pitchFamily="2" charset="-122"/>
                <a:cs typeface="+mn-ea"/>
                <a:sym typeface="+mn-lt"/>
              </a:rPr>
              <a:t>公众号</a:t>
            </a:r>
            <a:r>
              <a:rPr lang="en-US" altLang="zh-CN" sz="1800" b="1">
                <a:solidFill>
                  <a:srgbClr val="0F0F0F"/>
                </a:solidFill>
                <a:latin typeface="等线" panose="02010600030101010101" pitchFamily="2" charset="-122"/>
                <a:ea typeface="等线" panose="02010600030101010101" pitchFamily="2" charset="-122"/>
                <a:cs typeface="+mn-ea"/>
                <a:sym typeface="+mn-lt"/>
              </a:rPr>
              <a:t>Raw Meat</a:t>
            </a:r>
          </a:p>
          <a:p>
            <a:pPr algn="r" eaLnBrk="1" hangingPunct="1">
              <a:lnSpc>
                <a:spcPct val="150000"/>
              </a:lnSpc>
              <a:spcBef>
                <a:spcPct val="0"/>
              </a:spcBef>
              <a:buFontTx/>
              <a:buNone/>
              <a:defRPr/>
            </a:pPr>
            <a:r>
              <a:rPr lang="en-US" altLang="zh-CN" sz="1800" b="1">
                <a:solidFill>
                  <a:srgbClr val="0F0F0F"/>
                </a:solidFill>
                <a:latin typeface="等线" panose="02010600030101010101" pitchFamily="2" charset="-122"/>
                <a:ea typeface="等线" panose="02010600030101010101" pitchFamily="2" charset="-122"/>
                <a:cs typeface="+mn-ea"/>
                <a:sym typeface="+mn-lt"/>
              </a:rPr>
              <a:t>2018 Aug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a:extLst/>
          </p:cNvPr>
          <p:cNvPicPr>
            <a:picLocks noChangeAspect="1"/>
          </p:cNvPicPr>
          <p:nvPr/>
        </p:nvPicPr>
        <p:blipFill rotWithShape="1">
          <a:blip r:embed="rId3">
            <a:duotone>
              <a:prstClr val="black"/>
              <a:schemeClr val="accent3">
                <a:tint val="45000"/>
                <a:satMod val="400000"/>
              </a:schemeClr>
            </a:duotone>
            <a:extLst>
              <a:ext uri="{28A0092B-C50C-407E-A947-70E740481C1C}">
                <a14:useLocalDpi xmlns:a14="http://schemas.microsoft.com/office/drawing/2010/main" val="0"/>
              </a:ext>
            </a:extLst>
          </a:blip>
          <a:srcRect l="21843" r="19751"/>
          <a:stretch/>
        </p:blipFill>
        <p:spPr>
          <a:xfrm>
            <a:off x="-620" y="0"/>
            <a:ext cx="6408713" cy="6858000"/>
          </a:xfrm>
          <a:prstGeom prst="rect">
            <a:avLst/>
          </a:prstGeom>
        </p:spPr>
      </p:pic>
      <p:sp>
        <p:nvSpPr>
          <p:cNvPr id="20" name="箭头: 五边形 6">
            <a:extLst/>
          </p:cNvPr>
          <p:cNvSpPr/>
          <p:nvPr/>
        </p:nvSpPr>
        <p:spPr>
          <a:xfrm rot="10800000" flipH="1">
            <a:off x="0" y="404813"/>
            <a:ext cx="5807075" cy="1344612"/>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grpSp>
        <p:nvGrpSpPr>
          <p:cNvPr id="28676" name="组合 22"/>
          <p:cNvGrpSpPr>
            <a:grpSpLocks/>
          </p:cNvGrpSpPr>
          <p:nvPr/>
        </p:nvGrpSpPr>
        <p:grpSpPr bwMode="auto">
          <a:xfrm>
            <a:off x="196850" y="404814"/>
            <a:ext cx="4530999" cy="1314539"/>
            <a:chOff x="-101400" y="2876417"/>
            <a:chExt cx="3818268" cy="1314521"/>
          </a:xfrm>
        </p:grpSpPr>
        <p:sp>
          <p:nvSpPr>
            <p:cNvPr id="18444" name="文本框 13">
              <a:extLst/>
            </p:cNvPr>
            <p:cNvSpPr txBox="1">
              <a:spLocks noChangeArrowheads="1"/>
            </p:cNvSpPr>
            <p:nvPr/>
          </p:nvSpPr>
          <p:spPr bwMode="auto">
            <a:xfrm>
              <a:off x="-101400" y="2876417"/>
              <a:ext cx="1343136" cy="825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600" b="1">
                  <a:solidFill>
                    <a:srgbClr val="010101"/>
                  </a:solidFill>
                  <a:latin typeface="+mn-lt"/>
                  <a:ea typeface="+mn-ea"/>
                  <a:cs typeface="+mn-ea"/>
                  <a:sym typeface="+mn-lt"/>
                </a:rPr>
                <a:t>PART</a:t>
              </a:r>
            </a:p>
          </p:txBody>
        </p:sp>
        <p:sp>
          <p:nvSpPr>
            <p:cNvPr id="18445" name="文本框 14">
              <a:extLst/>
            </p:cNvPr>
            <p:cNvSpPr txBox="1">
              <a:spLocks noChangeArrowheads="1"/>
            </p:cNvSpPr>
            <p:nvPr/>
          </p:nvSpPr>
          <p:spPr bwMode="auto">
            <a:xfrm>
              <a:off x="1998922" y="2882072"/>
              <a:ext cx="1717946" cy="1308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b="1">
                  <a:solidFill>
                    <a:schemeClr val="tx2">
                      <a:lumMod val="75000"/>
                    </a:schemeClr>
                  </a:solidFill>
                  <a:latin typeface="微软雅黑" panose="020B0503020204020204" pitchFamily="34" charset="-122"/>
                  <a:ea typeface="微软雅黑" panose="020B0503020204020204" pitchFamily="34" charset="-122"/>
                  <a:cs typeface="+mn-ea"/>
                  <a:sym typeface="+mn-lt"/>
                </a:rPr>
                <a:t>慢性肾病的征兆与诊断</a:t>
              </a:r>
              <a:endParaRPr lang="en-US" altLang="zh-CN" b="1">
                <a:solidFill>
                  <a:schemeClr val="tx2">
                    <a:lumMod val="75000"/>
                  </a:schemeClr>
                </a:solidFill>
                <a:latin typeface="微软雅黑" panose="020B0503020204020204" pitchFamily="34" charset="-122"/>
                <a:ea typeface="微软雅黑" panose="020B0503020204020204" pitchFamily="34" charset="-122"/>
                <a:cs typeface="+mn-ea"/>
                <a:sym typeface="+mn-lt"/>
              </a:endParaRPr>
            </a:p>
          </p:txBody>
        </p:sp>
        <p:cxnSp>
          <p:nvCxnSpPr>
            <p:cNvPr id="24" name="直接连接符 23">
              <a:extLst/>
            </p:cNvPr>
            <p:cNvCxnSpPr>
              <a:cxnSpLocks/>
            </p:cNvCxnSpPr>
            <p:nvPr/>
          </p:nvCxnSpPr>
          <p:spPr>
            <a:xfrm flipH="1">
              <a:off x="489901" y="3171688"/>
              <a:ext cx="1074241" cy="722302"/>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8447" name="矩形 20">
              <a:extLst/>
            </p:cNvPr>
            <p:cNvSpPr>
              <a:spLocks noChangeArrowheads="1"/>
            </p:cNvSpPr>
            <p:nvPr/>
          </p:nvSpPr>
          <p:spPr bwMode="auto">
            <a:xfrm>
              <a:off x="618328" y="3473309"/>
              <a:ext cx="1577249" cy="523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lvl="1">
                <a:lnSpc>
                  <a:spcPct val="100000"/>
                </a:lnSpc>
                <a:spcBef>
                  <a:spcPct val="0"/>
                </a:spcBef>
                <a:buFontTx/>
                <a:buNone/>
                <a:defRPr/>
              </a:pPr>
              <a:r>
                <a:rPr lang="en-US" altLang="zh-CN" sz="2800" b="1">
                  <a:solidFill>
                    <a:srgbClr val="010101"/>
                  </a:solidFill>
                  <a:latin typeface="+mn-lt"/>
                  <a:ea typeface="+mn-ea"/>
                  <a:cs typeface="+mn-ea"/>
                  <a:sym typeface="+mn-lt"/>
                </a:rPr>
                <a:t>TWO</a:t>
              </a:r>
              <a:endParaRPr lang="zh-CN" altLang="en-US" sz="1400">
                <a:latin typeface="+mn-lt"/>
                <a:ea typeface="+mn-ea"/>
                <a:cs typeface="+mn-ea"/>
                <a:sym typeface="+mn-lt"/>
              </a:endParaRPr>
            </a:p>
          </p:txBody>
        </p:sp>
      </p:grpSp>
      <p:grpSp>
        <p:nvGrpSpPr>
          <p:cNvPr id="28677" name="组合 23"/>
          <p:cNvGrpSpPr>
            <a:grpSpLocks/>
          </p:cNvGrpSpPr>
          <p:nvPr/>
        </p:nvGrpSpPr>
        <p:grpSpPr bwMode="auto">
          <a:xfrm>
            <a:off x="6672064" y="681617"/>
            <a:ext cx="5004619" cy="6606437"/>
            <a:chOff x="7489015" y="694163"/>
            <a:chExt cx="4500246" cy="8594438"/>
          </a:xfrm>
        </p:grpSpPr>
        <p:sp>
          <p:nvSpPr>
            <p:cNvPr id="27" name="文本框 66">
              <a:extLst/>
            </p:cNvPr>
            <p:cNvSpPr txBox="1">
              <a:spLocks noChangeArrowheads="1"/>
            </p:cNvSpPr>
            <p:nvPr/>
          </p:nvSpPr>
          <p:spPr bwMode="auto">
            <a:xfrm>
              <a:off x="7504095" y="694163"/>
              <a:ext cx="4258962" cy="1721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spcBef>
                  <a:spcPts val="0"/>
                </a:spcBef>
                <a:spcAft>
                  <a:spcPts val="0"/>
                </a:spcAft>
                <a:defRPr/>
              </a:pPr>
              <a:r>
                <a:rPr lang="zh-CN" altLang="en-US" sz="4000" b="1" kern="0">
                  <a:solidFill>
                    <a:schemeClr val="tx1">
                      <a:lumMod val="95000"/>
                      <a:lumOff val="5000"/>
                    </a:schemeClr>
                  </a:solidFill>
                  <a:effectLst>
                    <a:outerShdw blurRad="38100" dist="38100" dir="2700000" algn="tl">
                      <a:srgbClr val="000000">
                        <a:alpha val="43137"/>
                      </a:srgbClr>
                    </a:outerShdw>
                  </a:effectLst>
                  <a:latin typeface="+mn-lt"/>
                  <a:ea typeface="+mn-ea"/>
                  <a:cs typeface="+mn-ea"/>
                  <a:sym typeface="+mn-lt"/>
                </a:rPr>
                <a:t>猫得了慢性肾病有什么表现？</a:t>
              </a:r>
            </a:p>
          </p:txBody>
        </p:sp>
        <p:sp>
          <p:nvSpPr>
            <p:cNvPr id="28" name="矩形 27">
              <a:extLst/>
            </p:cNvPr>
            <p:cNvSpPr/>
            <p:nvPr/>
          </p:nvSpPr>
          <p:spPr>
            <a:xfrm>
              <a:off x="7489015" y="2443546"/>
              <a:ext cx="4500246" cy="276968"/>
            </a:xfrm>
            <a:prstGeom prst="rect">
              <a:avLst/>
            </a:prstGeom>
          </p:spPr>
          <p:txBody>
            <a:bodyPr>
              <a:spAutoFit/>
            </a:bodyPr>
            <a:lstStyle/>
            <a:p>
              <a:pPr eaLnBrk="1" fontAlgn="auto" hangingPunct="1">
                <a:spcBef>
                  <a:spcPts val="0"/>
                </a:spcBef>
                <a:spcAft>
                  <a:spcPts val="0"/>
                </a:spcAft>
                <a:defRPr/>
              </a:pPr>
              <a:r>
                <a:rPr lang="en-US" altLang="zh-CN" sz="1200" kern="0">
                  <a:solidFill>
                    <a:schemeClr val="tx1">
                      <a:lumMod val="95000"/>
                      <a:lumOff val="5000"/>
                    </a:schemeClr>
                  </a:solidFill>
                  <a:latin typeface="+mn-lt"/>
                  <a:ea typeface="+mn-ea"/>
                  <a:cs typeface="+mn-ea"/>
                  <a:sym typeface="+mn-lt"/>
                </a:rPr>
                <a:t>.</a:t>
              </a:r>
              <a:endParaRPr lang="zh-CN" altLang="en-US" sz="1200" kern="0">
                <a:solidFill>
                  <a:schemeClr val="tx1">
                    <a:lumMod val="95000"/>
                    <a:lumOff val="5000"/>
                  </a:schemeClr>
                </a:solidFill>
                <a:latin typeface="+mn-lt"/>
                <a:ea typeface="+mn-ea"/>
                <a:cs typeface="+mn-ea"/>
                <a:sym typeface="+mn-lt"/>
              </a:endParaRPr>
            </a:p>
          </p:txBody>
        </p:sp>
        <p:sp>
          <p:nvSpPr>
            <p:cNvPr id="29" name="矩形 3">
              <a:extLst/>
            </p:cNvPr>
            <p:cNvSpPr>
              <a:spLocks noChangeArrowheads="1"/>
            </p:cNvSpPr>
            <p:nvPr/>
          </p:nvSpPr>
          <p:spPr bwMode="auto">
            <a:xfrm>
              <a:off x="7489015" y="1440912"/>
              <a:ext cx="4470085" cy="7847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None/>
                <a:defRPr/>
              </a:pPr>
              <a:endParaRPr lang="en-US" altLang="zh-CN" sz="2400" b="1" kern="0">
                <a:solidFill>
                  <a:schemeClr val="tx2">
                    <a:lumMod val="75000"/>
                  </a:schemeClr>
                </a:solidFill>
                <a:effectLst>
                  <a:outerShdw blurRad="38100" dist="38100" dir="2700000" algn="tl">
                    <a:srgbClr val="000000">
                      <a:alpha val="43137"/>
                    </a:srgbClr>
                  </a:outerShdw>
                </a:effectLst>
                <a:latin typeface="+mn-ea"/>
                <a:ea typeface="+mn-ea"/>
                <a:cs typeface="+mn-ea"/>
                <a:sym typeface="+mn-lt"/>
              </a:endParaRPr>
            </a:p>
            <a:p>
              <a:pPr marL="342900" indent="-342900" eaLnBrk="1" fontAlgn="auto" hangingPunct="1">
                <a:lnSpc>
                  <a:spcPct val="100000"/>
                </a:lnSpc>
                <a:spcBef>
                  <a:spcPct val="0"/>
                </a:spcBef>
                <a:spcAft>
                  <a:spcPts val="0"/>
                </a:spcAft>
                <a:defRPr/>
              </a:pPr>
              <a:endParaRPr lang="en-US" altLang="zh-CN" sz="2400" b="1" kern="0">
                <a:solidFill>
                  <a:schemeClr val="tx2">
                    <a:lumMod val="75000"/>
                  </a:schemeClr>
                </a:solidFill>
                <a:effectLst>
                  <a:outerShdw blurRad="38100" dist="38100" dir="2700000" algn="tl">
                    <a:srgbClr val="000000">
                      <a:alpha val="43137"/>
                    </a:srgbClr>
                  </a:outerShdw>
                </a:effectLst>
                <a:latin typeface="+mn-ea"/>
                <a:ea typeface="+mn-ea"/>
                <a:cs typeface="+mn-ea"/>
                <a:sym typeface="+mn-lt"/>
              </a:endParaRPr>
            </a:p>
            <a:p>
              <a:pPr marL="342900" indent="-342900" eaLnBrk="1" fontAlgn="auto" hangingPunct="1">
                <a:lnSpc>
                  <a:spcPct val="100000"/>
                </a:lnSpc>
                <a:spcBef>
                  <a:spcPct val="0"/>
                </a:spcBef>
                <a:spcAft>
                  <a:spcPts val="0"/>
                </a:spcAft>
                <a:defRPr/>
              </a:pPr>
              <a:endParaRPr lang="en-US" altLang="zh-CN" sz="2400" b="1" kern="0">
                <a:solidFill>
                  <a:schemeClr val="tx2">
                    <a:lumMod val="75000"/>
                  </a:schemeClr>
                </a:solidFill>
                <a:effectLst>
                  <a:outerShdw blurRad="38100" dist="38100" dir="2700000" algn="tl">
                    <a:srgbClr val="000000">
                      <a:alpha val="43137"/>
                    </a:srgbClr>
                  </a:outerShdw>
                </a:effectLst>
                <a:latin typeface="+mn-ea"/>
                <a:ea typeface="+mn-ea"/>
                <a:cs typeface="+mn-ea"/>
                <a:sym typeface="+mn-lt"/>
              </a:endParaRPr>
            </a:p>
            <a:p>
              <a:pPr marL="342900" indent="-342900" eaLnBrk="1" fontAlgn="auto" hangingPunct="1">
                <a:lnSpc>
                  <a:spcPct val="100000"/>
                </a:lnSpc>
                <a:spcBef>
                  <a:spcPct val="0"/>
                </a:spcBef>
                <a:spcAft>
                  <a:spcPts val="0"/>
                </a:spcAft>
                <a:defRPr/>
              </a:pPr>
              <a:r>
                <a:rPr lang="zh-CN" altLang="en-US" b="1" kern="0">
                  <a:solidFill>
                    <a:schemeClr val="tx2">
                      <a:lumMod val="75000"/>
                    </a:schemeClr>
                  </a:solidFill>
                  <a:effectLst>
                    <a:outerShdw blurRad="38100" dist="38100" dir="2700000" algn="tl">
                      <a:srgbClr val="000000">
                        <a:alpha val="43137"/>
                      </a:srgbClr>
                    </a:outerShdw>
                  </a:effectLst>
                  <a:latin typeface="+mn-ea"/>
                  <a:ea typeface="+mn-ea"/>
                  <a:cs typeface="+mn-ea"/>
                  <a:sym typeface="+mn-lt"/>
                </a:rPr>
                <a:t>突然大量排尿、饮水</a:t>
              </a:r>
              <a:endParaRPr lang="en-US" altLang="zh-CN" b="1" kern="0">
                <a:solidFill>
                  <a:schemeClr val="tx2">
                    <a:lumMod val="75000"/>
                  </a:schemeClr>
                </a:solidFill>
                <a:effectLst>
                  <a:outerShdw blurRad="38100" dist="38100" dir="2700000" algn="tl">
                    <a:srgbClr val="000000">
                      <a:alpha val="43137"/>
                    </a:srgbClr>
                  </a:outerShdw>
                </a:effectLst>
                <a:latin typeface="+mn-ea"/>
                <a:ea typeface="+mn-ea"/>
                <a:cs typeface="+mn-ea"/>
                <a:sym typeface="+mn-lt"/>
              </a:endParaRPr>
            </a:p>
            <a:p>
              <a:pPr marL="342900" indent="-342900" eaLnBrk="1" fontAlgn="auto" hangingPunct="1">
                <a:lnSpc>
                  <a:spcPct val="100000"/>
                </a:lnSpc>
                <a:spcBef>
                  <a:spcPct val="0"/>
                </a:spcBef>
                <a:spcAft>
                  <a:spcPts val="0"/>
                </a:spcAft>
                <a:defRPr/>
              </a:pPr>
              <a:r>
                <a:rPr lang="zh-CN" altLang="en-US" sz="2400" b="1" kern="0">
                  <a:solidFill>
                    <a:schemeClr val="tx2">
                      <a:lumMod val="75000"/>
                    </a:schemeClr>
                  </a:solidFill>
                  <a:effectLst>
                    <a:outerShdw blurRad="38100" dist="38100" dir="2700000" algn="tl">
                      <a:srgbClr val="000000">
                        <a:alpha val="43137"/>
                      </a:srgbClr>
                    </a:outerShdw>
                  </a:effectLst>
                  <a:latin typeface="+mn-ea"/>
                  <a:ea typeface="+mn-ea"/>
                  <a:cs typeface="+mn-ea"/>
                  <a:sym typeface="+mn-lt"/>
                </a:rPr>
                <a:t>相比以往更易脱水，黏膜发干</a:t>
              </a:r>
              <a:endParaRPr lang="en-US" altLang="zh-CN" sz="2400" b="1" kern="0">
                <a:solidFill>
                  <a:schemeClr val="tx2">
                    <a:lumMod val="75000"/>
                  </a:schemeClr>
                </a:solidFill>
                <a:effectLst>
                  <a:outerShdw blurRad="38100" dist="38100" dir="2700000" algn="tl">
                    <a:srgbClr val="000000">
                      <a:alpha val="43137"/>
                    </a:srgbClr>
                  </a:outerShdw>
                </a:effectLst>
                <a:latin typeface="+mn-ea"/>
                <a:ea typeface="+mn-ea"/>
                <a:cs typeface="+mn-ea"/>
                <a:sym typeface="+mn-lt"/>
              </a:endParaRPr>
            </a:p>
            <a:p>
              <a:pPr marL="342900" indent="-342900" eaLnBrk="1" fontAlgn="auto" hangingPunct="1">
                <a:lnSpc>
                  <a:spcPct val="100000"/>
                </a:lnSpc>
                <a:spcBef>
                  <a:spcPct val="0"/>
                </a:spcBef>
                <a:spcAft>
                  <a:spcPts val="0"/>
                </a:spcAft>
                <a:defRPr/>
              </a:pPr>
              <a:r>
                <a:rPr lang="zh-CN" altLang="en-US" sz="2400" b="1" kern="0">
                  <a:solidFill>
                    <a:schemeClr val="tx2">
                      <a:lumMod val="75000"/>
                    </a:schemeClr>
                  </a:solidFill>
                  <a:effectLst>
                    <a:outerShdw blurRad="38100" dist="38100" dir="2700000" algn="tl">
                      <a:srgbClr val="000000">
                        <a:alpha val="43137"/>
                      </a:srgbClr>
                    </a:outerShdw>
                  </a:effectLst>
                  <a:latin typeface="+mn-ea"/>
                  <a:ea typeface="+mn-ea"/>
                  <a:cs typeface="+mn-ea"/>
                  <a:sym typeface="+mn-lt"/>
                </a:rPr>
                <a:t>体重下降</a:t>
              </a:r>
              <a:endParaRPr lang="en-US" altLang="zh-CN" sz="2400" b="1" kern="0">
                <a:solidFill>
                  <a:schemeClr val="tx2">
                    <a:lumMod val="75000"/>
                  </a:schemeClr>
                </a:solidFill>
                <a:effectLst>
                  <a:outerShdw blurRad="38100" dist="38100" dir="2700000" algn="tl">
                    <a:srgbClr val="000000">
                      <a:alpha val="43137"/>
                    </a:srgbClr>
                  </a:outerShdw>
                </a:effectLst>
                <a:latin typeface="+mn-ea"/>
                <a:ea typeface="+mn-ea"/>
                <a:cs typeface="+mn-ea"/>
                <a:sym typeface="+mn-lt"/>
              </a:endParaRPr>
            </a:p>
            <a:p>
              <a:pPr marL="342900" indent="-342900" eaLnBrk="1" fontAlgn="auto" hangingPunct="1">
                <a:lnSpc>
                  <a:spcPct val="100000"/>
                </a:lnSpc>
                <a:spcBef>
                  <a:spcPct val="0"/>
                </a:spcBef>
                <a:spcAft>
                  <a:spcPts val="0"/>
                </a:spcAft>
                <a:defRPr/>
              </a:pPr>
              <a:r>
                <a:rPr lang="zh-CN" altLang="en-US" sz="2000" b="1" kern="0">
                  <a:solidFill>
                    <a:schemeClr val="tx2">
                      <a:lumMod val="75000"/>
                    </a:schemeClr>
                  </a:solidFill>
                  <a:effectLst>
                    <a:outerShdw blurRad="38100" dist="38100" dir="2700000" algn="tl">
                      <a:srgbClr val="000000">
                        <a:alpha val="43137"/>
                      </a:srgbClr>
                    </a:outerShdw>
                  </a:effectLst>
                  <a:latin typeface="+mn-ea"/>
                  <a:ea typeface="+mn-ea"/>
                  <a:cs typeface="+mn-ea"/>
                  <a:sym typeface="+mn-lt"/>
                </a:rPr>
                <a:t>食欲波动，时好时坏</a:t>
              </a:r>
              <a:endParaRPr lang="en-US" altLang="zh-CN" sz="2000" b="1" kern="0">
                <a:solidFill>
                  <a:schemeClr val="tx2">
                    <a:lumMod val="75000"/>
                  </a:schemeClr>
                </a:solidFill>
                <a:effectLst>
                  <a:outerShdw blurRad="38100" dist="38100" dir="2700000" algn="tl">
                    <a:srgbClr val="000000">
                      <a:alpha val="43137"/>
                    </a:srgbClr>
                  </a:outerShdw>
                </a:effectLst>
                <a:latin typeface="+mn-ea"/>
                <a:ea typeface="+mn-ea"/>
                <a:cs typeface="+mn-ea"/>
                <a:sym typeface="+mn-lt"/>
              </a:endParaRPr>
            </a:p>
            <a:p>
              <a:pPr marL="342900" indent="-342900" eaLnBrk="1" fontAlgn="auto" hangingPunct="1">
                <a:lnSpc>
                  <a:spcPct val="100000"/>
                </a:lnSpc>
                <a:spcBef>
                  <a:spcPct val="0"/>
                </a:spcBef>
                <a:spcAft>
                  <a:spcPts val="0"/>
                </a:spcAft>
                <a:defRPr/>
              </a:pPr>
              <a:r>
                <a:rPr lang="zh-CN" altLang="en-US" sz="2000" b="1" kern="0">
                  <a:solidFill>
                    <a:schemeClr val="tx2">
                      <a:lumMod val="75000"/>
                    </a:schemeClr>
                  </a:solidFill>
                  <a:effectLst>
                    <a:outerShdw blurRad="38100" dist="38100" dir="2700000" algn="tl">
                      <a:srgbClr val="000000">
                        <a:alpha val="43137"/>
                      </a:srgbClr>
                    </a:outerShdw>
                  </a:effectLst>
                  <a:latin typeface="+mn-ea"/>
                  <a:ea typeface="+mn-ea"/>
                  <a:cs typeface="+mn-ea"/>
                  <a:sym typeface="+mn-lt"/>
                </a:rPr>
                <a:t>被毛杂乱无光，精神萎靡</a:t>
              </a:r>
              <a:endParaRPr lang="en-US" altLang="zh-CN" sz="2000" b="1" kern="0">
                <a:solidFill>
                  <a:schemeClr val="tx2">
                    <a:lumMod val="75000"/>
                  </a:schemeClr>
                </a:solidFill>
                <a:effectLst>
                  <a:outerShdw blurRad="38100" dist="38100" dir="2700000" algn="tl">
                    <a:srgbClr val="000000">
                      <a:alpha val="43137"/>
                    </a:srgbClr>
                  </a:outerShdw>
                </a:effectLst>
                <a:latin typeface="+mn-ea"/>
                <a:ea typeface="+mn-ea"/>
                <a:cs typeface="+mn-ea"/>
                <a:sym typeface="+mn-lt"/>
              </a:endParaRPr>
            </a:p>
            <a:p>
              <a:pPr marL="342900" indent="-342900" eaLnBrk="1" fontAlgn="auto" hangingPunct="1">
                <a:lnSpc>
                  <a:spcPct val="100000"/>
                </a:lnSpc>
                <a:spcBef>
                  <a:spcPct val="0"/>
                </a:spcBef>
                <a:spcAft>
                  <a:spcPts val="0"/>
                </a:spcAft>
                <a:defRPr/>
              </a:pPr>
              <a:r>
                <a:rPr lang="zh-CN" altLang="en-US" sz="2000" b="1" kern="0">
                  <a:solidFill>
                    <a:schemeClr val="tx2">
                      <a:lumMod val="75000"/>
                    </a:schemeClr>
                  </a:solidFill>
                  <a:effectLst>
                    <a:outerShdw blurRad="38100" dist="38100" dir="2700000" algn="tl">
                      <a:srgbClr val="000000">
                        <a:alpha val="43137"/>
                      </a:srgbClr>
                    </a:outerShdw>
                  </a:effectLst>
                  <a:latin typeface="+mn-ea"/>
                  <a:ea typeface="+mn-ea"/>
                  <a:cs typeface="+mn-ea"/>
                  <a:sym typeface="+mn-lt"/>
                </a:rPr>
                <a:t>呕吐，常见透明、微黄泡沫</a:t>
              </a:r>
              <a:endParaRPr lang="en-US" altLang="zh-CN" sz="2000" b="1" kern="0">
                <a:solidFill>
                  <a:schemeClr val="tx2">
                    <a:lumMod val="75000"/>
                  </a:schemeClr>
                </a:solidFill>
                <a:effectLst>
                  <a:outerShdw blurRad="38100" dist="38100" dir="2700000" algn="tl">
                    <a:srgbClr val="000000">
                      <a:alpha val="43137"/>
                    </a:srgbClr>
                  </a:outerShdw>
                </a:effectLst>
                <a:latin typeface="+mn-ea"/>
                <a:ea typeface="+mn-ea"/>
                <a:cs typeface="+mn-ea"/>
                <a:sym typeface="+mn-lt"/>
              </a:endParaRPr>
            </a:p>
            <a:p>
              <a:pPr marL="342900" indent="-342900" eaLnBrk="1" fontAlgn="auto" hangingPunct="1">
                <a:lnSpc>
                  <a:spcPct val="100000"/>
                </a:lnSpc>
                <a:spcBef>
                  <a:spcPct val="0"/>
                </a:spcBef>
                <a:spcAft>
                  <a:spcPts val="0"/>
                </a:spcAft>
                <a:defRPr/>
              </a:pPr>
              <a:r>
                <a:rPr lang="zh-CN" altLang="en-US" sz="1800" b="1" kern="0">
                  <a:solidFill>
                    <a:schemeClr val="tx2">
                      <a:lumMod val="75000"/>
                    </a:schemeClr>
                  </a:solidFill>
                  <a:effectLst>
                    <a:outerShdw blurRad="38100" dist="38100" dir="2700000" algn="tl">
                      <a:srgbClr val="000000">
                        <a:alpha val="43137"/>
                      </a:srgbClr>
                    </a:outerShdw>
                  </a:effectLst>
                  <a:latin typeface="+mn-ea"/>
                  <a:ea typeface="+mn-ea"/>
                  <a:cs typeface="+mn-ea"/>
                  <a:sym typeface="+mn-lt"/>
                </a:rPr>
                <a:t>口腔健康忽然恶化</a:t>
              </a:r>
              <a:endParaRPr lang="en-US" altLang="zh-CN" sz="1800" b="1" kern="0">
                <a:solidFill>
                  <a:schemeClr val="tx2">
                    <a:lumMod val="75000"/>
                  </a:schemeClr>
                </a:solidFill>
                <a:effectLst>
                  <a:outerShdw blurRad="38100" dist="38100" dir="2700000" algn="tl">
                    <a:srgbClr val="000000">
                      <a:alpha val="43137"/>
                    </a:srgbClr>
                  </a:outerShdw>
                </a:effectLst>
                <a:latin typeface="+mn-ea"/>
                <a:ea typeface="+mn-ea"/>
                <a:cs typeface="+mn-ea"/>
                <a:sym typeface="+mn-lt"/>
              </a:endParaRPr>
            </a:p>
            <a:p>
              <a:pPr marL="342900" indent="-342900" eaLnBrk="1" fontAlgn="auto" hangingPunct="1">
                <a:lnSpc>
                  <a:spcPct val="100000"/>
                </a:lnSpc>
                <a:spcBef>
                  <a:spcPct val="0"/>
                </a:spcBef>
                <a:spcAft>
                  <a:spcPts val="0"/>
                </a:spcAft>
                <a:defRPr/>
              </a:pPr>
              <a:r>
                <a:rPr lang="zh-CN" altLang="en-US" sz="1600" b="1" kern="0">
                  <a:solidFill>
                    <a:schemeClr val="tx2">
                      <a:lumMod val="75000"/>
                    </a:schemeClr>
                  </a:solidFill>
                  <a:effectLst>
                    <a:outerShdw blurRad="38100" dist="38100" dir="2700000" algn="tl">
                      <a:srgbClr val="000000">
                        <a:alpha val="43137"/>
                      </a:srgbClr>
                    </a:outerShdw>
                  </a:effectLst>
                  <a:latin typeface="+mn-ea"/>
                  <a:ea typeface="+mn-ea"/>
                  <a:cs typeface="+mn-ea"/>
                  <a:sym typeface="+mn-lt"/>
                </a:rPr>
                <a:t>口臭恶化，有骚臭</a:t>
              </a:r>
              <a:endParaRPr lang="en-US" altLang="zh-CN" sz="1600" b="1" kern="0">
                <a:solidFill>
                  <a:schemeClr val="tx2">
                    <a:lumMod val="75000"/>
                  </a:schemeClr>
                </a:solidFill>
                <a:effectLst>
                  <a:outerShdw blurRad="38100" dist="38100" dir="2700000" algn="tl">
                    <a:srgbClr val="000000">
                      <a:alpha val="43137"/>
                    </a:srgbClr>
                  </a:outerShdw>
                </a:effectLst>
                <a:latin typeface="+mn-ea"/>
                <a:ea typeface="+mn-ea"/>
                <a:cs typeface="+mn-ea"/>
                <a:sym typeface="+mn-lt"/>
              </a:endParaRPr>
            </a:p>
            <a:p>
              <a:pPr marL="342900" indent="-342900" eaLnBrk="1" fontAlgn="auto" hangingPunct="1">
                <a:lnSpc>
                  <a:spcPct val="100000"/>
                </a:lnSpc>
                <a:spcBef>
                  <a:spcPct val="0"/>
                </a:spcBef>
                <a:spcAft>
                  <a:spcPts val="0"/>
                </a:spcAft>
                <a:defRPr/>
              </a:pPr>
              <a:r>
                <a:rPr lang="zh-CN" altLang="en-US" sz="1600" b="1" kern="0">
                  <a:solidFill>
                    <a:schemeClr val="tx2">
                      <a:lumMod val="75000"/>
                    </a:schemeClr>
                  </a:solidFill>
                  <a:effectLst>
                    <a:outerShdw blurRad="38100" dist="38100" dir="2700000" algn="tl">
                      <a:srgbClr val="000000">
                        <a:alpha val="43137"/>
                      </a:srgbClr>
                    </a:outerShdw>
                  </a:effectLst>
                  <a:latin typeface="+mn-ea"/>
                  <a:ea typeface="+mn-ea"/>
                  <a:cs typeface="+mn-ea"/>
                  <a:sym typeface="+mn-lt"/>
                </a:rPr>
                <a:t>黏膜苍白</a:t>
              </a:r>
              <a:endParaRPr lang="en-US" altLang="zh-CN" sz="1600" b="1" kern="0">
                <a:solidFill>
                  <a:schemeClr val="tx2">
                    <a:lumMod val="75000"/>
                  </a:schemeClr>
                </a:solidFill>
                <a:effectLst>
                  <a:outerShdw blurRad="38100" dist="38100" dir="2700000" algn="tl">
                    <a:srgbClr val="000000">
                      <a:alpha val="43137"/>
                    </a:srgbClr>
                  </a:outerShdw>
                </a:effectLst>
                <a:latin typeface="+mn-ea"/>
                <a:ea typeface="+mn-ea"/>
                <a:cs typeface="+mn-ea"/>
                <a:sym typeface="+mn-lt"/>
              </a:endParaRPr>
            </a:p>
            <a:p>
              <a:pPr marL="342900" indent="-342900" eaLnBrk="1" fontAlgn="auto" hangingPunct="1">
                <a:lnSpc>
                  <a:spcPct val="100000"/>
                </a:lnSpc>
                <a:spcBef>
                  <a:spcPct val="0"/>
                </a:spcBef>
                <a:spcAft>
                  <a:spcPts val="0"/>
                </a:spcAft>
                <a:defRPr/>
              </a:pPr>
              <a:endParaRPr lang="en-US" altLang="zh-CN" sz="2400" b="1" kern="0">
                <a:solidFill>
                  <a:schemeClr val="tx2">
                    <a:lumMod val="75000"/>
                  </a:schemeClr>
                </a:solidFill>
                <a:effectLst>
                  <a:outerShdw blurRad="38100" dist="38100" dir="2700000" algn="tl">
                    <a:srgbClr val="000000">
                      <a:alpha val="43137"/>
                    </a:srgbClr>
                  </a:outerShdw>
                </a:effectLst>
                <a:latin typeface="+mn-ea"/>
                <a:ea typeface="+mn-ea"/>
                <a:cs typeface="+mn-ea"/>
                <a:sym typeface="+mn-lt"/>
              </a:endParaRPr>
            </a:p>
            <a:p>
              <a:pPr eaLnBrk="1" fontAlgn="auto" hangingPunct="1">
                <a:lnSpc>
                  <a:spcPct val="100000"/>
                </a:lnSpc>
                <a:spcBef>
                  <a:spcPct val="0"/>
                </a:spcBef>
                <a:spcAft>
                  <a:spcPts val="0"/>
                </a:spcAft>
                <a:buNone/>
                <a:defRPr/>
              </a:pPr>
              <a:r>
                <a:rPr lang="zh-CN" altLang="en-US" sz="1600" b="1" kern="0">
                  <a:solidFill>
                    <a:schemeClr val="tx2">
                      <a:lumMod val="75000"/>
                    </a:schemeClr>
                  </a:solidFill>
                  <a:effectLst>
                    <a:outerShdw blurRad="38100" dist="38100" dir="2700000" algn="tl">
                      <a:srgbClr val="000000">
                        <a:alpha val="43137"/>
                      </a:srgbClr>
                    </a:outerShdw>
                  </a:effectLst>
                  <a:latin typeface="+mn-ea"/>
                  <a:ea typeface="+mn-ea"/>
                  <a:cs typeface="+mn-ea"/>
                  <a:sym typeface="+mn-lt"/>
                </a:rPr>
                <a:t>极早期体重降低？</a:t>
              </a:r>
              <a:endParaRPr lang="en-US" altLang="zh-CN" sz="1100" b="1" kern="0">
                <a:solidFill>
                  <a:schemeClr val="tx2">
                    <a:lumMod val="75000"/>
                  </a:schemeClr>
                </a:solidFill>
                <a:effectLst>
                  <a:outerShdw blurRad="38100" dist="38100" dir="2700000" algn="tl">
                    <a:srgbClr val="000000">
                      <a:alpha val="43137"/>
                    </a:srgbClr>
                  </a:outerShdw>
                </a:effectLst>
                <a:latin typeface="+mn-ea"/>
                <a:ea typeface="+mn-ea"/>
                <a:cs typeface="+mn-ea"/>
                <a:sym typeface="+mn-lt"/>
              </a:endParaRPr>
            </a:p>
            <a:p>
              <a:pPr eaLnBrk="1" fontAlgn="auto" hangingPunct="1">
                <a:lnSpc>
                  <a:spcPct val="100000"/>
                </a:lnSpc>
                <a:spcBef>
                  <a:spcPct val="0"/>
                </a:spcBef>
                <a:spcAft>
                  <a:spcPts val="0"/>
                </a:spcAft>
                <a:buNone/>
                <a:defRPr/>
              </a:pPr>
              <a:r>
                <a:rPr lang="en-US" altLang="zh-CN" sz="1100" b="1" kern="0">
                  <a:solidFill>
                    <a:schemeClr val="tx2">
                      <a:lumMod val="75000"/>
                    </a:schemeClr>
                  </a:solidFill>
                  <a:effectLst>
                    <a:outerShdw blurRad="38100" dist="38100" dir="2700000" algn="tl">
                      <a:srgbClr val="000000">
                        <a:alpha val="43137"/>
                      </a:srgbClr>
                    </a:outerShdw>
                  </a:effectLst>
                  <a:latin typeface="+mn-ea"/>
                  <a:ea typeface="+mn-ea"/>
                  <a:cs typeface="+mn-ea"/>
                  <a:sym typeface="+mn-lt"/>
                </a:rPr>
                <a:t>Perez-Camargo G. Cat nutrition: what’s new in the old? Comp Cont Edu Small Anim Pract 2004;26(Suppl 2A):5–10.</a:t>
              </a:r>
            </a:p>
            <a:p>
              <a:pPr marL="342900" indent="-342900" eaLnBrk="1" fontAlgn="auto" hangingPunct="1">
                <a:lnSpc>
                  <a:spcPct val="100000"/>
                </a:lnSpc>
                <a:spcBef>
                  <a:spcPct val="0"/>
                </a:spcBef>
                <a:spcAft>
                  <a:spcPts val="0"/>
                </a:spcAft>
                <a:defRPr/>
              </a:pPr>
              <a:endParaRPr lang="en-US" altLang="zh-CN" sz="2400" b="1" kern="0">
                <a:solidFill>
                  <a:schemeClr val="tx2">
                    <a:lumMod val="75000"/>
                  </a:schemeClr>
                </a:solidFill>
                <a:effectLst>
                  <a:outerShdw blurRad="38100" dist="38100" dir="2700000" algn="tl">
                    <a:srgbClr val="000000">
                      <a:alpha val="43137"/>
                    </a:srgbClr>
                  </a:outerShdw>
                </a:effectLst>
                <a:latin typeface="+mn-ea"/>
                <a:ea typeface="+mn-ea"/>
                <a:cs typeface="+mn-ea"/>
                <a:sym typeface="+mn-lt"/>
              </a:endParaRPr>
            </a:p>
            <a:p>
              <a:pPr marL="342900" indent="-342900" eaLnBrk="1" fontAlgn="auto" hangingPunct="1">
                <a:lnSpc>
                  <a:spcPct val="100000"/>
                </a:lnSpc>
                <a:spcBef>
                  <a:spcPct val="0"/>
                </a:spcBef>
                <a:spcAft>
                  <a:spcPts val="0"/>
                </a:spcAft>
                <a:defRPr/>
              </a:pPr>
              <a:endParaRPr lang="zh-CN" altLang="en-US" sz="1400" kern="0">
                <a:solidFill>
                  <a:schemeClr val="tx1">
                    <a:lumMod val="95000"/>
                    <a:lumOff val="5000"/>
                  </a:schemeClr>
                </a:solidFill>
                <a:cs typeface="+mn-ea"/>
                <a:sym typeface="+mn-lt"/>
              </a:endParaRPr>
            </a:p>
            <a:p>
              <a:pPr marL="342900" indent="-342900" eaLnBrk="1" fontAlgn="auto" hangingPunct="1">
                <a:lnSpc>
                  <a:spcPct val="100000"/>
                </a:lnSpc>
                <a:spcBef>
                  <a:spcPct val="0"/>
                </a:spcBef>
                <a:spcAft>
                  <a:spcPts val="0"/>
                </a:spcAft>
                <a:defRPr/>
              </a:pPr>
              <a:endParaRPr lang="en-US" altLang="zh-CN" sz="1400" kern="0">
                <a:solidFill>
                  <a:schemeClr val="tx1">
                    <a:lumMod val="95000"/>
                    <a:lumOff val="5000"/>
                  </a:schemeClr>
                </a:solidFill>
                <a:latin typeface="+mn-lt"/>
                <a:ea typeface="+mn-ea"/>
                <a:cs typeface="+mn-ea"/>
                <a:sym typeface="+mn-lt"/>
              </a:endParaRPr>
            </a:p>
            <a:p>
              <a:pPr marL="342900" indent="-342900" eaLnBrk="1" fontAlgn="auto" hangingPunct="1">
                <a:lnSpc>
                  <a:spcPct val="100000"/>
                </a:lnSpc>
                <a:spcBef>
                  <a:spcPct val="0"/>
                </a:spcBef>
                <a:spcAft>
                  <a:spcPts val="0"/>
                </a:spcAft>
                <a:defRPr/>
              </a:pPr>
              <a:endParaRPr lang="zh-CN" altLang="en-US" sz="1400" kern="0">
                <a:solidFill>
                  <a:schemeClr val="tx1">
                    <a:lumMod val="95000"/>
                    <a:lumOff val="5000"/>
                  </a:schemeClr>
                </a:solidFill>
                <a:latin typeface="+mn-lt"/>
                <a:ea typeface="+mn-ea"/>
                <a:cs typeface="+mn-ea"/>
                <a:sym typeface="+mn-lt"/>
              </a:endParaRPr>
            </a:p>
          </p:txBody>
        </p:sp>
        <p:sp>
          <p:nvSpPr>
            <p:cNvPr id="30" name="矩形 3">
              <a:extLst/>
            </p:cNvPr>
            <p:cNvSpPr>
              <a:spLocks noChangeArrowheads="1"/>
            </p:cNvSpPr>
            <p:nvPr/>
          </p:nvSpPr>
          <p:spPr bwMode="auto">
            <a:xfrm>
              <a:off x="7519176" y="3932454"/>
              <a:ext cx="4470085" cy="307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342900" indent="-342900" eaLnBrk="1" fontAlgn="auto" hangingPunct="1">
                <a:lnSpc>
                  <a:spcPct val="100000"/>
                </a:lnSpc>
                <a:spcBef>
                  <a:spcPct val="0"/>
                </a:spcBef>
                <a:spcAft>
                  <a:spcPts val="0"/>
                </a:spcAft>
                <a:defRPr/>
              </a:pPr>
              <a:endParaRPr lang="zh-CN" altLang="en-US" sz="1400" kern="0">
                <a:solidFill>
                  <a:schemeClr val="tx1">
                    <a:lumMod val="95000"/>
                    <a:lumOff val="5000"/>
                  </a:schemeClr>
                </a:solidFill>
                <a:latin typeface="+mn-lt"/>
                <a:ea typeface="+mn-ea"/>
                <a:cs typeface="+mn-ea"/>
                <a:sym typeface="+mn-lt"/>
              </a:endParaRPr>
            </a:p>
          </p:txBody>
        </p:sp>
        <p:sp>
          <p:nvSpPr>
            <p:cNvPr id="31" name="矩形 3">
              <a:extLst/>
            </p:cNvPr>
            <p:cNvSpPr>
              <a:spLocks noChangeArrowheads="1"/>
            </p:cNvSpPr>
            <p:nvPr/>
          </p:nvSpPr>
          <p:spPr bwMode="auto">
            <a:xfrm>
              <a:off x="7519176" y="4668972"/>
              <a:ext cx="4470085" cy="307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342900" indent="-342900" eaLnBrk="1" fontAlgn="auto" hangingPunct="1">
                <a:lnSpc>
                  <a:spcPct val="100000"/>
                </a:lnSpc>
                <a:spcBef>
                  <a:spcPct val="0"/>
                </a:spcBef>
                <a:spcAft>
                  <a:spcPts val="0"/>
                </a:spcAft>
                <a:defRPr/>
              </a:pPr>
              <a:endParaRPr lang="zh-CN" altLang="en-US" sz="1400" kern="0">
                <a:solidFill>
                  <a:schemeClr val="tx1">
                    <a:lumMod val="95000"/>
                    <a:lumOff val="5000"/>
                  </a:schemeClr>
                </a:solidFill>
                <a:latin typeface="+mn-lt"/>
                <a:ea typeface="+mn-ea"/>
                <a:cs typeface="+mn-ea"/>
                <a:sym typeface="+mn-lt"/>
              </a:endParaRPr>
            </a:p>
          </p:txBody>
        </p:sp>
        <p:sp>
          <p:nvSpPr>
            <p:cNvPr id="32" name="矩形 3">
              <a:extLst/>
            </p:cNvPr>
            <p:cNvSpPr>
              <a:spLocks noChangeArrowheads="1"/>
            </p:cNvSpPr>
            <p:nvPr/>
          </p:nvSpPr>
          <p:spPr bwMode="auto">
            <a:xfrm>
              <a:off x="7519176" y="5405490"/>
              <a:ext cx="4470085" cy="307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None/>
                <a:defRPr/>
              </a:pPr>
              <a:endParaRPr lang="zh-CN" altLang="en-US" sz="1400" kern="0">
                <a:solidFill>
                  <a:schemeClr val="tx1">
                    <a:lumMod val="95000"/>
                    <a:lumOff val="5000"/>
                  </a:schemeClr>
                </a:solidFill>
                <a:latin typeface="+mn-lt"/>
                <a:ea typeface="+mn-ea"/>
                <a:cs typeface="+mn-ea"/>
                <a:sym typeface="+mn-lt"/>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17" name="组合 16">
            <a:extLst/>
          </p:cNvPr>
          <p:cNvGrpSpPr/>
          <p:nvPr/>
        </p:nvGrpSpPr>
        <p:grpSpPr>
          <a:xfrm>
            <a:off x="4866703" y="690833"/>
            <a:ext cx="7320137" cy="1089650"/>
            <a:chOff x="8112223" y="330678"/>
            <a:chExt cx="4194115" cy="1089650"/>
          </a:xfrm>
          <a:effectLst>
            <a:outerShdw blurRad="50800" dist="38100" dir="5400000" algn="t" rotWithShape="0">
              <a:prstClr val="black">
                <a:alpha val="40000"/>
              </a:prstClr>
            </a:outerShdw>
          </a:effectLst>
        </p:grpSpPr>
        <p:sp>
          <p:nvSpPr>
            <p:cNvPr id="4"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5" name="组合 22">
              <a:extLst/>
            </p:cNvPr>
            <p:cNvGrpSpPr>
              <a:grpSpLocks/>
            </p:cNvGrpSpPr>
            <p:nvPr/>
          </p:nvGrpSpPr>
          <p:grpSpPr bwMode="auto">
            <a:xfrm>
              <a:off x="8281096" y="330678"/>
              <a:ext cx="3825665" cy="1089650"/>
              <a:chOff x="-461843" y="2729730"/>
              <a:chExt cx="4506125" cy="1523721"/>
            </a:xfrm>
          </p:grpSpPr>
          <p:sp>
            <p:nvSpPr>
              <p:cNvPr id="6"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7" name="文本框 14">
                <a:extLst/>
              </p:cNvPr>
              <p:cNvSpPr txBox="1">
                <a:spLocks noChangeArrowheads="1"/>
              </p:cNvSpPr>
              <p:nvPr/>
            </p:nvSpPr>
            <p:spPr bwMode="auto">
              <a:xfrm>
                <a:off x="1181456" y="2833190"/>
                <a:ext cx="2862826" cy="1420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000" b="1">
                    <a:solidFill>
                      <a:schemeClr val="tx2">
                        <a:lumMod val="75000"/>
                      </a:schemeClr>
                    </a:solidFill>
                    <a:latin typeface="微软雅黑" panose="020B0503020204020204" pitchFamily="34" charset="-122"/>
                    <a:ea typeface="微软雅黑" panose="020B0503020204020204" pitchFamily="34" charset="-122"/>
                    <a:cs typeface="+mn-ea"/>
                    <a:sym typeface="+mn-lt"/>
                  </a:rPr>
                  <a:t>猫慢性肾病诊断</a:t>
                </a:r>
                <a:endParaRPr lang="en-US" altLang="zh-CN" sz="2000" b="1">
                  <a:solidFill>
                    <a:schemeClr val="tx2">
                      <a:lumMod val="75000"/>
                    </a:schemeClr>
                  </a:solidFill>
                  <a:latin typeface="微软雅黑" panose="020B0503020204020204" pitchFamily="34" charset="-122"/>
                  <a:ea typeface="微软雅黑" panose="020B0503020204020204" pitchFamily="34" charset="-122"/>
                  <a:cs typeface="+mn-ea"/>
                  <a:sym typeface="+mn-lt"/>
                </a:endParaRPr>
              </a:p>
              <a:p>
                <a:pPr eaLnBrk="1" hangingPunct="1">
                  <a:lnSpc>
                    <a:spcPct val="150000"/>
                  </a:lnSpc>
                  <a:spcBef>
                    <a:spcPct val="0"/>
                  </a:spcBef>
                  <a:buFontTx/>
                  <a:buNone/>
                  <a:defRPr/>
                </a:pPr>
                <a:r>
                  <a:rPr lang="zh-CN" altLang="en-US" sz="2000" b="1">
                    <a:solidFill>
                      <a:schemeClr val="tx2">
                        <a:lumMod val="75000"/>
                      </a:schemeClr>
                    </a:solidFill>
                    <a:latin typeface="微软雅黑" panose="020B0503020204020204" pitchFamily="34" charset="-122"/>
                    <a:ea typeface="微软雅黑" panose="020B0503020204020204" pitchFamily="34" charset="-122"/>
                    <a:cs typeface="+mn-ea"/>
                    <a:sym typeface="+mn-lt"/>
                  </a:rPr>
                  <a:t>案例</a:t>
                </a:r>
                <a:endParaRPr lang="en-US" altLang="zh-CN" sz="2000" b="1">
                  <a:solidFill>
                    <a:schemeClr val="tx2">
                      <a:lumMod val="75000"/>
                    </a:schemeClr>
                  </a:solidFill>
                  <a:latin typeface="微软雅黑" panose="020B0503020204020204" pitchFamily="34" charset="-122"/>
                  <a:ea typeface="微软雅黑" panose="020B0503020204020204" pitchFamily="34" charset="-122"/>
                  <a:cs typeface="+mn-ea"/>
                  <a:sym typeface="+mn-lt"/>
                </a:endParaRPr>
              </a:p>
            </p:txBody>
          </p:sp>
          <p:cxnSp>
            <p:nvCxnSpPr>
              <p:cNvPr id="8" name="直接连接符 7">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9" name="矩形 20">
                <a:extLst/>
              </p:cNvPr>
              <p:cNvSpPr>
                <a:spLocks noChangeArrowheads="1"/>
              </p:cNvSpPr>
              <p:nvPr/>
            </p:nvSpPr>
            <p:spPr bwMode="auto">
              <a:xfrm>
                <a:off x="506334" y="3461620"/>
                <a:ext cx="608195"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TWO</a:t>
                </a:r>
                <a:endParaRPr lang="zh-CN" altLang="en-US" sz="1200">
                  <a:latin typeface="+mn-lt"/>
                  <a:ea typeface="+mn-ea"/>
                  <a:cs typeface="+mn-ea"/>
                  <a:sym typeface="+mn-lt"/>
                </a:endParaRPr>
              </a:p>
            </p:txBody>
          </p:sp>
        </p:grpSp>
      </p:grpSp>
      <p:graphicFrame>
        <p:nvGraphicFramePr>
          <p:cNvPr id="12" name="表格 11"/>
          <p:cNvGraphicFramePr>
            <a:graphicFrameLocks noGrp="1"/>
          </p:cNvGraphicFramePr>
          <p:nvPr>
            <p:extLst>
              <p:ext uri="{D42A27DB-BD31-4B8C-83A1-F6EECF244321}">
                <p14:modId xmlns:p14="http://schemas.microsoft.com/office/powerpoint/2010/main" val="2866614173"/>
              </p:ext>
            </p:extLst>
          </p:nvPr>
        </p:nvGraphicFramePr>
        <p:xfrm>
          <a:off x="402207" y="2780927"/>
          <a:ext cx="4464496" cy="2791531"/>
        </p:xfrm>
        <a:graphic>
          <a:graphicData uri="http://schemas.openxmlformats.org/drawingml/2006/table">
            <a:tbl>
              <a:tblPr firstRow="1" bandRow="1">
                <a:tableStyleId>{5C22544A-7EE6-4342-B048-85BDC9FD1C3A}</a:tableStyleId>
              </a:tblPr>
              <a:tblGrid>
                <a:gridCol w="1119736">
                  <a:extLst>
                    <a:ext uri="{9D8B030D-6E8A-4147-A177-3AD203B41FA5}">
                      <a16:colId xmlns:a16="http://schemas.microsoft.com/office/drawing/2014/main" val="2915487662"/>
                    </a:ext>
                  </a:extLst>
                </a:gridCol>
                <a:gridCol w="1096101">
                  <a:extLst>
                    <a:ext uri="{9D8B030D-6E8A-4147-A177-3AD203B41FA5}">
                      <a16:colId xmlns:a16="http://schemas.microsoft.com/office/drawing/2014/main" val="2166751773"/>
                    </a:ext>
                  </a:extLst>
                </a:gridCol>
                <a:gridCol w="1132535">
                  <a:extLst>
                    <a:ext uri="{9D8B030D-6E8A-4147-A177-3AD203B41FA5}">
                      <a16:colId xmlns:a16="http://schemas.microsoft.com/office/drawing/2014/main" val="1947497689"/>
                    </a:ext>
                  </a:extLst>
                </a:gridCol>
                <a:gridCol w="1116124">
                  <a:extLst>
                    <a:ext uri="{9D8B030D-6E8A-4147-A177-3AD203B41FA5}">
                      <a16:colId xmlns:a16="http://schemas.microsoft.com/office/drawing/2014/main" val="217184959"/>
                    </a:ext>
                  </a:extLst>
                </a:gridCol>
              </a:tblGrid>
              <a:tr h="943696">
                <a:tc>
                  <a:txBody>
                    <a:bodyPr/>
                    <a:lstStyle/>
                    <a:p>
                      <a:pPr algn="ctr"/>
                      <a:endParaRPr lang="zh-CN" altLang="en-US" sz="1600" b="1">
                        <a:latin typeface="微软雅黑" panose="020B0503020204020204" pitchFamily="34" charset="-122"/>
                        <a:ea typeface="微软雅黑" panose="020B0503020204020204" pitchFamily="34" charset="-122"/>
                      </a:endParaRPr>
                    </a:p>
                  </a:txBody>
                  <a:tcPr>
                    <a:solidFill>
                      <a:schemeClr val="bg1"/>
                    </a:solidFill>
                  </a:tcPr>
                </a:tc>
                <a:tc>
                  <a:txBody>
                    <a:bodyPr/>
                    <a:lstStyle/>
                    <a:p>
                      <a:pPr algn="ctr"/>
                      <a:endParaRPr lang="en-US" altLang="zh-CN" sz="16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ctr"/>
                      <a:r>
                        <a:rPr lang="zh-CN" altLang="en-US" sz="16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二阶肾病</a:t>
                      </a:r>
                    </a:p>
                  </a:txBody>
                  <a:tcPr>
                    <a:solidFill>
                      <a:schemeClr val="accent4">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altLang="zh-CN" sz="1600" b="1">
                        <a:solidFill>
                          <a:schemeClr val="accent4">
                            <a:lumMod val="20000"/>
                            <a:lumOff val="8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b="1">
                          <a:solidFill>
                            <a:schemeClr val="accent4">
                              <a:lumMod val="20000"/>
                              <a:lumOff val="8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三阶肾病</a:t>
                      </a:r>
                    </a:p>
                  </a:txBody>
                  <a:tcPr>
                    <a:solidFill>
                      <a:srgbClr val="EE864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altLang="zh-CN" sz="1600" b="1">
                        <a:solidFill>
                          <a:schemeClr val="accent4">
                            <a:lumMod val="60000"/>
                            <a:lumOff val="4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b="1">
                          <a:solidFill>
                            <a:schemeClr val="accent4">
                              <a:lumMod val="60000"/>
                              <a:lumOff val="4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四阶肾病</a:t>
                      </a:r>
                    </a:p>
                  </a:txBody>
                  <a:tcPr>
                    <a:solidFill>
                      <a:srgbClr val="FF2929"/>
                    </a:solidFill>
                  </a:tcPr>
                </a:tc>
                <a:extLst>
                  <a:ext uri="{0D108BD9-81ED-4DB2-BD59-A6C34878D82A}">
                    <a16:rowId xmlns:a16="http://schemas.microsoft.com/office/drawing/2014/main" val="3259516422"/>
                  </a:ext>
                </a:extLst>
              </a:tr>
              <a:tr h="94369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b="1">
                          <a:solidFill>
                            <a:schemeClr val="tx2">
                              <a:lumMod val="75000"/>
                            </a:schemeClr>
                          </a:solidFill>
                          <a:latin typeface="微软雅黑" panose="020B0503020204020204" pitchFamily="34" charset="-122"/>
                          <a:ea typeface="微软雅黑" panose="020B0503020204020204" pitchFamily="34" charset="-122"/>
                        </a:rPr>
                        <a:t>肌酐</a:t>
                      </a:r>
                      <a:endParaRPr lang="en-US" altLang="zh-CN" sz="1600" b="1">
                        <a:solidFill>
                          <a:schemeClr val="tx2">
                            <a:lumMod val="75000"/>
                          </a:schemeClr>
                        </a:solidFill>
                        <a:latin typeface="微软雅黑" panose="020B0503020204020204" pitchFamily="34" charset="-122"/>
                        <a:ea typeface="微软雅黑" panose="020B0503020204020204" pitchFamily="34" charset="-122"/>
                      </a:endParaRPr>
                    </a:p>
                    <a:p>
                      <a:pPr marL="0" marR="0" indent="0" algn="ctr" defTabSz="914400" rtl="0" eaLnBrk="1" fontAlgn="auto" latinLnBrk="0" hangingPunct="1">
                        <a:lnSpc>
                          <a:spcPct val="100000"/>
                        </a:lnSpc>
                        <a:spcBef>
                          <a:spcPts val="0"/>
                        </a:spcBef>
                        <a:spcAft>
                          <a:spcPts val="0"/>
                        </a:spcAft>
                        <a:buClrTx/>
                        <a:buSzTx/>
                        <a:buFontTx/>
                        <a:buNone/>
                        <a:tabLst/>
                        <a:defRPr/>
                      </a:pPr>
                      <a:r>
                        <a:rPr lang="el-GR" altLang="zh-CN" sz="1600" b="1" u="sng">
                          <a:solidFill>
                            <a:schemeClr val="bg2">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μ</a:t>
                      </a:r>
                      <a:r>
                        <a:rPr lang="en-US" altLang="zh-CN" sz="1600" b="1" u="sng">
                          <a:solidFill>
                            <a:schemeClr val="bg2">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mol/L </a:t>
                      </a:r>
                      <a:endParaRPr lang="zh-CN" altLang="en-US" sz="1600" b="1" u="sng">
                        <a:solidFill>
                          <a:schemeClr val="bg2">
                            <a:lumMod val="50000"/>
                          </a:schemeClr>
                        </a:solidFill>
                        <a:latin typeface="微软雅黑" panose="020B0503020204020204" pitchFamily="34" charset="-122"/>
                        <a:ea typeface="微软雅黑" panose="020B0503020204020204" pitchFamily="34" charset="-122"/>
                      </a:endParaRPr>
                    </a:p>
                    <a:p>
                      <a:pPr algn="ctr"/>
                      <a:endParaRPr lang="zh-CN" altLang="en-US" sz="1600" b="1">
                        <a:latin typeface="微软雅黑" panose="020B0503020204020204" pitchFamily="34" charset="-122"/>
                        <a:ea typeface="微软雅黑" panose="020B0503020204020204" pitchFamily="34" charset="-122"/>
                      </a:endParaRPr>
                    </a:p>
                  </a:txBody>
                  <a:tcPr>
                    <a:solidFill>
                      <a:schemeClr val="bg1"/>
                    </a:solidFill>
                  </a:tcPr>
                </a:tc>
                <a:tc>
                  <a:txBody>
                    <a:bodyPr/>
                    <a:lstStyle/>
                    <a:p>
                      <a:pPr algn="ctr">
                        <a:lnSpc>
                          <a:spcPct val="150000"/>
                        </a:lnSpc>
                      </a:pPr>
                      <a:r>
                        <a:rPr lang="zh-CN" altLang="en-US" sz="16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16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140</a:t>
                      </a:r>
                      <a:endParaRPr lang="zh-CN" altLang="en-US" sz="16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a:solidFill>
                      <a:schemeClr val="accent4">
                        <a:lumMod val="40000"/>
                        <a:lumOff val="60000"/>
                      </a:schemeClr>
                    </a:solidFill>
                  </a:tcPr>
                </a:tc>
                <a:tc>
                  <a:txBody>
                    <a:bodyPr/>
                    <a:lstStyle/>
                    <a:p>
                      <a:pPr marL="0" marR="0" indent="0" algn="ctr" defTabSz="914400" rtl="0" eaLnBrk="1" fontAlgn="auto" latinLnBrk="0" hangingPunct="1">
                        <a:lnSpc>
                          <a:spcPct val="150000"/>
                        </a:lnSpc>
                        <a:spcBef>
                          <a:spcPts val="0"/>
                        </a:spcBef>
                        <a:spcAft>
                          <a:spcPts val="0"/>
                        </a:spcAft>
                        <a:buClrTx/>
                        <a:buSzTx/>
                        <a:buFontTx/>
                        <a:buNone/>
                        <a:tabLst/>
                        <a:defRPr/>
                      </a:pPr>
                      <a:r>
                        <a:rPr lang="en-US" altLang="zh-CN" sz="1600" b="1">
                          <a:solidFill>
                            <a:schemeClr val="accent4">
                              <a:lumMod val="20000"/>
                              <a:lumOff val="8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250-439</a:t>
                      </a:r>
                      <a:endParaRPr lang="zh-CN" altLang="en-US" sz="1600" b="1">
                        <a:solidFill>
                          <a:schemeClr val="accent4">
                            <a:lumMod val="20000"/>
                            <a:lumOff val="8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a:solidFill>
                      <a:srgbClr val="EE8640"/>
                    </a:solidFill>
                  </a:tcPr>
                </a:tc>
                <a:tc>
                  <a:txBody>
                    <a:bodyPr/>
                    <a:lstStyle/>
                    <a:p>
                      <a:pPr marL="0" marR="0" indent="0" algn="ctr" defTabSz="914400" rtl="0" eaLnBrk="1" fontAlgn="auto" latinLnBrk="0" hangingPunct="1">
                        <a:lnSpc>
                          <a:spcPct val="150000"/>
                        </a:lnSpc>
                        <a:spcBef>
                          <a:spcPts val="0"/>
                        </a:spcBef>
                        <a:spcAft>
                          <a:spcPts val="0"/>
                        </a:spcAft>
                        <a:buClrTx/>
                        <a:buSzTx/>
                        <a:buFontTx/>
                        <a:buNone/>
                        <a:tabLst/>
                        <a:defRPr/>
                      </a:pPr>
                      <a:r>
                        <a:rPr lang="zh-CN" altLang="en-US" sz="1600" b="1">
                          <a:solidFill>
                            <a:schemeClr val="accent4">
                              <a:lumMod val="60000"/>
                              <a:lumOff val="4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1600" b="1">
                          <a:solidFill>
                            <a:schemeClr val="accent4">
                              <a:lumMod val="60000"/>
                              <a:lumOff val="4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440</a:t>
                      </a:r>
                      <a:endParaRPr lang="zh-CN" altLang="en-US" sz="1600" b="1">
                        <a:solidFill>
                          <a:schemeClr val="accent4">
                            <a:lumMod val="60000"/>
                            <a:lumOff val="4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a:solidFill>
                      <a:srgbClr val="FF2929"/>
                    </a:solidFill>
                  </a:tcPr>
                </a:tc>
                <a:extLst>
                  <a:ext uri="{0D108BD9-81ED-4DB2-BD59-A6C34878D82A}">
                    <a16:rowId xmlns:a16="http://schemas.microsoft.com/office/drawing/2014/main" val="1879847940"/>
                  </a:ext>
                </a:extLst>
              </a:tr>
              <a:tr h="90413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b="1">
                          <a:solidFill>
                            <a:schemeClr val="tx2">
                              <a:lumMod val="75000"/>
                            </a:schemeClr>
                          </a:solidFill>
                          <a:latin typeface="微软雅黑" panose="020B0503020204020204" pitchFamily="34" charset="-122"/>
                          <a:ea typeface="微软雅黑" panose="020B0503020204020204" pitchFamily="34" charset="-122"/>
                        </a:rPr>
                        <a:t>肌酐</a:t>
                      </a:r>
                      <a:endParaRPr lang="en-US" altLang="zh-CN" sz="1600" b="1">
                        <a:solidFill>
                          <a:schemeClr val="tx2">
                            <a:lumMod val="75000"/>
                          </a:schemeClr>
                        </a:solidFill>
                        <a:latin typeface="微软雅黑" panose="020B0503020204020204" pitchFamily="34" charset="-122"/>
                        <a:ea typeface="微软雅黑" panose="020B0503020204020204" pitchFamily="34" charset="-122"/>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b="1" u="sng">
                          <a:solidFill>
                            <a:schemeClr val="bg2">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mg/dl</a:t>
                      </a:r>
                      <a:endParaRPr lang="zh-CN" altLang="en-US" sz="1600" b="1" u="sng">
                        <a:solidFill>
                          <a:schemeClr val="bg2">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ctr"/>
                      <a:endParaRPr lang="zh-CN" altLang="en-US" sz="1600" b="1">
                        <a:latin typeface="微软雅黑" panose="020B0503020204020204" pitchFamily="34" charset="-122"/>
                        <a:ea typeface="微软雅黑" panose="020B0503020204020204" pitchFamily="34" charset="-122"/>
                      </a:endParaRPr>
                    </a:p>
                  </a:txBody>
                  <a:tcPr>
                    <a:solidFill>
                      <a:schemeClr val="bg1"/>
                    </a:solidFill>
                  </a:tcPr>
                </a:tc>
                <a:tc>
                  <a:txBody>
                    <a:bodyPr/>
                    <a:lstStyle/>
                    <a:p>
                      <a:pPr algn="ctr">
                        <a:lnSpc>
                          <a:spcPct val="150000"/>
                        </a:lnSpc>
                      </a:pPr>
                      <a:r>
                        <a:rPr lang="zh-CN" altLang="en-US" sz="16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16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1.6</a:t>
                      </a:r>
                      <a:endParaRPr lang="zh-CN" altLang="en-US" sz="16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a:solidFill>
                      <a:schemeClr val="accent4">
                        <a:lumMod val="40000"/>
                        <a:lumOff val="60000"/>
                      </a:schemeClr>
                    </a:solidFill>
                  </a:tcPr>
                </a:tc>
                <a:tc>
                  <a:txBody>
                    <a:bodyPr/>
                    <a:lstStyle/>
                    <a:p>
                      <a:pPr algn="ctr">
                        <a:lnSpc>
                          <a:spcPct val="150000"/>
                        </a:lnSpc>
                      </a:pPr>
                      <a:r>
                        <a:rPr lang="en-US" altLang="zh-CN" sz="1600" b="1">
                          <a:solidFill>
                            <a:schemeClr val="accent4">
                              <a:lumMod val="20000"/>
                              <a:lumOff val="8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2.9-5.0</a:t>
                      </a:r>
                      <a:endParaRPr lang="zh-CN" altLang="en-US" sz="1600" b="1">
                        <a:solidFill>
                          <a:schemeClr val="accent4">
                            <a:lumMod val="20000"/>
                            <a:lumOff val="8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a:solidFill>
                      <a:srgbClr val="EE8640"/>
                    </a:solidFill>
                  </a:tcPr>
                </a:tc>
                <a:tc>
                  <a:txBody>
                    <a:bodyPr/>
                    <a:lstStyle/>
                    <a:p>
                      <a:pPr algn="ctr">
                        <a:lnSpc>
                          <a:spcPct val="150000"/>
                        </a:lnSpc>
                      </a:pPr>
                      <a:r>
                        <a:rPr lang="zh-CN" altLang="en-US" sz="1600" b="1">
                          <a:solidFill>
                            <a:schemeClr val="accent4">
                              <a:lumMod val="60000"/>
                              <a:lumOff val="4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1600" b="1">
                          <a:solidFill>
                            <a:schemeClr val="accent4">
                              <a:lumMod val="60000"/>
                              <a:lumOff val="4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5.0</a:t>
                      </a:r>
                      <a:endParaRPr lang="zh-CN" altLang="en-US" sz="1600" b="1">
                        <a:solidFill>
                          <a:schemeClr val="accent4">
                            <a:lumMod val="60000"/>
                            <a:lumOff val="4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a:solidFill>
                      <a:srgbClr val="FF2929"/>
                    </a:solidFill>
                  </a:tcPr>
                </a:tc>
                <a:extLst>
                  <a:ext uri="{0D108BD9-81ED-4DB2-BD59-A6C34878D82A}">
                    <a16:rowId xmlns:a16="http://schemas.microsoft.com/office/drawing/2014/main" val="4125776692"/>
                  </a:ext>
                </a:extLst>
              </a:tr>
            </a:tbl>
          </a:graphicData>
        </a:graphic>
      </p:graphicFrame>
      <p:pic>
        <p:nvPicPr>
          <p:cNvPr id="13" name="图片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61443" y="2780927"/>
            <a:ext cx="6480720" cy="2791531"/>
          </a:xfrm>
          <a:prstGeom prst="rect">
            <a:avLst/>
          </a:prstGeom>
        </p:spPr>
      </p:pic>
    </p:spTree>
    <p:extLst>
      <p:ext uri="{BB962C8B-B14F-4D97-AF65-F5344CB8AC3E}">
        <p14:creationId xmlns:p14="http://schemas.microsoft.com/office/powerpoint/2010/main" val="26646968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4" name="矩形 3">
            <a:extLst/>
          </p:cNvPr>
          <p:cNvSpPr/>
          <p:nvPr/>
        </p:nvSpPr>
        <p:spPr>
          <a:xfrm>
            <a:off x="219499" y="1981008"/>
            <a:ext cx="5660477" cy="28394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sp>
        <p:nvSpPr>
          <p:cNvPr id="20" name="箭头: 五边形 6">
            <a:extLst/>
          </p:cNvPr>
          <p:cNvSpPr/>
          <p:nvPr/>
        </p:nvSpPr>
        <p:spPr>
          <a:xfrm rot="10800000" flipH="1">
            <a:off x="0" y="404813"/>
            <a:ext cx="5807075" cy="1344612"/>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grpSp>
        <p:nvGrpSpPr>
          <p:cNvPr id="30724" name="组合 22"/>
          <p:cNvGrpSpPr>
            <a:grpSpLocks/>
          </p:cNvGrpSpPr>
          <p:nvPr/>
        </p:nvGrpSpPr>
        <p:grpSpPr bwMode="auto">
          <a:xfrm>
            <a:off x="196850" y="404813"/>
            <a:ext cx="5817024" cy="1120775"/>
            <a:chOff x="-101400" y="2876417"/>
            <a:chExt cx="4902000" cy="1120760"/>
          </a:xfrm>
        </p:grpSpPr>
        <p:sp>
          <p:nvSpPr>
            <p:cNvPr id="20494" name="文本框 13">
              <a:extLst/>
            </p:cNvPr>
            <p:cNvSpPr txBox="1">
              <a:spLocks noChangeArrowheads="1"/>
            </p:cNvSpPr>
            <p:nvPr/>
          </p:nvSpPr>
          <p:spPr bwMode="auto">
            <a:xfrm>
              <a:off x="-101400" y="2876417"/>
              <a:ext cx="1343136" cy="825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600" b="1">
                  <a:solidFill>
                    <a:srgbClr val="010101"/>
                  </a:solidFill>
                  <a:latin typeface="+mn-lt"/>
                  <a:ea typeface="+mn-ea"/>
                  <a:cs typeface="+mn-ea"/>
                  <a:sym typeface="+mn-lt"/>
                </a:rPr>
                <a:t>PART</a:t>
              </a:r>
            </a:p>
          </p:txBody>
        </p:sp>
        <p:sp>
          <p:nvSpPr>
            <p:cNvPr id="20495" name="文本框 14">
              <a:extLst/>
            </p:cNvPr>
            <p:cNvSpPr txBox="1">
              <a:spLocks noChangeArrowheads="1"/>
            </p:cNvSpPr>
            <p:nvPr/>
          </p:nvSpPr>
          <p:spPr bwMode="auto">
            <a:xfrm>
              <a:off x="1937741" y="3241732"/>
              <a:ext cx="2862859" cy="580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chemeClr val="tx2">
                      <a:lumMod val="75000"/>
                    </a:schemeClr>
                  </a:solidFill>
                  <a:latin typeface="微软雅黑" panose="020B0503020204020204" pitchFamily="34" charset="-122"/>
                  <a:ea typeface="微软雅黑" panose="020B0503020204020204" pitchFamily="34" charset="-122"/>
                  <a:cs typeface="+mn-ea"/>
                  <a:sym typeface="+mn-lt"/>
                </a:rPr>
                <a:t>猫慢性肾病的诊断</a:t>
              </a:r>
              <a:endParaRPr lang="en-US" altLang="zh-CN" sz="2400">
                <a:solidFill>
                  <a:srgbClr val="010101"/>
                </a:solidFill>
                <a:latin typeface="+mn-lt"/>
                <a:ea typeface="+mn-ea"/>
                <a:cs typeface="+mn-ea"/>
                <a:sym typeface="+mn-lt"/>
              </a:endParaRPr>
            </a:p>
          </p:txBody>
        </p:sp>
        <p:cxnSp>
          <p:nvCxnSpPr>
            <p:cNvPr id="24" name="直接连接符 23">
              <a:extLst/>
            </p:cNvPr>
            <p:cNvCxnSpPr>
              <a:cxnSpLocks/>
            </p:cNvCxnSpPr>
            <p:nvPr/>
          </p:nvCxnSpPr>
          <p:spPr>
            <a:xfrm flipH="1">
              <a:off x="489901" y="3171688"/>
              <a:ext cx="1074241" cy="722302"/>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0497" name="矩形 20">
              <a:extLst/>
            </p:cNvPr>
            <p:cNvSpPr>
              <a:spLocks noChangeArrowheads="1"/>
            </p:cNvSpPr>
            <p:nvPr/>
          </p:nvSpPr>
          <p:spPr bwMode="auto">
            <a:xfrm>
              <a:off x="618328" y="3473309"/>
              <a:ext cx="1577249" cy="523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lvl="1">
                <a:lnSpc>
                  <a:spcPct val="100000"/>
                </a:lnSpc>
                <a:spcBef>
                  <a:spcPct val="0"/>
                </a:spcBef>
                <a:buFontTx/>
                <a:buNone/>
                <a:defRPr/>
              </a:pPr>
              <a:r>
                <a:rPr lang="en-US" altLang="zh-CN" sz="2800" b="1">
                  <a:solidFill>
                    <a:srgbClr val="010101"/>
                  </a:solidFill>
                  <a:latin typeface="+mn-lt"/>
                  <a:ea typeface="+mn-ea"/>
                  <a:cs typeface="+mn-ea"/>
                  <a:sym typeface="+mn-lt"/>
                </a:rPr>
                <a:t>TWO</a:t>
              </a:r>
              <a:endParaRPr lang="zh-CN" altLang="en-US" sz="1400">
                <a:latin typeface="+mn-lt"/>
                <a:ea typeface="+mn-ea"/>
                <a:cs typeface="+mn-ea"/>
                <a:sym typeface="+mn-lt"/>
              </a:endParaRPr>
            </a:p>
          </p:txBody>
        </p:sp>
      </p:grpSp>
      <p:sp>
        <p:nvSpPr>
          <p:cNvPr id="2" name="文本框 1"/>
          <p:cNvSpPr txBox="1"/>
          <p:nvPr/>
        </p:nvSpPr>
        <p:spPr>
          <a:xfrm>
            <a:off x="285637" y="2043172"/>
            <a:ext cx="6890483" cy="523220"/>
          </a:xfrm>
          <a:prstGeom prst="rect">
            <a:avLst/>
          </a:prstGeom>
          <a:noFill/>
        </p:spPr>
        <p:txBody>
          <a:bodyPr wrap="square" rtlCol="0">
            <a:spAutoFit/>
          </a:bodyPr>
          <a:lstStyle/>
          <a:p>
            <a:r>
              <a:rPr lang="zh-CN" altLang="en-US" sz="2800" b="1">
                <a:solidFill>
                  <a:schemeClr val="tx2">
                    <a:lumMod val="75000"/>
                  </a:schemeClr>
                </a:solidFill>
                <a:effectLst>
                  <a:outerShdw blurRad="38100" dist="38100" dir="2700000" algn="tl">
                    <a:srgbClr val="000000">
                      <a:alpha val="43137"/>
                    </a:srgbClr>
                  </a:outerShdw>
                </a:effectLst>
                <a:latin typeface="+mj-ea"/>
                <a:ea typeface="+mj-ea"/>
              </a:rPr>
              <a:t>猫慢性肾病诊断时可以用哪些？</a:t>
            </a:r>
            <a:endParaRPr lang="en-US" altLang="zh-CN" sz="2800" b="1">
              <a:solidFill>
                <a:schemeClr val="tx2">
                  <a:lumMod val="75000"/>
                </a:schemeClr>
              </a:solidFill>
              <a:effectLst>
                <a:outerShdw blurRad="38100" dist="38100" dir="2700000" algn="tl">
                  <a:srgbClr val="000000">
                    <a:alpha val="43137"/>
                  </a:srgbClr>
                </a:outerShdw>
              </a:effectLst>
              <a:latin typeface="+mj-ea"/>
              <a:ea typeface="+mj-ea"/>
            </a:endParaRPr>
          </a:p>
        </p:txBody>
      </p:sp>
      <p:sp>
        <p:nvSpPr>
          <p:cNvPr id="5" name="文本框 4"/>
          <p:cNvSpPr txBox="1"/>
          <p:nvPr/>
        </p:nvSpPr>
        <p:spPr>
          <a:xfrm>
            <a:off x="40229" y="2746387"/>
            <a:ext cx="5726615" cy="2246769"/>
          </a:xfrm>
          <a:prstGeom prst="rect">
            <a:avLst/>
          </a:prstGeom>
          <a:noFill/>
        </p:spPr>
        <p:txBody>
          <a:bodyPr wrap="square" numCol="2" rtlCol="0">
            <a:spAutoFit/>
          </a:bodyPr>
          <a:lstStyle/>
          <a:p>
            <a:pPr marL="742950" lvl="1" indent="-285750">
              <a:buFont typeface="Wingdings" panose="05000000000000000000" pitchFamily="2" charset="2"/>
              <a:buChar char="l"/>
            </a:pPr>
            <a:r>
              <a:rPr lang="zh-CN" altLang="en-US" sz="2000" b="1">
                <a:solidFill>
                  <a:schemeClr val="tx1">
                    <a:lumMod val="75000"/>
                    <a:lumOff val="25000"/>
                  </a:schemeClr>
                </a:solidFill>
                <a:effectLst>
                  <a:outerShdw blurRad="38100" dist="38100" dir="2700000" algn="tl">
                    <a:srgbClr val="000000">
                      <a:alpha val="43137"/>
                    </a:srgbClr>
                  </a:outerShdw>
                </a:effectLst>
                <a:latin typeface="+mj-ea"/>
                <a:ea typeface="+mj-ea"/>
              </a:rPr>
              <a:t>肌酐（</a:t>
            </a:r>
            <a:r>
              <a:rPr lang="en-US" altLang="zh-CN" sz="2000" b="1">
                <a:solidFill>
                  <a:schemeClr val="tx1">
                    <a:lumMod val="75000"/>
                    <a:lumOff val="25000"/>
                  </a:schemeClr>
                </a:solidFill>
                <a:effectLst>
                  <a:outerShdw blurRad="38100" dist="38100" dir="2700000" algn="tl">
                    <a:srgbClr val="000000">
                      <a:alpha val="43137"/>
                    </a:srgbClr>
                  </a:outerShdw>
                </a:effectLst>
                <a:latin typeface="+mj-ea"/>
                <a:ea typeface="+mj-ea"/>
              </a:rPr>
              <a:t>CREA</a:t>
            </a:r>
            <a:r>
              <a:rPr lang="zh-CN" altLang="en-US" sz="2000" b="1">
                <a:solidFill>
                  <a:schemeClr val="tx1">
                    <a:lumMod val="75000"/>
                    <a:lumOff val="25000"/>
                  </a:schemeClr>
                </a:solidFill>
                <a:effectLst>
                  <a:outerShdw blurRad="38100" dist="38100" dir="2700000" algn="tl">
                    <a:srgbClr val="000000">
                      <a:alpha val="43137"/>
                    </a:srgbClr>
                  </a:outerShdw>
                </a:effectLst>
                <a:latin typeface="+mj-ea"/>
                <a:ea typeface="+mj-ea"/>
              </a:rPr>
              <a:t>）</a:t>
            </a:r>
            <a:endParaRPr lang="en-US" altLang="zh-CN" sz="2000" b="1">
              <a:solidFill>
                <a:schemeClr val="tx1">
                  <a:lumMod val="75000"/>
                  <a:lumOff val="25000"/>
                </a:schemeClr>
              </a:solidFill>
              <a:effectLst>
                <a:outerShdw blurRad="38100" dist="38100" dir="2700000" algn="tl">
                  <a:srgbClr val="000000">
                    <a:alpha val="43137"/>
                  </a:srgbClr>
                </a:outerShdw>
              </a:effectLst>
              <a:latin typeface="+mj-ea"/>
              <a:ea typeface="+mj-ea"/>
            </a:endParaRPr>
          </a:p>
          <a:p>
            <a:pPr marL="742950" lvl="1" indent="-285750">
              <a:buFont typeface="Wingdings" panose="05000000000000000000" pitchFamily="2" charset="2"/>
              <a:buChar char="l"/>
            </a:pPr>
            <a:r>
              <a:rPr lang="zh-CN" altLang="en-US" sz="2000">
                <a:solidFill>
                  <a:schemeClr val="tx1">
                    <a:lumMod val="75000"/>
                    <a:lumOff val="25000"/>
                  </a:schemeClr>
                </a:solidFill>
                <a:effectLst>
                  <a:outerShdw blurRad="38100" dist="38100" dir="2700000" algn="tl">
                    <a:srgbClr val="000000">
                      <a:alpha val="43137"/>
                    </a:srgbClr>
                  </a:outerShdw>
                </a:effectLst>
                <a:latin typeface="+mj-ea"/>
                <a:ea typeface="+mj-ea"/>
              </a:rPr>
              <a:t>尿素氮 （</a:t>
            </a:r>
            <a:r>
              <a:rPr lang="en-US" altLang="zh-CN" sz="2000">
                <a:solidFill>
                  <a:schemeClr val="tx1">
                    <a:lumMod val="75000"/>
                    <a:lumOff val="25000"/>
                  </a:schemeClr>
                </a:solidFill>
                <a:effectLst>
                  <a:outerShdw blurRad="38100" dist="38100" dir="2700000" algn="tl">
                    <a:srgbClr val="000000">
                      <a:alpha val="43137"/>
                    </a:srgbClr>
                  </a:outerShdw>
                </a:effectLst>
                <a:latin typeface="+mj-ea"/>
                <a:ea typeface="+mj-ea"/>
              </a:rPr>
              <a:t>BUN</a:t>
            </a:r>
            <a:r>
              <a:rPr lang="zh-CN" altLang="en-US" sz="2000">
                <a:solidFill>
                  <a:schemeClr val="tx1">
                    <a:lumMod val="75000"/>
                    <a:lumOff val="25000"/>
                  </a:schemeClr>
                </a:solidFill>
                <a:effectLst>
                  <a:outerShdw blurRad="38100" dist="38100" dir="2700000" algn="tl">
                    <a:srgbClr val="000000">
                      <a:alpha val="43137"/>
                    </a:srgbClr>
                  </a:outerShdw>
                </a:effectLst>
                <a:latin typeface="+mj-ea"/>
                <a:ea typeface="+mj-ea"/>
              </a:rPr>
              <a:t>）</a:t>
            </a:r>
            <a:endParaRPr lang="en-US" altLang="zh-CN" sz="2000">
              <a:solidFill>
                <a:schemeClr val="tx1">
                  <a:lumMod val="75000"/>
                  <a:lumOff val="25000"/>
                </a:schemeClr>
              </a:solidFill>
              <a:effectLst>
                <a:outerShdw blurRad="38100" dist="38100" dir="2700000" algn="tl">
                  <a:srgbClr val="000000">
                    <a:alpha val="43137"/>
                  </a:srgbClr>
                </a:outerShdw>
              </a:effectLst>
              <a:latin typeface="+mj-ea"/>
              <a:ea typeface="+mj-ea"/>
            </a:endParaRPr>
          </a:p>
          <a:p>
            <a:pPr marL="742950" lvl="1" indent="-285750">
              <a:buFont typeface="Wingdings" panose="05000000000000000000" pitchFamily="2" charset="2"/>
              <a:buChar char="l"/>
            </a:pPr>
            <a:r>
              <a:rPr lang="zh-CN" altLang="en-US" sz="2000">
                <a:solidFill>
                  <a:schemeClr val="tx1">
                    <a:lumMod val="75000"/>
                    <a:lumOff val="25000"/>
                  </a:schemeClr>
                </a:solidFill>
                <a:effectLst>
                  <a:outerShdw blurRad="38100" dist="38100" dir="2700000" algn="tl">
                    <a:srgbClr val="000000">
                      <a:alpha val="43137"/>
                    </a:srgbClr>
                  </a:outerShdw>
                </a:effectLst>
                <a:latin typeface="+mj-ea"/>
                <a:ea typeface="+mj-ea"/>
              </a:rPr>
              <a:t>血常规</a:t>
            </a:r>
            <a:endParaRPr lang="en-US" altLang="zh-CN" sz="2000">
              <a:solidFill>
                <a:schemeClr val="tx1">
                  <a:lumMod val="75000"/>
                  <a:lumOff val="25000"/>
                </a:schemeClr>
              </a:solidFill>
              <a:effectLst>
                <a:outerShdw blurRad="38100" dist="38100" dir="2700000" algn="tl">
                  <a:srgbClr val="000000">
                    <a:alpha val="43137"/>
                  </a:srgbClr>
                </a:outerShdw>
              </a:effectLst>
              <a:latin typeface="+mj-ea"/>
              <a:ea typeface="+mj-ea"/>
            </a:endParaRPr>
          </a:p>
          <a:p>
            <a:pPr marL="742950" lvl="1" indent="-285750">
              <a:buFont typeface="Wingdings" panose="05000000000000000000" pitchFamily="2" charset="2"/>
              <a:buChar char="l"/>
            </a:pPr>
            <a:r>
              <a:rPr lang="zh-CN" altLang="en-US" sz="2000">
                <a:solidFill>
                  <a:schemeClr val="tx1">
                    <a:lumMod val="75000"/>
                    <a:lumOff val="25000"/>
                  </a:schemeClr>
                </a:solidFill>
                <a:effectLst>
                  <a:outerShdw blurRad="38100" dist="38100" dir="2700000" algn="tl">
                    <a:srgbClr val="000000">
                      <a:alpha val="43137"/>
                    </a:srgbClr>
                  </a:outerShdw>
                </a:effectLst>
                <a:latin typeface="+mj-ea"/>
                <a:ea typeface="+mj-ea"/>
              </a:rPr>
              <a:t>触诊</a:t>
            </a:r>
            <a:endParaRPr lang="en-US" altLang="zh-CN" sz="2000">
              <a:solidFill>
                <a:schemeClr val="tx1">
                  <a:lumMod val="75000"/>
                  <a:lumOff val="25000"/>
                </a:schemeClr>
              </a:solidFill>
              <a:effectLst>
                <a:outerShdw blurRad="38100" dist="38100" dir="2700000" algn="tl">
                  <a:srgbClr val="000000">
                    <a:alpha val="43137"/>
                  </a:srgbClr>
                </a:outerShdw>
              </a:effectLst>
              <a:latin typeface="+mj-ea"/>
              <a:ea typeface="+mj-ea"/>
            </a:endParaRPr>
          </a:p>
          <a:p>
            <a:pPr marL="742950" lvl="1" indent="-285750">
              <a:buFont typeface="Wingdings" panose="05000000000000000000" pitchFamily="2" charset="2"/>
              <a:buChar char="l"/>
            </a:pPr>
            <a:endParaRPr lang="en-US" altLang="zh-CN" sz="2000" b="1">
              <a:solidFill>
                <a:schemeClr val="tx1">
                  <a:lumMod val="75000"/>
                  <a:lumOff val="25000"/>
                </a:schemeClr>
              </a:solidFill>
              <a:effectLst>
                <a:outerShdw blurRad="38100" dist="38100" dir="2700000" algn="tl">
                  <a:srgbClr val="000000">
                    <a:alpha val="43137"/>
                  </a:srgbClr>
                </a:outerShdw>
              </a:effectLst>
              <a:latin typeface="+mj-ea"/>
              <a:ea typeface="+mj-ea"/>
            </a:endParaRPr>
          </a:p>
          <a:p>
            <a:pPr marL="742950" lvl="1" indent="-285750">
              <a:buFont typeface="Wingdings" panose="05000000000000000000" pitchFamily="2" charset="2"/>
              <a:buChar char="l"/>
            </a:pPr>
            <a:endParaRPr lang="en-US" altLang="zh-CN" sz="2000" b="1">
              <a:solidFill>
                <a:schemeClr val="tx1">
                  <a:lumMod val="75000"/>
                  <a:lumOff val="25000"/>
                </a:schemeClr>
              </a:solidFill>
              <a:effectLst>
                <a:outerShdw blurRad="38100" dist="38100" dir="2700000" algn="tl">
                  <a:srgbClr val="000000">
                    <a:alpha val="43137"/>
                  </a:srgbClr>
                </a:outerShdw>
              </a:effectLst>
              <a:latin typeface="+mj-ea"/>
              <a:ea typeface="+mj-ea"/>
            </a:endParaRPr>
          </a:p>
          <a:p>
            <a:pPr marL="742950" lvl="1" indent="-285750">
              <a:buFont typeface="Wingdings" panose="05000000000000000000" pitchFamily="2" charset="2"/>
              <a:buChar char="l"/>
            </a:pPr>
            <a:endParaRPr lang="en-US" altLang="zh-CN" sz="2000" b="1">
              <a:solidFill>
                <a:schemeClr val="tx1">
                  <a:lumMod val="75000"/>
                  <a:lumOff val="25000"/>
                </a:schemeClr>
              </a:solidFill>
              <a:effectLst>
                <a:outerShdw blurRad="38100" dist="38100" dir="2700000" algn="tl">
                  <a:srgbClr val="000000">
                    <a:alpha val="43137"/>
                  </a:srgbClr>
                </a:outerShdw>
              </a:effectLst>
              <a:latin typeface="+mj-ea"/>
              <a:ea typeface="+mj-ea"/>
            </a:endParaRPr>
          </a:p>
          <a:p>
            <a:pPr marL="742950" lvl="1" indent="-285750">
              <a:buFont typeface="Wingdings" panose="05000000000000000000" pitchFamily="2" charset="2"/>
              <a:buChar char="l"/>
            </a:pPr>
            <a:r>
              <a:rPr lang="zh-CN" altLang="en-US" sz="2000">
                <a:solidFill>
                  <a:schemeClr val="tx1">
                    <a:lumMod val="75000"/>
                    <a:lumOff val="25000"/>
                  </a:schemeClr>
                </a:solidFill>
                <a:effectLst>
                  <a:outerShdw blurRad="38100" dist="38100" dir="2700000" algn="tl">
                    <a:srgbClr val="000000">
                      <a:alpha val="43137"/>
                    </a:srgbClr>
                  </a:outerShdw>
                </a:effectLst>
                <a:latin typeface="+mj-ea"/>
                <a:ea typeface="+mj-ea"/>
              </a:rPr>
              <a:t>超声</a:t>
            </a:r>
            <a:endParaRPr lang="en-US" altLang="zh-CN" sz="2000">
              <a:solidFill>
                <a:schemeClr val="tx1">
                  <a:lumMod val="75000"/>
                  <a:lumOff val="25000"/>
                </a:schemeClr>
              </a:solidFill>
              <a:effectLst>
                <a:outerShdw blurRad="38100" dist="38100" dir="2700000" algn="tl">
                  <a:srgbClr val="000000">
                    <a:alpha val="43137"/>
                  </a:srgbClr>
                </a:outerShdw>
              </a:effectLst>
              <a:latin typeface="+mj-ea"/>
              <a:ea typeface="+mj-ea"/>
            </a:endParaRPr>
          </a:p>
          <a:p>
            <a:pPr marL="742950" lvl="1" indent="-285750">
              <a:buFont typeface="Wingdings" panose="05000000000000000000" pitchFamily="2" charset="2"/>
              <a:buChar char="l"/>
            </a:pPr>
            <a:r>
              <a:rPr lang="zh-CN" altLang="en-US" sz="2000">
                <a:solidFill>
                  <a:schemeClr val="tx1">
                    <a:lumMod val="75000"/>
                    <a:lumOff val="25000"/>
                  </a:schemeClr>
                </a:solidFill>
                <a:effectLst>
                  <a:outerShdw blurRad="38100" dist="38100" dir="2700000" algn="tl">
                    <a:srgbClr val="000000">
                      <a:alpha val="43137"/>
                    </a:srgbClr>
                  </a:outerShdw>
                </a:effectLst>
                <a:latin typeface="+mj-ea"/>
                <a:ea typeface="+mj-ea"/>
              </a:rPr>
              <a:t>尿比重（＜</a:t>
            </a:r>
            <a:r>
              <a:rPr lang="en-US" altLang="zh-CN" sz="2000">
                <a:solidFill>
                  <a:schemeClr val="tx1">
                    <a:lumMod val="75000"/>
                    <a:lumOff val="25000"/>
                  </a:schemeClr>
                </a:solidFill>
                <a:effectLst>
                  <a:outerShdw blurRad="38100" dist="38100" dir="2700000" algn="tl">
                    <a:srgbClr val="000000">
                      <a:alpha val="43137"/>
                    </a:srgbClr>
                  </a:outerShdw>
                </a:effectLst>
                <a:latin typeface="+mj-ea"/>
                <a:ea typeface="+mj-ea"/>
              </a:rPr>
              <a:t>1.035)</a:t>
            </a:r>
          </a:p>
          <a:p>
            <a:pPr marL="742950" lvl="1" indent="-285750">
              <a:buFont typeface="Wingdings" panose="05000000000000000000" pitchFamily="2" charset="2"/>
              <a:buChar char="l"/>
            </a:pPr>
            <a:r>
              <a:rPr lang="en-US" altLang="zh-CN" sz="2000">
                <a:solidFill>
                  <a:schemeClr val="tx1">
                    <a:lumMod val="75000"/>
                    <a:lumOff val="25000"/>
                  </a:schemeClr>
                </a:solidFill>
                <a:effectLst>
                  <a:outerShdw blurRad="38100" dist="38100" dir="2700000" algn="tl">
                    <a:srgbClr val="000000">
                      <a:alpha val="43137"/>
                    </a:srgbClr>
                  </a:outerShdw>
                </a:effectLst>
                <a:latin typeface="+mj-ea"/>
                <a:ea typeface="+mj-ea"/>
              </a:rPr>
              <a:t>UPC</a:t>
            </a:r>
            <a:r>
              <a:rPr lang="zh-CN" altLang="en-US" sz="2000">
                <a:solidFill>
                  <a:schemeClr val="tx1">
                    <a:lumMod val="75000"/>
                    <a:lumOff val="25000"/>
                  </a:schemeClr>
                </a:solidFill>
                <a:effectLst>
                  <a:outerShdw blurRad="38100" dist="38100" dir="2700000" algn="tl">
                    <a:srgbClr val="000000">
                      <a:alpha val="43137"/>
                    </a:srgbClr>
                  </a:outerShdw>
                </a:effectLst>
                <a:latin typeface="+mj-ea"/>
                <a:ea typeface="+mj-ea"/>
              </a:rPr>
              <a:t>（≥</a:t>
            </a:r>
            <a:r>
              <a:rPr lang="en-US" altLang="zh-CN" sz="2000">
                <a:solidFill>
                  <a:schemeClr val="tx1">
                    <a:lumMod val="75000"/>
                    <a:lumOff val="25000"/>
                  </a:schemeClr>
                </a:solidFill>
                <a:effectLst>
                  <a:outerShdw blurRad="38100" dist="38100" dir="2700000" algn="tl">
                    <a:srgbClr val="000000">
                      <a:alpha val="43137"/>
                    </a:srgbClr>
                  </a:outerShdw>
                </a:effectLst>
                <a:latin typeface="+mj-ea"/>
                <a:ea typeface="+mj-ea"/>
              </a:rPr>
              <a:t>0.4</a:t>
            </a:r>
            <a:r>
              <a:rPr lang="zh-CN" altLang="en-US" sz="2000">
                <a:solidFill>
                  <a:schemeClr val="tx1">
                    <a:lumMod val="75000"/>
                    <a:lumOff val="25000"/>
                  </a:schemeClr>
                </a:solidFill>
                <a:effectLst>
                  <a:outerShdw blurRad="38100" dist="38100" dir="2700000" algn="tl">
                    <a:srgbClr val="000000">
                      <a:alpha val="43137"/>
                    </a:srgbClr>
                  </a:outerShdw>
                </a:effectLst>
                <a:latin typeface="+mj-ea"/>
                <a:ea typeface="+mj-ea"/>
              </a:rPr>
              <a:t>）</a:t>
            </a:r>
            <a:endParaRPr lang="en-US" altLang="zh-CN" sz="2000">
              <a:solidFill>
                <a:schemeClr val="tx1">
                  <a:lumMod val="75000"/>
                  <a:lumOff val="25000"/>
                </a:schemeClr>
              </a:solidFill>
              <a:effectLst>
                <a:outerShdw blurRad="38100" dist="38100" dir="2700000" algn="tl">
                  <a:srgbClr val="000000">
                    <a:alpha val="43137"/>
                  </a:srgbClr>
                </a:outerShdw>
              </a:effectLst>
              <a:latin typeface="+mj-ea"/>
              <a:ea typeface="+mj-ea"/>
            </a:endParaRPr>
          </a:p>
          <a:p>
            <a:pPr marL="742950" lvl="1" indent="-285750">
              <a:buFont typeface="Wingdings" panose="05000000000000000000" pitchFamily="2" charset="2"/>
              <a:buChar char="l"/>
            </a:pPr>
            <a:r>
              <a:rPr lang="en-US" altLang="zh-CN" sz="2000">
                <a:solidFill>
                  <a:schemeClr val="tx1">
                    <a:lumMod val="75000"/>
                    <a:lumOff val="25000"/>
                  </a:schemeClr>
                </a:solidFill>
                <a:effectLst>
                  <a:outerShdw blurRad="38100" dist="38100" dir="2700000" algn="tl">
                    <a:srgbClr val="000000">
                      <a:alpha val="43137"/>
                    </a:srgbClr>
                  </a:outerShdw>
                </a:effectLst>
                <a:latin typeface="+mj-ea"/>
                <a:ea typeface="+mj-ea"/>
              </a:rPr>
              <a:t>SDMA</a:t>
            </a:r>
          </a:p>
          <a:p>
            <a:pPr marL="1200150" lvl="2" indent="-285750">
              <a:buFont typeface="Wingdings" panose="05000000000000000000" pitchFamily="2" charset="2"/>
              <a:buChar char="l"/>
            </a:pPr>
            <a:endParaRPr lang="zh-CN" altLang="en-US" sz="1600" b="1">
              <a:solidFill>
                <a:schemeClr val="tx1">
                  <a:lumMod val="75000"/>
                  <a:lumOff val="25000"/>
                </a:schemeClr>
              </a:solidFill>
              <a:effectLst>
                <a:outerShdw blurRad="38100" dist="38100" dir="2700000" algn="tl">
                  <a:srgbClr val="000000">
                    <a:alpha val="43137"/>
                  </a:srgbClr>
                </a:outerShdw>
              </a:effectLst>
              <a:latin typeface="+mj-ea"/>
              <a:ea typeface="+mj-ea"/>
            </a:endParaRPr>
          </a:p>
        </p:txBody>
      </p:sp>
      <p:sp>
        <p:nvSpPr>
          <p:cNvPr id="39" name="矩形 38">
            <a:extLst/>
          </p:cNvPr>
          <p:cNvSpPr/>
          <p:nvPr/>
        </p:nvSpPr>
        <p:spPr>
          <a:xfrm>
            <a:off x="219499" y="4882644"/>
            <a:ext cx="5660477" cy="182638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sp>
        <p:nvSpPr>
          <p:cNvPr id="6" name="文本框 5"/>
          <p:cNvSpPr txBox="1"/>
          <p:nvPr/>
        </p:nvSpPr>
        <p:spPr>
          <a:xfrm>
            <a:off x="335360" y="4940255"/>
            <a:ext cx="6480720" cy="1600438"/>
          </a:xfrm>
          <a:prstGeom prst="rect">
            <a:avLst/>
          </a:prstGeom>
          <a:noFill/>
        </p:spPr>
        <p:txBody>
          <a:bodyPr wrap="square" rtlCol="0">
            <a:spAutoFit/>
          </a:bodyPr>
          <a:lstStyle/>
          <a:p>
            <a:r>
              <a:rPr lang="zh-CN" altLang="en-US" b="1">
                <a:effectLst>
                  <a:outerShdw blurRad="38100" dist="38100" dir="2700000" algn="tl">
                    <a:srgbClr val="000000">
                      <a:alpha val="43137"/>
                    </a:srgbClr>
                  </a:outerShdw>
                </a:effectLst>
                <a:latin typeface="+mj-ea"/>
                <a:ea typeface="+mj-ea"/>
              </a:rPr>
              <a:t>容易出现的问题：</a:t>
            </a:r>
            <a:endParaRPr lang="en-US" altLang="zh-CN" b="1">
              <a:effectLst>
                <a:outerShdw blurRad="38100" dist="38100" dir="2700000" algn="tl">
                  <a:srgbClr val="000000">
                    <a:alpha val="43137"/>
                  </a:srgbClr>
                </a:outerShdw>
              </a:effectLst>
              <a:latin typeface="+mj-ea"/>
              <a:ea typeface="+mj-ea"/>
            </a:endParaRPr>
          </a:p>
          <a:p>
            <a:pPr marL="285750" indent="-285750">
              <a:buFont typeface="Wingdings" panose="05000000000000000000" pitchFamily="2" charset="2"/>
              <a:buChar char="p"/>
            </a:pPr>
            <a:r>
              <a:rPr lang="zh-CN" altLang="en-US" sz="1600">
                <a:solidFill>
                  <a:srgbClr val="C00000"/>
                </a:solidFill>
                <a:effectLst>
                  <a:outerShdw blurRad="38100" dist="38100" dir="2700000" algn="tl">
                    <a:srgbClr val="000000">
                      <a:alpha val="43137"/>
                    </a:srgbClr>
                  </a:outerShdw>
                </a:effectLst>
                <a:latin typeface="+mj-ea"/>
                <a:ea typeface="+mj-ea"/>
              </a:rPr>
              <a:t>因为脱水而数值虚高，误诊。</a:t>
            </a:r>
            <a:endParaRPr lang="en-US" altLang="zh-CN" sz="1600">
              <a:solidFill>
                <a:srgbClr val="C00000"/>
              </a:solidFill>
              <a:effectLst>
                <a:outerShdw blurRad="38100" dist="38100" dir="2700000" algn="tl">
                  <a:srgbClr val="000000">
                    <a:alpha val="43137"/>
                  </a:srgbClr>
                </a:outerShdw>
              </a:effectLst>
              <a:latin typeface="+mj-ea"/>
              <a:ea typeface="+mj-ea"/>
            </a:endParaRPr>
          </a:p>
          <a:p>
            <a:pPr marL="285750" indent="-285750">
              <a:buFont typeface="Wingdings" panose="05000000000000000000" pitchFamily="2" charset="2"/>
              <a:buChar char="p"/>
            </a:pPr>
            <a:r>
              <a:rPr lang="zh-CN" altLang="en-US" sz="1600">
                <a:solidFill>
                  <a:srgbClr val="C00000"/>
                </a:solidFill>
                <a:effectLst>
                  <a:outerShdw blurRad="38100" dist="38100" dir="2700000" algn="tl">
                    <a:srgbClr val="000000">
                      <a:alpha val="43137"/>
                    </a:srgbClr>
                  </a:outerShdw>
                </a:effectLst>
                <a:latin typeface="+mj-ea"/>
                <a:ea typeface="+mj-ea"/>
              </a:rPr>
              <a:t>只用尿素氮（</a:t>
            </a:r>
            <a:r>
              <a:rPr lang="en-US" altLang="zh-CN" sz="1600">
                <a:solidFill>
                  <a:srgbClr val="C00000"/>
                </a:solidFill>
                <a:effectLst>
                  <a:outerShdw blurRad="38100" dist="38100" dir="2700000" algn="tl">
                    <a:srgbClr val="000000">
                      <a:alpha val="43137"/>
                    </a:srgbClr>
                  </a:outerShdw>
                </a:effectLst>
                <a:latin typeface="+mj-ea"/>
                <a:ea typeface="+mj-ea"/>
              </a:rPr>
              <a:t>BUN</a:t>
            </a:r>
            <a:r>
              <a:rPr lang="zh-CN" altLang="en-US" sz="1600">
                <a:solidFill>
                  <a:srgbClr val="C00000"/>
                </a:solidFill>
                <a:effectLst>
                  <a:outerShdw blurRad="38100" dist="38100" dir="2700000" algn="tl">
                    <a:srgbClr val="000000">
                      <a:alpha val="43137"/>
                    </a:srgbClr>
                  </a:outerShdw>
                </a:effectLst>
                <a:latin typeface="+mj-ea"/>
                <a:ea typeface="+mj-ea"/>
              </a:rPr>
              <a:t>）这个特异性很差的项目导出结论。</a:t>
            </a:r>
            <a:endParaRPr lang="en-US" altLang="zh-CN" sz="1600">
              <a:solidFill>
                <a:srgbClr val="C00000"/>
              </a:solidFill>
              <a:effectLst>
                <a:outerShdw blurRad="38100" dist="38100" dir="2700000" algn="tl">
                  <a:srgbClr val="000000">
                    <a:alpha val="43137"/>
                  </a:srgbClr>
                </a:outerShdw>
              </a:effectLst>
              <a:latin typeface="+mj-ea"/>
              <a:ea typeface="+mj-ea"/>
            </a:endParaRPr>
          </a:p>
          <a:p>
            <a:pPr marL="285750" indent="-285750">
              <a:buFont typeface="Wingdings" panose="05000000000000000000" pitchFamily="2" charset="2"/>
              <a:buChar char="p"/>
            </a:pPr>
            <a:r>
              <a:rPr lang="zh-CN" altLang="en-US" sz="1600">
                <a:solidFill>
                  <a:srgbClr val="C00000"/>
                </a:solidFill>
                <a:effectLst>
                  <a:outerShdw blurRad="38100" dist="38100" dir="2700000" algn="tl">
                    <a:srgbClr val="000000">
                      <a:alpha val="43137"/>
                    </a:srgbClr>
                  </a:outerShdw>
                </a:effectLst>
                <a:latin typeface="+mj-ea"/>
                <a:ea typeface="+mj-ea"/>
              </a:rPr>
              <a:t>检测设备数值范围不一，已经异常的显示为正常。</a:t>
            </a:r>
            <a:endParaRPr lang="en-US" altLang="zh-CN" sz="1600">
              <a:solidFill>
                <a:srgbClr val="C00000"/>
              </a:solidFill>
              <a:effectLst>
                <a:outerShdw blurRad="38100" dist="38100" dir="2700000" algn="tl">
                  <a:srgbClr val="000000">
                    <a:alpha val="43137"/>
                  </a:srgbClr>
                </a:outerShdw>
              </a:effectLst>
              <a:latin typeface="+mj-ea"/>
              <a:ea typeface="+mj-ea"/>
            </a:endParaRPr>
          </a:p>
          <a:p>
            <a:pPr marL="285750" indent="-285750">
              <a:buFont typeface="Wingdings" panose="05000000000000000000" pitchFamily="2" charset="2"/>
              <a:buChar char="p"/>
            </a:pPr>
            <a:r>
              <a:rPr lang="zh-CN" altLang="en-US" sz="1600">
                <a:solidFill>
                  <a:srgbClr val="C00000"/>
                </a:solidFill>
                <a:effectLst>
                  <a:outerShdw blurRad="38100" dist="38100" dir="2700000" algn="tl">
                    <a:srgbClr val="000000">
                      <a:alpha val="43137"/>
                    </a:srgbClr>
                  </a:outerShdw>
                </a:effectLst>
                <a:latin typeface="+mj-ea"/>
                <a:ea typeface="+mj-ea"/>
              </a:rPr>
              <a:t>过于依赖</a:t>
            </a:r>
            <a:r>
              <a:rPr lang="en-US" altLang="zh-CN" sz="1600">
                <a:solidFill>
                  <a:srgbClr val="C00000"/>
                </a:solidFill>
                <a:effectLst>
                  <a:outerShdw blurRad="38100" dist="38100" dir="2700000" algn="tl">
                    <a:srgbClr val="000000">
                      <a:alpha val="43137"/>
                    </a:srgbClr>
                  </a:outerShdw>
                </a:effectLst>
                <a:latin typeface="+mj-ea"/>
                <a:ea typeface="+mj-ea"/>
              </a:rPr>
              <a:t>SDMA</a:t>
            </a:r>
            <a:r>
              <a:rPr lang="zh-CN" altLang="en-US" sz="1600">
                <a:solidFill>
                  <a:srgbClr val="C00000"/>
                </a:solidFill>
                <a:effectLst>
                  <a:outerShdw blurRad="38100" dist="38100" dir="2700000" algn="tl">
                    <a:srgbClr val="000000">
                      <a:alpha val="43137"/>
                    </a:srgbClr>
                  </a:outerShdw>
                </a:effectLst>
                <a:latin typeface="+mj-ea"/>
                <a:ea typeface="+mj-ea"/>
              </a:rPr>
              <a:t>，甚至仅依据</a:t>
            </a:r>
            <a:r>
              <a:rPr lang="en-US" altLang="zh-CN" sz="1600">
                <a:solidFill>
                  <a:srgbClr val="C00000"/>
                </a:solidFill>
                <a:effectLst>
                  <a:outerShdw blurRad="38100" dist="38100" dir="2700000" algn="tl">
                    <a:srgbClr val="000000">
                      <a:alpha val="43137"/>
                    </a:srgbClr>
                  </a:outerShdw>
                </a:effectLst>
                <a:latin typeface="+mj-ea"/>
                <a:ea typeface="+mj-ea"/>
              </a:rPr>
              <a:t>SDMA</a:t>
            </a:r>
            <a:r>
              <a:rPr lang="zh-CN" altLang="en-US" sz="1600">
                <a:solidFill>
                  <a:srgbClr val="C00000"/>
                </a:solidFill>
                <a:effectLst>
                  <a:outerShdw blurRad="38100" dist="38100" dir="2700000" algn="tl">
                    <a:srgbClr val="000000">
                      <a:alpha val="43137"/>
                    </a:srgbClr>
                  </a:outerShdw>
                </a:effectLst>
                <a:latin typeface="+mj-ea"/>
                <a:ea typeface="+mj-ea"/>
              </a:rPr>
              <a:t>进行诊断。</a:t>
            </a:r>
            <a:endParaRPr lang="en-US" altLang="zh-CN" sz="1600">
              <a:solidFill>
                <a:srgbClr val="C00000"/>
              </a:solidFill>
              <a:effectLst>
                <a:outerShdw blurRad="38100" dist="38100" dir="2700000" algn="tl">
                  <a:srgbClr val="000000">
                    <a:alpha val="43137"/>
                  </a:srgbClr>
                </a:outerShdw>
              </a:effectLst>
              <a:latin typeface="+mj-ea"/>
              <a:ea typeface="+mj-ea"/>
            </a:endParaRPr>
          </a:p>
          <a:p>
            <a:pPr marL="285750" indent="-285750">
              <a:buFont typeface="Wingdings" panose="05000000000000000000" pitchFamily="2" charset="2"/>
              <a:buChar char="p"/>
            </a:pPr>
            <a:r>
              <a:rPr lang="zh-CN" altLang="en-US" sz="1600">
                <a:solidFill>
                  <a:srgbClr val="C00000"/>
                </a:solidFill>
                <a:effectLst>
                  <a:outerShdw blurRad="38100" dist="38100" dir="2700000" algn="tl">
                    <a:srgbClr val="000000">
                      <a:alpha val="43137"/>
                    </a:srgbClr>
                  </a:outerShdw>
                </a:effectLst>
                <a:latin typeface="+mj-ea"/>
                <a:ea typeface="+mj-ea"/>
              </a:rPr>
              <a:t>不愿意做尿检的家长很多，结果忘记尿检这茬事儿。</a:t>
            </a:r>
          </a:p>
        </p:txBody>
      </p:sp>
      <p:sp>
        <p:nvSpPr>
          <p:cNvPr id="8" name="文本框 7"/>
          <p:cNvSpPr txBox="1"/>
          <p:nvPr/>
        </p:nvSpPr>
        <p:spPr>
          <a:xfrm>
            <a:off x="5879976" y="2645105"/>
            <a:ext cx="3456384" cy="615553"/>
          </a:xfrm>
          <a:prstGeom prst="rect">
            <a:avLst/>
          </a:prstGeom>
          <a:noFill/>
        </p:spPr>
        <p:txBody>
          <a:bodyPr wrap="square" rtlCol="0">
            <a:spAutoFit/>
          </a:bodyPr>
          <a:lstStyle/>
          <a:p>
            <a:pPr lvl="1"/>
            <a:endParaRPr lang="en-US" altLang="zh-CN" sz="1600" b="1">
              <a:solidFill>
                <a:schemeClr val="tx1">
                  <a:lumMod val="75000"/>
                  <a:lumOff val="25000"/>
                </a:schemeClr>
              </a:solidFill>
              <a:effectLst>
                <a:outerShdw blurRad="38100" dist="38100" dir="2700000" algn="tl">
                  <a:srgbClr val="000000">
                    <a:alpha val="43137"/>
                  </a:srgbClr>
                </a:outerShdw>
              </a:effectLst>
              <a:latin typeface="+mj-ea"/>
            </a:endParaRPr>
          </a:p>
          <a:p>
            <a:endParaRPr lang="zh-CN" altLang="en-US"/>
          </a:p>
        </p:txBody>
      </p:sp>
      <p:pic>
        <p:nvPicPr>
          <p:cNvPr id="10"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46114" y="1975503"/>
            <a:ext cx="6044914" cy="473352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2" name="ValueText1">
            <a:extLst/>
          </p:cNvPr>
          <p:cNvSpPr txBox="1"/>
          <p:nvPr/>
        </p:nvSpPr>
        <p:spPr bwMode="auto">
          <a:xfrm>
            <a:off x="8657279" y="2124376"/>
            <a:ext cx="300363" cy="172748"/>
          </a:xfrm>
          <a:prstGeom prst="rect">
            <a:avLst/>
          </a:prstGeom>
          <a:noFill/>
          <a:ln>
            <a:noFill/>
          </a:ln>
        </p:spPr>
        <p:txBody>
          <a:bodyPr wrap="none" lIns="0" tIns="0" rIns="0" bIns="0" anchor="ctr" anchorCtr="1">
            <a:prstTxWarp prst="textPlain">
              <a:avLst/>
            </a:prstTxWarp>
            <a:normAutofit fontScale="85000" lnSpcReduction="20000"/>
          </a:bodyPr>
          <a:lstStyle/>
          <a:p>
            <a:pPr algn="ctr">
              <a:defRPr/>
            </a:pPr>
            <a:endParaRPr lang="en-US" altLang="zh-CN" sz="1600">
              <a:solidFill>
                <a:schemeClr val="bg1"/>
              </a:solidFill>
              <a:latin typeface="Impact" panose="020B0806030902050204" pitchFamily="34" charset="0"/>
            </a:endParaRPr>
          </a:p>
        </p:txBody>
      </p:sp>
      <p:sp>
        <p:nvSpPr>
          <p:cNvPr id="33" name="ValueText2">
            <a:extLst/>
          </p:cNvPr>
          <p:cNvSpPr txBox="1"/>
          <p:nvPr/>
        </p:nvSpPr>
        <p:spPr bwMode="auto">
          <a:xfrm>
            <a:off x="8657279" y="2371881"/>
            <a:ext cx="300363" cy="172748"/>
          </a:xfrm>
          <a:prstGeom prst="rect">
            <a:avLst/>
          </a:prstGeom>
          <a:noFill/>
          <a:ln>
            <a:noFill/>
          </a:ln>
        </p:spPr>
        <p:txBody>
          <a:bodyPr wrap="none" lIns="0" tIns="0" rIns="0" bIns="0" anchor="ctr" anchorCtr="1">
            <a:prstTxWarp prst="textPlain">
              <a:avLst/>
            </a:prstTxWarp>
            <a:normAutofit fontScale="85000" lnSpcReduction="20000"/>
          </a:bodyPr>
          <a:lstStyle/>
          <a:p>
            <a:pPr algn="ctr">
              <a:defRPr/>
            </a:pPr>
            <a:endParaRPr lang="en-US" altLang="zh-CN" sz="1600">
              <a:solidFill>
                <a:srgbClr val="FFFF00"/>
              </a:solidFill>
              <a:latin typeface="Impact" panose="020B0806030902050204" pitchFamily="34" charset="0"/>
            </a:endParaRPr>
          </a:p>
        </p:txBody>
      </p:sp>
      <p:sp>
        <p:nvSpPr>
          <p:cNvPr id="34" name="ValueText3">
            <a:extLst/>
          </p:cNvPr>
          <p:cNvSpPr txBox="1"/>
          <p:nvPr/>
        </p:nvSpPr>
        <p:spPr bwMode="auto">
          <a:xfrm>
            <a:off x="8657279" y="2617467"/>
            <a:ext cx="300363" cy="172748"/>
          </a:xfrm>
          <a:prstGeom prst="rect">
            <a:avLst/>
          </a:prstGeom>
          <a:noFill/>
          <a:ln>
            <a:noFill/>
          </a:ln>
        </p:spPr>
        <p:txBody>
          <a:bodyPr wrap="none" lIns="0" tIns="0" rIns="0" bIns="0" anchor="ctr" anchorCtr="1">
            <a:prstTxWarp prst="textPlain">
              <a:avLst/>
            </a:prstTxWarp>
            <a:normAutofit fontScale="85000" lnSpcReduction="20000"/>
          </a:bodyPr>
          <a:lstStyle/>
          <a:p>
            <a:pPr algn="ctr">
              <a:defRPr/>
            </a:pPr>
            <a:endParaRPr lang="en-US" altLang="zh-CN" sz="1600">
              <a:solidFill>
                <a:schemeClr val="bg1"/>
              </a:solidFill>
              <a:latin typeface="Impact" panose="020B0806030902050204" pitchFamily="34" charset="0"/>
            </a:endParaRPr>
          </a:p>
        </p:txBody>
      </p:sp>
      <p:sp>
        <p:nvSpPr>
          <p:cNvPr id="45" name="ValueText4">
            <a:extLst/>
          </p:cNvPr>
          <p:cNvSpPr txBox="1"/>
          <p:nvPr/>
        </p:nvSpPr>
        <p:spPr bwMode="auto">
          <a:xfrm>
            <a:off x="8657279" y="2863052"/>
            <a:ext cx="300363" cy="172748"/>
          </a:xfrm>
          <a:prstGeom prst="rect">
            <a:avLst/>
          </a:prstGeom>
          <a:noFill/>
          <a:ln>
            <a:noFill/>
          </a:ln>
        </p:spPr>
        <p:txBody>
          <a:bodyPr wrap="none" lIns="0" tIns="0" rIns="0" bIns="0" anchor="ctr" anchorCtr="1">
            <a:prstTxWarp prst="textPlain">
              <a:avLst/>
            </a:prstTxWarp>
            <a:normAutofit fontScale="85000" lnSpcReduction="20000"/>
          </a:bodyPr>
          <a:lstStyle/>
          <a:p>
            <a:pPr algn="ctr">
              <a:defRPr/>
            </a:pPr>
            <a:endParaRPr lang="en-US" altLang="zh-CN" sz="1600">
              <a:solidFill>
                <a:schemeClr val="bg1"/>
              </a:solidFill>
              <a:latin typeface="Impact" panose="020B0806030902050204" pitchFamily="34" charset="0"/>
            </a:endParaRPr>
          </a:p>
        </p:txBody>
      </p:sp>
      <p:sp>
        <p:nvSpPr>
          <p:cNvPr id="51" name="RelativeShape4">
            <a:extLst/>
          </p:cNvPr>
          <p:cNvSpPr/>
          <p:nvPr/>
        </p:nvSpPr>
        <p:spPr bwMode="auto">
          <a:xfrm>
            <a:off x="6433368" y="2885405"/>
            <a:ext cx="1819275" cy="1791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54" name="RelativeShape1">
            <a:extLst/>
          </p:cNvPr>
          <p:cNvSpPr/>
          <p:nvPr/>
        </p:nvSpPr>
        <p:spPr bwMode="auto">
          <a:xfrm>
            <a:off x="6433368" y="2147218"/>
            <a:ext cx="1819275" cy="127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graphicFrame>
        <p:nvGraphicFramePr>
          <p:cNvPr id="4" name="表格 3"/>
          <p:cNvGraphicFramePr>
            <a:graphicFrameLocks noGrp="1"/>
          </p:cNvGraphicFramePr>
          <p:nvPr>
            <p:extLst>
              <p:ext uri="{D42A27DB-BD31-4B8C-83A1-F6EECF244321}">
                <p14:modId xmlns:p14="http://schemas.microsoft.com/office/powerpoint/2010/main" val="2366170829"/>
              </p:ext>
            </p:extLst>
          </p:nvPr>
        </p:nvGraphicFramePr>
        <p:xfrm>
          <a:off x="-96688" y="1"/>
          <a:ext cx="12288688" cy="6890808"/>
        </p:xfrm>
        <a:graphic>
          <a:graphicData uri="http://schemas.openxmlformats.org/drawingml/2006/table">
            <a:tbl>
              <a:tblPr firstRow="1" bandRow="1">
                <a:tableStyleId>{5C22544A-7EE6-4342-B048-85BDC9FD1C3A}</a:tableStyleId>
              </a:tblPr>
              <a:tblGrid>
                <a:gridCol w="3072172">
                  <a:extLst>
                    <a:ext uri="{9D8B030D-6E8A-4147-A177-3AD203B41FA5}">
                      <a16:colId xmlns:a16="http://schemas.microsoft.com/office/drawing/2014/main" val="2954123965"/>
                    </a:ext>
                  </a:extLst>
                </a:gridCol>
                <a:gridCol w="3072172">
                  <a:extLst>
                    <a:ext uri="{9D8B030D-6E8A-4147-A177-3AD203B41FA5}">
                      <a16:colId xmlns:a16="http://schemas.microsoft.com/office/drawing/2014/main" val="1434691800"/>
                    </a:ext>
                  </a:extLst>
                </a:gridCol>
                <a:gridCol w="3072172">
                  <a:extLst>
                    <a:ext uri="{9D8B030D-6E8A-4147-A177-3AD203B41FA5}">
                      <a16:colId xmlns:a16="http://schemas.microsoft.com/office/drawing/2014/main" val="738414587"/>
                    </a:ext>
                  </a:extLst>
                </a:gridCol>
                <a:gridCol w="3072172">
                  <a:extLst>
                    <a:ext uri="{9D8B030D-6E8A-4147-A177-3AD203B41FA5}">
                      <a16:colId xmlns:a16="http://schemas.microsoft.com/office/drawing/2014/main" val="993263463"/>
                    </a:ext>
                  </a:extLst>
                </a:gridCol>
              </a:tblGrid>
              <a:tr h="477840">
                <a:tc rowSpan="2">
                  <a:txBody>
                    <a:bodyPr/>
                    <a:lstStyle/>
                    <a:p>
                      <a:pPr algn="ctr">
                        <a:lnSpc>
                          <a:spcPct val="150000"/>
                        </a:lnSpc>
                      </a:pPr>
                      <a:endParaRPr lang="zh-CN" altLang="en-US" sz="2400"/>
                    </a:p>
                  </a:txBody>
                  <a:tcPr>
                    <a:solidFill>
                      <a:schemeClr val="accent4">
                        <a:lumMod val="60000"/>
                        <a:lumOff val="40000"/>
                      </a:schemeClr>
                    </a:solidFill>
                  </a:tcPr>
                </a:tc>
                <a:tc rowSpan="2">
                  <a:txBody>
                    <a:bodyPr/>
                    <a:lstStyle/>
                    <a:p>
                      <a:pPr algn="ctr">
                        <a:lnSpc>
                          <a:spcPct val="150000"/>
                        </a:lnSpc>
                      </a:pPr>
                      <a:endParaRPr lang="zh-CN" altLang="en-US" sz="2400"/>
                    </a:p>
                  </a:txBody>
                  <a:tcPr>
                    <a:solidFill>
                      <a:schemeClr val="accent4">
                        <a:lumMod val="60000"/>
                        <a:lumOff val="40000"/>
                      </a:schemeClr>
                    </a:solidFill>
                  </a:tcPr>
                </a:tc>
                <a:tc gridSpan="2">
                  <a:txBody>
                    <a:bodyPr/>
                    <a:lstStyle/>
                    <a:p>
                      <a:pPr algn="ctr"/>
                      <a:r>
                        <a:rPr lang="zh-CN" altLang="en-US" sz="2400">
                          <a:solidFill>
                            <a:schemeClr val="tx1">
                              <a:lumMod val="85000"/>
                              <a:lumOff val="15000"/>
                            </a:schemeClr>
                          </a:solidFill>
                          <a:effectLst>
                            <a:outerShdw blurRad="38100" dist="38100" dir="2700000" algn="tl">
                              <a:srgbClr val="000000">
                                <a:alpha val="43137"/>
                              </a:srgbClr>
                            </a:outerShdw>
                          </a:effectLst>
                        </a:rPr>
                        <a:t>考虑下面的问题</a:t>
                      </a:r>
                    </a:p>
                  </a:txBody>
                  <a:tcPr>
                    <a:solidFill>
                      <a:srgbClr val="FFCC00"/>
                    </a:solidFill>
                  </a:tcPr>
                </a:tc>
                <a:tc hMerge="1">
                  <a:txBody>
                    <a:bodyPr/>
                    <a:lstStyle/>
                    <a:p>
                      <a:endParaRPr lang="zh-CN" altLang="en-US"/>
                    </a:p>
                  </a:txBody>
                  <a:tcPr/>
                </a:tc>
                <a:extLst>
                  <a:ext uri="{0D108BD9-81ED-4DB2-BD59-A6C34878D82A}">
                    <a16:rowId xmlns:a16="http://schemas.microsoft.com/office/drawing/2014/main" val="52069107"/>
                  </a:ext>
                </a:extLst>
              </a:tr>
              <a:tr h="382272">
                <a:tc vMerge="1">
                  <a:txBody>
                    <a:bodyPr/>
                    <a:lstStyle/>
                    <a:p>
                      <a:endParaRPr lang="zh-CN" altLang="en-US"/>
                    </a:p>
                  </a:txBody>
                  <a:tcPr/>
                </a:tc>
                <a:tc vMerge="1">
                  <a:txBody>
                    <a:bodyPr/>
                    <a:lstStyle/>
                    <a:p>
                      <a:endParaRPr lang="zh-CN" altLang="en-US"/>
                    </a:p>
                  </a:txBody>
                  <a:tcPr/>
                </a:tc>
                <a:tc>
                  <a:txBody>
                    <a:bodyPr/>
                    <a:lstStyle/>
                    <a:p>
                      <a:pPr algn="ctr"/>
                      <a:r>
                        <a:rPr lang="zh-CN" altLang="en-US" b="1">
                          <a:solidFill>
                            <a:schemeClr val="tx1">
                              <a:lumMod val="85000"/>
                              <a:lumOff val="15000"/>
                            </a:schemeClr>
                          </a:solidFill>
                        </a:rPr>
                        <a:t>可能存在这些情况</a:t>
                      </a:r>
                    </a:p>
                  </a:txBody>
                  <a:tcPr>
                    <a:solidFill>
                      <a:schemeClr val="accent4">
                        <a:lumMod val="60000"/>
                        <a:lumOff val="40000"/>
                      </a:schemeClr>
                    </a:solidFill>
                  </a:tcPr>
                </a:tc>
                <a:tc>
                  <a:txBody>
                    <a:bodyPr/>
                    <a:lstStyle/>
                    <a:p>
                      <a:pPr algn="ctr"/>
                      <a:r>
                        <a:rPr lang="zh-CN" altLang="en-US" b="1">
                          <a:solidFill>
                            <a:schemeClr val="tx1">
                              <a:lumMod val="85000"/>
                              <a:lumOff val="15000"/>
                            </a:schemeClr>
                          </a:solidFill>
                        </a:rPr>
                        <a:t>可以考虑这些诊疗方案</a:t>
                      </a:r>
                    </a:p>
                  </a:txBody>
                  <a:tcPr>
                    <a:solidFill>
                      <a:schemeClr val="accent4">
                        <a:lumMod val="60000"/>
                        <a:lumOff val="40000"/>
                      </a:schemeClr>
                    </a:solidFill>
                  </a:tcPr>
                </a:tc>
                <a:extLst>
                  <a:ext uri="{0D108BD9-81ED-4DB2-BD59-A6C34878D82A}">
                    <a16:rowId xmlns:a16="http://schemas.microsoft.com/office/drawing/2014/main" val="1487809549"/>
                  </a:ext>
                </a:extLst>
              </a:tr>
              <a:tr h="648659">
                <a:tc rowSpan="3">
                  <a:txBody>
                    <a:bodyPr/>
                    <a:lstStyle/>
                    <a:p>
                      <a:endParaRPr lang="en-US" altLang="zh-CN"/>
                    </a:p>
                    <a:p>
                      <a:pPr algn="l"/>
                      <a:r>
                        <a:rPr lang="zh-CN" altLang="en-US" sz="2000" b="1">
                          <a:solidFill>
                            <a:schemeClr val="accent1">
                              <a:lumMod val="50000"/>
                            </a:schemeClr>
                          </a:solidFill>
                          <a:latin typeface="+mj-ea"/>
                          <a:ea typeface="+mj-ea"/>
                        </a:rPr>
                        <a:t>一期肾病</a:t>
                      </a:r>
                      <a:endParaRPr lang="en-US" altLang="zh-CN" sz="2000" b="1">
                        <a:solidFill>
                          <a:schemeClr val="accent1">
                            <a:lumMod val="50000"/>
                          </a:schemeClr>
                        </a:solidFill>
                        <a:latin typeface="+mj-ea"/>
                        <a:ea typeface="+mj-ea"/>
                      </a:endParaRPr>
                    </a:p>
                    <a:p>
                      <a:pPr algn="l"/>
                      <a:r>
                        <a:rPr lang="zh-CN" altLang="en-US" sz="2000" b="1">
                          <a:solidFill>
                            <a:schemeClr val="accent1">
                              <a:lumMod val="50000"/>
                            </a:schemeClr>
                          </a:solidFill>
                          <a:latin typeface="+mj-ea"/>
                          <a:ea typeface="+mj-ea"/>
                        </a:rPr>
                        <a:t>二期肾病</a:t>
                      </a:r>
                      <a:endParaRPr lang="en-US" altLang="zh-CN" sz="2000" b="1">
                        <a:solidFill>
                          <a:schemeClr val="accent1">
                            <a:lumMod val="50000"/>
                          </a:schemeClr>
                        </a:solidFill>
                        <a:latin typeface="+mj-ea"/>
                        <a:ea typeface="+mj-ea"/>
                      </a:endParaRPr>
                    </a:p>
                    <a:p>
                      <a:pPr algn="l"/>
                      <a:r>
                        <a:rPr lang="zh-CN" altLang="en-US" sz="2000" b="1">
                          <a:solidFill>
                            <a:schemeClr val="accent1">
                              <a:lumMod val="50000"/>
                            </a:schemeClr>
                          </a:solidFill>
                          <a:latin typeface="+mj-ea"/>
                          <a:ea typeface="+mj-ea"/>
                        </a:rPr>
                        <a:t>三期肾病早期</a:t>
                      </a:r>
                      <a:endParaRPr lang="en-US" altLang="zh-CN" sz="2000" b="1">
                        <a:solidFill>
                          <a:schemeClr val="accent1">
                            <a:lumMod val="50000"/>
                          </a:schemeClr>
                        </a:solidFill>
                        <a:latin typeface="+mj-ea"/>
                        <a:ea typeface="+mj-ea"/>
                      </a:endParaRPr>
                    </a:p>
                  </a:txBody>
                  <a:tcPr marL="396000" marT="216000">
                    <a:solidFill>
                      <a:schemeClr val="accent1">
                        <a:lumMod val="20000"/>
                        <a:lumOff val="80000"/>
                      </a:schemeClr>
                    </a:solidFill>
                  </a:tcPr>
                </a:tc>
                <a:tc rowSpan="3">
                  <a:txBody>
                    <a:bodyPr/>
                    <a:lstStyle/>
                    <a:p>
                      <a:pPr lvl="0" algn="l">
                        <a:lnSpc>
                          <a:spcPct val="100000"/>
                        </a:lnSpc>
                      </a:pPr>
                      <a:r>
                        <a:rPr lang="zh-CN" altLang="en-US" sz="1800" b="1">
                          <a:solidFill>
                            <a:schemeClr val="bg2">
                              <a:lumMod val="25000"/>
                            </a:schemeClr>
                          </a:solidFill>
                        </a:rPr>
                        <a:t>至少每</a:t>
                      </a:r>
                      <a:r>
                        <a:rPr lang="zh-CN" altLang="en-US" sz="1800" b="1">
                          <a:solidFill>
                            <a:srgbClr val="C00000"/>
                          </a:solidFill>
                        </a:rPr>
                        <a:t>半年</a:t>
                      </a:r>
                      <a:r>
                        <a:rPr lang="zh-CN" altLang="en-US" sz="1800" b="1">
                          <a:solidFill>
                            <a:schemeClr val="bg2">
                              <a:lumMod val="25000"/>
                            </a:schemeClr>
                          </a:solidFill>
                        </a:rPr>
                        <a:t>复查一次，寻找潜在病因与并发症并治疗</a:t>
                      </a:r>
                    </a:p>
                  </a:txBody>
                  <a:tcPr marL="504000" marR="504000" anchor="ctr">
                    <a:solidFill>
                      <a:schemeClr val="accent1">
                        <a:lumMod val="20000"/>
                        <a:lumOff val="80000"/>
                      </a:schemeClr>
                    </a:solidFill>
                  </a:tcPr>
                </a:tc>
                <a:tc>
                  <a:txBody>
                    <a:bodyPr/>
                    <a:lstStyle/>
                    <a:p>
                      <a:pPr lvl="1" algn="l"/>
                      <a:r>
                        <a:rPr lang="zh-CN" altLang="en-US" b="1">
                          <a:solidFill>
                            <a:schemeClr val="tx2">
                              <a:lumMod val="75000"/>
                            </a:schemeClr>
                          </a:solidFill>
                          <a:effectLst/>
                          <a:latin typeface="+mj-ea"/>
                          <a:ea typeface="+mj-ea"/>
                        </a:rPr>
                        <a:t>肾浸润性病变？</a:t>
                      </a:r>
                      <a:endParaRPr lang="en-US" altLang="zh-CN" b="1">
                        <a:solidFill>
                          <a:schemeClr val="tx2">
                            <a:lumMod val="75000"/>
                          </a:schemeClr>
                        </a:solidFill>
                        <a:effectLst/>
                        <a:latin typeface="+mj-ea"/>
                        <a:ea typeface="+mj-ea"/>
                      </a:endParaRPr>
                    </a:p>
                    <a:p>
                      <a:pPr lvl="1" algn="l"/>
                      <a:r>
                        <a:rPr lang="zh-CN" altLang="en-US" b="1">
                          <a:solidFill>
                            <a:schemeClr val="tx2">
                              <a:lumMod val="75000"/>
                            </a:schemeClr>
                          </a:solidFill>
                          <a:effectLst/>
                          <a:latin typeface="+mj-ea"/>
                          <a:ea typeface="+mj-ea"/>
                        </a:rPr>
                        <a:t>肾淋巴肿瘤？</a:t>
                      </a:r>
                    </a:p>
                  </a:txBody>
                  <a:tcPr marT="36000" marB="36000" anchor="ctr">
                    <a:solidFill>
                      <a:schemeClr val="accent1">
                        <a:lumMod val="20000"/>
                        <a:lumOff val="80000"/>
                      </a:schemeClr>
                    </a:solidFill>
                  </a:tcPr>
                </a:tc>
                <a:tc>
                  <a:txBody>
                    <a:bodyPr/>
                    <a:lstStyle/>
                    <a:p>
                      <a:pPr lvl="0"/>
                      <a:r>
                        <a:rPr lang="zh-CN" altLang="en-US" sz="1600">
                          <a:solidFill>
                            <a:schemeClr val="tx1">
                              <a:lumMod val="75000"/>
                              <a:lumOff val="25000"/>
                            </a:schemeClr>
                          </a:solidFill>
                          <a:effectLst>
                            <a:outerShdw blurRad="38100" dist="38100" dir="2700000" algn="tl">
                              <a:srgbClr val="000000">
                                <a:alpha val="43137"/>
                              </a:srgbClr>
                            </a:outerShdw>
                          </a:effectLst>
                          <a:latin typeface="+mj-ea"/>
                          <a:ea typeface="+mj-ea"/>
                        </a:rPr>
                        <a:t>超声、</a:t>
                      </a:r>
                      <a:r>
                        <a:rPr lang="en-US" altLang="zh-CN" sz="1600">
                          <a:solidFill>
                            <a:schemeClr val="tx1">
                              <a:lumMod val="75000"/>
                              <a:lumOff val="25000"/>
                            </a:schemeClr>
                          </a:solidFill>
                          <a:effectLst>
                            <a:outerShdw blurRad="38100" dist="38100" dir="2700000" algn="tl">
                              <a:srgbClr val="000000">
                                <a:alpha val="43137"/>
                              </a:srgbClr>
                            </a:outerShdw>
                          </a:effectLst>
                          <a:latin typeface="+mj-ea"/>
                          <a:ea typeface="+mj-ea"/>
                        </a:rPr>
                        <a:t>X</a:t>
                      </a:r>
                      <a:r>
                        <a:rPr lang="zh-CN" altLang="en-US" sz="1600">
                          <a:solidFill>
                            <a:schemeClr val="tx1">
                              <a:lumMod val="75000"/>
                              <a:lumOff val="25000"/>
                            </a:schemeClr>
                          </a:solidFill>
                          <a:effectLst>
                            <a:outerShdw blurRad="38100" dist="38100" dir="2700000" algn="tl">
                              <a:srgbClr val="000000">
                                <a:alpha val="43137"/>
                              </a:srgbClr>
                            </a:outerShdw>
                          </a:effectLst>
                          <a:latin typeface="+mj-ea"/>
                          <a:ea typeface="+mj-ea"/>
                        </a:rPr>
                        <a:t>光与穿刺取样，如确诊，化疗</a:t>
                      </a:r>
                    </a:p>
                  </a:txBody>
                  <a:tcPr anchor="ctr">
                    <a:solidFill>
                      <a:schemeClr val="accent1">
                        <a:lumMod val="20000"/>
                        <a:lumOff val="80000"/>
                      </a:schemeClr>
                    </a:solidFill>
                  </a:tcPr>
                </a:tc>
                <a:extLst>
                  <a:ext uri="{0D108BD9-81ED-4DB2-BD59-A6C34878D82A}">
                    <a16:rowId xmlns:a16="http://schemas.microsoft.com/office/drawing/2014/main" val="2794495470"/>
                  </a:ext>
                </a:extLst>
              </a:tr>
              <a:tr h="648659">
                <a:tc vMerge="1">
                  <a:txBody>
                    <a:bodyPr/>
                    <a:lstStyle/>
                    <a:p>
                      <a:endParaRPr lang="zh-CN" altLang="en-US"/>
                    </a:p>
                  </a:txBody>
                  <a:tcPr/>
                </a:tc>
                <a:tc vMerge="1">
                  <a:txBody>
                    <a:bodyPr/>
                    <a:lstStyle/>
                    <a:p>
                      <a:endParaRPr lang="zh-CN" altLang="en-US"/>
                    </a:p>
                  </a:txBody>
                  <a:tcPr/>
                </a:tc>
                <a:tc>
                  <a:txBody>
                    <a:bodyPr/>
                    <a:lstStyle/>
                    <a:p>
                      <a:pPr lvl="1" algn="l"/>
                      <a:r>
                        <a:rPr lang="zh-CN" altLang="en-US" b="1">
                          <a:solidFill>
                            <a:schemeClr val="tx2">
                              <a:lumMod val="75000"/>
                            </a:schemeClr>
                          </a:solidFill>
                          <a:effectLst/>
                          <a:latin typeface="+mj-ea"/>
                          <a:ea typeface="+mj-ea"/>
                        </a:rPr>
                        <a:t>输尿管梗阻？</a:t>
                      </a:r>
                      <a:endParaRPr lang="en-US" altLang="zh-CN" b="1">
                        <a:solidFill>
                          <a:schemeClr val="tx2">
                            <a:lumMod val="75000"/>
                          </a:schemeClr>
                        </a:solidFill>
                        <a:effectLst/>
                        <a:latin typeface="+mj-ea"/>
                        <a:ea typeface="+mj-ea"/>
                      </a:endParaRPr>
                    </a:p>
                    <a:p>
                      <a:pPr lvl="1" algn="l"/>
                      <a:r>
                        <a:rPr lang="zh-CN" altLang="en-US" b="1">
                          <a:solidFill>
                            <a:schemeClr val="tx2">
                              <a:lumMod val="75000"/>
                            </a:schemeClr>
                          </a:solidFill>
                          <a:effectLst/>
                          <a:latin typeface="+mj-ea"/>
                          <a:ea typeface="+mj-ea"/>
                        </a:rPr>
                        <a:t>肾脏结石？</a:t>
                      </a:r>
                    </a:p>
                  </a:txBody>
                  <a:tcPr marT="36000" marB="36000" anchor="ctr">
                    <a:solidFill>
                      <a:schemeClr val="accent1">
                        <a:lumMod val="20000"/>
                        <a:lumOff val="80000"/>
                      </a:schemeClr>
                    </a:solidFill>
                  </a:tcPr>
                </a:tc>
                <a:tc>
                  <a:txBody>
                    <a:bodyPr/>
                    <a:lstStyle/>
                    <a:p>
                      <a:pPr lvl="0"/>
                      <a:r>
                        <a:rPr lang="zh-CN" altLang="en-US" sz="1600">
                          <a:solidFill>
                            <a:schemeClr val="tx1">
                              <a:lumMod val="75000"/>
                              <a:lumOff val="25000"/>
                            </a:schemeClr>
                          </a:solidFill>
                          <a:effectLst>
                            <a:outerShdw blurRad="38100" dist="38100" dir="2700000" algn="tl">
                              <a:srgbClr val="000000">
                                <a:alpha val="43137"/>
                              </a:srgbClr>
                            </a:outerShdw>
                          </a:effectLst>
                          <a:latin typeface="+mj-ea"/>
                          <a:ea typeface="+mj-ea"/>
                        </a:rPr>
                        <a:t>超声、</a:t>
                      </a:r>
                      <a:r>
                        <a:rPr lang="en-US" altLang="zh-CN" sz="1600">
                          <a:solidFill>
                            <a:schemeClr val="tx1">
                              <a:lumMod val="75000"/>
                              <a:lumOff val="25000"/>
                            </a:schemeClr>
                          </a:solidFill>
                          <a:effectLst>
                            <a:outerShdw blurRad="38100" dist="38100" dir="2700000" algn="tl">
                              <a:srgbClr val="000000">
                                <a:alpha val="43137"/>
                              </a:srgbClr>
                            </a:outerShdw>
                          </a:effectLst>
                          <a:latin typeface="+mj-ea"/>
                          <a:ea typeface="+mj-ea"/>
                        </a:rPr>
                        <a:t>X</a:t>
                      </a:r>
                      <a:r>
                        <a:rPr lang="zh-CN" altLang="en-US" sz="1600">
                          <a:solidFill>
                            <a:schemeClr val="tx1">
                              <a:lumMod val="75000"/>
                              <a:lumOff val="25000"/>
                            </a:schemeClr>
                          </a:solidFill>
                          <a:effectLst>
                            <a:outerShdw blurRad="38100" dist="38100" dir="2700000" algn="tl">
                              <a:srgbClr val="000000">
                                <a:alpha val="43137"/>
                              </a:srgbClr>
                            </a:outerShdw>
                          </a:effectLst>
                          <a:latin typeface="+mj-ea"/>
                          <a:ea typeface="+mj-ea"/>
                        </a:rPr>
                        <a:t>光</a:t>
                      </a:r>
                    </a:p>
                  </a:txBody>
                  <a:tcPr anchor="ctr">
                    <a:solidFill>
                      <a:schemeClr val="accent1">
                        <a:lumMod val="20000"/>
                        <a:lumOff val="80000"/>
                      </a:schemeClr>
                    </a:solidFill>
                  </a:tcPr>
                </a:tc>
                <a:extLst>
                  <a:ext uri="{0D108BD9-81ED-4DB2-BD59-A6C34878D82A}">
                    <a16:rowId xmlns:a16="http://schemas.microsoft.com/office/drawing/2014/main" val="695532844"/>
                  </a:ext>
                </a:extLst>
              </a:tr>
              <a:tr h="605264">
                <a:tc vMerge="1">
                  <a:txBody>
                    <a:bodyPr/>
                    <a:lstStyle/>
                    <a:p>
                      <a:endParaRPr lang="zh-CN" altLang="en-US"/>
                    </a:p>
                  </a:txBody>
                  <a:tcPr/>
                </a:tc>
                <a:tc vMerge="1">
                  <a:txBody>
                    <a:bodyPr/>
                    <a:lstStyle/>
                    <a:p>
                      <a:endParaRPr lang="zh-CN" altLang="en-US"/>
                    </a:p>
                  </a:txBody>
                  <a:tcPr/>
                </a:tc>
                <a:tc>
                  <a:txBody>
                    <a:bodyPr/>
                    <a:lstStyle/>
                    <a:p>
                      <a:pPr lvl="1" algn="l"/>
                      <a:r>
                        <a:rPr lang="zh-CN" altLang="en-US" b="1">
                          <a:solidFill>
                            <a:schemeClr val="tx2">
                              <a:lumMod val="75000"/>
                            </a:schemeClr>
                          </a:solidFill>
                          <a:effectLst/>
                          <a:latin typeface="+mj-ea"/>
                          <a:ea typeface="+mj-ea"/>
                        </a:rPr>
                        <a:t>高钙血症肾病</a:t>
                      </a:r>
                    </a:p>
                  </a:txBody>
                  <a:tcPr marT="36000" marB="36000" anchor="ctr">
                    <a:solidFill>
                      <a:schemeClr val="accent1">
                        <a:lumMod val="20000"/>
                        <a:lumOff val="80000"/>
                      </a:schemeClr>
                    </a:solidFill>
                  </a:tcPr>
                </a:tc>
                <a:tc>
                  <a:txBody>
                    <a:bodyPr/>
                    <a:lstStyle/>
                    <a:p>
                      <a:pPr lvl="0"/>
                      <a:r>
                        <a:rPr lang="zh-CN" altLang="en-US" sz="1600">
                          <a:solidFill>
                            <a:schemeClr val="tx1">
                              <a:lumMod val="75000"/>
                              <a:lumOff val="25000"/>
                            </a:schemeClr>
                          </a:solidFill>
                          <a:effectLst>
                            <a:outerShdw blurRad="38100" dist="38100" dir="2700000" algn="tl">
                              <a:srgbClr val="000000">
                                <a:alpha val="43137"/>
                              </a:srgbClr>
                            </a:outerShdw>
                          </a:effectLst>
                          <a:latin typeface="+mj-ea"/>
                          <a:ea typeface="+mj-ea"/>
                        </a:rPr>
                        <a:t>查血清钙与离子钙，生理盐水补液，加用呋塞米</a:t>
                      </a:r>
                    </a:p>
                  </a:txBody>
                  <a:tcPr anchor="ctr">
                    <a:solidFill>
                      <a:schemeClr val="accent1">
                        <a:lumMod val="20000"/>
                        <a:lumOff val="80000"/>
                      </a:schemeClr>
                    </a:solidFill>
                  </a:tcPr>
                </a:tc>
                <a:extLst>
                  <a:ext uri="{0D108BD9-81ED-4DB2-BD59-A6C34878D82A}">
                    <a16:rowId xmlns:a16="http://schemas.microsoft.com/office/drawing/2014/main" val="1399785488"/>
                  </a:ext>
                </a:extLst>
              </a:tr>
              <a:tr h="361955">
                <a:tc rowSpan="3">
                  <a:txBody>
                    <a:bodyPr/>
                    <a:lstStyle/>
                    <a:p>
                      <a:pPr lvl="0"/>
                      <a:r>
                        <a:rPr lang="zh-CN" altLang="en-US" sz="2000" b="1">
                          <a:solidFill>
                            <a:schemeClr val="accent1">
                              <a:lumMod val="50000"/>
                            </a:schemeClr>
                          </a:solidFill>
                        </a:rPr>
                        <a:t>二期肾病</a:t>
                      </a:r>
                      <a:endParaRPr lang="en-US" altLang="zh-CN" sz="2000" b="1">
                        <a:solidFill>
                          <a:schemeClr val="accent1">
                            <a:lumMod val="50000"/>
                          </a:schemeClr>
                        </a:solidFill>
                      </a:endParaRPr>
                    </a:p>
                    <a:p>
                      <a:pPr lvl="0"/>
                      <a:r>
                        <a:rPr lang="zh-CN" altLang="en-US" sz="2000" b="1">
                          <a:solidFill>
                            <a:schemeClr val="accent1">
                              <a:lumMod val="50000"/>
                            </a:schemeClr>
                          </a:solidFill>
                        </a:rPr>
                        <a:t>三期肾病</a:t>
                      </a:r>
                      <a:endParaRPr lang="en-US" altLang="zh-CN" sz="2000" b="1">
                        <a:solidFill>
                          <a:schemeClr val="accent1">
                            <a:lumMod val="50000"/>
                          </a:schemeClr>
                        </a:solidFill>
                      </a:endParaRPr>
                    </a:p>
                    <a:p>
                      <a:pPr lvl="0"/>
                      <a:r>
                        <a:rPr lang="zh-CN" altLang="en-US" sz="2000" b="1">
                          <a:solidFill>
                            <a:schemeClr val="accent1">
                              <a:lumMod val="50000"/>
                            </a:schemeClr>
                          </a:solidFill>
                        </a:rPr>
                        <a:t>四期肾病早期</a:t>
                      </a:r>
                      <a:endParaRPr lang="en-US" altLang="zh-CN" sz="2000" b="1">
                        <a:solidFill>
                          <a:schemeClr val="accent1">
                            <a:lumMod val="50000"/>
                          </a:schemeClr>
                        </a:solidFill>
                      </a:endParaRPr>
                    </a:p>
                    <a:p>
                      <a:endParaRPr lang="zh-CN" altLang="en-US"/>
                    </a:p>
                  </a:txBody>
                  <a:tcPr marL="396000" marT="216000">
                    <a:solidFill>
                      <a:schemeClr val="accent1">
                        <a:lumMod val="40000"/>
                        <a:lumOff val="60000"/>
                      </a:schemeClr>
                    </a:solidFill>
                  </a:tcPr>
                </a:tc>
                <a:tc rowSpan="3">
                  <a:txBody>
                    <a:bodyPr/>
                    <a:lstStyle/>
                    <a:p>
                      <a:r>
                        <a:rPr lang="en-US" altLang="zh-CN" b="1">
                          <a:latin typeface="+mj-ea"/>
                          <a:ea typeface="+mj-ea"/>
                        </a:rPr>
                        <a:t>  </a:t>
                      </a:r>
                    </a:p>
                    <a:p>
                      <a:r>
                        <a:rPr lang="zh-CN" altLang="en-US" b="1">
                          <a:solidFill>
                            <a:schemeClr val="bg2">
                              <a:lumMod val="25000"/>
                            </a:schemeClr>
                          </a:solidFill>
                          <a:latin typeface="+mj-ea"/>
                          <a:ea typeface="+mj-ea"/>
                        </a:rPr>
                        <a:t>评估肾病发展情况和治疗效果，最好</a:t>
                      </a:r>
                      <a:r>
                        <a:rPr lang="en-US" altLang="zh-CN" b="1">
                          <a:solidFill>
                            <a:srgbClr val="C00000"/>
                          </a:solidFill>
                          <a:latin typeface="+mj-ea"/>
                          <a:ea typeface="+mj-ea"/>
                        </a:rPr>
                        <a:t>3</a:t>
                      </a:r>
                      <a:r>
                        <a:rPr lang="zh-CN" altLang="en-US" b="1">
                          <a:solidFill>
                            <a:srgbClr val="C00000"/>
                          </a:solidFill>
                          <a:latin typeface="+mj-ea"/>
                          <a:ea typeface="+mj-ea"/>
                        </a:rPr>
                        <a:t>个月</a:t>
                      </a:r>
                      <a:r>
                        <a:rPr lang="zh-CN" altLang="en-US" b="1">
                          <a:solidFill>
                            <a:schemeClr val="bg2">
                              <a:lumMod val="25000"/>
                            </a:schemeClr>
                          </a:solidFill>
                          <a:latin typeface="+mj-ea"/>
                          <a:ea typeface="+mj-ea"/>
                        </a:rPr>
                        <a:t>复查一次</a:t>
                      </a:r>
                    </a:p>
                  </a:txBody>
                  <a:tcPr marL="504000" marR="504000">
                    <a:solidFill>
                      <a:schemeClr val="accent1">
                        <a:lumMod val="40000"/>
                        <a:lumOff val="60000"/>
                      </a:schemeClr>
                    </a:solidFill>
                  </a:tcPr>
                </a:tc>
                <a:tc>
                  <a:txBody>
                    <a:bodyPr/>
                    <a:lstStyle/>
                    <a:p>
                      <a:pPr lvl="1" algn="l"/>
                      <a:r>
                        <a:rPr lang="zh-CN" altLang="en-US" b="1">
                          <a:solidFill>
                            <a:schemeClr val="tx2">
                              <a:lumMod val="75000"/>
                            </a:schemeClr>
                          </a:solidFill>
                          <a:effectLst/>
                        </a:rPr>
                        <a:t>蛋白尿</a:t>
                      </a:r>
                    </a:p>
                  </a:txBody>
                  <a:tcPr marT="36000" marB="36000" anchor="ctr">
                    <a:solidFill>
                      <a:schemeClr val="accent1">
                        <a:lumMod val="40000"/>
                        <a:lumOff val="6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a:solidFill>
                            <a:schemeClr val="tx1">
                              <a:lumMod val="75000"/>
                              <a:lumOff val="25000"/>
                            </a:schemeClr>
                          </a:solidFill>
                          <a:effectLst>
                            <a:outerShdw blurRad="38100" dist="38100" dir="2700000" algn="tl">
                              <a:srgbClr val="000000">
                                <a:alpha val="43137"/>
                              </a:srgbClr>
                            </a:outerShdw>
                          </a:effectLst>
                        </a:rPr>
                        <a:t>贝纳普利、替米沙坦等</a:t>
                      </a:r>
                    </a:p>
                  </a:txBody>
                  <a:tcPr anchor="ctr">
                    <a:solidFill>
                      <a:schemeClr val="accent1">
                        <a:lumMod val="40000"/>
                        <a:lumOff val="60000"/>
                      </a:schemeClr>
                    </a:solidFill>
                  </a:tcPr>
                </a:tc>
                <a:extLst>
                  <a:ext uri="{0D108BD9-81ED-4DB2-BD59-A6C34878D82A}">
                    <a16:rowId xmlns:a16="http://schemas.microsoft.com/office/drawing/2014/main" val="465441809"/>
                  </a:ext>
                </a:extLst>
              </a:tr>
              <a:tr h="361955">
                <a:tc vMerge="1">
                  <a:txBody>
                    <a:bodyPr/>
                    <a:lstStyle/>
                    <a:p>
                      <a:endParaRPr lang="zh-CN" altLang="en-US"/>
                    </a:p>
                  </a:txBody>
                  <a:tcPr/>
                </a:tc>
                <a:tc vMerge="1">
                  <a:txBody>
                    <a:bodyPr/>
                    <a:lstStyle/>
                    <a:p>
                      <a:endParaRPr lang="zh-CN" altLang="en-US"/>
                    </a:p>
                  </a:txBody>
                  <a:tcPr/>
                </a:tc>
                <a:tc>
                  <a:txBody>
                    <a:bodyPr/>
                    <a:lstStyle/>
                    <a:p>
                      <a:pPr lvl="1" algn="l"/>
                      <a:r>
                        <a:rPr lang="zh-CN" altLang="en-US" b="1">
                          <a:solidFill>
                            <a:schemeClr val="tx2">
                              <a:lumMod val="75000"/>
                            </a:schemeClr>
                          </a:solidFill>
                          <a:effectLst/>
                        </a:rPr>
                        <a:t>高血压</a:t>
                      </a:r>
                    </a:p>
                  </a:txBody>
                  <a:tcPr marT="36000" marB="36000" anchor="ctr">
                    <a:solidFill>
                      <a:schemeClr val="accent1">
                        <a:lumMod val="40000"/>
                        <a:lumOff val="60000"/>
                      </a:schemeClr>
                    </a:solidFill>
                  </a:tcPr>
                </a:tc>
                <a:tc>
                  <a:txBody>
                    <a:bodyPr/>
                    <a:lstStyle/>
                    <a:p>
                      <a:r>
                        <a:rPr lang="zh-CN" altLang="en-US" sz="1600">
                          <a:solidFill>
                            <a:schemeClr val="tx1">
                              <a:lumMod val="75000"/>
                              <a:lumOff val="25000"/>
                            </a:schemeClr>
                          </a:solidFill>
                          <a:effectLst>
                            <a:outerShdw blurRad="38100" dist="38100" dir="2700000" algn="tl">
                              <a:srgbClr val="000000">
                                <a:alpha val="43137"/>
                              </a:srgbClr>
                            </a:outerShdw>
                          </a:effectLst>
                        </a:rPr>
                        <a:t>贝纳普利、氨氯地平等</a:t>
                      </a:r>
                    </a:p>
                  </a:txBody>
                  <a:tcPr anchor="ctr">
                    <a:solidFill>
                      <a:schemeClr val="accent1">
                        <a:lumMod val="40000"/>
                        <a:lumOff val="60000"/>
                      </a:schemeClr>
                    </a:solidFill>
                  </a:tcPr>
                </a:tc>
                <a:extLst>
                  <a:ext uri="{0D108BD9-81ED-4DB2-BD59-A6C34878D82A}">
                    <a16:rowId xmlns:a16="http://schemas.microsoft.com/office/drawing/2014/main" val="1984315570"/>
                  </a:ext>
                </a:extLst>
              </a:tr>
              <a:tr h="792011">
                <a:tc vMerge="1">
                  <a:txBody>
                    <a:bodyPr/>
                    <a:lstStyle/>
                    <a:p>
                      <a:endParaRPr lang="zh-CN" altLang="en-US"/>
                    </a:p>
                  </a:txBody>
                  <a:tcPr/>
                </a:tc>
                <a:tc vMerge="1">
                  <a:txBody>
                    <a:bodyPr/>
                    <a:lstStyle/>
                    <a:p>
                      <a:endParaRPr lang="zh-CN" altLang="en-US"/>
                    </a:p>
                  </a:txBody>
                  <a:tcPr/>
                </a:tc>
                <a:tc>
                  <a:txBody>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lang="zh-CN" altLang="en-US" b="1">
                          <a:solidFill>
                            <a:schemeClr val="tx2">
                              <a:lumMod val="75000"/>
                            </a:schemeClr>
                          </a:solidFill>
                          <a:effectLst/>
                        </a:rPr>
                        <a:t>肾钙沉积症</a:t>
                      </a:r>
                    </a:p>
                    <a:p>
                      <a:pPr lvl="1" algn="l"/>
                      <a:endParaRPr lang="zh-CN" altLang="en-US" b="1">
                        <a:solidFill>
                          <a:schemeClr val="tx2">
                            <a:lumMod val="75000"/>
                          </a:schemeClr>
                        </a:solidFill>
                        <a:effectLst/>
                      </a:endParaRPr>
                    </a:p>
                  </a:txBody>
                  <a:tcPr marT="36000" marB="36000" anchor="ctr">
                    <a:solidFill>
                      <a:schemeClr val="accent1">
                        <a:lumMod val="40000"/>
                        <a:lumOff val="60000"/>
                      </a:schemeClr>
                    </a:solidFill>
                  </a:tcPr>
                </a:tc>
                <a:tc>
                  <a:txBody>
                    <a:bodyPr/>
                    <a:lstStyle/>
                    <a:p>
                      <a:r>
                        <a:rPr lang="zh-CN" altLang="en-US" sz="1600">
                          <a:solidFill>
                            <a:schemeClr val="tx1">
                              <a:lumMod val="75000"/>
                              <a:lumOff val="25000"/>
                            </a:schemeClr>
                          </a:solidFill>
                          <a:effectLst>
                            <a:outerShdw blurRad="38100" dist="38100" dir="2700000" algn="tl">
                              <a:srgbClr val="000000">
                                <a:alpha val="43137"/>
                              </a:srgbClr>
                            </a:outerShdw>
                          </a:effectLst>
                        </a:rPr>
                        <a:t>处方粮、低钙饮食、磷结合剂</a:t>
                      </a:r>
                    </a:p>
                  </a:txBody>
                  <a:tcPr anchor="ctr">
                    <a:solidFill>
                      <a:schemeClr val="accent1">
                        <a:lumMod val="40000"/>
                        <a:lumOff val="60000"/>
                      </a:schemeClr>
                    </a:solidFill>
                  </a:tcPr>
                </a:tc>
                <a:extLst>
                  <a:ext uri="{0D108BD9-81ED-4DB2-BD59-A6C34878D82A}">
                    <a16:rowId xmlns:a16="http://schemas.microsoft.com/office/drawing/2014/main" val="3502384109"/>
                  </a:ext>
                </a:extLst>
              </a:tr>
              <a:tr h="860113">
                <a:tc rowSpan="5">
                  <a:txBody>
                    <a:bodyPr/>
                    <a:lstStyle/>
                    <a:p>
                      <a:pPr lvl="0"/>
                      <a:endParaRPr lang="en-US" altLang="zh-CN" sz="1800" b="1">
                        <a:solidFill>
                          <a:schemeClr val="accent1">
                            <a:lumMod val="50000"/>
                          </a:schemeClr>
                        </a:solidFill>
                      </a:endParaRPr>
                    </a:p>
                    <a:p>
                      <a:pPr lvl="0"/>
                      <a:r>
                        <a:rPr lang="zh-CN" altLang="en-US" sz="2000" b="1">
                          <a:solidFill>
                            <a:schemeClr val="accent1">
                              <a:lumMod val="50000"/>
                            </a:schemeClr>
                          </a:solidFill>
                        </a:rPr>
                        <a:t>三期肾病晚期</a:t>
                      </a:r>
                      <a:endParaRPr lang="en-US" altLang="zh-CN" sz="2000" b="1">
                        <a:solidFill>
                          <a:schemeClr val="accent1">
                            <a:lumMod val="50000"/>
                          </a:schemeClr>
                        </a:solidFill>
                      </a:endParaRPr>
                    </a:p>
                    <a:p>
                      <a:pPr lvl="0"/>
                      <a:r>
                        <a:rPr lang="zh-CN" altLang="en-US" sz="2000" b="1">
                          <a:solidFill>
                            <a:schemeClr val="accent1">
                              <a:lumMod val="50000"/>
                            </a:schemeClr>
                          </a:solidFill>
                        </a:rPr>
                        <a:t>四期肾病</a:t>
                      </a:r>
                      <a:endParaRPr lang="zh-CN" altLang="en-US" sz="2000"/>
                    </a:p>
                  </a:txBody>
                  <a:tcPr marL="396000" marT="0" marB="324000" anchor="ctr">
                    <a:solidFill>
                      <a:schemeClr val="tx2">
                        <a:lumMod val="20000"/>
                        <a:lumOff val="80000"/>
                      </a:schemeClr>
                    </a:solidFill>
                  </a:tcPr>
                </a:tc>
                <a:tc rowSpan="5">
                  <a:txBody>
                    <a:bodyPr/>
                    <a:lstStyle/>
                    <a:p>
                      <a:r>
                        <a:rPr lang="zh-CN" altLang="en-US" b="1">
                          <a:solidFill>
                            <a:schemeClr val="bg2">
                              <a:lumMod val="25000"/>
                            </a:schemeClr>
                          </a:solidFill>
                          <a:latin typeface="+mj-ea"/>
                          <a:ea typeface="+mj-ea"/>
                        </a:rPr>
                        <a:t>见招拆招，看需要</a:t>
                      </a:r>
                      <a:r>
                        <a:rPr lang="en-US" altLang="zh-CN" b="1">
                          <a:solidFill>
                            <a:schemeClr val="bg2">
                              <a:lumMod val="25000"/>
                            </a:schemeClr>
                          </a:solidFill>
                          <a:latin typeface="+mj-ea"/>
                          <a:ea typeface="+mj-ea"/>
                        </a:rPr>
                        <a:t>1-2</a:t>
                      </a:r>
                      <a:r>
                        <a:rPr lang="zh-CN" altLang="en-US" b="1">
                          <a:solidFill>
                            <a:schemeClr val="bg2">
                              <a:lumMod val="25000"/>
                            </a:schemeClr>
                          </a:solidFill>
                          <a:latin typeface="+mj-ea"/>
                          <a:ea typeface="+mj-ea"/>
                        </a:rPr>
                        <a:t>个月复查一次，但</a:t>
                      </a:r>
                      <a:r>
                        <a:rPr lang="zh-CN" altLang="en-US" b="1">
                          <a:solidFill>
                            <a:srgbClr val="C00000"/>
                          </a:solidFill>
                          <a:latin typeface="+mj-ea"/>
                          <a:ea typeface="+mj-ea"/>
                        </a:rPr>
                        <a:t>至少</a:t>
                      </a:r>
                      <a:r>
                        <a:rPr lang="en-US" altLang="zh-CN" b="1">
                          <a:solidFill>
                            <a:srgbClr val="C00000"/>
                          </a:solidFill>
                          <a:latin typeface="+mj-ea"/>
                          <a:ea typeface="+mj-ea"/>
                        </a:rPr>
                        <a:t>3</a:t>
                      </a:r>
                      <a:r>
                        <a:rPr lang="zh-CN" altLang="en-US" b="1">
                          <a:solidFill>
                            <a:srgbClr val="C00000"/>
                          </a:solidFill>
                          <a:latin typeface="+mj-ea"/>
                          <a:ea typeface="+mj-ea"/>
                        </a:rPr>
                        <a:t>个月一次</a:t>
                      </a:r>
                    </a:p>
                  </a:txBody>
                  <a:tcPr marL="504000" marR="504000" marT="180000" marB="180000" anchor="ctr">
                    <a:solidFill>
                      <a:schemeClr val="tx2">
                        <a:lumMod val="20000"/>
                        <a:lumOff val="80000"/>
                      </a:schemeClr>
                    </a:solidFill>
                  </a:tcPr>
                </a:tc>
                <a:tc>
                  <a:txBody>
                    <a:bodyPr/>
                    <a:lstStyle/>
                    <a:p>
                      <a:pPr lvl="1"/>
                      <a:r>
                        <a:rPr lang="zh-CN" altLang="en-US" b="1">
                          <a:solidFill>
                            <a:schemeClr val="tx2">
                              <a:lumMod val="75000"/>
                            </a:schemeClr>
                          </a:solidFill>
                          <a:latin typeface="+mj-ea"/>
                          <a:ea typeface="+mj-ea"/>
                        </a:rPr>
                        <a:t>恶心、呕吐与厌食</a:t>
                      </a:r>
                    </a:p>
                  </a:txBody>
                  <a:tcPr anchor="ctr">
                    <a:solidFill>
                      <a:schemeClr val="tx2">
                        <a:lumMod val="20000"/>
                        <a:lumOff val="80000"/>
                      </a:schemeClr>
                    </a:solidFill>
                  </a:tcPr>
                </a:tc>
                <a:tc>
                  <a:txBody>
                    <a:bodyPr/>
                    <a:lstStyle/>
                    <a:p>
                      <a:r>
                        <a:rPr lang="zh-CN" altLang="en-US" sz="1600">
                          <a:effectLst>
                            <a:outerShdw blurRad="38100" dist="38100" dir="2700000" algn="tl">
                              <a:srgbClr val="000000">
                                <a:alpha val="43137"/>
                              </a:srgbClr>
                            </a:outerShdw>
                          </a:effectLst>
                          <a:latin typeface="+mj-ea"/>
                          <a:ea typeface="+mj-ea"/>
                        </a:rPr>
                        <a:t>抗呕吐：止吐宁、昂丹司琼</a:t>
                      </a:r>
                      <a:endParaRPr lang="en-US" altLang="zh-CN" sz="1600">
                        <a:effectLst>
                          <a:outerShdw blurRad="38100" dist="38100" dir="2700000" algn="tl">
                            <a:srgbClr val="000000">
                              <a:alpha val="43137"/>
                            </a:srgbClr>
                          </a:outerShdw>
                        </a:effectLst>
                        <a:latin typeface="+mj-ea"/>
                        <a:ea typeface="+mj-ea"/>
                      </a:endParaRPr>
                    </a:p>
                    <a:p>
                      <a:r>
                        <a:rPr lang="zh-CN" altLang="en-US" sz="1600">
                          <a:effectLst>
                            <a:outerShdw blurRad="38100" dist="38100" dir="2700000" algn="tl">
                              <a:srgbClr val="000000">
                                <a:alpha val="43137"/>
                              </a:srgbClr>
                            </a:outerShdw>
                          </a:effectLst>
                          <a:latin typeface="+mj-ea"/>
                          <a:ea typeface="+mj-ea"/>
                        </a:rPr>
                        <a:t>抗酸药：法莫替丁、奥美拉唑</a:t>
                      </a:r>
                      <a:endParaRPr lang="en-US" altLang="zh-CN" sz="1600">
                        <a:effectLst>
                          <a:outerShdw blurRad="38100" dist="38100" dir="2700000" algn="tl">
                            <a:srgbClr val="000000">
                              <a:alpha val="43137"/>
                            </a:srgbClr>
                          </a:outerShdw>
                        </a:effectLst>
                        <a:latin typeface="+mj-ea"/>
                        <a:ea typeface="+mj-ea"/>
                      </a:endParaRPr>
                    </a:p>
                    <a:p>
                      <a:r>
                        <a:rPr lang="zh-CN" altLang="en-US" sz="1600">
                          <a:effectLst>
                            <a:outerShdw blurRad="38100" dist="38100" dir="2700000" algn="tl">
                              <a:srgbClr val="000000">
                                <a:alpha val="43137"/>
                              </a:srgbClr>
                            </a:outerShdw>
                          </a:effectLst>
                          <a:latin typeface="+mj-ea"/>
                          <a:ea typeface="+mj-ea"/>
                        </a:rPr>
                        <a:t>食欲刺激：米氮平、赛庚啶</a:t>
                      </a:r>
                      <a:endParaRPr lang="en-US" altLang="zh-CN" sz="1600">
                        <a:effectLst>
                          <a:outerShdw blurRad="38100" dist="38100" dir="2700000" algn="tl">
                            <a:srgbClr val="000000">
                              <a:alpha val="43137"/>
                            </a:srgbClr>
                          </a:outerShdw>
                        </a:effectLst>
                        <a:latin typeface="+mj-ea"/>
                        <a:ea typeface="+mj-ea"/>
                      </a:endParaRPr>
                    </a:p>
                  </a:txBody>
                  <a:tcPr anchor="ctr">
                    <a:solidFill>
                      <a:schemeClr val="tx2">
                        <a:lumMod val="20000"/>
                        <a:lumOff val="80000"/>
                      </a:schemeClr>
                    </a:solidFill>
                  </a:tcPr>
                </a:tc>
                <a:extLst>
                  <a:ext uri="{0D108BD9-81ED-4DB2-BD59-A6C34878D82A}">
                    <a16:rowId xmlns:a16="http://schemas.microsoft.com/office/drawing/2014/main" val="2071528465"/>
                  </a:ext>
                </a:extLst>
              </a:tr>
              <a:tr h="605264">
                <a:tc vMerge="1">
                  <a:txBody>
                    <a:bodyPr/>
                    <a:lstStyle/>
                    <a:p>
                      <a:endParaRPr lang="zh-CN" altLang="en-US"/>
                    </a:p>
                  </a:txBody>
                  <a:tcPr/>
                </a:tc>
                <a:tc vMerge="1">
                  <a:txBody>
                    <a:bodyPr/>
                    <a:lstStyle/>
                    <a:p>
                      <a:endParaRPr lang="zh-CN" altLang="en-US"/>
                    </a:p>
                  </a:txBody>
                  <a:tcPr/>
                </a:tc>
                <a:tc>
                  <a:txBody>
                    <a:bodyPr/>
                    <a:lstStyle/>
                    <a:p>
                      <a:pPr lvl="1"/>
                      <a:r>
                        <a:rPr lang="zh-CN" altLang="en-US" b="1">
                          <a:solidFill>
                            <a:schemeClr val="tx2">
                              <a:lumMod val="75000"/>
                            </a:schemeClr>
                          </a:solidFill>
                          <a:latin typeface="+mj-ea"/>
                          <a:ea typeface="+mj-ea"/>
                        </a:rPr>
                        <a:t>血液酸中毒</a:t>
                      </a:r>
                    </a:p>
                  </a:txBody>
                  <a:tcPr anchor="ctr">
                    <a:solidFill>
                      <a:schemeClr val="tx2">
                        <a:lumMod val="20000"/>
                        <a:lumOff val="80000"/>
                      </a:schemeClr>
                    </a:solidFill>
                  </a:tcPr>
                </a:tc>
                <a:tc>
                  <a:txBody>
                    <a:bodyPr/>
                    <a:lstStyle/>
                    <a:p>
                      <a:r>
                        <a:rPr lang="en-US" altLang="zh-CN" sz="1600">
                          <a:effectLst>
                            <a:outerShdw blurRad="38100" dist="38100" dir="2700000" algn="tl">
                              <a:srgbClr val="000000">
                                <a:alpha val="43137"/>
                              </a:srgbClr>
                            </a:outerShdw>
                          </a:effectLst>
                          <a:latin typeface="+mj-ea"/>
                          <a:ea typeface="+mj-ea"/>
                        </a:rPr>
                        <a:t>LRS</a:t>
                      </a:r>
                      <a:r>
                        <a:rPr lang="zh-CN" altLang="en-US" sz="1600">
                          <a:effectLst>
                            <a:outerShdw blurRad="38100" dist="38100" dir="2700000" algn="tl">
                              <a:srgbClr val="000000">
                                <a:alpha val="43137"/>
                              </a:srgbClr>
                            </a:outerShdw>
                          </a:effectLst>
                          <a:latin typeface="+mj-ea"/>
                          <a:ea typeface="+mj-ea"/>
                        </a:rPr>
                        <a:t>皮下补液，柠檬酸钾，碳酸氢钠片</a:t>
                      </a:r>
                      <a:r>
                        <a:rPr lang="en-US" altLang="zh-CN" sz="1600">
                          <a:effectLst>
                            <a:outerShdw blurRad="38100" dist="38100" dir="2700000" algn="tl">
                              <a:srgbClr val="000000">
                                <a:alpha val="43137"/>
                              </a:srgbClr>
                            </a:outerShdw>
                          </a:effectLst>
                          <a:latin typeface="+mj-ea"/>
                          <a:ea typeface="+mj-ea"/>
                        </a:rPr>
                        <a:t>/</a:t>
                      </a:r>
                      <a:r>
                        <a:rPr lang="zh-CN" altLang="en-US" sz="1600">
                          <a:effectLst>
                            <a:outerShdw blurRad="38100" dist="38100" dir="2700000" algn="tl">
                              <a:srgbClr val="000000">
                                <a:alpha val="43137"/>
                              </a:srgbClr>
                            </a:outerShdw>
                          </a:effectLst>
                          <a:latin typeface="+mj-ea"/>
                          <a:ea typeface="+mj-ea"/>
                        </a:rPr>
                        <a:t>粉</a:t>
                      </a:r>
                    </a:p>
                  </a:txBody>
                  <a:tcPr anchor="ctr">
                    <a:solidFill>
                      <a:schemeClr val="tx2">
                        <a:lumMod val="20000"/>
                        <a:lumOff val="80000"/>
                      </a:schemeClr>
                    </a:solidFill>
                  </a:tcPr>
                </a:tc>
                <a:extLst>
                  <a:ext uri="{0D108BD9-81ED-4DB2-BD59-A6C34878D82A}">
                    <a16:rowId xmlns:a16="http://schemas.microsoft.com/office/drawing/2014/main" val="2539277994"/>
                  </a:ext>
                </a:extLst>
              </a:tr>
              <a:tr h="382272">
                <a:tc vMerge="1">
                  <a:txBody>
                    <a:bodyPr/>
                    <a:lstStyle/>
                    <a:p>
                      <a:endParaRPr lang="zh-CN" altLang="en-US"/>
                    </a:p>
                  </a:txBody>
                  <a:tcPr/>
                </a:tc>
                <a:tc vMerge="1">
                  <a:txBody>
                    <a:bodyPr/>
                    <a:lstStyle/>
                    <a:p>
                      <a:endParaRPr lang="zh-CN" altLang="en-US"/>
                    </a:p>
                  </a:txBody>
                  <a:tcPr/>
                </a:tc>
                <a:tc>
                  <a:txBody>
                    <a:bodyPr/>
                    <a:lstStyle/>
                    <a:p>
                      <a:pPr lvl="1"/>
                      <a:r>
                        <a:rPr lang="zh-CN" altLang="en-US" b="1">
                          <a:solidFill>
                            <a:schemeClr val="tx2">
                              <a:lumMod val="75000"/>
                            </a:schemeClr>
                          </a:solidFill>
                          <a:latin typeface="+mj-ea"/>
                          <a:ea typeface="+mj-ea"/>
                        </a:rPr>
                        <a:t>贫血</a:t>
                      </a:r>
                    </a:p>
                  </a:txBody>
                  <a:tcPr anchor="ctr">
                    <a:solidFill>
                      <a:schemeClr val="tx2">
                        <a:lumMod val="20000"/>
                        <a:lumOff val="80000"/>
                      </a:schemeClr>
                    </a:solidFill>
                  </a:tcPr>
                </a:tc>
                <a:tc>
                  <a:txBody>
                    <a:bodyPr/>
                    <a:lstStyle/>
                    <a:p>
                      <a:r>
                        <a:rPr lang="en-US" altLang="zh-CN" sz="1600">
                          <a:effectLst>
                            <a:outerShdw blurRad="38100" dist="38100" dir="2700000" algn="tl">
                              <a:srgbClr val="000000">
                                <a:alpha val="43137"/>
                              </a:srgbClr>
                            </a:outerShdw>
                          </a:effectLst>
                          <a:latin typeface="+mj-ea"/>
                          <a:ea typeface="+mj-ea"/>
                        </a:rPr>
                        <a:t>EPO</a:t>
                      </a:r>
                      <a:r>
                        <a:rPr lang="zh-CN" altLang="en-US" sz="1600">
                          <a:effectLst>
                            <a:outerShdw blurRad="38100" dist="38100" dir="2700000" algn="tl">
                              <a:srgbClr val="000000">
                                <a:alpha val="43137"/>
                              </a:srgbClr>
                            </a:outerShdw>
                          </a:effectLst>
                          <a:latin typeface="+mj-ea"/>
                          <a:ea typeface="+mj-ea"/>
                        </a:rPr>
                        <a:t>、补铁、输血</a:t>
                      </a:r>
                    </a:p>
                  </a:txBody>
                  <a:tcPr anchor="ctr">
                    <a:solidFill>
                      <a:schemeClr val="tx2">
                        <a:lumMod val="20000"/>
                        <a:lumOff val="80000"/>
                      </a:schemeClr>
                    </a:solidFill>
                  </a:tcPr>
                </a:tc>
                <a:extLst>
                  <a:ext uri="{0D108BD9-81ED-4DB2-BD59-A6C34878D82A}">
                    <a16:rowId xmlns:a16="http://schemas.microsoft.com/office/drawing/2014/main" val="2633049944"/>
                  </a:ext>
                </a:extLst>
              </a:tr>
              <a:tr h="382272">
                <a:tc vMerge="1">
                  <a:txBody>
                    <a:bodyPr/>
                    <a:lstStyle/>
                    <a:p>
                      <a:endParaRPr lang="zh-CN" altLang="en-US"/>
                    </a:p>
                  </a:txBody>
                  <a:tcPr/>
                </a:tc>
                <a:tc vMerge="1">
                  <a:txBody>
                    <a:bodyPr/>
                    <a:lstStyle/>
                    <a:p>
                      <a:endParaRPr lang="zh-CN" altLang="en-US"/>
                    </a:p>
                  </a:txBody>
                  <a:tcPr/>
                </a:tc>
                <a:tc>
                  <a:txBody>
                    <a:bodyPr/>
                    <a:lstStyle/>
                    <a:p>
                      <a:pPr lvl="1"/>
                      <a:r>
                        <a:rPr lang="zh-CN" altLang="en-US" b="1">
                          <a:solidFill>
                            <a:schemeClr val="tx2">
                              <a:lumMod val="75000"/>
                            </a:schemeClr>
                          </a:solidFill>
                          <a:latin typeface="+mj-ea"/>
                          <a:ea typeface="+mj-ea"/>
                        </a:rPr>
                        <a:t>尿毒症</a:t>
                      </a:r>
                    </a:p>
                  </a:txBody>
                  <a:tcPr anchor="ctr">
                    <a:solidFill>
                      <a:schemeClr val="tx2">
                        <a:lumMod val="20000"/>
                        <a:lumOff val="80000"/>
                      </a:schemeClr>
                    </a:solidFill>
                  </a:tcPr>
                </a:tc>
                <a:tc>
                  <a:txBody>
                    <a:bodyPr/>
                    <a:lstStyle/>
                    <a:p>
                      <a:r>
                        <a:rPr lang="zh-CN" altLang="en-US" sz="1600">
                          <a:effectLst>
                            <a:outerShdw blurRad="38100" dist="38100" dir="2700000" algn="tl">
                              <a:srgbClr val="000000">
                                <a:alpha val="43137"/>
                              </a:srgbClr>
                            </a:outerShdw>
                          </a:effectLst>
                          <a:latin typeface="+mj-ea"/>
                          <a:ea typeface="+mj-ea"/>
                        </a:rPr>
                        <a:t>透析？益生菌？益生元？</a:t>
                      </a:r>
                    </a:p>
                  </a:txBody>
                  <a:tcPr anchor="ctr">
                    <a:solidFill>
                      <a:schemeClr val="tx2">
                        <a:lumMod val="20000"/>
                        <a:lumOff val="80000"/>
                      </a:schemeClr>
                    </a:solidFill>
                  </a:tcPr>
                </a:tc>
                <a:extLst>
                  <a:ext uri="{0D108BD9-81ED-4DB2-BD59-A6C34878D82A}">
                    <a16:rowId xmlns:a16="http://schemas.microsoft.com/office/drawing/2014/main" val="1215541442"/>
                  </a:ext>
                </a:extLst>
              </a:tr>
              <a:tr h="382272">
                <a:tc vMerge="1">
                  <a:txBody>
                    <a:bodyPr/>
                    <a:lstStyle/>
                    <a:p>
                      <a:endParaRPr lang="zh-CN" altLang="en-US"/>
                    </a:p>
                  </a:txBody>
                  <a:tcPr/>
                </a:tc>
                <a:tc vMerge="1">
                  <a:txBody>
                    <a:bodyPr/>
                    <a:lstStyle/>
                    <a:p>
                      <a:endParaRPr lang="zh-CN" altLang="en-US"/>
                    </a:p>
                  </a:txBody>
                  <a:tcPr/>
                </a:tc>
                <a:tc>
                  <a:txBody>
                    <a:bodyPr/>
                    <a:lstStyle/>
                    <a:p>
                      <a:pPr lvl="1"/>
                      <a:r>
                        <a:rPr lang="zh-CN" altLang="en-US" b="1">
                          <a:solidFill>
                            <a:schemeClr val="tx2">
                              <a:lumMod val="75000"/>
                            </a:schemeClr>
                          </a:solidFill>
                          <a:latin typeface="+mj-ea"/>
                          <a:ea typeface="+mj-ea"/>
                        </a:rPr>
                        <a:t>营养不良</a:t>
                      </a:r>
                    </a:p>
                  </a:txBody>
                  <a:tcPr anchor="ctr">
                    <a:solidFill>
                      <a:schemeClr val="tx2">
                        <a:lumMod val="20000"/>
                        <a:lumOff val="80000"/>
                      </a:schemeClr>
                    </a:solidFill>
                  </a:tcPr>
                </a:tc>
                <a:tc>
                  <a:txBody>
                    <a:bodyPr/>
                    <a:lstStyle/>
                    <a:p>
                      <a:r>
                        <a:rPr lang="zh-CN" altLang="en-US" sz="1600">
                          <a:effectLst>
                            <a:outerShdw blurRad="38100" dist="38100" dir="2700000" algn="tl">
                              <a:srgbClr val="000000">
                                <a:alpha val="43137"/>
                              </a:srgbClr>
                            </a:outerShdw>
                          </a:effectLst>
                          <a:latin typeface="+mj-ea"/>
                          <a:ea typeface="+mj-ea"/>
                        </a:rPr>
                        <a:t>食欲刺激药物或干脆考虑饲管！</a:t>
                      </a:r>
                    </a:p>
                  </a:txBody>
                  <a:tcPr anchor="ctr">
                    <a:solidFill>
                      <a:schemeClr val="tx2">
                        <a:lumMod val="20000"/>
                        <a:lumOff val="80000"/>
                      </a:schemeClr>
                    </a:solidFill>
                  </a:tcPr>
                </a:tc>
                <a:extLst>
                  <a:ext uri="{0D108BD9-81ED-4DB2-BD59-A6C34878D82A}">
                    <a16:rowId xmlns:a16="http://schemas.microsoft.com/office/drawing/2014/main" val="2340093528"/>
                  </a:ext>
                </a:extLst>
              </a:tr>
            </a:tbl>
          </a:graphicData>
        </a:graphic>
      </p:graphicFrame>
      <p:sp>
        <p:nvSpPr>
          <p:cNvPr id="20" name="箭头: 五边形 6">
            <a:extLst/>
          </p:cNvPr>
          <p:cNvSpPr/>
          <p:nvPr/>
        </p:nvSpPr>
        <p:spPr>
          <a:xfrm rot="10800000" flipH="1">
            <a:off x="-96688" y="10837"/>
            <a:ext cx="6408712" cy="825871"/>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sp>
        <p:nvSpPr>
          <p:cNvPr id="3" name="文本框 14">
            <a:extLst/>
          </p:cNvPr>
          <p:cNvSpPr txBox="1">
            <a:spLocks noChangeArrowheads="1"/>
          </p:cNvSpPr>
          <p:nvPr/>
        </p:nvSpPr>
        <p:spPr bwMode="auto">
          <a:xfrm>
            <a:off x="27732" y="183709"/>
            <a:ext cx="5673948"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buNone/>
            </a:pPr>
            <a:r>
              <a:rPr lang="en-US" altLang="zh-CN" b="1">
                <a:solidFill>
                  <a:schemeClr val="tx2">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IRIS</a:t>
            </a:r>
            <a:r>
              <a:rPr lang="zh-CN" altLang="en-US" b="1">
                <a:solidFill>
                  <a:schemeClr val="tx2">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猫慢性肾病分级诊疗策略</a:t>
            </a:r>
            <a:endParaRPr lang="en-US" altLang="zh-CN" b="1">
              <a:solidFill>
                <a:schemeClr val="tx2">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810379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grpSp>
        <p:nvGrpSpPr>
          <p:cNvPr id="17" name="组合 16">
            <a:extLst/>
          </p:cNvPr>
          <p:cNvGrpSpPr/>
          <p:nvPr/>
        </p:nvGrpSpPr>
        <p:grpSpPr>
          <a:xfrm>
            <a:off x="4866703" y="690833"/>
            <a:ext cx="7320137" cy="1089650"/>
            <a:chOff x="8112223" y="330678"/>
            <a:chExt cx="4194115" cy="1089650"/>
          </a:xfrm>
          <a:effectLst>
            <a:outerShdw blurRad="50800" dist="38100" dir="5400000" algn="t" rotWithShape="0">
              <a:prstClr val="black">
                <a:alpha val="40000"/>
              </a:prstClr>
            </a:outerShdw>
          </a:effectLst>
        </p:grpSpPr>
        <p:sp>
          <p:nvSpPr>
            <p:cNvPr id="4"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5" name="组合 22">
              <a:extLst/>
            </p:cNvPr>
            <p:cNvGrpSpPr>
              <a:grpSpLocks/>
            </p:cNvGrpSpPr>
            <p:nvPr/>
          </p:nvGrpSpPr>
          <p:grpSpPr bwMode="auto">
            <a:xfrm>
              <a:off x="8281096" y="330678"/>
              <a:ext cx="3825665" cy="1089650"/>
              <a:chOff x="-461843" y="2729730"/>
              <a:chExt cx="4506125" cy="1523721"/>
            </a:xfrm>
          </p:grpSpPr>
          <p:sp>
            <p:nvSpPr>
              <p:cNvPr id="6"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7" name="文本框 14">
                <a:extLst/>
              </p:cNvPr>
              <p:cNvSpPr txBox="1">
                <a:spLocks noChangeArrowheads="1"/>
              </p:cNvSpPr>
              <p:nvPr/>
            </p:nvSpPr>
            <p:spPr bwMode="auto">
              <a:xfrm>
                <a:off x="1181456" y="2833190"/>
                <a:ext cx="2862826" cy="1420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000" b="1">
                    <a:solidFill>
                      <a:schemeClr val="tx2">
                        <a:lumMod val="75000"/>
                      </a:schemeClr>
                    </a:solidFill>
                    <a:latin typeface="微软雅黑" panose="020B0503020204020204" pitchFamily="34" charset="-122"/>
                    <a:ea typeface="微软雅黑" panose="020B0503020204020204" pitchFamily="34" charset="-122"/>
                    <a:cs typeface="+mn-ea"/>
                    <a:sym typeface="+mn-lt"/>
                  </a:rPr>
                  <a:t>猫慢性肾病诊断</a:t>
                </a:r>
                <a:endParaRPr lang="en-US" altLang="zh-CN" sz="2000" b="1">
                  <a:solidFill>
                    <a:schemeClr val="tx2">
                      <a:lumMod val="75000"/>
                    </a:schemeClr>
                  </a:solidFill>
                  <a:latin typeface="微软雅黑" panose="020B0503020204020204" pitchFamily="34" charset="-122"/>
                  <a:ea typeface="微软雅黑" panose="020B0503020204020204" pitchFamily="34" charset="-122"/>
                  <a:cs typeface="+mn-ea"/>
                  <a:sym typeface="+mn-lt"/>
                </a:endParaRPr>
              </a:p>
              <a:p>
                <a:pPr eaLnBrk="1" hangingPunct="1">
                  <a:lnSpc>
                    <a:spcPct val="150000"/>
                  </a:lnSpc>
                  <a:spcBef>
                    <a:spcPct val="0"/>
                  </a:spcBef>
                  <a:buFontTx/>
                  <a:buNone/>
                  <a:defRPr/>
                </a:pPr>
                <a:r>
                  <a:rPr lang="zh-CN" altLang="en-US" sz="2000" b="1">
                    <a:solidFill>
                      <a:schemeClr val="tx2">
                        <a:lumMod val="75000"/>
                      </a:schemeClr>
                    </a:solidFill>
                    <a:latin typeface="微软雅黑" panose="020B0503020204020204" pitchFamily="34" charset="-122"/>
                    <a:ea typeface="微软雅黑" panose="020B0503020204020204" pitchFamily="34" charset="-122"/>
                    <a:cs typeface="+mn-ea"/>
                    <a:sym typeface="+mn-lt"/>
                  </a:rPr>
                  <a:t>案例</a:t>
                </a:r>
                <a:endParaRPr lang="en-US" altLang="zh-CN" sz="2000" b="1">
                  <a:solidFill>
                    <a:schemeClr val="tx2">
                      <a:lumMod val="75000"/>
                    </a:schemeClr>
                  </a:solidFill>
                  <a:latin typeface="微软雅黑" panose="020B0503020204020204" pitchFamily="34" charset="-122"/>
                  <a:ea typeface="微软雅黑" panose="020B0503020204020204" pitchFamily="34" charset="-122"/>
                  <a:cs typeface="+mn-ea"/>
                  <a:sym typeface="+mn-lt"/>
                </a:endParaRPr>
              </a:p>
            </p:txBody>
          </p:sp>
          <p:cxnSp>
            <p:nvCxnSpPr>
              <p:cNvPr id="8" name="直接连接符 7">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9" name="矩形 20">
                <a:extLst/>
              </p:cNvPr>
              <p:cNvSpPr>
                <a:spLocks noChangeArrowheads="1"/>
              </p:cNvSpPr>
              <p:nvPr/>
            </p:nvSpPr>
            <p:spPr bwMode="auto">
              <a:xfrm>
                <a:off x="506334" y="3461620"/>
                <a:ext cx="608195"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TWO</a:t>
                </a:r>
                <a:endParaRPr lang="zh-CN" altLang="en-US" sz="1200">
                  <a:latin typeface="+mn-lt"/>
                  <a:ea typeface="+mn-ea"/>
                  <a:cs typeface="+mn-ea"/>
                  <a:sym typeface="+mn-lt"/>
                </a:endParaRPr>
              </a:p>
            </p:txBody>
          </p:sp>
        </p:grpSp>
      </p:grpSp>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79632" y="1783340"/>
            <a:ext cx="3312368" cy="3342167"/>
          </a:xfrm>
          <a:prstGeom prst="rect">
            <a:avLst/>
          </a:prstGeom>
        </p:spPr>
      </p:pic>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14038" y="1738591"/>
            <a:ext cx="3583847" cy="3375039"/>
          </a:xfrm>
          <a:prstGeom prst="rect">
            <a:avLst/>
          </a:prstGeom>
        </p:spPr>
      </p:pic>
      <p:pic>
        <p:nvPicPr>
          <p:cNvPr id="10" name="图片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1666491"/>
            <a:ext cx="5882007" cy="2516680"/>
          </a:xfrm>
          <a:prstGeom prst="rect">
            <a:avLst/>
          </a:prstGeom>
        </p:spPr>
      </p:pic>
      <p:pic>
        <p:nvPicPr>
          <p:cNvPr id="11" name="图片 1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807968" y="4958405"/>
            <a:ext cx="5778530" cy="1928328"/>
          </a:xfrm>
          <a:prstGeom prst="rect">
            <a:avLst/>
          </a:prstGeom>
        </p:spPr>
      </p:pic>
      <p:sp>
        <p:nvSpPr>
          <p:cNvPr id="15" name="文本框 14"/>
          <p:cNvSpPr txBox="1"/>
          <p:nvPr/>
        </p:nvSpPr>
        <p:spPr>
          <a:xfrm>
            <a:off x="623391" y="4463734"/>
            <a:ext cx="4243311" cy="2246769"/>
          </a:xfrm>
          <a:prstGeom prst="rect">
            <a:avLst/>
          </a:prstGeom>
          <a:noFill/>
        </p:spPr>
        <p:txBody>
          <a:bodyPr wrap="square" rtlCol="0">
            <a:spAutoFit/>
          </a:bodyPr>
          <a:lstStyle/>
          <a:p>
            <a:pPr marL="342900" indent="-342900">
              <a:buFont typeface="Wingdings" panose="05000000000000000000" pitchFamily="2" charset="2"/>
              <a:buChar char="u"/>
            </a:pPr>
            <a:r>
              <a:rPr lang="zh-CN" altLang="en-US" sz="2000" b="1">
                <a:solidFill>
                  <a:srgbClr val="FFC000"/>
                </a:solidFill>
                <a:latin typeface="+mj-ea"/>
                <a:ea typeface="+mj-ea"/>
              </a:rPr>
              <a:t>猫</a:t>
            </a:r>
            <a:r>
              <a:rPr lang="en-US" altLang="zh-CN" sz="2000" b="1">
                <a:solidFill>
                  <a:srgbClr val="FFC000"/>
                </a:solidFill>
                <a:latin typeface="+mj-ea"/>
                <a:ea typeface="+mj-ea"/>
              </a:rPr>
              <a:t>4</a:t>
            </a:r>
            <a:r>
              <a:rPr lang="zh-CN" altLang="en-US" sz="2000" b="1">
                <a:solidFill>
                  <a:srgbClr val="FFC000"/>
                </a:solidFill>
                <a:latin typeface="+mj-ea"/>
                <a:ea typeface="+mj-ea"/>
              </a:rPr>
              <a:t>岁，今年年初起肌酐即开始上升，</a:t>
            </a:r>
            <a:r>
              <a:rPr lang="en-US" altLang="zh-CN" sz="2000" b="1">
                <a:solidFill>
                  <a:srgbClr val="FFC000"/>
                </a:solidFill>
                <a:latin typeface="+mj-ea"/>
                <a:ea typeface="+mj-ea"/>
              </a:rPr>
              <a:t>168</a:t>
            </a:r>
            <a:r>
              <a:rPr lang="zh-CN" altLang="en-US" sz="2000" b="1">
                <a:solidFill>
                  <a:srgbClr val="FFC000"/>
                </a:solidFill>
                <a:latin typeface="+mj-ea"/>
                <a:ea typeface="+mj-ea"/>
              </a:rPr>
              <a:t>升至</a:t>
            </a:r>
            <a:r>
              <a:rPr lang="en-US" altLang="zh-CN" sz="2000" b="1">
                <a:solidFill>
                  <a:srgbClr val="FFC000"/>
                </a:solidFill>
                <a:latin typeface="+mj-ea"/>
                <a:ea typeface="+mj-ea"/>
              </a:rPr>
              <a:t>232</a:t>
            </a:r>
            <a:r>
              <a:rPr lang="zh-CN" altLang="en-US" sz="2000" b="1">
                <a:solidFill>
                  <a:srgbClr val="FFC000"/>
                </a:solidFill>
                <a:latin typeface="+mj-ea"/>
                <a:ea typeface="+mj-ea"/>
              </a:rPr>
              <a:t>；血磷尚可。</a:t>
            </a:r>
            <a:endParaRPr lang="en-US" altLang="zh-CN" sz="2000" b="1">
              <a:solidFill>
                <a:srgbClr val="FFC000"/>
              </a:solidFill>
              <a:latin typeface="+mj-ea"/>
              <a:ea typeface="+mj-ea"/>
            </a:endParaRPr>
          </a:p>
          <a:p>
            <a:pPr marL="342900" indent="-342900">
              <a:buFont typeface="Wingdings" panose="05000000000000000000" pitchFamily="2" charset="2"/>
              <a:buChar char="u"/>
            </a:pPr>
            <a:r>
              <a:rPr lang="zh-CN" altLang="en-US" sz="2000" b="1">
                <a:solidFill>
                  <a:srgbClr val="FFC000"/>
                </a:solidFill>
                <a:latin typeface="+mj-ea"/>
                <a:ea typeface="+mj-ea"/>
              </a:rPr>
              <a:t>尿比重呈下降趋势：</a:t>
            </a:r>
            <a:r>
              <a:rPr lang="en-US" altLang="zh-CN" sz="2000" b="1">
                <a:solidFill>
                  <a:srgbClr val="FFC000"/>
                </a:solidFill>
                <a:latin typeface="+mj-ea"/>
                <a:ea typeface="+mj-ea"/>
              </a:rPr>
              <a:t>1.025</a:t>
            </a:r>
            <a:r>
              <a:rPr lang="zh-CN" altLang="en-US" sz="2000" b="1">
                <a:solidFill>
                  <a:srgbClr val="FFC000"/>
                </a:solidFill>
                <a:latin typeface="+mj-ea"/>
                <a:ea typeface="+mj-ea"/>
              </a:rPr>
              <a:t>→</a:t>
            </a:r>
            <a:r>
              <a:rPr lang="en-US" altLang="zh-CN" sz="2000" b="1">
                <a:solidFill>
                  <a:srgbClr val="FFC000"/>
                </a:solidFill>
                <a:latin typeface="+mj-ea"/>
                <a:ea typeface="+mj-ea"/>
              </a:rPr>
              <a:t>1.016</a:t>
            </a:r>
          </a:p>
          <a:p>
            <a:pPr marL="342900" indent="-342900">
              <a:buFont typeface="Wingdings" panose="05000000000000000000" pitchFamily="2" charset="2"/>
              <a:buChar char="u"/>
            </a:pPr>
            <a:r>
              <a:rPr lang="en-US" altLang="zh-CN" sz="2000" b="1">
                <a:solidFill>
                  <a:srgbClr val="FFC000"/>
                </a:solidFill>
                <a:latin typeface="+mj-ea"/>
                <a:ea typeface="+mj-ea"/>
              </a:rPr>
              <a:t>UPC</a:t>
            </a:r>
            <a:r>
              <a:rPr lang="zh-CN" altLang="en-US" sz="2000" b="1">
                <a:solidFill>
                  <a:srgbClr val="FFC000"/>
                </a:solidFill>
                <a:latin typeface="+mj-ea"/>
                <a:ea typeface="+mj-ea"/>
              </a:rPr>
              <a:t>？</a:t>
            </a:r>
            <a:endParaRPr lang="en-US" altLang="zh-CN" sz="2000" b="1">
              <a:solidFill>
                <a:srgbClr val="FFC000"/>
              </a:solidFill>
              <a:latin typeface="+mj-ea"/>
              <a:ea typeface="+mj-ea"/>
            </a:endParaRPr>
          </a:p>
          <a:p>
            <a:pPr marL="342900" indent="-342900">
              <a:buFont typeface="Wingdings" panose="05000000000000000000" pitchFamily="2" charset="2"/>
              <a:buChar char="u"/>
            </a:pPr>
            <a:r>
              <a:rPr lang="en-US" altLang="zh-CN" sz="2000" b="1">
                <a:solidFill>
                  <a:srgbClr val="FFC000"/>
                </a:solidFill>
                <a:latin typeface="+mj-ea"/>
                <a:ea typeface="+mj-ea"/>
              </a:rPr>
              <a:t>SDMA</a:t>
            </a:r>
            <a:r>
              <a:rPr lang="zh-CN" altLang="en-US" sz="2000" b="1">
                <a:solidFill>
                  <a:srgbClr val="FFC000"/>
                </a:solidFill>
                <a:latin typeface="+mj-ea"/>
                <a:ea typeface="+mj-ea"/>
              </a:rPr>
              <a:t>没有波动。</a:t>
            </a:r>
            <a:endParaRPr lang="en-US" altLang="zh-CN" sz="2000" b="1">
              <a:solidFill>
                <a:srgbClr val="FFC000"/>
              </a:solidFill>
              <a:latin typeface="+mj-ea"/>
              <a:ea typeface="+mj-ea"/>
            </a:endParaRPr>
          </a:p>
          <a:p>
            <a:pPr marL="342900" indent="-342900">
              <a:buFont typeface="Wingdings" panose="05000000000000000000" pitchFamily="2" charset="2"/>
              <a:buChar char="u"/>
            </a:pPr>
            <a:r>
              <a:rPr lang="zh-CN" altLang="en-US" sz="2000" b="1">
                <a:solidFill>
                  <a:srgbClr val="FFC000"/>
                </a:solidFill>
                <a:latin typeface="+mj-ea"/>
                <a:ea typeface="+mj-ea"/>
              </a:rPr>
              <a:t>水合状态良好，没有</a:t>
            </a:r>
            <a:r>
              <a:rPr lang="en-US" altLang="zh-CN" sz="2000" b="1">
                <a:solidFill>
                  <a:srgbClr val="FFC000"/>
                </a:solidFill>
                <a:latin typeface="+mj-ea"/>
                <a:ea typeface="+mj-ea"/>
              </a:rPr>
              <a:t>PU/PD</a:t>
            </a:r>
          </a:p>
        </p:txBody>
      </p:sp>
    </p:spTree>
    <p:extLst>
      <p:ext uri="{BB962C8B-B14F-4D97-AF65-F5344CB8AC3E}">
        <p14:creationId xmlns:p14="http://schemas.microsoft.com/office/powerpoint/2010/main" val="18615795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6868" y="287583"/>
            <a:ext cx="4694989" cy="4978104"/>
          </a:xfrm>
          <a:prstGeom prst="rect">
            <a:avLst/>
          </a:prstGeom>
        </p:spPr>
      </p:pic>
      <p:grpSp>
        <p:nvGrpSpPr>
          <p:cNvPr id="17" name="组合 16">
            <a:extLst/>
          </p:cNvPr>
          <p:cNvGrpSpPr/>
          <p:nvPr/>
        </p:nvGrpSpPr>
        <p:grpSpPr>
          <a:xfrm>
            <a:off x="4866703" y="690833"/>
            <a:ext cx="7320137" cy="1089650"/>
            <a:chOff x="8112223" y="330678"/>
            <a:chExt cx="4194115" cy="1089650"/>
          </a:xfrm>
          <a:effectLst>
            <a:outerShdw blurRad="50800" dist="38100" dir="5400000" algn="t" rotWithShape="0">
              <a:prstClr val="black">
                <a:alpha val="40000"/>
              </a:prstClr>
            </a:outerShdw>
          </a:effectLst>
        </p:grpSpPr>
        <p:sp>
          <p:nvSpPr>
            <p:cNvPr id="4"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5" name="组合 22">
              <a:extLst/>
            </p:cNvPr>
            <p:cNvGrpSpPr>
              <a:grpSpLocks/>
            </p:cNvGrpSpPr>
            <p:nvPr/>
          </p:nvGrpSpPr>
          <p:grpSpPr bwMode="auto">
            <a:xfrm>
              <a:off x="8281096" y="330678"/>
              <a:ext cx="3825665" cy="1089650"/>
              <a:chOff x="-461843" y="2729730"/>
              <a:chExt cx="4506125" cy="1523721"/>
            </a:xfrm>
          </p:grpSpPr>
          <p:sp>
            <p:nvSpPr>
              <p:cNvPr id="6"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7" name="文本框 14">
                <a:extLst/>
              </p:cNvPr>
              <p:cNvSpPr txBox="1">
                <a:spLocks noChangeArrowheads="1"/>
              </p:cNvSpPr>
              <p:nvPr/>
            </p:nvSpPr>
            <p:spPr bwMode="auto">
              <a:xfrm>
                <a:off x="1181456" y="2833190"/>
                <a:ext cx="2862826" cy="1420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000" b="1">
                    <a:solidFill>
                      <a:schemeClr val="tx2">
                        <a:lumMod val="75000"/>
                      </a:schemeClr>
                    </a:solidFill>
                    <a:latin typeface="微软雅黑" panose="020B0503020204020204" pitchFamily="34" charset="-122"/>
                    <a:ea typeface="微软雅黑" panose="020B0503020204020204" pitchFamily="34" charset="-122"/>
                    <a:cs typeface="+mn-ea"/>
                    <a:sym typeface="+mn-lt"/>
                  </a:rPr>
                  <a:t>猫慢性肾病诊断</a:t>
                </a:r>
                <a:endParaRPr lang="en-US" altLang="zh-CN" sz="2000" b="1">
                  <a:solidFill>
                    <a:schemeClr val="tx2">
                      <a:lumMod val="75000"/>
                    </a:schemeClr>
                  </a:solidFill>
                  <a:latin typeface="微软雅黑" panose="020B0503020204020204" pitchFamily="34" charset="-122"/>
                  <a:ea typeface="微软雅黑" panose="020B0503020204020204" pitchFamily="34" charset="-122"/>
                  <a:cs typeface="+mn-ea"/>
                  <a:sym typeface="+mn-lt"/>
                </a:endParaRPr>
              </a:p>
              <a:p>
                <a:pPr eaLnBrk="1" hangingPunct="1">
                  <a:lnSpc>
                    <a:spcPct val="150000"/>
                  </a:lnSpc>
                  <a:spcBef>
                    <a:spcPct val="0"/>
                  </a:spcBef>
                  <a:buFontTx/>
                  <a:buNone/>
                  <a:defRPr/>
                </a:pPr>
                <a:r>
                  <a:rPr lang="zh-CN" altLang="en-US" sz="2000" b="1">
                    <a:solidFill>
                      <a:schemeClr val="tx2">
                        <a:lumMod val="75000"/>
                      </a:schemeClr>
                    </a:solidFill>
                    <a:latin typeface="微软雅黑" panose="020B0503020204020204" pitchFamily="34" charset="-122"/>
                    <a:ea typeface="微软雅黑" panose="020B0503020204020204" pitchFamily="34" charset="-122"/>
                    <a:cs typeface="+mn-ea"/>
                    <a:sym typeface="+mn-lt"/>
                  </a:rPr>
                  <a:t>案例</a:t>
                </a:r>
                <a:endParaRPr lang="en-US" altLang="zh-CN" sz="2000" b="1">
                  <a:solidFill>
                    <a:schemeClr val="tx2">
                      <a:lumMod val="75000"/>
                    </a:schemeClr>
                  </a:solidFill>
                  <a:latin typeface="微软雅黑" panose="020B0503020204020204" pitchFamily="34" charset="-122"/>
                  <a:ea typeface="微软雅黑" panose="020B0503020204020204" pitchFamily="34" charset="-122"/>
                  <a:cs typeface="+mn-ea"/>
                  <a:sym typeface="+mn-lt"/>
                </a:endParaRPr>
              </a:p>
            </p:txBody>
          </p:sp>
          <p:cxnSp>
            <p:nvCxnSpPr>
              <p:cNvPr id="8" name="直接连接符 7">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9" name="矩形 20">
                <a:extLst/>
              </p:cNvPr>
              <p:cNvSpPr>
                <a:spLocks noChangeArrowheads="1"/>
              </p:cNvSpPr>
              <p:nvPr/>
            </p:nvSpPr>
            <p:spPr bwMode="auto">
              <a:xfrm>
                <a:off x="506334" y="3461620"/>
                <a:ext cx="608195"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TWO</a:t>
                </a:r>
                <a:endParaRPr lang="zh-CN" altLang="en-US" sz="1200">
                  <a:latin typeface="+mn-lt"/>
                  <a:ea typeface="+mn-ea"/>
                  <a:cs typeface="+mn-ea"/>
                  <a:sym typeface="+mn-lt"/>
                </a:endParaRPr>
              </a:p>
            </p:txBody>
          </p:sp>
        </p:grpSp>
      </p:grpSp>
      <p:pic>
        <p:nvPicPr>
          <p:cNvPr id="11" name="图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86410" y="1865920"/>
            <a:ext cx="6786253" cy="4731432"/>
          </a:xfrm>
          <a:prstGeom prst="rect">
            <a:avLst/>
          </a:prstGeom>
        </p:spPr>
      </p:pic>
      <p:sp>
        <p:nvSpPr>
          <p:cNvPr id="14" name="文本框 13"/>
          <p:cNvSpPr txBox="1"/>
          <p:nvPr/>
        </p:nvSpPr>
        <p:spPr>
          <a:xfrm>
            <a:off x="119336" y="5359350"/>
            <a:ext cx="5544616" cy="1323439"/>
          </a:xfrm>
          <a:prstGeom prst="rect">
            <a:avLst/>
          </a:prstGeom>
          <a:noFill/>
        </p:spPr>
        <p:txBody>
          <a:bodyPr wrap="square" rtlCol="0">
            <a:spAutoFit/>
          </a:bodyPr>
          <a:lstStyle/>
          <a:p>
            <a:pPr marL="342900" indent="-342900">
              <a:buFont typeface="Wingdings" panose="05000000000000000000" pitchFamily="2" charset="2"/>
              <a:buChar char="u"/>
            </a:pPr>
            <a:r>
              <a:rPr lang="zh-CN" altLang="en-US" sz="2000" b="1">
                <a:solidFill>
                  <a:srgbClr val="FFC000"/>
                </a:solidFill>
                <a:latin typeface="+mj-ea"/>
                <a:ea typeface="+mj-ea"/>
              </a:rPr>
              <a:t>猫</a:t>
            </a:r>
            <a:r>
              <a:rPr lang="en-US" altLang="zh-CN" sz="2000" b="1">
                <a:solidFill>
                  <a:srgbClr val="FFC000"/>
                </a:solidFill>
                <a:latin typeface="+mj-ea"/>
                <a:ea typeface="+mj-ea"/>
              </a:rPr>
              <a:t>11</a:t>
            </a:r>
            <a:r>
              <a:rPr lang="zh-CN" altLang="en-US" sz="2000" b="1">
                <a:solidFill>
                  <a:srgbClr val="FFC000"/>
                </a:solidFill>
                <a:latin typeface="+mj-ea"/>
                <a:ea typeface="+mj-ea"/>
              </a:rPr>
              <a:t>月，肌酐、尿素氮、尿比重、</a:t>
            </a:r>
            <a:r>
              <a:rPr lang="en-US" altLang="zh-CN" sz="2000" b="1">
                <a:solidFill>
                  <a:srgbClr val="FFC000"/>
                </a:solidFill>
                <a:latin typeface="+mj-ea"/>
                <a:ea typeface="+mj-ea"/>
              </a:rPr>
              <a:t>UPC</a:t>
            </a:r>
            <a:r>
              <a:rPr lang="zh-CN" altLang="en-US" sz="2000" b="1">
                <a:solidFill>
                  <a:srgbClr val="FFC000"/>
                </a:solidFill>
                <a:latin typeface="+mj-ea"/>
                <a:ea typeface="+mj-ea"/>
              </a:rPr>
              <a:t>都正常。幼年故血磷偏高。</a:t>
            </a:r>
            <a:endParaRPr lang="en-US" altLang="zh-CN" sz="2000" b="1">
              <a:solidFill>
                <a:srgbClr val="FFC000"/>
              </a:solidFill>
              <a:latin typeface="+mj-ea"/>
              <a:ea typeface="+mj-ea"/>
            </a:endParaRPr>
          </a:p>
          <a:p>
            <a:pPr marL="342900" indent="-342900">
              <a:buFont typeface="Wingdings" panose="05000000000000000000" pitchFamily="2" charset="2"/>
              <a:buChar char="u"/>
            </a:pPr>
            <a:r>
              <a:rPr lang="zh-CN" altLang="en-US" sz="2000" b="1">
                <a:solidFill>
                  <a:srgbClr val="FFC000"/>
                </a:solidFill>
                <a:latin typeface="+mj-ea"/>
                <a:ea typeface="+mj-ea"/>
              </a:rPr>
              <a:t>肾脏大小正常，没有肾病相关临床症状。</a:t>
            </a:r>
            <a:endParaRPr lang="en-US" altLang="zh-CN" sz="2000" b="1">
              <a:solidFill>
                <a:srgbClr val="FFC000"/>
              </a:solidFill>
              <a:latin typeface="+mj-ea"/>
              <a:ea typeface="+mj-ea"/>
            </a:endParaRPr>
          </a:p>
          <a:p>
            <a:pPr marL="342900" indent="-342900">
              <a:buFont typeface="Wingdings" panose="05000000000000000000" pitchFamily="2" charset="2"/>
              <a:buChar char="u"/>
            </a:pPr>
            <a:r>
              <a:rPr lang="en-US" altLang="zh-CN" sz="2000" b="1">
                <a:solidFill>
                  <a:srgbClr val="FFC000"/>
                </a:solidFill>
                <a:latin typeface="+mj-ea"/>
                <a:ea typeface="+mj-ea"/>
              </a:rPr>
              <a:t>SDMA</a:t>
            </a:r>
            <a:r>
              <a:rPr lang="zh-CN" altLang="en-US" sz="2000" b="1">
                <a:solidFill>
                  <a:srgbClr val="FFC000"/>
                </a:solidFill>
                <a:latin typeface="+mj-ea"/>
                <a:ea typeface="+mj-ea"/>
              </a:rPr>
              <a:t>达到</a:t>
            </a:r>
            <a:r>
              <a:rPr lang="en-US" altLang="zh-CN" sz="2000" b="1">
                <a:solidFill>
                  <a:srgbClr val="FFC000"/>
                </a:solidFill>
                <a:latin typeface="+mj-ea"/>
                <a:ea typeface="+mj-ea"/>
              </a:rPr>
              <a:t>22</a:t>
            </a:r>
            <a:r>
              <a:rPr lang="zh-CN" altLang="en-US" sz="2000">
                <a:solidFill>
                  <a:srgbClr val="FFC000"/>
                </a:solidFill>
                <a:latin typeface="+mj-ea"/>
                <a:ea typeface="+mj-ea"/>
              </a:rPr>
              <a:t>。</a:t>
            </a:r>
            <a:endParaRPr lang="en-US" altLang="zh-CN" sz="2000">
              <a:solidFill>
                <a:srgbClr val="FFC000"/>
              </a:solidFill>
              <a:latin typeface="+mj-ea"/>
              <a:ea typeface="+mj-ea"/>
            </a:endParaRPr>
          </a:p>
        </p:txBody>
      </p:sp>
    </p:spTree>
    <p:extLst>
      <p:ext uri="{BB962C8B-B14F-4D97-AF65-F5344CB8AC3E}">
        <p14:creationId xmlns:p14="http://schemas.microsoft.com/office/powerpoint/2010/main" val="16829673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9029" y="1321558"/>
            <a:ext cx="5157391" cy="5536442"/>
          </a:xfrm>
          <a:prstGeom prst="rect">
            <a:avLst/>
          </a:prstGeom>
        </p:spPr>
      </p:pic>
      <p:grpSp>
        <p:nvGrpSpPr>
          <p:cNvPr id="17" name="组合 16">
            <a:extLst/>
          </p:cNvPr>
          <p:cNvGrpSpPr/>
          <p:nvPr/>
        </p:nvGrpSpPr>
        <p:grpSpPr>
          <a:xfrm>
            <a:off x="4866703" y="690833"/>
            <a:ext cx="7320137" cy="1089650"/>
            <a:chOff x="8112223" y="330678"/>
            <a:chExt cx="4194115" cy="1089650"/>
          </a:xfrm>
          <a:effectLst>
            <a:outerShdw blurRad="50800" dist="38100" dir="5400000" algn="t" rotWithShape="0">
              <a:prstClr val="black">
                <a:alpha val="40000"/>
              </a:prstClr>
            </a:outerShdw>
          </a:effectLst>
        </p:grpSpPr>
        <p:sp>
          <p:nvSpPr>
            <p:cNvPr id="4"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5" name="组合 22">
              <a:extLst/>
            </p:cNvPr>
            <p:cNvGrpSpPr>
              <a:grpSpLocks/>
            </p:cNvGrpSpPr>
            <p:nvPr/>
          </p:nvGrpSpPr>
          <p:grpSpPr bwMode="auto">
            <a:xfrm>
              <a:off x="8281096" y="330678"/>
              <a:ext cx="3825665" cy="1089650"/>
              <a:chOff x="-461843" y="2729730"/>
              <a:chExt cx="4506125" cy="1523721"/>
            </a:xfrm>
          </p:grpSpPr>
          <p:sp>
            <p:nvSpPr>
              <p:cNvPr id="6"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7" name="文本框 14">
                <a:extLst/>
              </p:cNvPr>
              <p:cNvSpPr txBox="1">
                <a:spLocks noChangeArrowheads="1"/>
              </p:cNvSpPr>
              <p:nvPr/>
            </p:nvSpPr>
            <p:spPr bwMode="auto">
              <a:xfrm>
                <a:off x="1181456" y="2833190"/>
                <a:ext cx="2862826" cy="1420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000" b="1">
                    <a:solidFill>
                      <a:schemeClr val="tx2">
                        <a:lumMod val="75000"/>
                      </a:schemeClr>
                    </a:solidFill>
                    <a:latin typeface="微软雅黑" panose="020B0503020204020204" pitchFamily="34" charset="-122"/>
                    <a:ea typeface="微软雅黑" panose="020B0503020204020204" pitchFamily="34" charset="-122"/>
                    <a:cs typeface="+mn-ea"/>
                    <a:sym typeface="+mn-lt"/>
                  </a:rPr>
                  <a:t>猫慢性肾病诊断</a:t>
                </a:r>
                <a:endParaRPr lang="en-US" altLang="zh-CN" sz="2000" b="1">
                  <a:solidFill>
                    <a:schemeClr val="tx2">
                      <a:lumMod val="75000"/>
                    </a:schemeClr>
                  </a:solidFill>
                  <a:latin typeface="微软雅黑" panose="020B0503020204020204" pitchFamily="34" charset="-122"/>
                  <a:ea typeface="微软雅黑" panose="020B0503020204020204" pitchFamily="34" charset="-122"/>
                  <a:cs typeface="+mn-ea"/>
                  <a:sym typeface="+mn-lt"/>
                </a:endParaRPr>
              </a:p>
              <a:p>
                <a:pPr eaLnBrk="1" hangingPunct="1">
                  <a:lnSpc>
                    <a:spcPct val="150000"/>
                  </a:lnSpc>
                  <a:spcBef>
                    <a:spcPct val="0"/>
                  </a:spcBef>
                  <a:buFontTx/>
                  <a:buNone/>
                  <a:defRPr/>
                </a:pPr>
                <a:r>
                  <a:rPr lang="zh-CN" altLang="en-US" sz="2000" b="1">
                    <a:solidFill>
                      <a:schemeClr val="tx2">
                        <a:lumMod val="75000"/>
                      </a:schemeClr>
                    </a:solidFill>
                    <a:latin typeface="微软雅黑" panose="020B0503020204020204" pitchFamily="34" charset="-122"/>
                    <a:ea typeface="微软雅黑" panose="020B0503020204020204" pitchFamily="34" charset="-122"/>
                    <a:cs typeface="+mn-ea"/>
                    <a:sym typeface="+mn-lt"/>
                  </a:rPr>
                  <a:t>案例</a:t>
                </a:r>
                <a:endParaRPr lang="en-US" altLang="zh-CN" sz="2000" b="1">
                  <a:solidFill>
                    <a:schemeClr val="tx2">
                      <a:lumMod val="75000"/>
                    </a:schemeClr>
                  </a:solidFill>
                  <a:latin typeface="微软雅黑" panose="020B0503020204020204" pitchFamily="34" charset="-122"/>
                  <a:ea typeface="微软雅黑" panose="020B0503020204020204" pitchFamily="34" charset="-122"/>
                  <a:cs typeface="+mn-ea"/>
                  <a:sym typeface="+mn-lt"/>
                </a:endParaRPr>
              </a:p>
            </p:txBody>
          </p:sp>
          <p:cxnSp>
            <p:nvCxnSpPr>
              <p:cNvPr id="8" name="直接连接符 7">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9" name="矩形 20">
                <a:extLst/>
              </p:cNvPr>
              <p:cNvSpPr>
                <a:spLocks noChangeArrowheads="1"/>
              </p:cNvSpPr>
              <p:nvPr/>
            </p:nvSpPr>
            <p:spPr bwMode="auto">
              <a:xfrm>
                <a:off x="506334" y="3461620"/>
                <a:ext cx="608195"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TWO</a:t>
                </a:r>
                <a:endParaRPr lang="zh-CN" altLang="en-US" sz="1200">
                  <a:latin typeface="+mn-lt"/>
                  <a:ea typeface="+mn-ea"/>
                  <a:cs typeface="+mn-ea"/>
                  <a:sym typeface="+mn-lt"/>
                </a:endParaRPr>
              </a:p>
            </p:txBody>
          </p:sp>
        </p:grpSp>
      </p:grpSp>
      <p:sp>
        <p:nvSpPr>
          <p:cNvPr id="12" name="文本框 11"/>
          <p:cNvSpPr txBox="1"/>
          <p:nvPr/>
        </p:nvSpPr>
        <p:spPr>
          <a:xfrm>
            <a:off x="623391" y="4463734"/>
            <a:ext cx="4243311" cy="1631216"/>
          </a:xfrm>
          <a:prstGeom prst="rect">
            <a:avLst/>
          </a:prstGeom>
          <a:noFill/>
        </p:spPr>
        <p:txBody>
          <a:bodyPr wrap="square" rtlCol="0">
            <a:spAutoFit/>
          </a:bodyPr>
          <a:lstStyle/>
          <a:p>
            <a:pPr marL="342900" indent="-342900">
              <a:buFont typeface="Wingdings" panose="05000000000000000000" pitchFamily="2" charset="2"/>
              <a:buChar char="u"/>
            </a:pPr>
            <a:r>
              <a:rPr lang="zh-CN" altLang="en-US" sz="2000" b="1">
                <a:solidFill>
                  <a:srgbClr val="FFC000"/>
                </a:solidFill>
                <a:latin typeface="+mj-ea"/>
                <a:ea typeface="+mj-ea"/>
              </a:rPr>
              <a:t>猫</a:t>
            </a:r>
            <a:r>
              <a:rPr lang="en-US" altLang="zh-CN" sz="2000" b="1">
                <a:solidFill>
                  <a:srgbClr val="FFC000"/>
                </a:solidFill>
                <a:latin typeface="+mj-ea"/>
                <a:ea typeface="+mj-ea"/>
              </a:rPr>
              <a:t>3</a:t>
            </a:r>
            <a:r>
              <a:rPr lang="zh-CN" altLang="en-US" sz="2000" b="1">
                <a:solidFill>
                  <a:srgbClr val="FFC000"/>
                </a:solidFill>
                <a:latin typeface="+mj-ea"/>
                <a:ea typeface="+mj-ea"/>
              </a:rPr>
              <a:t>岁，因持续低血磷而就诊，肌酐</a:t>
            </a:r>
            <a:r>
              <a:rPr lang="en-US" altLang="zh-CN" sz="2000" b="1">
                <a:solidFill>
                  <a:srgbClr val="FFC000"/>
                </a:solidFill>
                <a:latin typeface="+mj-ea"/>
                <a:ea typeface="+mj-ea"/>
              </a:rPr>
              <a:t>2.5mg/dl</a:t>
            </a:r>
            <a:r>
              <a:rPr lang="zh-CN" altLang="en-US" sz="2000" b="1">
                <a:solidFill>
                  <a:srgbClr val="FFC000"/>
                </a:solidFill>
                <a:latin typeface="+mj-ea"/>
                <a:ea typeface="+mj-ea"/>
              </a:rPr>
              <a:t>；</a:t>
            </a:r>
            <a:endParaRPr lang="en-US" altLang="zh-CN" sz="2000" b="1">
              <a:solidFill>
                <a:srgbClr val="FFC000"/>
              </a:solidFill>
              <a:latin typeface="+mj-ea"/>
              <a:ea typeface="+mj-ea"/>
            </a:endParaRPr>
          </a:p>
          <a:p>
            <a:pPr marL="342900" indent="-342900">
              <a:buFont typeface="Wingdings" panose="05000000000000000000" pitchFamily="2" charset="2"/>
              <a:buChar char="u"/>
            </a:pPr>
            <a:r>
              <a:rPr lang="zh-CN" altLang="en-US" sz="2000" b="1">
                <a:solidFill>
                  <a:srgbClr val="FFC000"/>
                </a:solidFill>
                <a:latin typeface="+mj-ea"/>
                <a:ea typeface="+mj-ea"/>
              </a:rPr>
              <a:t>尿比重正常，</a:t>
            </a:r>
            <a:r>
              <a:rPr lang="en-US" altLang="zh-CN" sz="2000" b="1">
                <a:solidFill>
                  <a:srgbClr val="FFC000"/>
                </a:solidFill>
                <a:latin typeface="+mj-ea"/>
                <a:ea typeface="+mj-ea"/>
              </a:rPr>
              <a:t>1.045</a:t>
            </a:r>
          </a:p>
          <a:p>
            <a:pPr marL="342900" indent="-342900">
              <a:buFont typeface="Wingdings" panose="05000000000000000000" pitchFamily="2" charset="2"/>
              <a:buChar char="u"/>
            </a:pPr>
            <a:r>
              <a:rPr lang="en-US" altLang="zh-CN" sz="2000" b="1">
                <a:solidFill>
                  <a:srgbClr val="FFC000"/>
                </a:solidFill>
                <a:latin typeface="+mj-ea"/>
                <a:ea typeface="+mj-ea"/>
              </a:rPr>
              <a:t>UPC</a:t>
            </a:r>
            <a:r>
              <a:rPr lang="zh-CN" altLang="en-US" sz="2000" b="1">
                <a:solidFill>
                  <a:srgbClr val="FFC000"/>
                </a:solidFill>
                <a:latin typeface="+mj-ea"/>
                <a:ea typeface="+mj-ea"/>
              </a:rPr>
              <a:t>正常，没有蛋白尿</a:t>
            </a:r>
            <a:endParaRPr lang="en-US" altLang="zh-CN" sz="2000" b="1">
              <a:solidFill>
                <a:srgbClr val="FFC000"/>
              </a:solidFill>
              <a:latin typeface="+mj-ea"/>
              <a:ea typeface="+mj-ea"/>
            </a:endParaRPr>
          </a:p>
          <a:p>
            <a:pPr marL="342900" indent="-342900">
              <a:buFont typeface="Wingdings" panose="05000000000000000000" pitchFamily="2" charset="2"/>
              <a:buChar char="u"/>
            </a:pPr>
            <a:r>
              <a:rPr lang="en-US" altLang="zh-CN" sz="2000" b="1">
                <a:solidFill>
                  <a:srgbClr val="FFC000"/>
                </a:solidFill>
                <a:latin typeface="+mj-ea"/>
                <a:ea typeface="+mj-ea"/>
              </a:rPr>
              <a:t>SDMA</a:t>
            </a:r>
            <a:r>
              <a:rPr lang="zh-CN" altLang="en-US" sz="2000" b="1">
                <a:solidFill>
                  <a:srgbClr val="FFC000"/>
                </a:solidFill>
                <a:latin typeface="+mj-ea"/>
                <a:ea typeface="+mj-ea"/>
              </a:rPr>
              <a:t>没有波动。</a:t>
            </a:r>
            <a:endParaRPr lang="en-US" altLang="zh-CN" sz="2000" b="1">
              <a:solidFill>
                <a:srgbClr val="FFC000"/>
              </a:solidFill>
              <a:latin typeface="+mj-ea"/>
              <a:ea typeface="+mj-ea"/>
            </a:endParaRPr>
          </a:p>
        </p:txBody>
      </p:sp>
      <p:sp>
        <p:nvSpPr>
          <p:cNvPr id="3" name="文本框 2"/>
          <p:cNvSpPr txBox="1"/>
          <p:nvPr/>
        </p:nvSpPr>
        <p:spPr>
          <a:xfrm>
            <a:off x="767408" y="2643229"/>
            <a:ext cx="3448182" cy="1446550"/>
          </a:xfrm>
          <a:prstGeom prst="rect">
            <a:avLst/>
          </a:prstGeom>
          <a:noFill/>
        </p:spPr>
        <p:txBody>
          <a:bodyPr wrap="square" rtlCol="0">
            <a:spAutoFit/>
          </a:bodyPr>
          <a:lstStyle/>
          <a:p>
            <a:endParaRPr lang="en-US" altLang="zh-CN" sz="1100" b="1">
              <a:solidFill>
                <a:schemeClr val="accent2">
                  <a:lumMod val="60000"/>
                  <a:lumOff val="40000"/>
                </a:schemeClr>
              </a:solidFill>
              <a:latin typeface="+mn-ea"/>
              <a:ea typeface="+mn-ea"/>
            </a:endParaRPr>
          </a:p>
          <a:p>
            <a:r>
              <a:rPr lang="en-US" altLang="zh-CN" sz="1100" b="1">
                <a:solidFill>
                  <a:schemeClr val="accent2">
                    <a:lumMod val="60000"/>
                    <a:lumOff val="40000"/>
                  </a:schemeClr>
                </a:solidFill>
                <a:latin typeface="+mn-ea"/>
                <a:ea typeface="+mn-ea"/>
              </a:rPr>
              <a:t>“However, USG values in some cats with chronic kidney disease (CKD) and azotaemia may be as high as 1.040 or 1.045, so kidney disease could still be suspected in a cat if these values are accompanied by persistent azotaemia.”——</a:t>
            </a:r>
            <a:r>
              <a:rPr lang="en-US" altLang="zh-CN" sz="1100">
                <a:solidFill>
                  <a:schemeClr val="accent2">
                    <a:lumMod val="60000"/>
                    <a:lumOff val="40000"/>
                  </a:schemeClr>
                </a:solidFill>
                <a:latin typeface="+mn-ea"/>
                <a:ea typeface="+mn-ea"/>
              </a:rPr>
              <a:t>Urine specific gravity (2015) Watson ADJ et al.</a:t>
            </a:r>
            <a:endParaRPr lang="zh-CN" altLang="en-US" sz="1100">
              <a:solidFill>
                <a:schemeClr val="accent2">
                  <a:lumMod val="60000"/>
                  <a:lumOff val="40000"/>
                </a:schemeClr>
              </a:solidFill>
              <a:latin typeface="+mn-ea"/>
              <a:ea typeface="+mn-ea"/>
            </a:endParaRPr>
          </a:p>
        </p:txBody>
      </p:sp>
    </p:spTree>
    <p:extLst>
      <p:ext uri="{BB962C8B-B14F-4D97-AF65-F5344CB8AC3E}">
        <p14:creationId xmlns:p14="http://schemas.microsoft.com/office/powerpoint/2010/main" val="11696908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0" name="箭头: 五边形 6">
            <a:extLst/>
          </p:cNvPr>
          <p:cNvSpPr/>
          <p:nvPr/>
        </p:nvSpPr>
        <p:spPr>
          <a:xfrm rot="10800000" flipH="1">
            <a:off x="0" y="404813"/>
            <a:ext cx="8904312" cy="1344612"/>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grpSp>
        <p:nvGrpSpPr>
          <p:cNvPr id="32771" name="组合 22"/>
          <p:cNvGrpSpPr>
            <a:grpSpLocks/>
          </p:cNvGrpSpPr>
          <p:nvPr/>
        </p:nvGrpSpPr>
        <p:grpSpPr bwMode="auto">
          <a:xfrm>
            <a:off x="196850" y="404815"/>
            <a:ext cx="8493153" cy="1120776"/>
            <a:chOff x="-101400" y="2876417"/>
            <a:chExt cx="7157171" cy="1120760"/>
          </a:xfrm>
        </p:grpSpPr>
        <p:sp>
          <p:nvSpPr>
            <p:cNvPr id="2" name="文本框 13">
              <a:extLst/>
            </p:cNvPr>
            <p:cNvSpPr txBox="1">
              <a:spLocks noChangeArrowheads="1"/>
            </p:cNvSpPr>
            <p:nvPr/>
          </p:nvSpPr>
          <p:spPr bwMode="auto">
            <a:xfrm>
              <a:off x="-101400" y="2876417"/>
              <a:ext cx="1343136" cy="825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600" b="1">
                  <a:solidFill>
                    <a:srgbClr val="010101"/>
                  </a:solidFill>
                  <a:latin typeface="+mn-lt"/>
                  <a:ea typeface="+mn-ea"/>
                  <a:cs typeface="+mn-ea"/>
                  <a:sym typeface="+mn-lt"/>
                </a:rPr>
                <a:t>PART</a:t>
              </a:r>
            </a:p>
          </p:txBody>
        </p:sp>
        <p:sp>
          <p:nvSpPr>
            <p:cNvPr id="3" name="文本框 14">
              <a:extLst/>
            </p:cNvPr>
            <p:cNvSpPr txBox="1">
              <a:spLocks noChangeArrowheads="1"/>
            </p:cNvSpPr>
            <p:nvPr/>
          </p:nvSpPr>
          <p:spPr bwMode="auto">
            <a:xfrm>
              <a:off x="2026497" y="3150762"/>
              <a:ext cx="5029274" cy="535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buNone/>
              </a:pPr>
              <a:r>
                <a:rPr lang="en-US" altLang="zh-CN" sz="3200" b="1">
                  <a:solidFill>
                    <a:schemeClr val="tx2">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IRIS</a:t>
              </a:r>
              <a:r>
                <a:rPr lang="zh-CN" altLang="en-US" sz="3200" b="1">
                  <a:solidFill>
                    <a:schemeClr val="tx2">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猫慢性肾病分级</a:t>
              </a:r>
              <a:endParaRPr lang="en-US" altLang="zh-CN" sz="3200" b="1">
                <a:solidFill>
                  <a:schemeClr val="tx2">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cxnSp>
          <p:nvCxnSpPr>
            <p:cNvPr id="24" name="直接连接符 23">
              <a:extLst/>
            </p:cNvPr>
            <p:cNvCxnSpPr>
              <a:cxnSpLocks/>
            </p:cNvCxnSpPr>
            <p:nvPr/>
          </p:nvCxnSpPr>
          <p:spPr>
            <a:xfrm flipH="1">
              <a:off x="489901" y="3171688"/>
              <a:ext cx="1074241" cy="722302"/>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2547" name="矩形 20">
              <a:extLst/>
            </p:cNvPr>
            <p:cNvSpPr>
              <a:spLocks noChangeArrowheads="1"/>
            </p:cNvSpPr>
            <p:nvPr/>
          </p:nvSpPr>
          <p:spPr bwMode="auto">
            <a:xfrm>
              <a:off x="618328" y="3473309"/>
              <a:ext cx="1577249" cy="523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lvl="1">
                <a:lnSpc>
                  <a:spcPct val="100000"/>
                </a:lnSpc>
                <a:spcBef>
                  <a:spcPct val="0"/>
                </a:spcBef>
                <a:buFontTx/>
                <a:buNone/>
                <a:defRPr/>
              </a:pPr>
              <a:r>
                <a:rPr lang="en-US" altLang="zh-CN" sz="2800" b="1">
                  <a:solidFill>
                    <a:srgbClr val="010101"/>
                  </a:solidFill>
                  <a:latin typeface="+mn-lt"/>
                  <a:ea typeface="+mn-ea"/>
                  <a:cs typeface="+mn-ea"/>
                  <a:sym typeface="+mn-lt"/>
                </a:rPr>
                <a:t>TWO</a:t>
              </a:r>
              <a:endParaRPr lang="zh-CN" altLang="en-US" sz="1400">
                <a:latin typeface="+mn-lt"/>
                <a:ea typeface="+mn-ea"/>
                <a:cs typeface="+mn-ea"/>
                <a:sym typeface="+mn-lt"/>
              </a:endParaRPr>
            </a:p>
          </p:txBody>
        </p:sp>
      </p:grpSp>
      <p:grpSp>
        <p:nvGrpSpPr>
          <p:cNvPr id="32772" name="组合 33"/>
          <p:cNvGrpSpPr>
            <a:grpSpLocks/>
          </p:cNvGrpSpPr>
          <p:nvPr/>
        </p:nvGrpSpPr>
        <p:grpSpPr bwMode="auto">
          <a:xfrm>
            <a:off x="0" y="2390775"/>
            <a:ext cx="5041900" cy="3529013"/>
            <a:chOff x="570024" y="2740356"/>
            <a:chExt cx="5040560" cy="3529471"/>
          </a:xfrm>
        </p:grpSpPr>
        <p:sp>
          <p:nvSpPr>
            <p:cNvPr id="19" name="矩形 18">
              <a:extLst/>
            </p:cNvPr>
            <p:cNvSpPr/>
            <p:nvPr/>
          </p:nvSpPr>
          <p:spPr>
            <a:xfrm>
              <a:off x="570024" y="2740356"/>
              <a:ext cx="5040560" cy="352947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kern="0">
                <a:solidFill>
                  <a:sysClr val="windowText" lastClr="000000"/>
                </a:solidFill>
                <a:cs typeface="+mn-ea"/>
                <a:sym typeface="+mn-lt"/>
              </a:endParaRPr>
            </a:p>
          </p:txBody>
        </p:sp>
        <p:grpSp>
          <p:nvGrpSpPr>
            <p:cNvPr id="32796" name="组合 71"/>
            <p:cNvGrpSpPr>
              <a:grpSpLocks/>
            </p:cNvGrpSpPr>
            <p:nvPr/>
          </p:nvGrpSpPr>
          <p:grpSpPr bwMode="auto">
            <a:xfrm>
              <a:off x="814434" y="5123505"/>
              <a:ext cx="3413806" cy="772763"/>
              <a:chOff x="4073654" y="3093824"/>
              <a:chExt cx="3413806" cy="773382"/>
            </a:xfrm>
          </p:grpSpPr>
          <p:sp>
            <p:nvSpPr>
              <p:cNvPr id="41" name="文本框 66">
                <a:extLst/>
              </p:cNvPr>
              <p:cNvSpPr txBox="1">
                <a:spLocks noChangeArrowheads="1"/>
              </p:cNvSpPr>
              <p:nvPr/>
            </p:nvSpPr>
            <p:spPr bwMode="auto">
              <a:xfrm>
                <a:off x="4233950" y="3371895"/>
                <a:ext cx="3253510" cy="196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lnSpc>
                    <a:spcPts val="900"/>
                  </a:lnSpc>
                  <a:spcBef>
                    <a:spcPts val="0"/>
                  </a:spcBef>
                  <a:spcAft>
                    <a:spcPts val="0"/>
                  </a:spcAft>
                  <a:defRPr/>
                </a:pPr>
                <a:endParaRPr lang="zh-CN" altLang="en-US" sz="600" kern="0">
                  <a:solidFill>
                    <a:schemeClr val="bg1">
                      <a:lumMod val="65000"/>
                    </a:schemeClr>
                  </a:solidFill>
                  <a:latin typeface="+mn-lt"/>
                  <a:ea typeface="+mn-ea"/>
                  <a:cs typeface="+mn-ea"/>
                  <a:sym typeface="+mn-lt"/>
                </a:endParaRPr>
              </a:p>
            </p:txBody>
          </p:sp>
          <p:sp>
            <p:nvSpPr>
              <p:cNvPr id="42" name="文本框 66">
                <a:extLst/>
              </p:cNvPr>
              <p:cNvSpPr txBox="1">
                <a:spLocks noChangeArrowheads="1"/>
              </p:cNvSpPr>
              <p:nvPr/>
            </p:nvSpPr>
            <p:spPr bwMode="auto">
              <a:xfrm>
                <a:off x="4197446" y="3093824"/>
                <a:ext cx="184682" cy="308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spcBef>
                    <a:spcPts val="0"/>
                  </a:spcBef>
                  <a:spcAft>
                    <a:spcPts val="0"/>
                  </a:spcAft>
                  <a:defRPr/>
                </a:pPr>
                <a:endParaRPr lang="zh-CN" altLang="en-US" sz="1400" kern="0">
                  <a:solidFill>
                    <a:schemeClr val="bg1">
                      <a:lumMod val="65000"/>
                    </a:schemeClr>
                  </a:solidFill>
                  <a:latin typeface="+mn-lt"/>
                  <a:ea typeface="+mn-ea"/>
                  <a:cs typeface="+mn-ea"/>
                  <a:sym typeface="+mn-lt"/>
                </a:endParaRPr>
              </a:p>
            </p:txBody>
          </p:sp>
          <p:sp>
            <p:nvSpPr>
              <p:cNvPr id="59" name="文本框 66">
                <a:extLst/>
              </p:cNvPr>
              <p:cNvSpPr txBox="1">
                <a:spLocks noChangeArrowheads="1"/>
              </p:cNvSpPr>
              <p:nvPr/>
            </p:nvSpPr>
            <p:spPr bwMode="auto">
              <a:xfrm>
                <a:off x="4073654" y="3670623"/>
                <a:ext cx="3253510" cy="196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lnSpc>
                    <a:spcPts val="900"/>
                  </a:lnSpc>
                  <a:spcBef>
                    <a:spcPts val="0"/>
                  </a:spcBef>
                  <a:spcAft>
                    <a:spcPts val="0"/>
                  </a:spcAft>
                  <a:defRPr/>
                </a:pPr>
                <a:endParaRPr lang="zh-CN" altLang="en-US" sz="600" kern="0">
                  <a:solidFill>
                    <a:schemeClr val="bg1">
                      <a:lumMod val="65000"/>
                    </a:schemeClr>
                  </a:solidFill>
                  <a:latin typeface="+mn-lt"/>
                  <a:ea typeface="+mn-ea"/>
                  <a:cs typeface="+mn-ea"/>
                  <a:sym typeface="+mn-lt"/>
                </a:endParaRPr>
              </a:p>
            </p:txBody>
          </p:sp>
        </p:grpSp>
        <p:grpSp>
          <p:nvGrpSpPr>
            <p:cNvPr id="32797" name="组合 17"/>
            <p:cNvGrpSpPr>
              <a:grpSpLocks/>
            </p:cNvGrpSpPr>
            <p:nvPr/>
          </p:nvGrpSpPr>
          <p:grpSpPr bwMode="auto">
            <a:xfrm>
              <a:off x="938226" y="4220096"/>
              <a:ext cx="3290013" cy="604835"/>
              <a:chOff x="489046" y="3712680"/>
              <a:chExt cx="3290013" cy="605320"/>
            </a:xfrm>
          </p:grpSpPr>
          <p:grpSp>
            <p:nvGrpSpPr>
              <p:cNvPr id="26" name="组合 25">
                <a:extLst/>
              </p:cNvPr>
              <p:cNvGrpSpPr/>
              <p:nvPr/>
            </p:nvGrpSpPr>
            <p:grpSpPr bwMode="auto">
              <a:xfrm>
                <a:off x="677624" y="3960954"/>
                <a:ext cx="448152" cy="357046"/>
                <a:chOff x="155576" y="754063"/>
                <a:chExt cx="1143000" cy="909638"/>
              </a:xfrm>
              <a:solidFill>
                <a:schemeClr val="bg1"/>
              </a:solidFill>
            </p:grpSpPr>
            <p:sp>
              <p:nvSpPr>
                <p:cNvPr id="37" name="Freeform 13">
                  <a:extLst/>
                </p:cNvPr>
                <p:cNvSpPr>
                  <a:spLocks noEditPoints="1"/>
                </p:cNvSpPr>
                <p:nvPr/>
              </p:nvSpPr>
              <p:spPr bwMode="auto">
                <a:xfrm>
                  <a:off x="155576" y="855663"/>
                  <a:ext cx="985838" cy="808038"/>
                </a:xfrm>
                <a:prstGeom prst="rect">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zh-CN" altLang="en-US" sz="1350" kern="0">
                    <a:solidFill>
                      <a:sysClr val="windowText" lastClr="000000"/>
                    </a:solidFill>
                    <a:latin typeface="+mn-lt"/>
                    <a:ea typeface="+mn-ea"/>
                    <a:cs typeface="+mn-ea"/>
                    <a:sym typeface="+mn-lt"/>
                  </a:endParaRPr>
                </a:p>
              </p:txBody>
            </p:sp>
            <p:sp>
              <p:nvSpPr>
                <p:cNvPr id="38" name="Freeform 14">
                  <a:extLst/>
                </p:cNvPr>
                <p:cNvSpPr>
                  <a:spLocks noEditPoints="1"/>
                </p:cNvSpPr>
                <p:nvPr/>
              </p:nvSpPr>
              <p:spPr bwMode="auto">
                <a:xfrm>
                  <a:off x="379413" y="1212850"/>
                  <a:ext cx="388938" cy="357188"/>
                </a:xfrm>
                <a:prstGeom prst="rect">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zh-CN" altLang="en-US" sz="1350" kern="0">
                    <a:solidFill>
                      <a:sysClr val="windowText" lastClr="000000"/>
                    </a:solidFill>
                    <a:latin typeface="+mn-lt"/>
                    <a:ea typeface="+mn-ea"/>
                    <a:cs typeface="+mn-ea"/>
                    <a:sym typeface="+mn-lt"/>
                  </a:endParaRPr>
                </a:p>
              </p:txBody>
            </p:sp>
            <p:sp>
              <p:nvSpPr>
                <p:cNvPr id="39" name="Freeform 15">
                  <a:extLst/>
                </p:cNvPr>
                <p:cNvSpPr>
                  <a:spLocks/>
                </p:cNvSpPr>
                <p:nvPr/>
              </p:nvSpPr>
              <p:spPr bwMode="auto">
                <a:xfrm>
                  <a:off x="892176" y="890588"/>
                  <a:ext cx="215900" cy="228600"/>
                </a:xfrm>
                <a:prstGeom prst="rect">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zh-CN" altLang="en-US" sz="1350" kern="0">
                    <a:solidFill>
                      <a:sysClr val="windowText" lastClr="000000"/>
                    </a:solidFill>
                    <a:latin typeface="+mn-lt"/>
                    <a:ea typeface="+mn-ea"/>
                    <a:cs typeface="+mn-ea"/>
                    <a:sym typeface="+mn-lt"/>
                  </a:endParaRPr>
                </a:p>
              </p:txBody>
            </p:sp>
            <p:sp>
              <p:nvSpPr>
                <p:cNvPr id="40" name="Freeform 16">
                  <a:extLst/>
                </p:cNvPr>
                <p:cNvSpPr>
                  <a:spLocks/>
                </p:cNvSpPr>
                <p:nvPr/>
              </p:nvSpPr>
              <p:spPr bwMode="auto">
                <a:xfrm>
                  <a:off x="850901" y="754063"/>
                  <a:ext cx="447675" cy="425450"/>
                </a:xfrm>
                <a:prstGeom prst="rect">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zh-CN" altLang="en-US" sz="1350" kern="0">
                    <a:solidFill>
                      <a:sysClr val="windowText" lastClr="000000"/>
                    </a:solidFill>
                    <a:latin typeface="+mn-lt"/>
                    <a:ea typeface="+mn-ea"/>
                    <a:cs typeface="+mn-ea"/>
                    <a:sym typeface="+mn-lt"/>
                  </a:endParaRPr>
                </a:p>
              </p:txBody>
            </p:sp>
          </p:grpSp>
          <p:grpSp>
            <p:nvGrpSpPr>
              <p:cNvPr id="32801" name="组合 74"/>
              <p:cNvGrpSpPr>
                <a:grpSpLocks/>
              </p:cNvGrpSpPr>
              <p:nvPr/>
            </p:nvGrpSpPr>
            <p:grpSpPr bwMode="auto">
              <a:xfrm>
                <a:off x="489046" y="3712680"/>
                <a:ext cx="3290013" cy="474655"/>
                <a:chOff x="4197446" y="3093555"/>
                <a:chExt cx="3290013" cy="474655"/>
              </a:xfrm>
            </p:grpSpPr>
            <p:sp>
              <p:nvSpPr>
                <p:cNvPr id="35" name="文本框 66">
                  <a:extLst/>
                </p:cNvPr>
                <p:cNvSpPr txBox="1">
                  <a:spLocks noChangeArrowheads="1"/>
                </p:cNvSpPr>
                <p:nvPr/>
              </p:nvSpPr>
              <p:spPr bwMode="auto">
                <a:xfrm>
                  <a:off x="4233949" y="3371627"/>
                  <a:ext cx="3253510" cy="196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lnSpc>
                      <a:spcPts val="900"/>
                    </a:lnSpc>
                    <a:spcBef>
                      <a:spcPts val="0"/>
                    </a:spcBef>
                    <a:spcAft>
                      <a:spcPts val="0"/>
                    </a:spcAft>
                    <a:defRPr/>
                  </a:pPr>
                  <a:endParaRPr lang="zh-CN" altLang="en-US" sz="600" kern="0">
                    <a:solidFill>
                      <a:schemeClr val="bg1">
                        <a:lumMod val="65000"/>
                      </a:schemeClr>
                    </a:solidFill>
                    <a:latin typeface="+mn-lt"/>
                    <a:ea typeface="+mn-ea"/>
                    <a:cs typeface="+mn-ea"/>
                    <a:sym typeface="+mn-lt"/>
                  </a:endParaRPr>
                </a:p>
              </p:txBody>
            </p:sp>
            <p:sp>
              <p:nvSpPr>
                <p:cNvPr id="36" name="文本框 66">
                  <a:extLst/>
                </p:cNvPr>
                <p:cNvSpPr txBox="1">
                  <a:spLocks noChangeArrowheads="1"/>
                </p:cNvSpPr>
                <p:nvPr/>
              </p:nvSpPr>
              <p:spPr bwMode="auto">
                <a:xfrm>
                  <a:off x="4197446" y="3093555"/>
                  <a:ext cx="184682" cy="308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spcBef>
                      <a:spcPts val="0"/>
                    </a:spcBef>
                    <a:spcAft>
                      <a:spcPts val="0"/>
                    </a:spcAft>
                    <a:defRPr/>
                  </a:pPr>
                  <a:endParaRPr lang="zh-CN" altLang="en-US" sz="1400" kern="0">
                    <a:solidFill>
                      <a:schemeClr val="bg1">
                        <a:lumMod val="65000"/>
                      </a:schemeClr>
                    </a:solidFill>
                    <a:latin typeface="+mn-lt"/>
                    <a:ea typeface="+mn-ea"/>
                    <a:cs typeface="+mn-ea"/>
                    <a:sym typeface="+mn-lt"/>
                  </a:endParaRPr>
                </a:p>
              </p:txBody>
            </p:sp>
          </p:grpSp>
        </p:grpSp>
        <p:sp>
          <p:nvSpPr>
            <p:cNvPr id="23" name="文本框 66">
              <a:extLst/>
            </p:cNvPr>
            <p:cNvSpPr txBox="1">
              <a:spLocks noChangeArrowheads="1"/>
            </p:cNvSpPr>
            <p:nvPr/>
          </p:nvSpPr>
          <p:spPr bwMode="auto">
            <a:xfrm>
              <a:off x="906485" y="3005503"/>
              <a:ext cx="4258131" cy="460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spcBef>
                  <a:spcPts val="0"/>
                </a:spcBef>
                <a:spcAft>
                  <a:spcPts val="0"/>
                </a:spcAft>
                <a:defRPr/>
              </a:pPr>
              <a:endParaRPr lang="zh-CN" altLang="en-US" sz="2400" b="1" kern="0">
                <a:solidFill>
                  <a:srgbClr val="4F4F4F"/>
                </a:solidFill>
                <a:latin typeface="+mn-lt"/>
                <a:ea typeface="+mn-ea"/>
                <a:cs typeface="+mn-ea"/>
                <a:sym typeface="+mn-lt"/>
              </a:endParaRPr>
            </a:p>
          </p:txBody>
        </p:sp>
        <p:sp>
          <p:nvSpPr>
            <p:cNvPr id="25" name="矩形 24">
              <a:extLst/>
            </p:cNvPr>
            <p:cNvSpPr/>
            <p:nvPr/>
          </p:nvSpPr>
          <p:spPr>
            <a:xfrm>
              <a:off x="876331" y="3446886"/>
              <a:ext cx="4499366" cy="277035"/>
            </a:xfrm>
            <a:prstGeom prst="rect">
              <a:avLst/>
            </a:prstGeom>
          </p:spPr>
          <p:txBody>
            <a:bodyPr>
              <a:spAutoFit/>
            </a:bodyPr>
            <a:lstStyle/>
            <a:p>
              <a:pPr eaLnBrk="1" fontAlgn="auto" hangingPunct="1">
                <a:spcBef>
                  <a:spcPts val="0"/>
                </a:spcBef>
                <a:spcAft>
                  <a:spcPts val="0"/>
                </a:spcAft>
                <a:defRPr/>
              </a:pPr>
              <a:endParaRPr lang="zh-CN" altLang="en-US" sz="1200" kern="0">
                <a:solidFill>
                  <a:srgbClr val="4F4F4F"/>
                </a:solidFill>
                <a:latin typeface="+mn-lt"/>
                <a:ea typeface="+mn-ea"/>
                <a:cs typeface="+mn-ea"/>
                <a:sym typeface="+mn-lt"/>
              </a:endParaRPr>
            </a:p>
          </p:txBody>
        </p:sp>
      </p:grpSp>
      <p:sp>
        <p:nvSpPr>
          <p:cNvPr id="29" name="ValueShape2">
            <a:extLst/>
          </p:cNvPr>
          <p:cNvSpPr/>
          <p:nvPr/>
        </p:nvSpPr>
        <p:spPr bwMode="auto">
          <a:xfrm>
            <a:off x="7063605" y="2323431"/>
            <a:ext cx="4076700" cy="4076700"/>
          </a:xfrm>
          <a:prstGeom prst="blockArc">
            <a:avLst>
              <a:gd name="adj1" fmla="val 16200000"/>
              <a:gd name="adj2" fmla="val 9180000"/>
              <a:gd name="adj3" fmla="val 5772"/>
            </a:avLst>
          </a:prstGeom>
          <a:solidFill>
            <a:srgbClr val="FF2929"/>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30" name="ValueShape3">
            <a:extLst/>
          </p:cNvPr>
          <p:cNvSpPr/>
          <p:nvPr/>
        </p:nvSpPr>
        <p:spPr bwMode="auto">
          <a:xfrm>
            <a:off x="7296968" y="2555206"/>
            <a:ext cx="3611562" cy="3613150"/>
          </a:xfrm>
          <a:prstGeom prst="blockArc">
            <a:avLst>
              <a:gd name="adj1" fmla="val 16200000"/>
              <a:gd name="adj2" fmla="val 7560000"/>
              <a:gd name="adj3" fmla="val 7146"/>
            </a:avLst>
          </a:prstGeom>
          <a:solidFill>
            <a:srgbClr val="EE864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31" name="ValueShape4">
            <a:extLst/>
          </p:cNvPr>
          <p:cNvSpPr/>
          <p:nvPr/>
        </p:nvSpPr>
        <p:spPr bwMode="auto">
          <a:xfrm>
            <a:off x="7547793" y="2807618"/>
            <a:ext cx="3108325" cy="3108325"/>
          </a:xfrm>
          <a:prstGeom prst="blockArc">
            <a:avLst>
              <a:gd name="adj1" fmla="val 16200000"/>
              <a:gd name="adj2" fmla="val 7010490"/>
              <a:gd name="adj3" fmla="val 9000"/>
            </a:avLst>
          </a:prstGeom>
          <a:solidFill>
            <a:schemeClr val="accent4">
              <a:lumMod val="60000"/>
              <a:lumOff val="4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32" name="ValueText1">
            <a:extLst/>
          </p:cNvPr>
          <p:cNvSpPr txBox="1"/>
          <p:nvPr/>
        </p:nvSpPr>
        <p:spPr bwMode="auto">
          <a:xfrm>
            <a:off x="8657279" y="2124376"/>
            <a:ext cx="300363" cy="172748"/>
          </a:xfrm>
          <a:prstGeom prst="rect">
            <a:avLst/>
          </a:prstGeom>
          <a:noFill/>
          <a:ln>
            <a:noFill/>
          </a:ln>
        </p:spPr>
        <p:txBody>
          <a:bodyPr wrap="none" lIns="0" tIns="0" rIns="0" bIns="0" anchor="ctr" anchorCtr="1">
            <a:prstTxWarp prst="textPlain">
              <a:avLst/>
            </a:prstTxWarp>
            <a:normAutofit fontScale="85000" lnSpcReduction="20000"/>
          </a:bodyPr>
          <a:lstStyle/>
          <a:p>
            <a:pPr algn="ctr">
              <a:defRPr/>
            </a:pPr>
            <a:endParaRPr lang="en-US" altLang="zh-CN" sz="1600">
              <a:solidFill>
                <a:schemeClr val="bg1"/>
              </a:solidFill>
              <a:latin typeface="Impact" panose="020B0806030902050204" pitchFamily="34" charset="0"/>
            </a:endParaRPr>
          </a:p>
        </p:txBody>
      </p:sp>
      <p:sp>
        <p:nvSpPr>
          <p:cNvPr id="33" name="ValueText2">
            <a:extLst/>
          </p:cNvPr>
          <p:cNvSpPr txBox="1"/>
          <p:nvPr/>
        </p:nvSpPr>
        <p:spPr bwMode="auto">
          <a:xfrm>
            <a:off x="8657279" y="2371881"/>
            <a:ext cx="300363" cy="172748"/>
          </a:xfrm>
          <a:prstGeom prst="rect">
            <a:avLst/>
          </a:prstGeom>
          <a:noFill/>
          <a:ln>
            <a:noFill/>
          </a:ln>
        </p:spPr>
        <p:txBody>
          <a:bodyPr wrap="none" lIns="0" tIns="0" rIns="0" bIns="0" anchor="ctr" anchorCtr="1">
            <a:prstTxWarp prst="textPlain">
              <a:avLst/>
            </a:prstTxWarp>
            <a:normAutofit fontScale="85000" lnSpcReduction="20000"/>
          </a:bodyPr>
          <a:lstStyle/>
          <a:p>
            <a:pPr algn="ctr">
              <a:defRPr/>
            </a:pPr>
            <a:endParaRPr lang="en-US" altLang="zh-CN" sz="1600">
              <a:solidFill>
                <a:srgbClr val="FFFF00"/>
              </a:solidFill>
              <a:latin typeface="Impact" panose="020B0806030902050204" pitchFamily="34" charset="0"/>
            </a:endParaRPr>
          </a:p>
        </p:txBody>
      </p:sp>
      <p:sp>
        <p:nvSpPr>
          <p:cNvPr id="34" name="ValueText3">
            <a:extLst/>
          </p:cNvPr>
          <p:cNvSpPr txBox="1"/>
          <p:nvPr/>
        </p:nvSpPr>
        <p:spPr bwMode="auto">
          <a:xfrm>
            <a:off x="8657279" y="2617467"/>
            <a:ext cx="300363" cy="172748"/>
          </a:xfrm>
          <a:prstGeom prst="rect">
            <a:avLst/>
          </a:prstGeom>
          <a:noFill/>
          <a:ln>
            <a:noFill/>
          </a:ln>
        </p:spPr>
        <p:txBody>
          <a:bodyPr wrap="none" lIns="0" tIns="0" rIns="0" bIns="0" anchor="ctr" anchorCtr="1">
            <a:prstTxWarp prst="textPlain">
              <a:avLst/>
            </a:prstTxWarp>
            <a:normAutofit fontScale="85000" lnSpcReduction="20000"/>
          </a:bodyPr>
          <a:lstStyle/>
          <a:p>
            <a:pPr algn="ctr">
              <a:defRPr/>
            </a:pPr>
            <a:endParaRPr lang="en-US" altLang="zh-CN" sz="1600">
              <a:solidFill>
                <a:schemeClr val="bg1"/>
              </a:solidFill>
              <a:latin typeface="Impact" panose="020B0806030902050204" pitchFamily="34" charset="0"/>
            </a:endParaRPr>
          </a:p>
        </p:txBody>
      </p:sp>
      <p:sp>
        <p:nvSpPr>
          <p:cNvPr id="32781" name="CustomText2"/>
          <p:cNvSpPr txBox="1">
            <a:spLocks noChangeArrowheads="1"/>
          </p:cNvSpPr>
          <p:nvPr/>
        </p:nvSpPr>
        <p:spPr bwMode="auto">
          <a:xfrm flipH="1">
            <a:off x="8446953" y="2811852"/>
            <a:ext cx="466306" cy="194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a:lnSpc>
                <a:spcPct val="100000"/>
              </a:lnSpc>
              <a:spcBef>
                <a:spcPct val="0"/>
              </a:spcBef>
              <a:buFontTx/>
              <a:buNone/>
            </a:pPr>
            <a:r>
              <a:rPr lang="zh-CN" altLang="en-US" sz="1400" b="1">
                <a:solidFill>
                  <a:schemeClr val="accent4">
                    <a:lumMod val="60000"/>
                    <a:lumOff val="40000"/>
                  </a:schemeClr>
                </a:solidFill>
                <a:latin typeface="微软雅黑" panose="020B0503020204020204" pitchFamily="34" charset="-122"/>
              </a:rPr>
              <a:t>二阶肾病</a:t>
            </a:r>
            <a:endParaRPr lang="en-US" altLang="zh-CN" sz="1400" b="1">
              <a:solidFill>
                <a:schemeClr val="accent4">
                  <a:lumMod val="60000"/>
                  <a:lumOff val="40000"/>
                </a:schemeClr>
              </a:solidFill>
              <a:latin typeface="微软雅黑" panose="020B0503020204020204" pitchFamily="34" charset="-122"/>
            </a:endParaRPr>
          </a:p>
        </p:txBody>
      </p:sp>
      <p:sp>
        <p:nvSpPr>
          <p:cNvPr id="32782" name="CustomText3"/>
          <p:cNvSpPr txBox="1">
            <a:spLocks noChangeArrowheads="1"/>
          </p:cNvSpPr>
          <p:nvPr/>
        </p:nvSpPr>
        <p:spPr bwMode="auto">
          <a:xfrm flipH="1">
            <a:off x="8424957" y="2555487"/>
            <a:ext cx="493017" cy="194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a:lnSpc>
                <a:spcPct val="100000"/>
              </a:lnSpc>
              <a:spcBef>
                <a:spcPct val="0"/>
              </a:spcBef>
              <a:buFontTx/>
              <a:buNone/>
            </a:pPr>
            <a:r>
              <a:rPr lang="zh-CN" altLang="en-US" sz="1400" b="1">
                <a:solidFill>
                  <a:srgbClr val="EE8640"/>
                </a:solidFill>
                <a:latin typeface="微软雅黑" panose="020B0503020204020204" pitchFamily="34" charset="-122"/>
              </a:rPr>
              <a:t>三阶肾病</a:t>
            </a:r>
            <a:endParaRPr lang="en-US" altLang="zh-CN" sz="1400" b="1">
              <a:solidFill>
                <a:srgbClr val="EE8640"/>
              </a:solidFill>
              <a:latin typeface="微软雅黑" panose="020B0503020204020204" pitchFamily="34" charset="-122"/>
            </a:endParaRPr>
          </a:p>
        </p:txBody>
      </p:sp>
      <p:sp>
        <p:nvSpPr>
          <p:cNvPr id="45" name="ValueText4">
            <a:extLst/>
          </p:cNvPr>
          <p:cNvSpPr txBox="1"/>
          <p:nvPr/>
        </p:nvSpPr>
        <p:spPr bwMode="auto">
          <a:xfrm>
            <a:off x="8657279" y="2863052"/>
            <a:ext cx="300363" cy="172748"/>
          </a:xfrm>
          <a:prstGeom prst="rect">
            <a:avLst/>
          </a:prstGeom>
          <a:noFill/>
          <a:ln>
            <a:noFill/>
          </a:ln>
        </p:spPr>
        <p:txBody>
          <a:bodyPr wrap="none" lIns="0" tIns="0" rIns="0" bIns="0" anchor="ctr" anchorCtr="1">
            <a:prstTxWarp prst="textPlain">
              <a:avLst/>
            </a:prstTxWarp>
            <a:normAutofit fontScale="85000" lnSpcReduction="20000"/>
          </a:bodyPr>
          <a:lstStyle/>
          <a:p>
            <a:pPr algn="ctr">
              <a:defRPr/>
            </a:pPr>
            <a:endParaRPr lang="en-US" altLang="zh-CN" sz="1600">
              <a:solidFill>
                <a:schemeClr val="bg1"/>
              </a:solidFill>
              <a:latin typeface="Impact" panose="020B0806030902050204" pitchFamily="34" charset="0"/>
            </a:endParaRPr>
          </a:p>
        </p:txBody>
      </p:sp>
      <p:sp>
        <p:nvSpPr>
          <p:cNvPr id="32784" name="CustomText4"/>
          <p:cNvSpPr txBox="1">
            <a:spLocks noChangeArrowheads="1"/>
          </p:cNvSpPr>
          <p:nvPr/>
        </p:nvSpPr>
        <p:spPr bwMode="auto">
          <a:xfrm flipH="1">
            <a:off x="8391002" y="2260238"/>
            <a:ext cx="566639" cy="261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a:lnSpc>
                <a:spcPct val="100000"/>
              </a:lnSpc>
              <a:spcBef>
                <a:spcPct val="0"/>
              </a:spcBef>
              <a:buFontTx/>
              <a:buNone/>
            </a:pPr>
            <a:r>
              <a:rPr lang="zh-CN" altLang="en-US" sz="1400" b="1">
                <a:solidFill>
                  <a:srgbClr val="C00000"/>
                </a:solidFill>
                <a:effectLst>
                  <a:outerShdw blurRad="38100" dist="38100" dir="2700000" algn="tl">
                    <a:srgbClr val="000000">
                      <a:alpha val="43137"/>
                    </a:srgbClr>
                  </a:outerShdw>
                </a:effectLst>
                <a:latin typeface="微软雅黑" panose="020B0503020204020204" pitchFamily="34" charset="-122"/>
              </a:rPr>
              <a:t>四阶肾病</a:t>
            </a:r>
            <a:endParaRPr lang="en-US" altLang="zh-CN" sz="1400" b="1">
              <a:solidFill>
                <a:srgbClr val="C00000"/>
              </a:solidFill>
              <a:effectLst>
                <a:outerShdw blurRad="38100" dist="38100" dir="2700000" algn="tl">
                  <a:srgbClr val="000000">
                    <a:alpha val="43137"/>
                  </a:srgbClr>
                </a:outerShdw>
              </a:effectLst>
              <a:latin typeface="微软雅黑" panose="020B0503020204020204" pitchFamily="34" charset="-122"/>
            </a:endParaRPr>
          </a:p>
        </p:txBody>
      </p:sp>
      <p:sp>
        <p:nvSpPr>
          <p:cNvPr id="32785" name="Line 6"/>
          <p:cNvSpPr>
            <a:spLocks/>
          </p:cNvSpPr>
          <p:nvPr/>
        </p:nvSpPr>
        <p:spPr bwMode="auto">
          <a:xfrm>
            <a:off x="8252595" y="1961481"/>
            <a:ext cx="0" cy="1209568"/>
          </a:xfrm>
          <a:prstGeom prst="line">
            <a:avLst/>
          </a:prstGeom>
          <a:noFill/>
          <a:ln w="9525">
            <a:solidFill>
              <a:srgbClr val="D9D9D9"/>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51" name="RelativeShape4">
            <a:extLst/>
          </p:cNvPr>
          <p:cNvSpPr/>
          <p:nvPr/>
        </p:nvSpPr>
        <p:spPr bwMode="auto">
          <a:xfrm>
            <a:off x="6433368" y="2885405"/>
            <a:ext cx="1819275" cy="1791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52" name="RelativeShape3">
            <a:extLst/>
          </p:cNvPr>
          <p:cNvSpPr/>
          <p:nvPr/>
        </p:nvSpPr>
        <p:spPr bwMode="auto">
          <a:xfrm>
            <a:off x="6433368" y="2640931"/>
            <a:ext cx="1819275" cy="127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53" name="RelativeShape2">
            <a:extLst/>
          </p:cNvPr>
          <p:cNvSpPr/>
          <p:nvPr/>
        </p:nvSpPr>
        <p:spPr bwMode="auto">
          <a:xfrm>
            <a:off x="6433368" y="2394868"/>
            <a:ext cx="1819275" cy="127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54" name="RelativeShape1">
            <a:extLst/>
          </p:cNvPr>
          <p:cNvSpPr/>
          <p:nvPr/>
        </p:nvSpPr>
        <p:spPr bwMode="auto">
          <a:xfrm>
            <a:off x="6433368" y="2147218"/>
            <a:ext cx="1819275" cy="127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55" name="ValueShape44">
            <a:extLst/>
          </p:cNvPr>
          <p:cNvSpPr/>
          <p:nvPr/>
        </p:nvSpPr>
        <p:spPr bwMode="auto">
          <a:xfrm>
            <a:off x="6796858" y="2801209"/>
            <a:ext cx="1451175" cy="269809"/>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solidFill>
                <a:schemeClr val="accent4">
                  <a:lumMod val="60000"/>
                  <a:lumOff val="40000"/>
                </a:schemeClr>
              </a:solidFill>
            </a:endParaRPr>
          </a:p>
        </p:txBody>
      </p:sp>
      <p:sp>
        <p:nvSpPr>
          <p:cNvPr id="56" name="ValueShape33">
            <a:extLst/>
          </p:cNvPr>
          <p:cNvSpPr/>
          <p:nvPr/>
        </p:nvSpPr>
        <p:spPr bwMode="auto">
          <a:xfrm>
            <a:off x="6615882" y="2539270"/>
            <a:ext cx="1636761" cy="261845"/>
          </a:xfrm>
          <a:prstGeom prst="rect">
            <a:avLst/>
          </a:prstGeom>
          <a:solidFill>
            <a:srgbClr val="EE86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57" name="ValueShape22">
            <a:extLst/>
          </p:cNvPr>
          <p:cNvSpPr/>
          <p:nvPr/>
        </p:nvSpPr>
        <p:spPr bwMode="auto">
          <a:xfrm>
            <a:off x="6469596" y="2290153"/>
            <a:ext cx="1782999" cy="254476"/>
          </a:xfrm>
          <a:prstGeom prst="rect">
            <a:avLst/>
          </a:prstGeom>
          <a:solidFill>
            <a:srgbClr val="FF292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5" name="矩形 4"/>
          <p:cNvSpPr/>
          <p:nvPr/>
        </p:nvSpPr>
        <p:spPr>
          <a:xfrm>
            <a:off x="2715942" y="1275020"/>
            <a:ext cx="3647152" cy="369332"/>
          </a:xfrm>
          <a:prstGeom prst="rect">
            <a:avLst/>
          </a:prstGeom>
        </p:spPr>
        <p:txBody>
          <a:bodyPr wrap="none">
            <a:spAutoFit/>
          </a:bodyPr>
          <a:lstStyle/>
          <a:p>
            <a:r>
              <a:rPr lang="zh-CN" altLang="en-US">
                <a:solidFill>
                  <a:schemeClr val="tx2">
                    <a:lumMod val="75000"/>
                  </a:schemeClr>
                </a:solidFill>
                <a:latin typeface="微软雅黑 Light" panose="020B0502040204020203" pitchFamily="34" charset="-122"/>
                <a:ea typeface="微软雅黑 Light" panose="020B0502040204020203" pitchFamily="34" charset="-122"/>
              </a:rPr>
              <a:t>一次检查结果并不作数，切记切记</a:t>
            </a:r>
          </a:p>
        </p:txBody>
      </p:sp>
      <p:graphicFrame>
        <p:nvGraphicFramePr>
          <p:cNvPr id="8" name="表格 7"/>
          <p:cNvGraphicFramePr>
            <a:graphicFrameLocks noGrp="1"/>
          </p:cNvGraphicFramePr>
          <p:nvPr>
            <p:extLst>
              <p:ext uri="{D42A27DB-BD31-4B8C-83A1-F6EECF244321}">
                <p14:modId xmlns:p14="http://schemas.microsoft.com/office/powerpoint/2010/main" val="362272378"/>
              </p:ext>
            </p:extLst>
          </p:nvPr>
        </p:nvGraphicFramePr>
        <p:xfrm>
          <a:off x="-47" y="1925449"/>
          <a:ext cx="5041900" cy="4498209"/>
        </p:xfrm>
        <a:graphic>
          <a:graphicData uri="http://schemas.openxmlformats.org/drawingml/2006/table">
            <a:tbl>
              <a:tblPr firstRow="1" bandRow="1">
                <a:tableStyleId>{5C22544A-7EE6-4342-B048-85BDC9FD1C3A}</a:tableStyleId>
              </a:tblPr>
              <a:tblGrid>
                <a:gridCol w="1264554">
                  <a:extLst>
                    <a:ext uri="{9D8B030D-6E8A-4147-A177-3AD203B41FA5}">
                      <a16:colId xmlns:a16="http://schemas.microsoft.com/office/drawing/2014/main" val="2717285475"/>
                    </a:ext>
                  </a:extLst>
                </a:gridCol>
                <a:gridCol w="1237862">
                  <a:extLst>
                    <a:ext uri="{9D8B030D-6E8A-4147-A177-3AD203B41FA5}">
                      <a16:colId xmlns:a16="http://schemas.microsoft.com/office/drawing/2014/main" val="570801397"/>
                    </a:ext>
                  </a:extLst>
                </a:gridCol>
                <a:gridCol w="1279009">
                  <a:extLst>
                    <a:ext uri="{9D8B030D-6E8A-4147-A177-3AD203B41FA5}">
                      <a16:colId xmlns:a16="http://schemas.microsoft.com/office/drawing/2014/main" val="1609321145"/>
                    </a:ext>
                  </a:extLst>
                </a:gridCol>
                <a:gridCol w="1260475">
                  <a:extLst>
                    <a:ext uri="{9D8B030D-6E8A-4147-A177-3AD203B41FA5}">
                      <a16:colId xmlns:a16="http://schemas.microsoft.com/office/drawing/2014/main" val="271056896"/>
                    </a:ext>
                  </a:extLst>
                </a:gridCol>
              </a:tblGrid>
              <a:tr h="943696">
                <a:tc>
                  <a:txBody>
                    <a:bodyPr/>
                    <a:lstStyle/>
                    <a:p>
                      <a:pPr algn="ctr"/>
                      <a:endParaRPr lang="zh-CN" altLang="en-US" sz="1600" b="1">
                        <a:latin typeface="微软雅黑" panose="020B0503020204020204" pitchFamily="34" charset="-122"/>
                        <a:ea typeface="微软雅黑" panose="020B0503020204020204" pitchFamily="34" charset="-122"/>
                      </a:endParaRPr>
                    </a:p>
                  </a:txBody>
                  <a:tcPr>
                    <a:solidFill>
                      <a:schemeClr val="bg1"/>
                    </a:solidFill>
                  </a:tcPr>
                </a:tc>
                <a:tc>
                  <a:txBody>
                    <a:bodyPr/>
                    <a:lstStyle/>
                    <a:p>
                      <a:pPr algn="ctr"/>
                      <a:endParaRPr lang="en-US" altLang="zh-CN" sz="16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ctr"/>
                      <a:r>
                        <a:rPr lang="zh-CN" altLang="en-US" sz="16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二阶肾病</a:t>
                      </a:r>
                    </a:p>
                  </a:txBody>
                  <a:tcPr>
                    <a:solidFill>
                      <a:schemeClr val="accent4">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altLang="zh-CN" sz="1600" b="1">
                        <a:solidFill>
                          <a:schemeClr val="accent4">
                            <a:lumMod val="20000"/>
                            <a:lumOff val="8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b="1">
                          <a:solidFill>
                            <a:schemeClr val="accent4">
                              <a:lumMod val="20000"/>
                              <a:lumOff val="8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三阶肾病</a:t>
                      </a:r>
                    </a:p>
                  </a:txBody>
                  <a:tcPr>
                    <a:solidFill>
                      <a:srgbClr val="EE864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altLang="zh-CN" sz="1600" b="1">
                        <a:solidFill>
                          <a:schemeClr val="accent4">
                            <a:lumMod val="60000"/>
                            <a:lumOff val="4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b="1">
                          <a:solidFill>
                            <a:schemeClr val="accent4">
                              <a:lumMod val="60000"/>
                              <a:lumOff val="4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四阶肾病</a:t>
                      </a:r>
                    </a:p>
                  </a:txBody>
                  <a:tcPr>
                    <a:solidFill>
                      <a:srgbClr val="FF2929"/>
                    </a:solidFill>
                  </a:tcPr>
                </a:tc>
                <a:extLst>
                  <a:ext uri="{0D108BD9-81ED-4DB2-BD59-A6C34878D82A}">
                    <a16:rowId xmlns:a16="http://schemas.microsoft.com/office/drawing/2014/main" val="2585280960"/>
                  </a:ext>
                </a:extLst>
              </a:tr>
              <a:tr h="94369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b="1">
                          <a:solidFill>
                            <a:schemeClr val="tx2">
                              <a:lumMod val="75000"/>
                            </a:schemeClr>
                          </a:solidFill>
                          <a:latin typeface="微软雅黑" panose="020B0503020204020204" pitchFamily="34" charset="-122"/>
                          <a:ea typeface="微软雅黑" panose="020B0503020204020204" pitchFamily="34" charset="-122"/>
                        </a:rPr>
                        <a:t>肌酐</a:t>
                      </a:r>
                      <a:endParaRPr lang="en-US" altLang="zh-CN" sz="1600" b="1">
                        <a:solidFill>
                          <a:schemeClr val="tx2">
                            <a:lumMod val="75000"/>
                          </a:schemeClr>
                        </a:solidFill>
                        <a:latin typeface="微软雅黑" panose="020B0503020204020204" pitchFamily="34" charset="-122"/>
                        <a:ea typeface="微软雅黑" panose="020B0503020204020204" pitchFamily="34" charset="-122"/>
                      </a:endParaRPr>
                    </a:p>
                    <a:p>
                      <a:pPr marL="0" marR="0" indent="0" algn="ctr" defTabSz="914400" rtl="0" eaLnBrk="1" fontAlgn="auto" latinLnBrk="0" hangingPunct="1">
                        <a:lnSpc>
                          <a:spcPct val="100000"/>
                        </a:lnSpc>
                        <a:spcBef>
                          <a:spcPts val="0"/>
                        </a:spcBef>
                        <a:spcAft>
                          <a:spcPts val="0"/>
                        </a:spcAft>
                        <a:buClrTx/>
                        <a:buSzTx/>
                        <a:buFontTx/>
                        <a:buNone/>
                        <a:tabLst/>
                        <a:defRPr/>
                      </a:pPr>
                      <a:r>
                        <a:rPr lang="el-GR" altLang="zh-CN" sz="1600" b="1" u="sng">
                          <a:solidFill>
                            <a:schemeClr val="bg2">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μ</a:t>
                      </a:r>
                      <a:r>
                        <a:rPr lang="en-US" altLang="zh-CN" sz="1600" b="1" u="sng">
                          <a:solidFill>
                            <a:schemeClr val="bg2">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mol/L </a:t>
                      </a:r>
                      <a:endParaRPr lang="zh-CN" altLang="en-US" sz="1600" b="1" u="sng">
                        <a:solidFill>
                          <a:schemeClr val="bg2">
                            <a:lumMod val="50000"/>
                          </a:schemeClr>
                        </a:solidFill>
                        <a:latin typeface="微软雅黑" panose="020B0503020204020204" pitchFamily="34" charset="-122"/>
                        <a:ea typeface="微软雅黑" panose="020B0503020204020204" pitchFamily="34" charset="-122"/>
                      </a:endParaRPr>
                    </a:p>
                    <a:p>
                      <a:pPr algn="ctr"/>
                      <a:endParaRPr lang="zh-CN" altLang="en-US" sz="1600" b="1">
                        <a:latin typeface="微软雅黑" panose="020B0503020204020204" pitchFamily="34" charset="-122"/>
                        <a:ea typeface="微软雅黑" panose="020B0503020204020204" pitchFamily="34" charset="-122"/>
                      </a:endParaRPr>
                    </a:p>
                  </a:txBody>
                  <a:tcPr>
                    <a:solidFill>
                      <a:schemeClr val="bg1"/>
                    </a:solidFill>
                  </a:tcPr>
                </a:tc>
                <a:tc>
                  <a:txBody>
                    <a:bodyPr/>
                    <a:lstStyle/>
                    <a:p>
                      <a:pPr algn="ctr">
                        <a:lnSpc>
                          <a:spcPct val="150000"/>
                        </a:lnSpc>
                      </a:pPr>
                      <a:r>
                        <a:rPr lang="zh-CN" altLang="en-US" sz="16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16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140</a:t>
                      </a:r>
                      <a:endParaRPr lang="zh-CN" altLang="en-US" sz="16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a:solidFill>
                      <a:schemeClr val="accent4">
                        <a:lumMod val="40000"/>
                        <a:lumOff val="60000"/>
                      </a:schemeClr>
                    </a:solidFill>
                  </a:tcPr>
                </a:tc>
                <a:tc>
                  <a:txBody>
                    <a:bodyPr/>
                    <a:lstStyle/>
                    <a:p>
                      <a:pPr marL="0" marR="0" indent="0" algn="ctr" defTabSz="914400" rtl="0" eaLnBrk="1" fontAlgn="auto" latinLnBrk="0" hangingPunct="1">
                        <a:lnSpc>
                          <a:spcPct val="150000"/>
                        </a:lnSpc>
                        <a:spcBef>
                          <a:spcPts val="0"/>
                        </a:spcBef>
                        <a:spcAft>
                          <a:spcPts val="0"/>
                        </a:spcAft>
                        <a:buClrTx/>
                        <a:buSzTx/>
                        <a:buFontTx/>
                        <a:buNone/>
                        <a:tabLst/>
                        <a:defRPr/>
                      </a:pPr>
                      <a:r>
                        <a:rPr lang="en-US" altLang="zh-CN" sz="1600" b="1">
                          <a:solidFill>
                            <a:schemeClr val="accent4">
                              <a:lumMod val="20000"/>
                              <a:lumOff val="8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250-439</a:t>
                      </a:r>
                      <a:endParaRPr lang="zh-CN" altLang="en-US" sz="1600" b="1">
                        <a:solidFill>
                          <a:schemeClr val="accent4">
                            <a:lumMod val="20000"/>
                            <a:lumOff val="8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a:solidFill>
                      <a:srgbClr val="EE8640"/>
                    </a:solidFill>
                  </a:tcPr>
                </a:tc>
                <a:tc>
                  <a:txBody>
                    <a:bodyPr/>
                    <a:lstStyle/>
                    <a:p>
                      <a:pPr marL="0" marR="0" indent="0" algn="ctr" defTabSz="914400" rtl="0" eaLnBrk="1" fontAlgn="auto" latinLnBrk="0" hangingPunct="1">
                        <a:lnSpc>
                          <a:spcPct val="150000"/>
                        </a:lnSpc>
                        <a:spcBef>
                          <a:spcPts val="0"/>
                        </a:spcBef>
                        <a:spcAft>
                          <a:spcPts val="0"/>
                        </a:spcAft>
                        <a:buClrTx/>
                        <a:buSzTx/>
                        <a:buFontTx/>
                        <a:buNone/>
                        <a:tabLst/>
                        <a:defRPr/>
                      </a:pPr>
                      <a:r>
                        <a:rPr lang="zh-CN" altLang="en-US" sz="1600" b="1">
                          <a:solidFill>
                            <a:schemeClr val="accent4">
                              <a:lumMod val="60000"/>
                              <a:lumOff val="4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1600" b="1">
                          <a:solidFill>
                            <a:schemeClr val="accent4">
                              <a:lumMod val="60000"/>
                              <a:lumOff val="4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440</a:t>
                      </a:r>
                      <a:endParaRPr lang="zh-CN" altLang="en-US" sz="1600" b="1">
                        <a:solidFill>
                          <a:schemeClr val="accent4">
                            <a:lumMod val="60000"/>
                            <a:lumOff val="4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a:solidFill>
                      <a:srgbClr val="FF2929"/>
                    </a:solidFill>
                  </a:tcPr>
                </a:tc>
                <a:extLst>
                  <a:ext uri="{0D108BD9-81ED-4DB2-BD59-A6C34878D82A}">
                    <a16:rowId xmlns:a16="http://schemas.microsoft.com/office/drawing/2014/main" val="2112469746"/>
                  </a:ext>
                </a:extLst>
              </a:tr>
              <a:tr h="90413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b="1">
                          <a:solidFill>
                            <a:schemeClr val="tx2">
                              <a:lumMod val="75000"/>
                            </a:schemeClr>
                          </a:solidFill>
                          <a:latin typeface="微软雅黑" panose="020B0503020204020204" pitchFamily="34" charset="-122"/>
                          <a:ea typeface="微软雅黑" panose="020B0503020204020204" pitchFamily="34" charset="-122"/>
                        </a:rPr>
                        <a:t>肌酐</a:t>
                      </a:r>
                      <a:endParaRPr lang="en-US" altLang="zh-CN" sz="1600" b="1">
                        <a:solidFill>
                          <a:schemeClr val="tx2">
                            <a:lumMod val="75000"/>
                          </a:schemeClr>
                        </a:solidFill>
                        <a:latin typeface="微软雅黑" panose="020B0503020204020204" pitchFamily="34" charset="-122"/>
                        <a:ea typeface="微软雅黑" panose="020B0503020204020204" pitchFamily="34" charset="-122"/>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b="1" u="sng">
                          <a:solidFill>
                            <a:schemeClr val="bg2">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mg/dl</a:t>
                      </a:r>
                      <a:endParaRPr lang="zh-CN" altLang="en-US" sz="1600" b="1" u="sng">
                        <a:solidFill>
                          <a:schemeClr val="bg2">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ctr"/>
                      <a:endParaRPr lang="zh-CN" altLang="en-US" sz="1600" b="1">
                        <a:latin typeface="微软雅黑" panose="020B0503020204020204" pitchFamily="34" charset="-122"/>
                        <a:ea typeface="微软雅黑" panose="020B0503020204020204" pitchFamily="34" charset="-122"/>
                      </a:endParaRPr>
                    </a:p>
                  </a:txBody>
                  <a:tcPr>
                    <a:solidFill>
                      <a:schemeClr val="bg1"/>
                    </a:solidFill>
                  </a:tcPr>
                </a:tc>
                <a:tc>
                  <a:txBody>
                    <a:bodyPr/>
                    <a:lstStyle/>
                    <a:p>
                      <a:pPr algn="ctr">
                        <a:lnSpc>
                          <a:spcPct val="150000"/>
                        </a:lnSpc>
                      </a:pPr>
                      <a:r>
                        <a:rPr lang="zh-CN" altLang="en-US" sz="16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16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1.6</a:t>
                      </a:r>
                      <a:endParaRPr lang="zh-CN" altLang="en-US" sz="16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a:solidFill>
                      <a:schemeClr val="accent4">
                        <a:lumMod val="40000"/>
                        <a:lumOff val="60000"/>
                      </a:schemeClr>
                    </a:solidFill>
                  </a:tcPr>
                </a:tc>
                <a:tc>
                  <a:txBody>
                    <a:bodyPr/>
                    <a:lstStyle/>
                    <a:p>
                      <a:pPr algn="ctr">
                        <a:lnSpc>
                          <a:spcPct val="150000"/>
                        </a:lnSpc>
                      </a:pPr>
                      <a:r>
                        <a:rPr lang="en-US" altLang="zh-CN" sz="1600" b="1">
                          <a:solidFill>
                            <a:schemeClr val="accent4">
                              <a:lumMod val="20000"/>
                              <a:lumOff val="8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2.9-5.0</a:t>
                      </a:r>
                      <a:endParaRPr lang="zh-CN" altLang="en-US" sz="1600" b="1">
                        <a:solidFill>
                          <a:schemeClr val="accent4">
                            <a:lumMod val="20000"/>
                            <a:lumOff val="8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a:solidFill>
                      <a:srgbClr val="EE8640"/>
                    </a:solidFill>
                  </a:tcPr>
                </a:tc>
                <a:tc>
                  <a:txBody>
                    <a:bodyPr/>
                    <a:lstStyle/>
                    <a:p>
                      <a:pPr algn="ctr">
                        <a:lnSpc>
                          <a:spcPct val="150000"/>
                        </a:lnSpc>
                      </a:pPr>
                      <a:r>
                        <a:rPr lang="zh-CN" altLang="en-US" sz="1600" b="1">
                          <a:solidFill>
                            <a:schemeClr val="accent4">
                              <a:lumMod val="60000"/>
                              <a:lumOff val="4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1600" b="1">
                          <a:solidFill>
                            <a:schemeClr val="accent4">
                              <a:lumMod val="60000"/>
                              <a:lumOff val="4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5.0</a:t>
                      </a:r>
                      <a:endParaRPr lang="zh-CN" altLang="en-US" sz="1600" b="1">
                        <a:solidFill>
                          <a:schemeClr val="accent4">
                            <a:lumMod val="60000"/>
                            <a:lumOff val="4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a:solidFill>
                      <a:srgbClr val="FF2929"/>
                    </a:solidFill>
                  </a:tcPr>
                </a:tc>
                <a:extLst>
                  <a:ext uri="{0D108BD9-81ED-4DB2-BD59-A6C34878D82A}">
                    <a16:rowId xmlns:a16="http://schemas.microsoft.com/office/drawing/2014/main" val="3324980692"/>
                  </a:ext>
                </a:extLst>
              </a:tr>
              <a:tr h="853339">
                <a:tc>
                  <a:txBody>
                    <a:bodyPr/>
                    <a:lstStyle/>
                    <a:p>
                      <a:pPr algn="ctr"/>
                      <a:r>
                        <a:rPr lang="zh-CN" altLang="en-US" sz="1600" b="1">
                          <a:solidFill>
                            <a:schemeClr val="tx2">
                              <a:lumMod val="75000"/>
                            </a:schemeClr>
                          </a:solidFill>
                          <a:latin typeface="微软雅黑" panose="020B0503020204020204" pitchFamily="34" charset="-122"/>
                          <a:ea typeface="微软雅黑" panose="020B0503020204020204" pitchFamily="34" charset="-122"/>
                        </a:rPr>
                        <a:t>目标血磷</a:t>
                      </a:r>
                      <a:endParaRPr lang="en-US" altLang="zh-CN" sz="1600" b="1">
                        <a:solidFill>
                          <a:schemeClr val="tx2">
                            <a:lumMod val="75000"/>
                          </a:schemeClr>
                        </a:solidFill>
                        <a:latin typeface="微软雅黑" panose="020B0503020204020204" pitchFamily="34" charset="-122"/>
                        <a:ea typeface="微软雅黑" panose="020B0503020204020204" pitchFamily="34" charset="-122"/>
                      </a:endParaRPr>
                    </a:p>
                    <a:p>
                      <a:pPr algn="ctr"/>
                      <a:r>
                        <a:rPr lang="en-US" altLang="zh-CN" sz="1600" b="1" u="sng">
                          <a:solidFill>
                            <a:schemeClr val="bg2">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mmol/</a:t>
                      </a:r>
                      <a:r>
                        <a:rPr lang="en-US" altLang="zh-CN" sz="1600" b="1">
                          <a:solidFill>
                            <a:schemeClr val="bg2">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L</a:t>
                      </a:r>
                      <a:endParaRPr lang="zh-CN" altLang="en-US" sz="1600" b="1">
                        <a:solidFill>
                          <a:schemeClr val="bg2">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a:solidFill>
                      <a:schemeClr val="bg1"/>
                    </a:solidFill>
                  </a:tcPr>
                </a:tc>
                <a:tc>
                  <a:txBody>
                    <a:bodyPr/>
                    <a:lstStyle/>
                    <a:p>
                      <a:pPr algn="ctr">
                        <a:lnSpc>
                          <a:spcPct val="150000"/>
                        </a:lnSpc>
                      </a:pPr>
                      <a:r>
                        <a:rPr lang="en-US" altLang="zh-CN" sz="16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0.81-1.45</a:t>
                      </a:r>
                      <a:endParaRPr lang="zh-CN" altLang="en-US" sz="16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a:solidFill>
                      <a:schemeClr val="accent4">
                        <a:lumMod val="40000"/>
                        <a:lumOff val="60000"/>
                      </a:schemeClr>
                    </a:solidFill>
                  </a:tcPr>
                </a:tc>
                <a:tc>
                  <a:txBody>
                    <a:bodyPr/>
                    <a:lstStyle/>
                    <a:p>
                      <a:pPr algn="ctr">
                        <a:lnSpc>
                          <a:spcPct val="150000"/>
                        </a:lnSpc>
                      </a:pPr>
                      <a:r>
                        <a:rPr lang="en-US" altLang="zh-CN" sz="1600" b="1">
                          <a:solidFill>
                            <a:schemeClr val="accent4">
                              <a:lumMod val="20000"/>
                              <a:lumOff val="8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0.81-1.61</a:t>
                      </a:r>
                      <a:endParaRPr lang="zh-CN" altLang="en-US" sz="1600" b="1">
                        <a:solidFill>
                          <a:schemeClr val="accent4">
                            <a:lumMod val="20000"/>
                            <a:lumOff val="8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a:solidFill>
                      <a:srgbClr val="EE8640"/>
                    </a:solidFill>
                  </a:tcPr>
                </a:tc>
                <a:tc>
                  <a:txBody>
                    <a:bodyPr/>
                    <a:lstStyle/>
                    <a:p>
                      <a:pPr algn="ctr">
                        <a:lnSpc>
                          <a:spcPct val="150000"/>
                        </a:lnSpc>
                      </a:pPr>
                      <a:r>
                        <a:rPr lang="en-US" altLang="zh-CN" sz="1600" b="1">
                          <a:solidFill>
                            <a:schemeClr val="accent4">
                              <a:lumMod val="60000"/>
                              <a:lumOff val="4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0.81-1.94</a:t>
                      </a:r>
                      <a:endParaRPr lang="zh-CN" altLang="en-US" sz="1600" b="1">
                        <a:solidFill>
                          <a:schemeClr val="accent4">
                            <a:lumMod val="60000"/>
                            <a:lumOff val="4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a:solidFill>
                      <a:srgbClr val="FF2929"/>
                    </a:solidFill>
                  </a:tcPr>
                </a:tc>
                <a:extLst>
                  <a:ext uri="{0D108BD9-81ED-4DB2-BD59-A6C34878D82A}">
                    <a16:rowId xmlns:a16="http://schemas.microsoft.com/office/drawing/2014/main" val="1372434213"/>
                  </a:ext>
                </a:extLst>
              </a:tr>
              <a:tr h="853339">
                <a:tc>
                  <a:txBody>
                    <a:bodyPr/>
                    <a:lstStyle/>
                    <a:p>
                      <a:pPr algn="ctr"/>
                      <a:endParaRPr lang="en-US" altLang="zh-CN" sz="1600" b="1">
                        <a:solidFill>
                          <a:schemeClr val="bg2">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ctr"/>
                      <a:r>
                        <a:rPr lang="zh-CN" altLang="en-US" sz="16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阶段特点</a:t>
                      </a:r>
                    </a:p>
                  </a:txBody>
                  <a:tcPr>
                    <a:solidFill>
                      <a:schemeClr val="bg1"/>
                    </a:solidFill>
                  </a:tcPr>
                </a:tc>
                <a:tc>
                  <a:txBody>
                    <a:bodyPr/>
                    <a:lstStyle/>
                    <a:p>
                      <a:pPr algn="l"/>
                      <a:endParaRPr lang="en-US" altLang="zh-CN" sz="14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l"/>
                      <a:r>
                        <a:rPr lang="zh-CN" altLang="en-US" sz="14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长时间稳定，应开始限磷。</a:t>
                      </a:r>
                    </a:p>
                  </a:txBody>
                  <a:tcPr>
                    <a:solidFill>
                      <a:schemeClr val="accent4">
                        <a:lumMod val="40000"/>
                        <a:lumOff val="60000"/>
                      </a:schemeClr>
                    </a:solidFill>
                  </a:tcPr>
                </a:tc>
                <a:tc>
                  <a:txBody>
                    <a:bodyPr/>
                    <a:lstStyle/>
                    <a:p>
                      <a:pPr algn="l"/>
                      <a:endParaRPr lang="zh-CN" altLang="en-US" sz="1600" b="1">
                        <a:solidFill>
                          <a:schemeClr val="accent4">
                            <a:lumMod val="20000"/>
                            <a:lumOff val="8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a:solidFill>
                      <a:srgbClr val="EE8640"/>
                    </a:solidFill>
                  </a:tcPr>
                </a:tc>
                <a:tc>
                  <a:txBody>
                    <a:bodyPr/>
                    <a:lstStyle/>
                    <a:p>
                      <a:pPr algn="l"/>
                      <a:endParaRPr lang="zh-CN" altLang="en-US" sz="1600" b="1">
                        <a:solidFill>
                          <a:schemeClr val="accent4">
                            <a:lumMod val="60000"/>
                            <a:lumOff val="4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a:solidFill>
                      <a:srgbClr val="FF2929"/>
                    </a:solidFill>
                  </a:tcPr>
                </a:tc>
                <a:extLst>
                  <a:ext uri="{0D108BD9-81ED-4DB2-BD59-A6C34878D82A}">
                    <a16:rowId xmlns:a16="http://schemas.microsoft.com/office/drawing/2014/main" val="505459469"/>
                  </a:ext>
                </a:extLst>
              </a:tr>
            </a:tbl>
          </a:graphicData>
        </a:graphic>
      </p:graphicFrame>
      <p:sp>
        <p:nvSpPr>
          <p:cNvPr id="10" name="文本框 9"/>
          <p:cNvSpPr txBox="1"/>
          <p:nvPr/>
        </p:nvSpPr>
        <p:spPr>
          <a:xfrm>
            <a:off x="2523622" y="5798333"/>
            <a:ext cx="1296144" cy="523220"/>
          </a:xfrm>
          <a:prstGeom prst="rect">
            <a:avLst/>
          </a:prstGeom>
          <a:noFill/>
        </p:spPr>
        <p:txBody>
          <a:bodyPr wrap="square" rtlCol="0">
            <a:spAutoFit/>
          </a:bodyPr>
          <a:lstStyle/>
          <a:p>
            <a:r>
              <a:rPr lang="zh-CN" altLang="en-US" sz="14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开始恶化，并发症增多。</a:t>
            </a:r>
          </a:p>
        </p:txBody>
      </p:sp>
      <p:sp>
        <p:nvSpPr>
          <p:cNvPr id="11" name="文本框 10"/>
          <p:cNvSpPr txBox="1"/>
          <p:nvPr/>
        </p:nvSpPr>
        <p:spPr>
          <a:xfrm>
            <a:off x="3897991" y="5684994"/>
            <a:ext cx="1108330" cy="738664"/>
          </a:xfrm>
          <a:prstGeom prst="rect">
            <a:avLst/>
          </a:prstGeom>
          <a:noFill/>
        </p:spPr>
        <p:txBody>
          <a:bodyPr wrap="square" rtlCol="0">
            <a:spAutoFit/>
          </a:bodyPr>
          <a:lstStyle/>
          <a:p>
            <a:r>
              <a:rPr lang="zh-CN" altLang="en-US" sz="1400" b="1">
                <a:solidFill>
                  <a:schemeClr val="tx1">
                    <a:lumMod val="85000"/>
                    <a:lumOff val="1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对抗尿毒症，可能需要控蛋白摄入</a:t>
            </a:r>
          </a:p>
        </p:txBody>
      </p:sp>
      <p:sp>
        <p:nvSpPr>
          <p:cNvPr id="12" name="文本框 11"/>
          <p:cNvSpPr txBox="1"/>
          <p:nvPr/>
        </p:nvSpPr>
        <p:spPr>
          <a:xfrm>
            <a:off x="6757451" y="2766836"/>
            <a:ext cx="1677706" cy="307777"/>
          </a:xfrm>
          <a:prstGeom prst="rect">
            <a:avLst/>
          </a:prstGeom>
          <a:noFill/>
        </p:spPr>
        <p:txBody>
          <a:bodyPr wrap="square" rtlCol="0">
            <a:spAutoFit/>
          </a:bodyPr>
          <a:lstStyle/>
          <a:p>
            <a:r>
              <a:rPr lang="zh-CN" altLang="en-US" sz="1400" b="1">
                <a:solidFill>
                  <a:schemeClr val="tx1">
                    <a:lumMod val="75000"/>
                    <a:lumOff val="25000"/>
                  </a:schemeClr>
                </a:solidFill>
                <a:latin typeface="+mj-ea"/>
                <a:ea typeface="+mj-ea"/>
              </a:rPr>
              <a:t>损失：</a:t>
            </a:r>
            <a:r>
              <a:rPr lang="en-US" altLang="zh-CN" sz="1400" b="1">
                <a:solidFill>
                  <a:schemeClr val="tx1">
                    <a:lumMod val="75000"/>
                    <a:lumOff val="25000"/>
                  </a:schemeClr>
                </a:solidFill>
                <a:latin typeface="+mj-ea"/>
                <a:ea typeface="+mj-ea"/>
              </a:rPr>
              <a:t>66-75%</a:t>
            </a:r>
            <a:endParaRPr lang="zh-CN" altLang="en-US" sz="1400" b="1">
              <a:solidFill>
                <a:schemeClr val="tx1">
                  <a:lumMod val="75000"/>
                  <a:lumOff val="25000"/>
                </a:schemeClr>
              </a:solidFill>
              <a:latin typeface="+mj-ea"/>
              <a:ea typeface="+mj-ea"/>
            </a:endParaRPr>
          </a:p>
        </p:txBody>
      </p:sp>
      <p:sp>
        <p:nvSpPr>
          <p:cNvPr id="13" name="文本框 12"/>
          <p:cNvSpPr txBox="1"/>
          <p:nvPr/>
        </p:nvSpPr>
        <p:spPr>
          <a:xfrm>
            <a:off x="6727126" y="2515230"/>
            <a:ext cx="1408788" cy="584775"/>
          </a:xfrm>
          <a:prstGeom prst="rect">
            <a:avLst/>
          </a:prstGeom>
          <a:noFill/>
        </p:spPr>
        <p:txBody>
          <a:bodyPr wrap="square" rtlCol="0">
            <a:spAutoFit/>
          </a:bodyPr>
          <a:lstStyle/>
          <a:p>
            <a:r>
              <a:rPr lang="zh-CN" altLang="en-US" sz="1400" b="1">
                <a:solidFill>
                  <a:schemeClr val="tx1">
                    <a:lumMod val="75000"/>
                    <a:lumOff val="25000"/>
                  </a:schemeClr>
                </a:solidFill>
                <a:latin typeface="+mj-ea"/>
                <a:ea typeface="+mj-ea"/>
              </a:rPr>
              <a:t>损失：</a:t>
            </a:r>
            <a:r>
              <a:rPr lang="en-US" altLang="zh-CN" sz="1400" b="1">
                <a:solidFill>
                  <a:schemeClr val="tx1">
                    <a:lumMod val="75000"/>
                    <a:lumOff val="25000"/>
                  </a:schemeClr>
                </a:solidFill>
                <a:latin typeface="+mj-ea"/>
                <a:ea typeface="+mj-ea"/>
              </a:rPr>
              <a:t>76-90%</a:t>
            </a:r>
            <a:endParaRPr lang="zh-CN" altLang="en-US" sz="1400" b="1">
              <a:solidFill>
                <a:schemeClr val="tx1">
                  <a:lumMod val="75000"/>
                  <a:lumOff val="25000"/>
                </a:schemeClr>
              </a:solidFill>
              <a:latin typeface="+mj-ea"/>
              <a:ea typeface="+mj-ea"/>
            </a:endParaRPr>
          </a:p>
          <a:p>
            <a:endParaRPr lang="zh-CN" altLang="en-US"/>
          </a:p>
        </p:txBody>
      </p:sp>
      <p:sp>
        <p:nvSpPr>
          <p:cNvPr id="14" name="文本框 13"/>
          <p:cNvSpPr txBox="1"/>
          <p:nvPr/>
        </p:nvSpPr>
        <p:spPr>
          <a:xfrm>
            <a:off x="6625575" y="2263502"/>
            <a:ext cx="1573221" cy="307777"/>
          </a:xfrm>
          <a:prstGeom prst="rect">
            <a:avLst/>
          </a:prstGeom>
          <a:noFill/>
        </p:spPr>
        <p:txBody>
          <a:bodyPr wrap="square" rtlCol="0">
            <a:spAutoFit/>
          </a:bodyPr>
          <a:lstStyle/>
          <a:p>
            <a:r>
              <a:rPr lang="zh-CN" altLang="en-US" sz="1400" b="1">
                <a:solidFill>
                  <a:schemeClr val="tx2">
                    <a:lumMod val="75000"/>
                  </a:schemeClr>
                </a:solidFill>
                <a:latin typeface="+mj-ea"/>
                <a:ea typeface="+mj-ea"/>
              </a:rPr>
              <a:t>损失：</a:t>
            </a:r>
            <a:r>
              <a:rPr lang="en-US" altLang="zh-CN" sz="1400" b="1">
                <a:solidFill>
                  <a:schemeClr val="tx2">
                    <a:lumMod val="75000"/>
                  </a:schemeClr>
                </a:solidFill>
                <a:latin typeface="+mj-ea"/>
                <a:ea typeface="+mj-ea"/>
              </a:rPr>
              <a:t>90%</a:t>
            </a:r>
            <a:r>
              <a:rPr lang="zh-CN" altLang="en-US" sz="1400" b="1">
                <a:solidFill>
                  <a:schemeClr val="tx2">
                    <a:lumMod val="75000"/>
                  </a:schemeClr>
                </a:solidFill>
                <a:latin typeface="+mj-ea"/>
                <a:ea typeface="+mj-ea"/>
              </a:rPr>
              <a:t>以上</a:t>
            </a:r>
          </a:p>
        </p:txBody>
      </p:sp>
      <p:sp>
        <p:nvSpPr>
          <p:cNvPr id="15" name="文本框 14"/>
          <p:cNvSpPr txBox="1"/>
          <p:nvPr/>
        </p:nvSpPr>
        <p:spPr>
          <a:xfrm>
            <a:off x="8163741" y="3993478"/>
            <a:ext cx="1954271" cy="923330"/>
          </a:xfrm>
          <a:prstGeom prst="rect">
            <a:avLst/>
          </a:prstGeom>
          <a:noFill/>
        </p:spPr>
        <p:txBody>
          <a:bodyPr wrap="square" rtlCol="0">
            <a:spAutoFit/>
          </a:bodyPr>
          <a:lstStyle/>
          <a:p>
            <a:r>
              <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残余肾机能，重要乎，不重要乎？</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8" name="文本框 7"/>
          <p:cNvSpPr txBox="1"/>
          <p:nvPr/>
        </p:nvSpPr>
        <p:spPr>
          <a:xfrm>
            <a:off x="5879976" y="2645105"/>
            <a:ext cx="3456384" cy="615553"/>
          </a:xfrm>
          <a:prstGeom prst="rect">
            <a:avLst/>
          </a:prstGeom>
          <a:noFill/>
        </p:spPr>
        <p:txBody>
          <a:bodyPr wrap="square" rtlCol="0">
            <a:spAutoFit/>
          </a:bodyPr>
          <a:lstStyle/>
          <a:p>
            <a:pPr lvl="1"/>
            <a:endParaRPr lang="en-US" altLang="zh-CN" sz="1600" b="1">
              <a:solidFill>
                <a:schemeClr val="tx1">
                  <a:lumMod val="75000"/>
                  <a:lumOff val="25000"/>
                </a:schemeClr>
              </a:solidFill>
              <a:effectLst>
                <a:outerShdw blurRad="38100" dist="38100" dir="2700000" algn="tl">
                  <a:srgbClr val="000000">
                    <a:alpha val="43137"/>
                  </a:srgbClr>
                </a:outerShdw>
              </a:effectLst>
              <a:latin typeface="+mj-ea"/>
            </a:endParaRPr>
          </a:p>
          <a:p>
            <a:endParaRPr lang="zh-CN" altLang="en-US"/>
          </a:p>
        </p:txBody>
      </p:sp>
      <p:pic>
        <p:nvPicPr>
          <p:cNvPr id="4" name="图片 3">
            <a:extLst>
              <a:ext uri="{FF2B5EF4-FFF2-40B4-BE49-F238E27FC236}">
                <a16:creationId xmlns:a16="http://schemas.microsoft.com/office/drawing/2014/main" id="{F30F1169-454E-423E-8692-4A067FE03E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1424" y="0"/>
            <a:ext cx="10765195" cy="6858000"/>
          </a:xfrm>
          <a:prstGeom prst="rect">
            <a:avLst/>
          </a:prstGeom>
        </p:spPr>
      </p:pic>
    </p:spTree>
    <p:extLst>
      <p:ext uri="{BB962C8B-B14F-4D97-AF65-F5344CB8AC3E}">
        <p14:creationId xmlns:p14="http://schemas.microsoft.com/office/powerpoint/2010/main" val="15765589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pic>
        <p:nvPicPr>
          <p:cNvPr id="9218" name="图片 2">
            <a:extLst/>
          </p:cNvPr>
          <p:cNvPicPr>
            <a:picLocks noChangeAspect="1" noChangeArrowheads="1"/>
          </p:cNvPicPr>
          <p:nvPr/>
        </p:nvPicPr>
        <p:blipFill>
          <a:blip r:embed="rId2">
            <a:duotone>
              <a:prstClr val="black"/>
              <a:schemeClr val="accent3">
                <a:tint val="45000"/>
                <a:satMod val="400000"/>
              </a:schemeClr>
            </a:duotone>
            <a:extLst>
              <a:ext uri="{28A0092B-C50C-407E-A947-70E740481C1C}">
                <a14:useLocalDpi xmlns:a14="http://schemas.microsoft.com/office/drawing/2010/main" val="0"/>
              </a:ext>
            </a:extLst>
          </a:blip>
          <a:srcRect l="7875" r="25414"/>
          <a:stretch>
            <a:fillRect/>
          </a:stretch>
        </p:blipFill>
        <p:spPr bwMode="auto">
          <a:xfrm>
            <a:off x="-74310" y="-17714"/>
            <a:ext cx="7356475" cy="689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7" name="组合 16">
            <a:extLst/>
          </p:cNvPr>
          <p:cNvGrpSpPr/>
          <p:nvPr/>
        </p:nvGrpSpPr>
        <p:grpSpPr>
          <a:xfrm>
            <a:off x="4871863" y="404664"/>
            <a:ext cx="7320137" cy="961895"/>
            <a:chOff x="8112223" y="404664"/>
            <a:chExt cx="4194115" cy="961895"/>
          </a:xfrm>
          <a:effectLst>
            <a:outerShdw blurRad="50800" dist="38100" dir="5400000" algn="t" rotWithShape="0">
              <a:prstClr val="black">
                <a:alpha val="40000"/>
              </a:prstClr>
            </a:outerShdw>
          </a:effectLst>
        </p:grpSpPr>
        <p:sp>
          <p:nvSpPr>
            <p:cNvPr id="4"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5" name="组合 22">
              <a:extLst/>
            </p:cNvPr>
            <p:cNvGrpSpPr>
              <a:grpSpLocks/>
            </p:cNvGrpSpPr>
            <p:nvPr/>
          </p:nvGrpSpPr>
          <p:grpSpPr bwMode="auto">
            <a:xfrm>
              <a:off x="8401025" y="516258"/>
              <a:ext cx="2647013" cy="614808"/>
              <a:chOff x="-320583" y="2989243"/>
              <a:chExt cx="3117830" cy="859723"/>
            </a:xfrm>
          </p:grpSpPr>
          <p:sp>
            <p:nvSpPr>
              <p:cNvPr id="7" name="文本框 14">
                <a:extLst/>
              </p:cNvPr>
              <p:cNvSpPr txBox="1">
                <a:spLocks noChangeArrowheads="1"/>
              </p:cNvSpPr>
              <p:nvPr/>
            </p:nvSpPr>
            <p:spPr bwMode="auto">
              <a:xfrm>
                <a:off x="-320583" y="2989243"/>
                <a:ext cx="3117830" cy="812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chemeClr val="tx2">
                        <a:lumMod val="75000"/>
                      </a:schemeClr>
                    </a:solidFill>
                    <a:latin typeface="微软雅黑" panose="020B0503020204020204" pitchFamily="34" charset="-122"/>
                    <a:ea typeface="微软雅黑" panose="020B0503020204020204" pitchFamily="34" charset="-122"/>
                    <a:cs typeface="+mn-ea"/>
                    <a:sym typeface="+mn-lt"/>
                  </a:rPr>
                  <a:t>别光看数值，看猫。</a:t>
                </a:r>
                <a:endParaRPr lang="en-US" altLang="zh-CN" sz="2400" b="1">
                  <a:solidFill>
                    <a:schemeClr val="tx2">
                      <a:lumMod val="75000"/>
                    </a:schemeClr>
                  </a:solidFill>
                  <a:latin typeface="微软雅黑" panose="020B0503020204020204" pitchFamily="34" charset="-122"/>
                  <a:ea typeface="微软雅黑" panose="020B0503020204020204" pitchFamily="34" charset="-122"/>
                  <a:cs typeface="+mn-ea"/>
                  <a:sym typeface="+mn-lt"/>
                </a:endParaRPr>
              </a:p>
            </p:txBody>
          </p:sp>
          <p:sp>
            <p:nvSpPr>
              <p:cNvPr id="9" name="矩形 20">
                <a:extLst/>
              </p:cNvPr>
              <p:cNvSpPr>
                <a:spLocks noChangeArrowheads="1"/>
              </p:cNvSpPr>
              <p:nvPr/>
            </p:nvSpPr>
            <p:spPr bwMode="auto">
              <a:xfrm>
                <a:off x="506334" y="3461622"/>
                <a:ext cx="124669" cy="387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endParaRPr lang="zh-CN" altLang="en-US" sz="1200">
                  <a:latin typeface="+mn-lt"/>
                  <a:ea typeface="+mn-ea"/>
                  <a:cs typeface="+mn-ea"/>
                  <a:sym typeface="+mn-lt"/>
                </a:endParaRPr>
              </a:p>
            </p:txBody>
          </p:sp>
        </p:grpSp>
      </p:grpSp>
      <p:grpSp>
        <p:nvGrpSpPr>
          <p:cNvPr id="22532" name="组合 17"/>
          <p:cNvGrpSpPr>
            <a:grpSpLocks/>
          </p:cNvGrpSpPr>
          <p:nvPr/>
        </p:nvGrpSpPr>
        <p:grpSpPr bwMode="auto">
          <a:xfrm>
            <a:off x="1444625" y="2411413"/>
            <a:ext cx="10628313" cy="3681883"/>
            <a:chOff x="170987" y="2984657"/>
            <a:chExt cx="9768408" cy="3510340"/>
          </a:xfrm>
        </p:grpSpPr>
        <p:sp>
          <p:nvSpPr>
            <p:cNvPr id="21" name="矩形 20">
              <a:extLst/>
            </p:cNvPr>
            <p:cNvSpPr/>
            <p:nvPr/>
          </p:nvSpPr>
          <p:spPr>
            <a:xfrm>
              <a:off x="170987" y="2984657"/>
              <a:ext cx="9768408" cy="351034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kern="0">
                <a:solidFill>
                  <a:sysClr val="windowText" lastClr="000000"/>
                </a:solidFill>
                <a:cs typeface="+mn-ea"/>
                <a:sym typeface="+mn-lt"/>
              </a:endParaRPr>
            </a:p>
          </p:txBody>
        </p:sp>
        <p:sp>
          <p:nvSpPr>
            <p:cNvPr id="23" name="矩形 22">
              <a:extLst/>
            </p:cNvPr>
            <p:cNvSpPr/>
            <p:nvPr/>
          </p:nvSpPr>
          <p:spPr>
            <a:xfrm>
              <a:off x="5238303" y="3281903"/>
              <a:ext cx="4153944" cy="393755"/>
            </a:xfrm>
            <a:prstGeom prst="rect">
              <a:avLst/>
            </a:prstGeom>
          </p:spPr>
          <p:txBody>
            <a:bodyPr>
              <a:spAutoFit/>
            </a:bodyPr>
            <a:lstStyle/>
            <a:p>
              <a:pPr eaLnBrk="1" fontAlgn="auto" hangingPunct="1">
                <a:lnSpc>
                  <a:spcPct val="150000"/>
                </a:lnSpc>
                <a:spcBef>
                  <a:spcPts val="0"/>
                </a:spcBef>
                <a:spcAft>
                  <a:spcPts val="0"/>
                </a:spcAft>
                <a:defRPr/>
              </a:pPr>
              <a:endParaRPr lang="zh-CN" altLang="en-US" sz="1600" kern="0">
                <a:solidFill>
                  <a:srgbClr val="4F4F4F"/>
                </a:solidFill>
                <a:latin typeface="+mn-lt"/>
                <a:ea typeface="+mn-ea"/>
                <a:cs typeface="+mn-ea"/>
                <a:sym typeface="+mn-lt"/>
              </a:endParaRPr>
            </a:p>
          </p:txBody>
        </p:sp>
      </p:grpSp>
      <p:sp>
        <p:nvSpPr>
          <p:cNvPr id="22533" name="文本框 9"/>
          <p:cNvSpPr txBox="1">
            <a:spLocks noChangeArrowheads="1"/>
          </p:cNvSpPr>
          <p:nvPr/>
        </p:nvSpPr>
        <p:spPr bwMode="auto">
          <a:xfrm>
            <a:off x="1558925" y="2636838"/>
            <a:ext cx="439261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en-US" altLang="zh-CN" b="1"/>
          </a:p>
          <a:p>
            <a:endParaRPr lang="en-US" altLang="zh-CN" b="1"/>
          </a:p>
        </p:txBody>
      </p:sp>
      <p:sp>
        <p:nvSpPr>
          <p:cNvPr id="22534" name="文本框 11"/>
          <p:cNvSpPr txBox="1">
            <a:spLocks noChangeArrowheads="1"/>
          </p:cNvSpPr>
          <p:nvPr/>
        </p:nvSpPr>
        <p:spPr bwMode="auto">
          <a:xfrm>
            <a:off x="1457325" y="2549525"/>
            <a:ext cx="41338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2" name="文本框 1"/>
          <p:cNvSpPr txBox="1"/>
          <p:nvPr/>
        </p:nvSpPr>
        <p:spPr>
          <a:xfrm>
            <a:off x="6958013" y="5269164"/>
            <a:ext cx="4789488" cy="738188"/>
          </a:xfrm>
          <a:prstGeom prst="rect">
            <a:avLst/>
          </a:prstGeom>
          <a:noFill/>
        </p:spPr>
        <p:txBody>
          <a:bodyPr>
            <a:spAutoFit/>
          </a:bodyPr>
          <a:lstStyle/>
          <a:p>
            <a:pPr>
              <a:defRPr/>
            </a:pPr>
            <a:r>
              <a:rPr lang="en-US" altLang="zh-CN" sz="1200" b="1">
                <a:latin typeface="+mj-ea"/>
              </a:rPr>
              <a:t>《A Staged Approach to Diagnosis and Management of Chronic Kidney Disease in Cats》 2018</a:t>
            </a:r>
            <a:endParaRPr lang="zh-CN" altLang="en-US" sz="1200" b="1">
              <a:latin typeface="+mj-ea"/>
            </a:endParaRPr>
          </a:p>
          <a:p>
            <a:pPr>
              <a:defRPr/>
            </a:pPr>
            <a:endParaRPr lang="zh-CN" altLang="en-US" b="1">
              <a:latin typeface="+mj-ea"/>
              <a:ea typeface="+mj-ea"/>
            </a:endParaRPr>
          </a:p>
        </p:txBody>
      </p:sp>
      <p:sp>
        <p:nvSpPr>
          <p:cNvPr id="11" name="文本框 10"/>
          <p:cNvSpPr txBox="1"/>
          <p:nvPr/>
        </p:nvSpPr>
        <p:spPr>
          <a:xfrm>
            <a:off x="1934034" y="4980280"/>
            <a:ext cx="2145742" cy="830997"/>
          </a:xfrm>
          <a:prstGeom prst="rect">
            <a:avLst/>
          </a:prstGeom>
          <a:noFill/>
        </p:spPr>
        <p:txBody>
          <a:bodyPr wrap="square">
            <a:spAutoFit/>
          </a:bodyPr>
          <a:lstStyle/>
          <a:p>
            <a:pPr>
              <a:defRPr/>
            </a:pPr>
            <a:r>
              <a:rPr lang="en-US" altLang="zh-CN" sz="1200">
                <a:effectLst>
                  <a:outerShdw blurRad="38100" dist="38100" dir="2700000" algn="tl">
                    <a:srgbClr val="000000">
                      <a:alpha val="43137"/>
                    </a:srgbClr>
                  </a:outerShdw>
                </a:effectLst>
                <a:latin typeface="+mn-ea"/>
                <a:ea typeface="+mn-ea"/>
              </a:rPr>
              <a:t>Julie Churchill, </a:t>
            </a:r>
            <a:r>
              <a:rPr lang="zh-CN" altLang="en-US" sz="1200">
                <a:effectLst>
                  <a:outerShdw blurRad="38100" dist="38100" dir="2700000" algn="tl">
                    <a:srgbClr val="000000">
                      <a:alpha val="43137"/>
                    </a:srgbClr>
                  </a:outerShdw>
                </a:effectLst>
                <a:latin typeface="+mn-ea"/>
                <a:ea typeface="+mn-ea"/>
              </a:rPr>
              <a:t>兽医，博士，动物营养学家。任职于明尼苏达大学动医学院临床科学部。</a:t>
            </a:r>
          </a:p>
        </p:txBody>
      </p:sp>
      <p:sp>
        <p:nvSpPr>
          <p:cNvPr id="14" name="文本框 13"/>
          <p:cNvSpPr txBox="1"/>
          <p:nvPr/>
        </p:nvSpPr>
        <p:spPr>
          <a:xfrm>
            <a:off x="4511675" y="2563813"/>
            <a:ext cx="7056438" cy="1015663"/>
          </a:xfrm>
          <a:prstGeom prst="rect">
            <a:avLst/>
          </a:prstGeom>
          <a:noFill/>
        </p:spPr>
        <p:txBody>
          <a:bodyPr>
            <a:spAutoFit/>
          </a:bodyPr>
          <a:lstStyle/>
          <a:p>
            <a:pPr>
              <a:defRPr/>
            </a:pPr>
            <a:r>
              <a:rPr lang="zh-CN" altLang="en-US">
                <a:effectLst>
                  <a:outerShdw blurRad="38100" dist="38100" dir="2700000" algn="tl">
                    <a:srgbClr val="000000">
                      <a:alpha val="43137"/>
                    </a:srgbClr>
                  </a:outerShdw>
                </a:effectLst>
              </a:rPr>
              <a:t>“</a:t>
            </a:r>
            <a:r>
              <a:rPr lang="en-US" altLang="zh-CN">
                <a:effectLst>
                  <a:outerShdw blurRad="38100" dist="38100" dir="2700000" algn="tl">
                    <a:srgbClr val="000000">
                      <a:alpha val="43137"/>
                    </a:srgbClr>
                  </a:outerShdw>
                </a:effectLst>
              </a:rPr>
              <a:t>…</a:t>
            </a:r>
            <a:r>
              <a:rPr lang="en-US" altLang="zh-CN" sz="2000">
                <a:effectLst>
                  <a:outerShdw blurRad="38100" dist="38100" dir="2700000" algn="tl">
                    <a:srgbClr val="000000">
                      <a:alpha val="43137"/>
                    </a:srgbClr>
                  </a:outerShdw>
                </a:effectLst>
              </a:rPr>
              <a:t>no one test takes on any greater importance; what matters is looking at the whole picture. I also think we need to emphasize the importance of hydration and food intake.</a:t>
            </a:r>
            <a:r>
              <a:rPr lang="zh-CN" altLang="en-US">
                <a:effectLst>
                  <a:outerShdw blurRad="38100" dist="38100" dir="2700000" algn="tl">
                    <a:srgbClr val="000000">
                      <a:alpha val="43137"/>
                    </a:srgbClr>
                  </a:outerShdw>
                </a:effectLst>
              </a:rPr>
              <a:t>”</a:t>
            </a:r>
          </a:p>
        </p:txBody>
      </p:sp>
      <p:sp>
        <p:nvSpPr>
          <p:cNvPr id="15" name="文本框 14"/>
          <p:cNvSpPr txBox="1"/>
          <p:nvPr/>
        </p:nvSpPr>
        <p:spPr>
          <a:xfrm>
            <a:off x="4511675" y="3868738"/>
            <a:ext cx="6594475" cy="646331"/>
          </a:xfrm>
          <a:prstGeom prst="rect">
            <a:avLst/>
          </a:prstGeom>
          <a:noFill/>
        </p:spPr>
        <p:txBody>
          <a:bodyPr>
            <a:spAutoFit/>
          </a:bodyPr>
          <a:lstStyle/>
          <a:p>
            <a:pPr>
              <a:defRPr/>
            </a:pPr>
            <a:r>
              <a:rPr lang="en-US" altLang="zh-CN">
                <a:effectLst>
                  <a:outerShdw blurRad="38100" dist="38100" dir="2700000" algn="tl">
                    <a:srgbClr val="000000">
                      <a:alpha val="43137"/>
                    </a:srgbClr>
                  </a:outerShdw>
                </a:effectLst>
                <a:latin typeface="+mn-ea"/>
                <a:ea typeface="+mn-ea"/>
              </a:rPr>
              <a:t>“…</a:t>
            </a:r>
            <a:r>
              <a:rPr lang="zh-CN" altLang="en-US">
                <a:effectLst>
                  <a:outerShdw blurRad="38100" dist="38100" dir="2700000" algn="tl">
                    <a:srgbClr val="000000">
                      <a:alpha val="43137"/>
                    </a:srgbClr>
                  </a:outerShdw>
                </a:effectLst>
                <a:latin typeface="+mn-ea"/>
                <a:ea typeface="+mn-ea"/>
              </a:rPr>
              <a:t>并不存在哪个测试更重要一说；真正关键的是做到纵览全局。我同时认为，饮食状况与水合状态的重要性值得强调”</a:t>
            </a: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64995" y="2598148"/>
            <a:ext cx="1664867" cy="2335138"/>
          </a:xfrm>
          <a:prstGeom prst="rect">
            <a:avLst/>
          </a:prstGeom>
        </p:spPr>
      </p:pic>
    </p:spTree>
    <p:extLst>
      <p:ext uri="{BB962C8B-B14F-4D97-AF65-F5344CB8AC3E}">
        <p14:creationId xmlns:p14="http://schemas.microsoft.com/office/powerpoint/2010/main" val="1263963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0" name="箭头: 五边形 6">
            <a:extLst/>
          </p:cNvPr>
          <p:cNvSpPr/>
          <p:nvPr/>
        </p:nvSpPr>
        <p:spPr>
          <a:xfrm rot="10800000" flipH="1">
            <a:off x="107082" y="404812"/>
            <a:ext cx="10992544" cy="1344612"/>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grpSp>
        <p:nvGrpSpPr>
          <p:cNvPr id="30724" name="组合 22"/>
          <p:cNvGrpSpPr>
            <a:grpSpLocks/>
          </p:cNvGrpSpPr>
          <p:nvPr/>
        </p:nvGrpSpPr>
        <p:grpSpPr bwMode="auto">
          <a:xfrm>
            <a:off x="196850" y="336218"/>
            <a:ext cx="7338473" cy="1189369"/>
            <a:chOff x="-101400" y="2807824"/>
            <a:chExt cx="6494399" cy="1189353"/>
          </a:xfrm>
        </p:grpSpPr>
        <p:sp>
          <p:nvSpPr>
            <p:cNvPr id="20494" name="文本框 13">
              <a:extLst/>
            </p:cNvPr>
            <p:cNvSpPr txBox="1">
              <a:spLocks noChangeArrowheads="1"/>
            </p:cNvSpPr>
            <p:nvPr/>
          </p:nvSpPr>
          <p:spPr bwMode="auto">
            <a:xfrm>
              <a:off x="-101400" y="2876417"/>
              <a:ext cx="1343136" cy="825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600" b="1">
                  <a:solidFill>
                    <a:srgbClr val="010101"/>
                  </a:solidFill>
                  <a:latin typeface="+mn-lt"/>
                  <a:ea typeface="+mn-ea"/>
                  <a:cs typeface="+mn-ea"/>
                  <a:sym typeface="+mn-lt"/>
                </a:rPr>
                <a:t>PART</a:t>
              </a:r>
            </a:p>
          </p:txBody>
        </p:sp>
        <p:sp>
          <p:nvSpPr>
            <p:cNvPr id="20495" name="文本框 14">
              <a:extLst/>
            </p:cNvPr>
            <p:cNvSpPr txBox="1">
              <a:spLocks noChangeArrowheads="1"/>
            </p:cNvSpPr>
            <p:nvPr/>
          </p:nvSpPr>
          <p:spPr bwMode="auto">
            <a:xfrm>
              <a:off x="2675971" y="2807824"/>
              <a:ext cx="3717028" cy="580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chemeClr val="tx2">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猫慢性肾病的复查</a:t>
              </a:r>
              <a:endParaRPr lang="en-US" altLang="zh-CN" sz="2400">
                <a:solidFill>
                  <a:srgbClr val="010101"/>
                </a:solidFill>
                <a:effectLst>
                  <a:outerShdw blurRad="38100" dist="38100" dir="2700000" algn="tl">
                    <a:srgbClr val="000000">
                      <a:alpha val="43137"/>
                    </a:srgbClr>
                  </a:outerShdw>
                </a:effectLst>
                <a:latin typeface="+mn-lt"/>
                <a:ea typeface="+mn-ea"/>
                <a:cs typeface="+mn-ea"/>
                <a:sym typeface="+mn-lt"/>
              </a:endParaRPr>
            </a:p>
          </p:txBody>
        </p:sp>
        <p:cxnSp>
          <p:nvCxnSpPr>
            <p:cNvPr id="24" name="直接连接符 23">
              <a:extLst/>
            </p:cNvPr>
            <p:cNvCxnSpPr>
              <a:cxnSpLocks/>
            </p:cNvCxnSpPr>
            <p:nvPr/>
          </p:nvCxnSpPr>
          <p:spPr>
            <a:xfrm flipH="1">
              <a:off x="489901" y="3171688"/>
              <a:ext cx="1074241" cy="722302"/>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0497" name="矩形 20">
              <a:extLst/>
            </p:cNvPr>
            <p:cNvSpPr>
              <a:spLocks noChangeArrowheads="1"/>
            </p:cNvSpPr>
            <p:nvPr/>
          </p:nvSpPr>
          <p:spPr bwMode="auto">
            <a:xfrm>
              <a:off x="618328" y="3473309"/>
              <a:ext cx="1577249" cy="523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lvl="1">
                <a:lnSpc>
                  <a:spcPct val="100000"/>
                </a:lnSpc>
                <a:spcBef>
                  <a:spcPct val="0"/>
                </a:spcBef>
                <a:buFontTx/>
                <a:buNone/>
                <a:defRPr/>
              </a:pPr>
              <a:r>
                <a:rPr lang="en-US" altLang="zh-CN" sz="2800" b="1">
                  <a:solidFill>
                    <a:srgbClr val="010101"/>
                  </a:solidFill>
                  <a:latin typeface="+mn-lt"/>
                  <a:ea typeface="+mn-ea"/>
                  <a:cs typeface="+mn-ea"/>
                  <a:sym typeface="+mn-lt"/>
                </a:rPr>
                <a:t>TWO</a:t>
              </a:r>
              <a:endParaRPr lang="zh-CN" altLang="en-US" sz="1400">
                <a:latin typeface="+mn-lt"/>
                <a:ea typeface="+mn-ea"/>
                <a:cs typeface="+mn-ea"/>
                <a:sym typeface="+mn-lt"/>
              </a:endParaRPr>
            </a:p>
          </p:txBody>
        </p:sp>
      </p:grpSp>
      <p:sp>
        <p:nvSpPr>
          <p:cNvPr id="45" name="矩形 44">
            <a:extLst/>
          </p:cNvPr>
          <p:cNvSpPr/>
          <p:nvPr/>
        </p:nvSpPr>
        <p:spPr>
          <a:xfrm>
            <a:off x="471059" y="2019300"/>
            <a:ext cx="5286872" cy="371395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sp>
        <p:nvSpPr>
          <p:cNvPr id="7" name="文本框 6"/>
          <p:cNvSpPr txBox="1"/>
          <p:nvPr/>
        </p:nvSpPr>
        <p:spPr>
          <a:xfrm>
            <a:off x="609329" y="2092800"/>
            <a:ext cx="5256584" cy="461665"/>
          </a:xfrm>
          <a:prstGeom prst="rect">
            <a:avLst/>
          </a:prstGeom>
          <a:noFill/>
        </p:spPr>
        <p:txBody>
          <a:bodyPr wrap="square" rtlCol="0">
            <a:spAutoFit/>
          </a:bodyPr>
          <a:lstStyle/>
          <a:p>
            <a:pPr marL="342900" indent="-342900">
              <a:buFont typeface="Wingdings" panose="05000000000000000000" pitchFamily="2" charset="2"/>
              <a:buChar char="u"/>
            </a:pPr>
            <a:r>
              <a:rPr lang="zh-CN" altLang="en-US" sz="2400" b="1">
                <a:solidFill>
                  <a:schemeClr val="tx2">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如果医师认为猫属二期肾病</a:t>
            </a:r>
          </a:p>
        </p:txBody>
      </p:sp>
      <p:sp>
        <p:nvSpPr>
          <p:cNvPr id="8" name="文本框 7"/>
          <p:cNvSpPr txBox="1"/>
          <p:nvPr/>
        </p:nvSpPr>
        <p:spPr>
          <a:xfrm>
            <a:off x="481391" y="2643791"/>
            <a:ext cx="5384522" cy="2431435"/>
          </a:xfrm>
          <a:prstGeom prst="rect">
            <a:avLst/>
          </a:prstGeom>
          <a:noFill/>
        </p:spPr>
        <p:txBody>
          <a:bodyPr wrap="square" numCol="1" rtlCol="0">
            <a:spAutoFit/>
          </a:bodyPr>
          <a:lstStyle/>
          <a:p>
            <a:pPr lvl="1"/>
            <a:r>
              <a:rPr lang="zh-CN" altLang="en-US" sz="2000" b="1">
                <a:solidFill>
                  <a:schemeClr val="tx1">
                    <a:lumMod val="75000"/>
                    <a:lumOff val="25000"/>
                  </a:schemeClr>
                </a:solidFill>
                <a:effectLst>
                  <a:outerShdw blurRad="38100" dist="38100" dir="2700000" algn="tl">
                    <a:srgbClr val="000000">
                      <a:alpha val="43137"/>
                    </a:srgbClr>
                  </a:outerShdw>
                </a:effectLst>
                <a:latin typeface="+mj-ea"/>
                <a:ea typeface="+mj-ea"/>
              </a:rPr>
              <a:t>至少每</a:t>
            </a:r>
            <a:r>
              <a:rPr lang="zh-CN" altLang="en-US" sz="2000" b="1">
                <a:solidFill>
                  <a:srgbClr val="C00000"/>
                </a:solidFill>
                <a:effectLst>
                  <a:outerShdw blurRad="38100" dist="38100" dir="2700000" algn="tl">
                    <a:srgbClr val="000000">
                      <a:alpha val="43137"/>
                    </a:srgbClr>
                  </a:outerShdw>
                </a:effectLst>
                <a:latin typeface="+mj-ea"/>
                <a:ea typeface="+mj-ea"/>
              </a:rPr>
              <a:t>半年</a:t>
            </a:r>
            <a:r>
              <a:rPr lang="zh-CN" altLang="en-US" sz="2000" b="1">
                <a:solidFill>
                  <a:schemeClr val="tx1">
                    <a:lumMod val="75000"/>
                    <a:lumOff val="25000"/>
                  </a:schemeClr>
                </a:solidFill>
                <a:effectLst>
                  <a:outerShdw blurRad="38100" dist="38100" dir="2700000" algn="tl">
                    <a:srgbClr val="000000">
                      <a:alpha val="43137"/>
                    </a:srgbClr>
                  </a:outerShdw>
                </a:effectLst>
                <a:latin typeface="+mj-ea"/>
                <a:ea typeface="+mj-ea"/>
              </a:rPr>
              <a:t>复查以下：</a:t>
            </a:r>
            <a:endParaRPr lang="en-US" altLang="zh-CN" sz="2000" b="1">
              <a:solidFill>
                <a:schemeClr val="tx1">
                  <a:lumMod val="75000"/>
                  <a:lumOff val="25000"/>
                </a:schemeClr>
              </a:solidFill>
              <a:effectLst>
                <a:outerShdw blurRad="38100" dist="38100" dir="2700000" algn="tl">
                  <a:srgbClr val="000000">
                    <a:alpha val="43137"/>
                  </a:srgbClr>
                </a:outerShdw>
              </a:effectLst>
              <a:latin typeface="+mj-ea"/>
              <a:ea typeface="+mj-ea"/>
            </a:endParaRPr>
          </a:p>
          <a:p>
            <a:pPr lvl="1"/>
            <a:endPar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endParaRPr>
          </a:p>
          <a:p>
            <a:pPr marL="742950" lvl="1" indent="-285750">
              <a:buFont typeface="Wingdings" panose="05000000000000000000" pitchFamily="2" charset="2"/>
              <a:buChar char="ü"/>
            </a:pPr>
            <a:r>
              <a:rPr lang="zh-CN" altLang="en-US" sz="1600" b="1">
                <a:solidFill>
                  <a:schemeClr val="tx1">
                    <a:lumMod val="75000"/>
                    <a:lumOff val="25000"/>
                  </a:schemeClr>
                </a:solidFill>
                <a:effectLst>
                  <a:outerShdw blurRad="38100" dist="38100" dir="2700000" algn="tl">
                    <a:srgbClr val="000000">
                      <a:alpha val="43137"/>
                    </a:srgbClr>
                  </a:outerShdw>
                </a:effectLst>
                <a:latin typeface="+mn-ea"/>
                <a:ea typeface="+mn-ea"/>
              </a:rPr>
              <a:t>生化</a:t>
            </a:r>
            <a:r>
              <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rPr>
              <a:t>15</a:t>
            </a:r>
            <a:r>
              <a:rPr lang="zh-CN" altLang="en-US" sz="1600" b="1">
                <a:solidFill>
                  <a:schemeClr val="tx1">
                    <a:lumMod val="75000"/>
                    <a:lumOff val="25000"/>
                  </a:schemeClr>
                </a:solidFill>
                <a:effectLst>
                  <a:outerShdw blurRad="38100" dist="38100" dir="2700000" algn="tl">
                    <a:srgbClr val="000000">
                      <a:alpha val="43137"/>
                    </a:srgbClr>
                  </a:outerShdw>
                </a:effectLst>
                <a:latin typeface="+mn-ea"/>
                <a:ea typeface="+mn-ea"/>
              </a:rPr>
              <a:t>项</a:t>
            </a:r>
            <a:endPar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endParaRPr>
          </a:p>
          <a:p>
            <a:pPr marL="742950" lvl="1" indent="-285750">
              <a:buFont typeface="Wingdings" panose="05000000000000000000" pitchFamily="2" charset="2"/>
              <a:buChar char="ü"/>
            </a:pPr>
            <a:r>
              <a:rPr lang="zh-CN" altLang="en-US" sz="1600" b="1">
                <a:solidFill>
                  <a:schemeClr val="tx1">
                    <a:lumMod val="75000"/>
                    <a:lumOff val="25000"/>
                  </a:schemeClr>
                </a:solidFill>
                <a:effectLst>
                  <a:outerShdw blurRad="38100" dist="38100" dir="2700000" algn="tl">
                    <a:srgbClr val="000000">
                      <a:alpha val="43137"/>
                    </a:srgbClr>
                  </a:outerShdw>
                </a:effectLst>
                <a:latin typeface="+mn-ea"/>
                <a:ea typeface="+mn-ea"/>
              </a:rPr>
              <a:t>血钾 （</a:t>
            </a:r>
            <a:r>
              <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rPr>
              <a:t>K</a:t>
            </a:r>
            <a:r>
              <a:rPr lang="zh-CN" altLang="en-US" sz="1600" b="1">
                <a:solidFill>
                  <a:schemeClr val="tx1">
                    <a:lumMod val="75000"/>
                    <a:lumOff val="25000"/>
                  </a:schemeClr>
                </a:solidFill>
                <a:effectLst>
                  <a:outerShdw blurRad="38100" dist="38100" dir="2700000" algn="tl">
                    <a:srgbClr val="000000">
                      <a:alpha val="43137"/>
                    </a:srgbClr>
                  </a:outerShdw>
                </a:effectLst>
                <a:latin typeface="+mn-ea"/>
                <a:ea typeface="+mn-ea"/>
              </a:rPr>
              <a:t>）</a:t>
            </a:r>
            <a:endPar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endParaRPr>
          </a:p>
          <a:p>
            <a:pPr marL="742950" lvl="1" indent="-285750">
              <a:buFont typeface="Wingdings" panose="05000000000000000000" pitchFamily="2" charset="2"/>
              <a:buChar char="ü"/>
            </a:pPr>
            <a:r>
              <a:rPr lang="zh-CN" altLang="en-US" sz="1600" b="1">
                <a:solidFill>
                  <a:schemeClr val="tx1">
                    <a:lumMod val="75000"/>
                    <a:lumOff val="25000"/>
                  </a:schemeClr>
                </a:solidFill>
                <a:effectLst>
                  <a:outerShdw blurRad="38100" dist="38100" dir="2700000" algn="tl">
                    <a:srgbClr val="000000">
                      <a:alpha val="43137"/>
                    </a:srgbClr>
                  </a:outerShdw>
                </a:effectLst>
                <a:latin typeface="+mn-ea"/>
                <a:ea typeface="+mn-ea"/>
              </a:rPr>
              <a:t>血压 </a:t>
            </a:r>
            <a:endPar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endParaRPr>
          </a:p>
          <a:p>
            <a:pPr marL="742950" lvl="1" indent="-285750">
              <a:buFont typeface="Wingdings" panose="05000000000000000000" pitchFamily="2" charset="2"/>
              <a:buChar char="ü"/>
            </a:pPr>
            <a:r>
              <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rPr>
              <a:t>UPC</a:t>
            </a:r>
          </a:p>
          <a:p>
            <a:pPr lvl="1"/>
            <a:endParaRPr lang="en-US" altLang="zh-CN" b="1">
              <a:solidFill>
                <a:schemeClr val="tx1">
                  <a:lumMod val="75000"/>
                  <a:lumOff val="25000"/>
                </a:schemeClr>
              </a:solidFill>
              <a:effectLst>
                <a:outerShdw blurRad="38100" dist="38100" dir="2700000" algn="tl">
                  <a:srgbClr val="000000">
                    <a:alpha val="43137"/>
                  </a:srgbClr>
                </a:outerShdw>
              </a:effectLst>
              <a:latin typeface="+mj-ea"/>
              <a:ea typeface="+mj-ea"/>
            </a:endParaRPr>
          </a:p>
          <a:p>
            <a:pPr lvl="1"/>
            <a:endParaRPr lang="en-US" altLang="zh-CN" sz="1600" b="1">
              <a:solidFill>
                <a:schemeClr val="tx1">
                  <a:lumMod val="75000"/>
                  <a:lumOff val="25000"/>
                </a:schemeClr>
              </a:solidFill>
              <a:effectLst>
                <a:outerShdw blurRad="38100" dist="38100" dir="2700000" algn="tl">
                  <a:srgbClr val="000000">
                    <a:alpha val="43137"/>
                  </a:srgbClr>
                </a:outerShdw>
              </a:effectLst>
              <a:latin typeface="+mj-ea"/>
            </a:endParaRPr>
          </a:p>
          <a:p>
            <a:endParaRPr lang="zh-CN" altLang="en-US"/>
          </a:p>
        </p:txBody>
      </p:sp>
      <p:sp>
        <p:nvSpPr>
          <p:cNvPr id="17" name="文本框 16"/>
          <p:cNvSpPr txBox="1"/>
          <p:nvPr/>
        </p:nvSpPr>
        <p:spPr>
          <a:xfrm>
            <a:off x="3269426" y="980703"/>
            <a:ext cx="6642997" cy="584775"/>
          </a:xfrm>
          <a:prstGeom prst="rect">
            <a:avLst/>
          </a:prstGeom>
          <a:noFill/>
        </p:spPr>
        <p:txBody>
          <a:bodyPr wrap="square" rtlCol="0">
            <a:spAutoFit/>
          </a:bodyPr>
          <a:lstStyle/>
          <a:p>
            <a:r>
              <a:rPr lang="zh-CN" altLang="en-US" sz="3200" b="1">
                <a:solidFill>
                  <a:schemeClr val="tx2">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确诊慢性肾病后多久复查一次？</a:t>
            </a:r>
          </a:p>
        </p:txBody>
      </p:sp>
      <p:sp>
        <p:nvSpPr>
          <p:cNvPr id="18" name="矩形 17">
            <a:extLst/>
          </p:cNvPr>
          <p:cNvSpPr/>
          <p:nvPr/>
        </p:nvSpPr>
        <p:spPr>
          <a:xfrm>
            <a:off x="5811922" y="2019300"/>
            <a:ext cx="5761540" cy="371395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sp>
        <p:nvSpPr>
          <p:cNvPr id="19" name="文本框 18"/>
          <p:cNvSpPr txBox="1"/>
          <p:nvPr/>
        </p:nvSpPr>
        <p:spPr>
          <a:xfrm>
            <a:off x="5865913" y="2062061"/>
            <a:ext cx="5653558" cy="461665"/>
          </a:xfrm>
          <a:prstGeom prst="rect">
            <a:avLst/>
          </a:prstGeom>
          <a:noFill/>
        </p:spPr>
        <p:txBody>
          <a:bodyPr wrap="square" rtlCol="0">
            <a:spAutoFit/>
          </a:bodyPr>
          <a:lstStyle/>
          <a:p>
            <a:pPr marL="342900" indent="-342900">
              <a:buFont typeface="Wingdings" panose="05000000000000000000" pitchFamily="2" charset="2"/>
              <a:buChar char="u"/>
            </a:pPr>
            <a:r>
              <a:rPr lang="zh-CN" altLang="en-US" sz="2400" b="1">
                <a:solidFill>
                  <a:schemeClr val="tx2">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如果医师认为猫属三、四期肾病</a:t>
            </a:r>
          </a:p>
        </p:txBody>
      </p:sp>
      <p:sp>
        <p:nvSpPr>
          <p:cNvPr id="9" name="文本框 8"/>
          <p:cNvSpPr txBox="1"/>
          <p:nvPr/>
        </p:nvSpPr>
        <p:spPr>
          <a:xfrm>
            <a:off x="6102352" y="2554945"/>
            <a:ext cx="4997274" cy="3178309"/>
          </a:xfrm>
          <a:prstGeom prst="rect">
            <a:avLst/>
          </a:prstGeom>
          <a:noFill/>
        </p:spPr>
        <p:txBody>
          <a:bodyPr wrap="square" numCol="2" rtlCol="0">
            <a:spAutoFit/>
          </a:bodyPr>
          <a:lstStyle/>
          <a:p>
            <a:pPr marL="0" lvl="1"/>
            <a:r>
              <a:rPr lang="zh-CN" altLang="en-US" sz="2000" b="1">
                <a:solidFill>
                  <a:schemeClr val="tx1">
                    <a:lumMod val="75000"/>
                    <a:lumOff val="25000"/>
                  </a:schemeClr>
                </a:solidFill>
                <a:effectLst>
                  <a:outerShdw blurRad="38100" dist="38100" dir="2700000" algn="tl">
                    <a:srgbClr val="000000">
                      <a:alpha val="43137"/>
                    </a:srgbClr>
                  </a:outerShdw>
                </a:effectLst>
                <a:latin typeface="+mj-ea"/>
                <a:ea typeface="+mj-ea"/>
              </a:rPr>
              <a:t>每</a:t>
            </a:r>
            <a:r>
              <a:rPr lang="zh-CN" altLang="en-US" sz="2000" b="1">
                <a:solidFill>
                  <a:srgbClr val="C00000"/>
                </a:solidFill>
                <a:effectLst>
                  <a:outerShdw blurRad="38100" dist="38100" dir="2700000" algn="tl">
                    <a:srgbClr val="000000">
                      <a:alpha val="43137"/>
                    </a:srgbClr>
                  </a:outerShdw>
                </a:effectLst>
                <a:latin typeface="+mj-ea"/>
                <a:ea typeface="+mj-ea"/>
              </a:rPr>
              <a:t>季度</a:t>
            </a:r>
            <a:r>
              <a:rPr lang="zh-CN" altLang="en-US" sz="2000" b="1">
                <a:solidFill>
                  <a:schemeClr val="tx1">
                    <a:lumMod val="75000"/>
                    <a:lumOff val="25000"/>
                  </a:schemeClr>
                </a:solidFill>
                <a:effectLst>
                  <a:outerShdw blurRad="38100" dist="38100" dir="2700000" algn="tl">
                    <a:srgbClr val="000000">
                      <a:alpha val="43137"/>
                    </a:srgbClr>
                  </a:outerShdw>
                </a:effectLst>
                <a:latin typeface="+mj-ea"/>
                <a:ea typeface="+mj-ea"/>
              </a:rPr>
              <a:t>复查以下：</a:t>
            </a:r>
            <a:endParaRPr lang="en-US" altLang="zh-CN" sz="2000" b="1">
              <a:solidFill>
                <a:schemeClr val="tx1">
                  <a:lumMod val="75000"/>
                  <a:lumOff val="25000"/>
                </a:schemeClr>
              </a:solidFill>
              <a:effectLst>
                <a:outerShdw blurRad="38100" dist="38100" dir="2700000" algn="tl">
                  <a:srgbClr val="000000">
                    <a:alpha val="43137"/>
                  </a:srgbClr>
                </a:outerShdw>
              </a:effectLst>
              <a:latin typeface="+mj-ea"/>
              <a:ea typeface="+mj-ea"/>
            </a:endParaRPr>
          </a:p>
          <a:p>
            <a:pPr marL="285750" lvl="1" indent="-285750">
              <a:buFont typeface="Wingdings" panose="05000000000000000000" pitchFamily="2" charset="2"/>
              <a:buChar char="ü"/>
            </a:pPr>
            <a:endPar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endParaRPr>
          </a:p>
          <a:p>
            <a:pPr marL="285750" lvl="1" indent="-285750">
              <a:buFont typeface="Wingdings" panose="05000000000000000000" pitchFamily="2" charset="2"/>
              <a:buChar char="ü"/>
            </a:pPr>
            <a:r>
              <a:rPr lang="zh-CN" altLang="en-US" sz="1600" b="1">
                <a:solidFill>
                  <a:schemeClr val="tx1">
                    <a:lumMod val="75000"/>
                    <a:lumOff val="25000"/>
                  </a:schemeClr>
                </a:solidFill>
                <a:effectLst>
                  <a:outerShdw blurRad="38100" dist="38100" dir="2700000" algn="tl">
                    <a:srgbClr val="000000">
                      <a:alpha val="43137"/>
                    </a:srgbClr>
                  </a:outerShdw>
                </a:effectLst>
                <a:latin typeface="+mn-ea"/>
                <a:ea typeface="+mn-ea"/>
              </a:rPr>
              <a:t>体型与身体肌肉状况</a:t>
            </a:r>
            <a:endPar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endParaRPr>
          </a:p>
          <a:p>
            <a:pPr marL="285750" lvl="1" indent="-285750">
              <a:buFont typeface="Wingdings" panose="05000000000000000000" pitchFamily="2" charset="2"/>
              <a:buChar char="ü"/>
            </a:pPr>
            <a:r>
              <a:rPr lang="zh-CN" altLang="en-US" sz="1600" b="1">
                <a:solidFill>
                  <a:schemeClr val="tx1">
                    <a:lumMod val="75000"/>
                    <a:lumOff val="25000"/>
                  </a:schemeClr>
                </a:solidFill>
                <a:effectLst>
                  <a:outerShdw blurRad="38100" dist="38100" dir="2700000" algn="tl">
                    <a:srgbClr val="000000">
                      <a:alpha val="43137"/>
                    </a:srgbClr>
                  </a:outerShdw>
                </a:effectLst>
                <a:latin typeface="+mn-ea"/>
                <a:ea typeface="+mn-ea"/>
              </a:rPr>
              <a:t>生化</a:t>
            </a:r>
            <a:r>
              <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rPr>
              <a:t>15</a:t>
            </a:r>
            <a:r>
              <a:rPr lang="zh-CN" altLang="en-US" sz="1600" b="1">
                <a:solidFill>
                  <a:schemeClr val="tx1">
                    <a:lumMod val="75000"/>
                    <a:lumOff val="25000"/>
                  </a:schemeClr>
                </a:solidFill>
                <a:effectLst>
                  <a:outerShdw blurRad="38100" dist="38100" dir="2700000" algn="tl">
                    <a:srgbClr val="000000">
                      <a:alpha val="43137"/>
                    </a:srgbClr>
                  </a:outerShdw>
                </a:effectLst>
                <a:latin typeface="+mn-ea"/>
                <a:ea typeface="+mn-ea"/>
              </a:rPr>
              <a:t>项</a:t>
            </a:r>
            <a:endPar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endParaRPr>
          </a:p>
          <a:p>
            <a:pPr marL="285750" lvl="1" indent="-285750">
              <a:buFont typeface="Wingdings" panose="05000000000000000000" pitchFamily="2" charset="2"/>
              <a:buChar char="ü"/>
            </a:pPr>
            <a:r>
              <a:rPr lang="zh-CN" altLang="en-US" sz="1600" b="1">
                <a:solidFill>
                  <a:schemeClr val="tx1">
                    <a:lumMod val="75000"/>
                    <a:lumOff val="25000"/>
                  </a:schemeClr>
                </a:solidFill>
                <a:effectLst>
                  <a:outerShdw blurRad="38100" dist="38100" dir="2700000" algn="tl">
                    <a:srgbClr val="000000">
                      <a:alpha val="43137"/>
                    </a:srgbClr>
                  </a:outerShdw>
                </a:effectLst>
                <a:latin typeface="+mn-ea"/>
                <a:ea typeface="+mn-ea"/>
              </a:rPr>
              <a:t>血钾</a:t>
            </a:r>
            <a:endPar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endParaRPr>
          </a:p>
          <a:p>
            <a:pPr marL="285750" lvl="1" indent="-285750">
              <a:buFont typeface="Wingdings" panose="05000000000000000000" pitchFamily="2" charset="2"/>
              <a:buChar char="ü"/>
            </a:pPr>
            <a:r>
              <a:rPr lang="zh-CN" altLang="en-US" sz="1600" b="1">
                <a:solidFill>
                  <a:schemeClr val="tx1">
                    <a:lumMod val="75000"/>
                    <a:lumOff val="25000"/>
                  </a:schemeClr>
                </a:solidFill>
                <a:effectLst>
                  <a:outerShdw blurRad="38100" dist="38100" dir="2700000" algn="tl">
                    <a:srgbClr val="000000">
                      <a:alpha val="43137"/>
                    </a:srgbClr>
                  </a:outerShdw>
                </a:effectLst>
                <a:latin typeface="+mn-ea"/>
                <a:ea typeface="+mn-ea"/>
              </a:rPr>
              <a:t>血钠</a:t>
            </a:r>
            <a:endPar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endParaRPr>
          </a:p>
          <a:p>
            <a:pPr marL="285750" lvl="1" indent="-285750">
              <a:buFont typeface="Wingdings" panose="05000000000000000000" pitchFamily="2" charset="2"/>
              <a:buChar char="ü"/>
            </a:pPr>
            <a:r>
              <a:rPr lang="zh-CN" altLang="en-US" sz="1600" b="1">
                <a:solidFill>
                  <a:schemeClr val="tx1">
                    <a:lumMod val="75000"/>
                    <a:lumOff val="25000"/>
                  </a:schemeClr>
                </a:solidFill>
                <a:effectLst>
                  <a:outerShdw blurRad="38100" dist="38100" dir="2700000" algn="tl">
                    <a:srgbClr val="000000">
                      <a:alpha val="43137"/>
                    </a:srgbClr>
                  </a:outerShdw>
                </a:effectLst>
                <a:latin typeface="+mn-ea"/>
                <a:ea typeface="+mn-ea"/>
              </a:rPr>
              <a:t>血压排查高血压</a:t>
            </a:r>
            <a:endPar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endParaRPr>
          </a:p>
          <a:p>
            <a:pPr marL="285750" lvl="1" indent="-285750">
              <a:buFont typeface="Wingdings" panose="05000000000000000000" pitchFamily="2" charset="2"/>
              <a:buChar char="ü"/>
            </a:pPr>
            <a:r>
              <a:rPr lang="zh-CN" altLang="en-US" sz="1600" b="1">
                <a:solidFill>
                  <a:schemeClr val="tx1">
                    <a:lumMod val="75000"/>
                    <a:lumOff val="25000"/>
                  </a:schemeClr>
                </a:solidFill>
                <a:effectLst>
                  <a:outerShdw blurRad="38100" dist="38100" dir="2700000" algn="tl">
                    <a:srgbClr val="000000">
                      <a:alpha val="43137"/>
                    </a:srgbClr>
                  </a:outerShdw>
                </a:effectLst>
                <a:latin typeface="+mn-ea"/>
                <a:ea typeface="+mn-ea"/>
              </a:rPr>
              <a:t>血液</a:t>
            </a:r>
            <a:r>
              <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rPr>
              <a:t>PH</a:t>
            </a:r>
            <a:r>
              <a:rPr lang="zh-CN" altLang="en-US" sz="1600" b="1">
                <a:solidFill>
                  <a:schemeClr val="tx1">
                    <a:lumMod val="75000"/>
                    <a:lumOff val="25000"/>
                  </a:schemeClr>
                </a:solidFill>
                <a:effectLst>
                  <a:outerShdw blurRad="38100" dist="38100" dir="2700000" algn="tl">
                    <a:srgbClr val="000000">
                      <a:alpha val="43137"/>
                    </a:srgbClr>
                  </a:outerShdw>
                </a:effectLst>
                <a:latin typeface="+mn-ea"/>
                <a:ea typeface="+mn-ea"/>
              </a:rPr>
              <a:t>排查酸中毒</a:t>
            </a:r>
            <a:endPar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endParaRPr>
          </a:p>
          <a:p>
            <a:pPr marL="285750" lvl="1" indent="-285750">
              <a:buFont typeface="Wingdings" panose="05000000000000000000" pitchFamily="2" charset="2"/>
              <a:buChar char="ü"/>
            </a:pPr>
            <a:r>
              <a:rPr lang="zh-CN" altLang="en-US" sz="1600" b="1">
                <a:solidFill>
                  <a:schemeClr val="tx1">
                    <a:lumMod val="75000"/>
                    <a:lumOff val="25000"/>
                  </a:schemeClr>
                </a:solidFill>
                <a:effectLst>
                  <a:outerShdw blurRad="38100" dist="38100" dir="2700000" algn="tl">
                    <a:srgbClr val="000000">
                      <a:alpha val="43137"/>
                    </a:srgbClr>
                  </a:outerShdw>
                </a:effectLst>
                <a:latin typeface="+mn-ea"/>
                <a:ea typeface="+mn-ea"/>
              </a:rPr>
              <a:t>血常规排查贫血</a:t>
            </a:r>
            <a:endPar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endParaRPr>
          </a:p>
          <a:p>
            <a:pPr marL="285750" lvl="1" indent="-285750">
              <a:buFont typeface="Wingdings" panose="05000000000000000000" pitchFamily="2" charset="2"/>
              <a:buChar char="ü"/>
            </a:pPr>
            <a:r>
              <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rPr>
              <a:t>UPC</a:t>
            </a:r>
            <a:r>
              <a:rPr lang="zh-CN" altLang="en-US" sz="1600" b="1">
                <a:solidFill>
                  <a:schemeClr val="tx1">
                    <a:lumMod val="75000"/>
                    <a:lumOff val="25000"/>
                  </a:schemeClr>
                </a:solidFill>
                <a:effectLst>
                  <a:outerShdw blurRad="38100" dist="38100" dir="2700000" algn="tl">
                    <a:srgbClr val="000000">
                      <a:alpha val="43137"/>
                    </a:srgbClr>
                  </a:outerShdw>
                </a:effectLst>
                <a:latin typeface="+mn-ea"/>
                <a:ea typeface="+mn-ea"/>
              </a:rPr>
              <a:t>与尿检排查蛋白尿和感染</a:t>
            </a:r>
            <a:endPar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endParaRPr>
          </a:p>
          <a:p>
            <a:pPr marL="285750" lvl="1" indent="-285750">
              <a:buFont typeface="Wingdings" panose="05000000000000000000" pitchFamily="2" charset="2"/>
              <a:buChar char="ü"/>
            </a:pPr>
            <a:r>
              <a:rPr lang="zh-CN" altLang="en-US" sz="1600" b="1">
                <a:solidFill>
                  <a:schemeClr val="tx1">
                    <a:lumMod val="75000"/>
                    <a:lumOff val="25000"/>
                  </a:schemeClr>
                </a:solidFill>
                <a:effectLst>
                  <a:outerShdw blurRad="38100" dist="38100" dir="2700000" algn="tl">
                    <a:srgbClr val="000000">
                      <a:alpha val="43137"/>
                    </a:srgbClr>
                  </a:outerShdw>
                </a:effectLst>
                <a:latin typeface="+mn-ea"/>
                <a:ea typeface="+mn-ea"/>
              </a:rPr>
              <a:t>口腔情况</a:t>
            </a:r>
            <a:endPar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endParaRPr>
          </a:p>
          <a:p>
            <a:pPr marL="742950" lvl="1" indent="-285750">
              <a:buFont typeface="Wingdings" panose="05000000000000000000" pitchFamily="2" charset="2"/>
              <a:buChar char="ü"/>
            </a:pPr>
            <a:endParaRPr lang="en-US" altLang="zh-CN" b="1">
              <a:solidFill>
                <a:schemeClr val="tx1">
                  <a:lumMod val="75000"/>
                  <a:lumOff val="25000"/>
                </a:schemeClr>
              </a:solidFill>
              <a:effectLst>
                <a:outerShdw blurRad="38100" dist="38100" dir="2700000" algn="tl">
                  <a:srgbClr val="000000">
                    <a:alpha val="43137"/>
                  </a:srgbClr>
                </a:outerShdw>
              </a:effectLst>
              <a:latin typeface="+mj-ea"/>
            </a:endParaRPr>
          </a:p>
          <a:p>
            <a:pPr lvl="1"/>
            <a:endParaRPr lang="en-US" altLang="zh-CN" b="1">
              <a:solidFill>
                <a:schemeClr val="tx1">
                  <a:lumMod val="75000"/>
                  <a:lumOff val="25000"/>
                </a:schemeClr>
              </a:solidFill>
              <a:effectLst>
                <a:outerShdw blurRad="38100" dist="38100" dir="2700000" algn="tl">
                  <a:srgbClr val="000000">
                    <a:alpha val="43137"/>
                  </a:srgbClr>
                </a:outerShdw>
              </a:effectLst>
              <a:latin typeface="+mj-ea"/>
            </a:endParaRPr>
          </a:p>
          <a:p>
            <a:pPr marL="742950" lvl="1" indent="-285750">
              <a:buFont typeface="Wingdings" panose="05000000000000000000" pitchFamily="2" charset="2"/>
              <a:buChar char="ü"/>
            </a:pPr>
            <a:endParaRPr lang="en-US" altLang="zh-CN" b="1">
              <a:solidFill>
                <a:schemeClr val="tx1">
                  <a:lumMod val="75000"/>
                  <a:lumOff val="25000"/>
                </a:schemeClr>
              </a:solidFill>
              <a:effectLst>
                <a:outerShdw blurRad="38100" dist="38100" dir="2700000" algn="tl">
                  <a:srgbClr val="000000">
                    <a:alpha val="43137"/>
                  </a:srgbClr>
                </a:outerShdw>
              </a:effectLst>
              <a:latin typeface="+mj-ea"/>
            </a:endParaRPr>
          </a:p>
          <a:p>
            <a:pPr lvl="1"/>
            <a:endParaRPr lang="en-US" altLang="zh-CN" b="1">
              <a:solidFill>
                <a:schemeClr val="tx1">
                  <a:lumMod val="75000"/>
                  <a:lumOff val="25000"/>
                </a:schemeClr>
              </a:solidFill>
              <a:effectLst>
                <a:outerShdw blurRad="38100" dist="38100" dir="2700000" algn="tl">
                  <a:srgbClr val="000000">
                    <a:alpha val="43137"/>
                  </a:srgbClr>
                </a:outerShdw>
              </a:effectLst>
              <a:latin typeface="+mj-ea"/>
            </a:endParaRPr>
          </a:p>
          <a:p>
            <a:pPr lvl="1"/>
            <a:endParaRPr lang="en-US" altLang="zh-CN" sz="1600" b="1">
              <a:solidFill>
                <a:schemeClr val="tx1">
                  <a:lumMod val="75000"/>
                  <a:lumOff val="25000"/>
                </a:schemeClr>
              </a:solidFill>
              <a:effectLst>
                <a:outerShdw blurRad="38100" dist="38100" dir="2700000" algn="tl">
                  <a:srgbClr val="000000">
                    <a:alpha val="43137"/>
                  </a:srgbClr>
                </a:outerShdw>
              </a:effectLst>
              <a:latin typeface="+mj-ea"/>
            </a:endParaRPr>
          </a:p>
          <a:p>
            <a:endParaRPr lang="zh-CN" altLang="en-US"/>
          </a:p>
          <a:p>
            <a:pPr marL="0" lvl="1"/>
            <a:endParaRPr lang="en-US" altLang="zh-CN" sz="2000" b="1">
              <a:solidFill>
                <a:schemeClr val="tx1">
                  <a:lumMod val="75000"/>
                  <a:lumOff val="25000"/>
                </a:schemeClr>
              </a:solidFill>
              <a:effectLst>
                <a:outerShdw blurRad="38100" dist="38100" dir="2700000" algn="tl">
                  <a:srgbClr val="000000">
                    <a:alpha val="43137"/>
                  </a:srgbClr>
                </a:outerShdw>
              </a:effectLst>
              <a:latin typeface="+mj-ea"/>
              <a:ea typeface="+mj-ea"/>
            </a:endParaRPr>
          </a:p>
          <a:p>
            <a:endParaRPr lang="en-US" altLang="zh-CN"/>
          </a:p>
          <a:p>
            <a:endParaRPr lang="zh-CN" altLang="en-US"/>
          </a:p>
        </p:txBody>
      </p:sp>
      <p:sp>
        <p:nvSpPr>
          <p:cNvPr id="22" name="矩形 21">
            <a:extLst/>
          </p:cNvPr>
          <p:cNvSpPr/>
          <p:nvPr/>
        </p:nvSpPr>
        <p:spPr>
          <a:xfrm>
            <a:off x="471059" y="5776016"/>
            <a:ext cx="11102403" cy="965352"/>
          </a:xfrm>
          <a:prstGeom prst="rect">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sp>
        <p:nvSpPr>
          <p:cNvPr id="10" name="文本框 9"/>
          <p:cNvSpPr txBox="1"/>
          <p:nvPr/>
        </p:nvSpPr>
        <p:spPr>
          <a:xfrm>
            <a:off x="850477" y="5822580"/>
            <a:ext cx="10343566" cy="830997"/>
          </a:xfrm>
          <a:prstGeom prst="rect">
            <a:avLst/>
          </a:prstGeom>
          <a:noFill/>
        </p:spPr>
        <p:txBody>
          <a:bodyPr wrap="square" rtlCol="0">
            <a:spAutoFit/>
          </a:bodyPr>
          <a:lstStyle/>
          <a:p>
            <a:pPr marL="285750" indent="-285750">
              <a:buFont typeface="Wingdings" panose="05000000000000000000" pitchFamily="2" charset="2"/>
              <a:buChar char="n"/>
            </a:pPr>
            <a:r>
              <a:rPr lang="zh-CN" altLang="en-US" sz="1600" b="1">
                <a:solidFill>
                  <a:srgbClr val="FFC000"/>
                </a:solidFill>
                <a:effectLst>
                  <a:outerShdw blurRad="38100" dist="38100" dir="2700000" algn="tl">
                    <a:srgbClr val="000000">
                      <a:alpha val="43137"/>
                    </a:srgbClr>
                  </a:outerShdw>
                </a:effectLst>
                <a:latin typeface="+mn-ea"/>
                <a:ea typeface="+mn-ea"/>
              </a:rPr>
              <a:t>切记，每只猫都是不同的，检查项目应尊医嘱酌情增加！</a:t>
            </a:r>
            <a:endParaRPr lang="en-US" altLang="zh-CN" sz="1600" b="1">
              <a:solidFill>
                <a:srgbClr val="FFC000"/>
              </a:solidFill>
              <a:effectLst>
                <a:outerShdw blurRad="38100" dist="38100" dir="2700000" algn="tl">
                  <a:srgbClr val="000000">
                    <a:alpha val="43137"/>
                  </a:srgbClr>
                </a:outerShdw>
              </a:effectLst>
              <a:latin typeface="+mn-ea"/>
              <a:ea typeface="+mn-ea"/>
            </a:endParaRPr>
          </a:p>
          <a:p>
            <a:pPr marL="285750" indent="-285750">
              <a:buFont typeface="Wingdings" panose="05000000000000000000" pitchFamily="2" charset="2"/>
              <a:buChar char="n"/>
            </a:pPr>
            <a:r>
              <a:rPr lang="zh-CN" altLang="en-US" sz="1600">
                <a:solidFill>
                  <a:schemeClr val="bg1">
                    <a:lumMod val="95000"/>
                  </a:schemeClr>
                </a:solidFill>
                <a:effectLst>
                  <a:outerShdw blurRad="38100" dist="38100" dir="2700000" algn="tl">
                    <a:srgbClr val="000000">
                      <a:alpha val="43137"/>
                    </a:srgbClr>
                  </a:outerShdw>
                </a:effectLst>
                <a:latin typeface="+mn-ea"/>
                <a:ea typeface="+mn-ea"/>
              </a:rPr>
              <a:t>如果近期使用了特定药物，比如为了对付高血压、蛋白尿用了贝纳普利、替米沙坦、氨氯地平之类，最好用药后</a:t>
            </a:r>
            <a:r>
              <a:rPr lang="en-US" altLang="zh-CN" sz="1600">
                <a:solidFill>
                  <a:schemeClr val="bg1">
                    <a:lumMod val="95000"/>
                  </a:schemeClr>
                </a:solidFill>
                <a:effectLst>
                  <a:outerShdw blurRad="38100" dist="38100" dir="2700000" algn="tl">
                    <a:srgbClr val="000000">
                      <a:alpha val="43137"/>
                    </a:srgbClr>
                  </a:outerShdw>
                </a:effectLst>
                <a:latin typeface="+mn-ea"/>
                <a:ea typeface="+mn-ea"/>
              </a:rPr>
              <a:t>1-2</a:t>
            </a:r>
            <a:r>
              <a:rPr lang="zh-CN" altLang="en-US" sz="1600">
                <a:solidFill>
                  <a:schemeClr val="bg1">
                    <a:lumMod val="95000"/>
                  </a:schemeClr>
                </a:solidFill>
                <a:effectLst>
                  <a:outerShdw blurRad="38100" dist="38100" dir="2700000" algn="tl">
                    <a:srgbClr val="000000">
                      <a:alpha val="43137"/>
                    </a:srgbClr>
                  </a:outerShdw>
                </a:effectLst>
                <a:latin typeface="+mn-ea"/>
                <a:ea typeface="+mn-ea"/>
              </a:rPr>
              <a:t>周复查下相关指数。</a:t>
            </a:r>
            <a:r>
              <a:rPr lang="zh-CN" altLang="en-US" sz="1600">
                <a:solidFill>
                  <a:schemeClr val="bg1">
                    <a:lumMod val="95000"/>
                  </a:schemeClr>
                </a:solidFill>
                <a:effectLst>
                  <a:outerShdw blurRad="38100" dist="38100" dir="2700000" algn="tl">
                    <a:srgbClr val="000000">
                      <a:alpha val="43137"/>
                    </a:srgbClr>
                  </a:outerShdw>
                </a:effectLst>
                <a:latin typeface="+mj-ea"/>
                <a:ea typeface="+mj-ea"/>
              </a:rPr>
              <a:t>贫血和严重高血磷（＞</a:t>
            </a:r>
            <a:r>
              <a:rPr lang="en-US" altLang="zh-CN" sz="1600">
                <a:solidFill>
                  <a:schemeClr val="bg1">
                    <a:lumMod val="95000"/>
                  </a:schemeClr>
                </a:solidFill>
                <a:effectLst>
                  <a:outerShdw blurRad="38100" dist="38100" dir="2700000" algn="tl">
                    <a:srgbClr val="000000">
                      <a:alpha val="43137"/>
                    </a:srgbClr>
                  </a:outerShdw>
                </a:effectLst>
                <a:latin typeface="+mj-ea"/>
                <a:ea typeface="+mj-ea"/>
              </a:rPr>
              <a:t>1.9mmol/L</a:t>
            </a:r>
            <a:r>
              <a:rPr lang="zh-CN" altLang="en-US" sz="1600">
                <a:solidFill>
                  <a:schemeClr val="bg1">
                    <a:lumMod val="95000"/>
                  </a:schemeClr>
                </a:solidFill>
                <a:effectLst>
                  <a:outerShdw blurRad="38100" dist="38100" dir="2700000" algn="tl">
                    <a:srgbClr val="000000">
                      <a:alpha val="43137"/>
                    </a:srgbClr>
                  </a:outerShdw>
                </a:effectLst>
                <a:latin typeface="+mj-ea"/>
                <a:ea typeface="+mj-ea"/>
              </a:rPr>
              <a:t>）也需要较频繁复查</a:t>
            </a:r>
            <a:r>
              <a:rPr lang="zh-CN" altLang="en-US" sz="1600">
                <a:solidFill>
                  <a:schemeClr val="bg1">
                    <a:lumMod val="95000"/>
                  </a:schemeClr>
                </a:solidFill>
                <a:effectLst>
                  <a:outerShdw blurRad="38100" dist="38100" dir="2700000" algn="tl">
                    <a:srgbClr val="000000">
                      <a:alpha val="43137"/>
                    </a:srgbClr>
                  </a:outerShdw>
                </a:effectLst>
                <a:latin typeface="+mn-ea"/>
                <a:ea typeface="+mn-ea"/>
              </a:rPr>
              <a:t>。</a:t>
            </a:r>
          </a:p>
        </p:txBody>
      </p:sp>
    </p:spTree>
    <p:extLst>
      <p:ext uri="{BB962C8B-B14F-4D97-AF65-F5344CB8AC3E}">
        <p14:creationId xmlns:p14="http://schemas.microsoft.com/office/powerpoint/2010/main" val="2817560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0" name="箭头: 五边形 6">
            <a:extLst/>
          </p:cNvPr>
          <p:cNvSpPr/>
          <p:nvPr/>
        </p:nvSpPr>
        <p:spPr>
          <a:xfrm rot="10800000" flipH="1">
            <a:off x="0" y="404813"/>
            <a:ext cx="7176119" cy="1344612"/>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grpSp>
        <p:nvGrpSpPr>
          <p:cNvPr id="30724" name="组合 22"/>
          <p:cNvGrpSpPr>
            <a:grpSpLocks/>
          </p:cNvGrpSpPr>
          <p:nvPr/>
        </p:nvGrpSpPr>
        <p:grpSpPr bwMode="auto">
          <a:xfrm>
            <a:off x="196850" y="404813"/>
            <a:ext cx="6979269" cy="1120775"/>
            <a:chOff x="-101400" y="2876417"/>
            <a:chExt cx="6176512" cy="1120760"/>
          </a:xfrm>
        </p:grpSpPr>
        <p:sp>
          <p:nvSpPr>
            <p:cNvPr id="20494" name="文本框 13">
              <a:extLst/>
            </p:cNvPr>
            <p:cNvSpPr txBox="1">
              <a:spLocks noChangeArrowheads="1"/>
            </p:cNvSpPr>
            <p:nvPr/>
          </p:nvSpPr>
          <p:spPr bwMode="auto">
            <a:xfrm>
              <a:off x="-101400" y="2876417"/>
              <a:ext cx="1343136" cy="825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600" b="1">
                  <a:solidFill>
                    <a:srgbClr val="010101"/>
                  </a:solidFill>
                  <a:latin typeface="+mn-lt"/>
                  <a:ea typeface="+mn-ea"/>
                  <a:cs typeface="+mn-ea"/>
                  <a:sym typeface="+mn-lt"/>
                </a:rPr>
                <a:t>PART</a:t>
              </a:r>
            </a:p>
          </p:txBody>
        </p:sp>
        <p:sp>
          <p:nvSpPr>
            <p:cNvPr id="20495" name="文本框 14">
              <a:extLst/>
            </p:cNvPr>
            <p:cNvSpPr txBox="1">
              <a:spLocks noChangeArrowheads="1"/>
            </p:cNvSpPr>
            <p:nvPr/>
          </p:nvSpPr>
          <p:spPr bwMode="auto">
            <a:xfrm>
              <a:off x="2610723" y="3177485"/>
              <a:ext cx="3464389" cy="738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b="1">
                  <a:solidFill>
                    <a:schemeClr val="tx2">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猫慢性肾病的复查</a:t>
              </a:r>
              <a:endParaRPr lang="en-US" altLang="zh-CN">
                <a:solidFill>
                  <a:srgbClr val="010101"/>
                </a:solidFill>
                <a:effectLst>
                  <a:outerShdw blurRad="38100" dist="38100" dir="2700000" algn="tl">
                    <a:srgbClr val="000000">
                      <a:alpha val="43137"/>
                    </a:srgbClr>
                  </a:outerShdw>
                </a:effectLst>
                <a:latin typeface="+mn-lt"/>
                <a:ea typeface="+mn-ea"/>
                <a:cs typeface="+mn-ea"/>
                <a:sym typeface="+mn-lt"/>
              </a:endParaRPr>
            </a:p>
          </p:txBody>
        </p:sp>
        <p:cxnSp>
          <p:nvCxnSpPr>
            <p:cNvPr id="24" name="直接连接符 23">
              <a:extLst/>
            </p:cNvPr>
            <p:cNvCxnSpPr>
              <a:cxnSpLocks/>
            </p:cNvCxnSpPr>
            <p:nvPr/>
          </p:nvCxnSpPr>
          <p:spPr>
            <a:xfrm flipH="1">
              <a:off x="489901" y="3171688"/>
              <a:ext cx="1074241" cy="722302"/>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0497" name="矩形 20">
              <a:extLst/>
            </p:cNvPr>
            <p:cNvSpPr>
              <a:spLocks noChangeArrowheads="1"/>
            </p:cNvSpPr>
            <p:nvPr/>
          </p:nvSpPr>
          <p:spPr bwMode="auto">
            <a:xfrm>
              <a:off x="618328" y="3473309"/>
              <a:ext cx="1577249" cy="523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lvl="1">
                <a:lnSpc>
                  <a:spcPct val="100000"/>
                </a:lnSpc>
                <a:spcBef>
                  <a:spcPct val="0"/>
                </a:spcBef>
                <a:buFontTx/>
                <a:buNone/>
                <a:defRPr/>
              </a:pPr>
              <a:r>
                <a:rPr lang="en-US" altLang="zh-CN" sz="2800" b="1">
                  <a:solidFill>
                    <a:srgbClr val="010101"/>
                  </a:solidFill>
                  <a:latin typeface="+mn-lt"/>
                  <a:ea typeface="+mn-ea"/>
                  <a:cs typeface="+mn-ea"/>
                  <a:sym typeface="+mn-lt"/>
                </a:rPr>
                <a:t>TWO</a:t>
              </a:r>
              <a:endParaRPr lang="zh-CN" altLang="en-US" sz="1400">
                <a:latin typeface="+mn-lt"/>
                <a:ea typeface="+mn-ea"/>
                <a:cs typeface="+mn-ea"/>
                <a:sym typeface="+mn-lt"/>
              </a:endParaRPr>
            </a:p>
          </p:txBody>
        </p:sp>
      </p:grpSp>
      <p:sp>
        <p:nvSpPr>
          <p:cNvPr id="39" name="矩形 38">
            <a:extLst/>
          </p:cNvPr>
          <p:cNvSpPr/>
          <p:nvPr/>
        </p:nvSpPr>
        <p:spPr>
          <a:xfrm>
            <a:off x="6168008" y="2019301"/>
            <a:ext cx="5256584" cy="385797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sp>
        <p:nvSpPr>
          <p:cNvPr id="6" name="文本框 5"/>
          <p:cNvSpPr txBox="1"/>
          <p:nvPr/>
        </p:nvSpPr>
        <p:spPr>
          <a:xfrm>
            <a:off x="6312024" y="2438017"/>
            <a:ext cx="5112568" cy="3016210"/>
          </a:xfrm>
          <a:prstGeom prst="rect">
            <a:avLst/>
          </a:prstGeom>
          <a:noFill/>
        </p:spPr>
        <p:txBody>
          <a:bodyPr wrap="square" rtlCol="0">
            <a:spAutoFit/>
          </a:bodyPr>
          <a:lstStyle/>
          <a:p>
            <a:pPr marL="285750" indent="-285750">
              <a:buFont typeface="Wingdings" panose="05000000000000000000" pitchFamily="2" charset="2"/>
              <a:buChar char="p"/>
            </a:pPr>
            <a:r>
              <a:rPr lang="zh-CN" altLang="en-US" b="1">
                <a:solidFill>
                  <a:srgbClr val="C00000"/>
                </a:solidFill>
                <a:effectLst>
                  <a:outerShdw blurRad="38100" dist="38100" dir="2700000" algn="tl">
                    <a:srgbClr val="000000">
                      <a:alpha val="43137"/>
                    </a:srgbClr>
                  </a:outerShdw>
                </a:effectLst>
                <a:latin typeface="+mj-ea"/>
                <a:ea typeface="+mj-ea"/>
              </a:rPr>
              <a:t>不评估肌肉状况</a:t>
            </a:r>
            <a:r>
              <a:rPr lang="zh-CN" altLang="en-US" sz="1600" b="1">
                <a:solidFill>
                  <a:srgbClr val="C00000"/>
                </a:solidFill>
                <a:effectLst>
                  <a:outerShdw blurRad="38100" dist="38100" dir="2700000" algn="tl">
                    <a:srgbClr val="000000">
                      <a:alpha val="43137"/>
                    </a:srgbClr>
                  </a:outerShdw>
                </a:effectLst>
                <a:latin typeface="+mj-ea"/>
                <a:ea typeface="+mj-ea"/>
              </a:rPr>
              <a:t>：</a:t>
            </a:r>
            <a:r>
              <a:rPr lang="zh-CN" altLang="en-US" sz="1600">
                <a:solidFill>
                  <a:srgbClr val="C00000"/>
                </a:solidFill>
                <a:effectLst>
                  <a:outerShdw blurRad="38100" dist="38100" dir="2700000" algn="tl">
                    <a:srgbClr val="000000">
                      <a:alpha val="43137"/>
                    </a:srgbClr>
                  </a:outerShdw>
                </a:effectLst>
                <a:latin typeface="+mj-ea"/>
                <a:ea typeface="+mj-ea"/>
              </a:rPr>
              <a:t>肌肉存量会显著影响病猫存活时间。</a:t>
            </a:r>
            <a:endParaRPr lang="en-US" altLang="zh-CN" sz="1600">
              <a:solidFill>
                <a:srgbClr val="C00000"/>
              </a:solidFill>
              <a:effectLst>
                <a:outerShdw blurRad="38100" dist="38100" dir="2700000" algn="tl">
                  <a:srgbClr val="000000">
                    <a:alpha val="43137"/>
                  </a:srgbClr>
                </a:outerShdw>
              </a:effectLst>
              <a:latin typeface="+mj-ea"/>
              <a:ea typeface="+mj-ea"/>
            </a:endParaRPr>
          </a:p>
          <a:p>
            <a:pPr marL="285750" indent="-285750">
              <a:buFont typeface="Wingdings" panose="05000000000000000000" pitchFamily="2" charset="2"/>
              <a:buChar char="p"/>
            </a:pPr>
            <a:r>
              <a:rPr lang="zh-CN" altLang="en-US" b="1">
                <a:solidFill>
                  <a:srgbClr val="C00000"/>
                </a:solidFill>
                <a:effectLst>
                  <a:outerShdw blurRad="38100" dist="38100" dir="2700000" algn="tl">
                    <a:srgbClr val="000000">
                      <a:alpha val="43137"/>
                    </a:srgbClr>
                  </a:outerShdw>
                </a:effectLst>
                <a:latin typeface="+mj-ea"/>
                <a:ea typeface="+mj-ea"/>
              </a:rPr>
              <a:t>没有查血磷</a:t>
            </a:r>
            <a:r>
              <a:rPr lang="zh-CN" altLang="en-US" sz="1600">
                <a:solidFill>
                  <a:srgbClr val="C00000"/>
                </a:solidFill>
                <a:effectLst>
                  <a:outerShdw blurRad="38100" dist="38100" dir="2700000" algn="tl">
                    <a:srgbClr val="000000">
                      <a:alpha val="43137"/>
                    </a:srgbClr>
                  </a:outerShdw>
                </a:effectLst>
                <a:latin typeface="+mj-ea"/>
                <a:ea typeface="+mj-ea"/>
              </a:rPr>
              <a:t>：没法及早察觉、控制磷潴留。</a:t>
            </a:r>
            <a:endParaRPr lang="en-US" altLang="zh-CN" sz="1600">
              <a:solidFill>
                <a:srgbClr val="C00000"/>
              </a:solidFill>
              <a:effectLst>
                <a:outerShdw blurRad="38100" dist="38100" dir="2700000" algn="tl">
                  <a:srgbClr val="000000">
                    <a:alpha val="43137"/>
                  </a:srgbClr>
                </a:outerShdw>
              </a:effectLst>
              <a:latin typeface="+mj-ea"/>
              <a:ea typeface="+mj-ea"/>
            </a:endParaRPr>
          </a:p>
          <a:p>
            <a:pPr marL="285750" indent="-285750">
              <a:buFont typeface="Wingdings" panose="05000000000000000000" pitchFamily="2" charset="2"/>
              <a:buChar char="p"/>
            </a:pPr>
            <a:r>
              <a:rPr lang="zh-CN" altLang="en-US" b="1">
                <a:solidFill>
                  <a:srgbClr val="C00000"/>
                </a:solidFill>
                <a:effectLst>
                  <a:outerShdw blurRad="38100" dist="38100" dir="2700000" algn="tl">
                    <a:srgbClr val="000000">
                      <a:alpha val="43137"/>
                    </a:srgbClr>
                  </a:outerShdw>
                </a:effectLst>
                <a:latin typeface="+mj-ea"/>
                <a:ea typeface="+mj-ea"/>
              </a:rPr>
              <a:t>没有查血钙</a:t>
            </a:r>
            <a:r>
              <a:rPr lang="zh-CN" altLang="en-US" sz="1600">
                <a:solidFill>
                  <a:srgbClr val="C00000"/>
                </a:solidFill>
                <a:effectLst>
                  <a:outerShdw blurRad="38100" dist="38100" dir="2700000" algn="tl">
                    <a:srgbClr val="000000">
                      <a:alpha val="43137"/>
                    </a:srgbClr>
                  </a:outerShdw>
                </a:effectLst>
                <a:latin typeface="+mj-ea"/>
                <a:ea typeface="+mj-ea"/>
              </a:rPr>
              <a:t>：因血磷出现高血钙，或自发性高血钙影响饮食与用药选择。</a:t>
            </a:r>
            <a:endParaRPr lang="en-US" altLang="zh-CN" sz="1600">
              <a:solidFill>
                <a:srgbClr val="C00000"/>
              </a:solidFill>
              <a:effectLst>
                <a:outerShdw blurRad="38100" dist="38100" dir="2700000" algn="tl">
                  <a:srgbClr val="000000">
                    <a:alpha val="43137"/>
                  </a:srgbClr>
                </a:outerShdw>
              </a:effectLst>
              <a:latin typeface="+mj-ea"/>
              <a:ea typeface="+mj-ea"/>
            </a:endParaRPr>
          </a:p>
          <a:p>
            <a:pPr marL="285750" indent="-285750">
              <a:buFont typeface="Wingdings" panose="05000000000000000000" pitchFamily="2" charset="2"/>
              <a:buChar char="p"/>
            </a:pPr>
            <a:r>
              <a:rPr lang="zh-CN" altLang="en-US" b="1">
                <a:solidFill>
                  <a:srgbClr val="C00000"/>
                </a:solidFill>
                <a:effectLst>
                  <a:outerShdw blurRad="38100" dist="38100" dir="2700000" algn="tl">
                    <a:srgbClr val="000000">
                      <a:alpha val="43137"/>
                    </a:srgbClr>
                  </a:outerShdw>
                </a:effectLst>
                <a:latin typeface="+mj-ea"/>
                <a:ea typeface="+mj-ea"/>
              </a:rPr>
              <a:t>没有查血钾</a:t>
            </a:r>
            <a:r>
              <a:rPr lang="zh-CN" altLang="en-US" sz="1600">
                <a:solidFill>
                  <a:srgbClr val="C00000"/>
                </a:solidFill>
                <a:effectLst>
                  <a:outerShdw blurRad="38100" dist="38100" dir="2700000" algn="tl">
                    <a:srgbClr val="000000">
                      <a:alpha val="43137"/>
                    </a:srgbClr>
                  </a:outerShdw>
                </a:effectLst>
                <a:latin typeface="+mj-ea"/>
                <a:ea typeface="+mj-ea"/>
              </a:rPr>
              <a:t>：大多数猫会低血钾，少部份猫会高血钾。</a:t>
            </a:r>
            <a:endParaRPr lang="en-US" altLang="zh-CN" sz="1600">
              <a:solidFill>
                <a:srgbClr val="C00000"/>
              </a:solidFill>
              <a:effectLst>
                <a:outerShdw blurRad="38100" dist="38100" dir="2700000" algn="tl">
                  <a:srgbClr val="000000">
                    <a:alpha val="43137"/>
                  </a:srgbClr>
                </a:outerShdw>
              </a:effectLst>
              <a:latin typeface="+mj-ea"/>
              <a:ea typeface="+mj-ea"/>
            </a:endParaRPr>
          </a:p>
          <a:p>
            <a:pPr marL="285750" indent="-285750">
              <a:buFont typeface="Wingdings" panose="05000000000000000000" pitchFamily="2" charset="2"/>
              <a:buChar char="p"/>
            </a:pPr>
            <a:r>
              <a:rPr lang="zh-CN" altLang="en-US" b="1">
                <a:solidFill>
                  <a:srgbClr val="C00000"/>
                </a:solidFill>
                <a:effectLst>
                  <a:outerShdw blurRad="38100" dist="38100" dir="2700000" algn="tl">
                    <a:srgbClr val="000000">
                      <a:alpha val="43137"/>
                    </a:srgbClr>
                  </a:outerShdw>
                </a:effectLst>
                <a:latin typeface="+mj-ea"/>
                <a:ea typeface="+mj-ea"/>
              </a:rPr>
              <a:t>没查</a:t>
            </a:r>
            <a:r>
              <a:rPr lang="en-US" altLang="zh-CN" b="1">
                <a:solidFill>
                  <a:srgbClr val="C00000"/>
                </a:solidFill>
                <a:effectLst>
                  <a:outerShdw blurRad="38100" dist="38100" dir="2700000" algn="tl">
                    <a:srgbClr val="000000">
                      <a:alpha val="43137"/>
                    </a:srgbClr>
                  </a:outerShdw>
                </a:effectLst>
                <a:latin typeface="+mj-ea"/>
                <a:ea typeface="+mj-ea"/>
              </a:rPr>
              <a:t>UPC</a:t>
            </a:r>
            <a:r>
              <a:rPr lang="zh-CN" altLang="en-US" sz="1600">
                <a:solidFill>
                  <a:srgbClr val="C00000"/>
                </a:solidFill>
                <a:effectLst>
                  <a:outerShdw blurRad="38100" dist="38100" dir="2700000" algn="tl">
                    <a:srgbClr val="000000">
                      <a:alpha val="43137"/>
                    </a:srgbClr>
                  </a:outerShdw>
                </a:effectLst>
                <a:latin typeface="+mj-ea"/>
                <a:ea typeface="+mj-ea"/>
              </a:rPr>
              <a:t>：蛋白尿会恶化肾病，需要尽早治疗。</a:t>
            </a:r>
            <a:endParaRPr lang="en-US" altLang="zh-CN" sz="1600">
              <a:solidFill>
                <a:srgbClr val="C00000"/>
              </a:solidFill>
              <a:effectLst>
                <a:outerShdw blurRad="38100" dist="38100" dir="2700000" algn="tl">
                  <a:srgbClr val="000000">
                    <a:alpha val="43137"/>
                  </a:srgbClr>
                </a:outerShdw>
              </a:effectLst>
              <a:latin typeface="+mj-ea"/>
              <a:ea typeface="+mj-ea"/>
            </a:endParaRPr>
          </a:p>
          <a:p>
            <a:pPr marL="285750" indent="-285750">
              <a:buFont typeface="Wingdings" panose="05000000000000000000" pitchFamily="2" charset="2"/>
              <a:buChar char="p"/>
            </a:pPr>
            <a:r>
              <a:rPr lang="zh-CN" altLang="en-US" b="1">
                <a:solidFill>
                  <a:srgbClr val="C00000"/>
                </a:solidFill>
                <a:effectLst>
                  <a:outerShdw blurRad="38100" dist="38100" dir="2700000" algn="tl">
                    <a:srgbClr val="000000">
                      <a:alpha val="43137"/>
                    </a:srgbClr>
                  </a:outerShdw>
                </a:effectLst>
                <a:latin typeface="+mj-ea"/>
                <a:ea typeface="+mj-ea"/>
              </a:rPr>
              <a:t>没有查血压</a:t>
            </a:r>
            <a:r>
              <a:rPr lang="zh-CN" altLang="en-US" sz="1600">
                <a:solidFill>
                  <a:srgbClr val="C00000"/>
                </a:solidFill>
                <a:effectLst>
                  <a:outerShdw blurRad="38100" dist="38100" dir="2700000" algn="tl">
                    <a:srgbClr val="000000">
                      <a:alpha val="43137"/>
                    </a:srgbClr>
                  </a:outerShdw>
                </a:effectLst>
                <a:latin typeface="+mj-ea"/>
                <a:ea typeface="+mj-ea"/>
              </a:rPr>
              <a:t>：</a:t>
            </a:r>
            <a:r>
              <a:rPr lang="en-US" altLang="zh-CN" sz="1600">
                <a:solidFill>
                  <a:srgbClr val="C00000"/>
                </a:solidFill>
                <a:effectLst>
                  <a:outerShdw blurRad="38100" dist="38100" dir="2700000" algn="tl">
                    <a:srgbClr val="000000">
                      <a:alpha val="43137"/>
                    </a:srgbClr>
                  </a:outerShdw>
                </a:effectLst>
                <a:latin typeface="+mj-ea"/>
                <a:ea typeface="+mj-ea"/>
              </a:rPr>
              <a:t>20%</a:t>
            </a:r>
            <a:r>
              <a:rPr lang="zh-CN" altLang="en-US" sz="1600">
                <a:solidFill>
                  <a:srgbClr val="C00000"/>
                </a:solidFill>
                <a:effectLst>
                  <a:outerShdw blurRad="38100" dist="38100" dir="2700000" algn="tl">
                    <a:srgbClr val="000000">
                      <a:alpha val="43137"/>
                    </a:srgbClr>
                  </a:outerShdw>
                </a:effectLst>
                <a:latin typeface="+mj-ea"/>
                <a:ea typeface="+mj-ea"/>
              </a:rPr>
              <a:t>的猫在诊断之初即存在高血压。</a:t>
            </a:r>
            <a:endParaRPr lang="en-US" altLang="zh-CN" sz="1600">
              <a:solidFill>
                <a:srgbClr val="C00000"/>
              </a:solidFill>
              <a:effectLst>
                <a:outerShdw blurRad="38100" dist="38100" dir="2700000" algn="tl">
                  <a:srgbClr val="000000">
                    <a:alpha val="43137"/>
                  </a:srgbClr>
                </a:outerShdw>
              </a:effectLst>
              <a:latin typeface="+mj-ea"/>
              <a:ea typeface="+mj-ea"/>
            </a:endParaRPr>
          </a:p>
          <a:p>
            <a:pPr marL="285750" indent="-285750">
              <a:buFont typeface="Wingdings" panose="05000000000000000000" pitchFamily="2" charset="2"/>
              <a:buChar char="p"/>
            </a:pPr>
            <a:r>
              <a:rPr lang="zh-CN" altLang="en-US" b="1">
                <a:solidFill>
                  <a:srgbClr val="C00000"/>
                </a:solidFill>
                <a:effectLst>
                  <a:outerShdw blurRad="38100" dist="38100" dir="2700000" algn="tl">
                    <a:srgbClr val="000000">
                      <a:alpha val="43137"/>
                    </a:srgbClr>
                  </a:outerShdw>
                </a:effectLst>
                <a:latin typeface="+mj-ea"/>
                <a:ea typeface="+mj-ea"/>
              </a:rPr>
              <a:t>没查血气</a:t>
            </a:r>
            <a:r>
              <a:rPr lang="en-US" altLang="zh-CN" sz="1600">
                <a:solidFill>
                  <a:srgbClr val="C00000"/>
                </a:solidFill>
                <a:effectLst>
                  <a:outerShdw blurRad="38100" dist="38100" dir="2700000" algn="tl">
                    <a:srgbClr val="000000">
                      <a:alpha val="43137"/>
                    </a:srgbClr>
                  </a:outerShdw>
                </a:effectLst>
                <a:latin typeface="+mj-ea"/>
                <a:ea typeface="+mj-ea"/>
              </a:rPr>
              <a:t>: </a:t>
            </a:r>
            <a:r>
              <a:rPr lang="zh-CN" altLang="en-US" sz="1600">
                <a:solidFill>
                  <a:srgbClr val="C00000"/>
                </a:solidFill>
                <a:effectLst>
                  <a:outerShdw blurRad="38100" dist="38100" dir="2700000" algn="tl">
                    <a:srgbClr val="000000">
                      <a:alpha val="43137"/>
                    </a:srgbClr>
                  </a:outerShdw>
                </a:effectLst>
                <a:latin typeface="+mj-ea"/>
                <a:ea typeface="+mj-ea"/>
              </a:rPr>
              <a:t>肾病猫可能出现血液酸中毒，</a:t>
            </a:r>
            <a:r>
              <a:rPr lang="en-US" altLang="zh-CN" sz="1600">
                <a:solidFill>
                  <a:srgbClr val="C00000"/>
                </a:solidFill>
                <a:effectLst>
                  <a:outerShdw blurRad="38100" dist="38100" dir="2700000" algn="tl">
                    <a:srgbClr val="000000">
                      <a:alpha val="43137"/>
                    </a:srgbClr>
                  </a:outerShdw>
                </a:effectLst>
                <a:latin typeface="+mj-ea"/>
                <a:ea typeface="+mj-ea"/>
              </a:rPr>
              <a:t>PH</a:t>
            </a:r>
            <a:r>
              <a:rPr lang="zh-CN" altLang="en-US" sz="1600">
                <a:solidFill>
                  <a:srgbClr val="C00000"/>
                </a:solidFill>
                <a:effectLst>
                  <a:outerShdw blurRad="38100" dist="38100" dir="2700000" algn="tl">
                    <a:srgbClr val="000000">
                      <a:alpha val="43137"/>
                    </a:srgbClr>
                  </a:outerShdw>
                </a:effectLst>
                <a:latin typeface="+mj-ea"/>
                <a:ea typeface="+mj-ea"/>
              </a:rPr>
              <a:t>问题需要矫正。</a:t>
            </a:r>
          </a:p>
        </p:txBody>
      </p:sp>
      <p:sp>
        <p:nvSpPr>
          <p:cNvPr id="45" name="矩形 44">
            <a:extLst/>
          </p:cNvPr>
          <p:cNvSpPr/>
          <p:nvPr/>
        </p:nvSpPr>
        <p:spPr>
          <a:xfrm>
            <a:off x="471060" y="2019301"/>
            <a:ext cx="5336908" cy="385797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sp>
        <p:nvSpPr>
          <p:cNvPr id="8" name="文本框 7"/>
          <p:cNvSpPr txBox="1"/>
          <p:nvPr/>
        </p:nvSpPr>
        <p:spPr>
          <a:xfrm>
            <a:off x="407639" y="2822737"/>
            <a:ext cx="5384522" cy="2031325"/>
          </a:xfrm>
          <a:prstGeom prst="rect">
            <a:avLst/>
          </a:prstGeom>
          <a:noFill/>
        </p:spPr>
        <p:txBody>
          <a:bodyPr wrap="square" numCol="2" rtlCol="0">
            <a:spAutoFit/>
          </a:bodyPr>
          <a:lstStyle/>
          <a:p>
            <a:pPr marL="742950" lvl="1" indent="-285750">
              <a:buFont typeface="Wingdings" panose="05000000000000000000" pitchFamily="2" charset="2"/>
              <a:buChar char="l"/>
            </a:pPr>
            <a:r>
              <a:rPr lang="en-US" altLang="zh-CN" b="1">
                <a:solidFill>
                  <a:schemeClr val="tx1">
                    <a:lumMod val="75000"/>
                    <a:lumOff val="25000"/>
                  </a:schemeClr>
                </a:solidFill>
                <a:effectLst>
                  <a:outerShdw blurRad="38100" dist="38100" dir="2700000" algn="tl">
                    <a:srgbClr val="000000">
                      <a:alpha val="43137"/>
                    </a:srgbClr>
                  </a:outerShdw>
                </a:effectLst>
                <a:latin typeface="+mj-ea"/>
                <a:ea typeface="+mj-ea"/>
              </a:rPr>
              <a:t>MCS</a:t>
            </a:r>
            <a:r>
              <a:rPr lang="zh-CN" altLang="en-US" sz="1050" b="1">
                <a:solidFill>
                  <a:schemeClr val="tx1">
                    <a:lumMod val="75000"/>
                    <a:lumOff val="25000"/>
                  </a:schemeClr>
                </a:solidFill>
                <a:effectLst>
                  <a:outerShdw blurRad="38100" dist="38100" dir="2700000" algn="tl">
                    <a:srgbClr val="000000">
                      <a:alpha val="43137"/>
                    </a:srgbClr>
                  </a:outerShdw>
                </a:effectLst>
                <a:latin typeface="+mj-ea"/>
                <a:ea typeface="+mj-ea"/>
              </a:rPr>
              <a:t>（肌肉状况评分）</a:t>
            </a:r>
            <a:endParaRPr lang="en-US" altLang="zh-CN" sz="1050" b="1">
              <a:solidFill>
                <a:schemeClr val="tx1">
                  <a:lumMod val="75000"/>
                  <a:lumOff val="25000"/>
                </a:schemeClr>
              </a:solidFill>
              <a:effectLst>
                <a:outerShdw blurRad="38100" dist="38100" dir="2700000" algn="tl">
                  <a:srgbClr val="000000">
                    <a:alpha val="43137"/>
                  </a:srgbClr>
                </a:outerShdw>
              </a:effectLst>
              <a:latin typeface="+mj-ea"/>
              <a:ea typeface="+mj-ea"/>
            </a:endParaRPr>
          </a:p>
          <a:p>
            <a:pPr marL="742950" lvl="1" indent="-285750">
              <a:buFont typeface="Wingdings" panose="05000000000000000000" pitchFamily="2" charset="2"/>
              <a:buChar char="l"/>
            </a:pPr>
            <a:r>
              <a:rPr lang="zh-CN" altLang="en-US" b="1">
                <a:solidFill>
                  <a:schemeClr val="tx1">
                    <a:lumMod val="75000"/>
                    <a:lumOff val="25000"/>
                  </a:schemeClr>
                </a:solidFill>
                <a:effectLst>
                  <a:outerShdw blurRad="38100" dist="38100" dir="2700000" algn="tl">
                    <a:srgbClr val="000000">
                      <a:alpha val="43137"/>
                    </a:srgbClr>
                  </a:outerShdw>
                </a:effectLst>
                <a:latin typeface="+mj-ea"/>
                <a:ea typeface="+mj-ea"/>
              </a:rPr>
              <a:t>血磷 （</a:t>
            </a:r>
            <a:r>
              <a:rPr lang="en-US" altLang="zh-CN" b="1">
                <a:solidFill>
                  <a:schemeClr val="tx1">
                    <a:lumMod val="75000"/>
                    <a:lumOff val="25000"/>
                  </a:schemeClr>
                </a:solidFill>
                <a:effectLst>
                  <a:outerShdw blurRad="38100" dist="38100" dir="2700000" algn="tl">
                    <a:srgbClr val="000000">
                      <a:alpha val="43137"/>
                    </a:srgbClr>
                  </a:outerShdw>
                </a:effectLst>
                <a:latin typeface="+mj-ea"/>
                <a:ea typeface="+mj-ea"/>
              </a:rPr>
              <a:t>Phos</a:t>
            </a:r>
            <a:r>
              <a:rPr lang="zh-CN" altLang="en-US" b="1">
                <a:solidFill>
                  <a:schemeClr val="tx1">
                    <a:lumMod val="75000"/>
                    <a:lumOff val="25000"/>
                  </a:schemeClr>
                </a:solidFill>
                <a:effectLst>
                  <a:outerShdw blurRad="38100" dist="38100" dir="2700000" algn="tl">
                    <a:srgbClr val="000000">
                      <a:alpha val="43137"/>
                    </a:srgbClr>
                  </a:outerShdw>
                </a:effectLst>
                <a:latin typeface="+mj-ea"/>
                <a:ea typeface="+mj-ea"/>
              </a:rPr>
              <a:t>）</a:t>
            </a:r>
            <a:endParaRPr lang="en-US" altLang="zh-CN" b="1">
              <a:solidFill>
                <a:schemeClr val="tx1">
                  <a:lumMod val="75000"/>
                  <a:lumOff val="25000"/>
                </a:schemeClr>
              </a:solidFill>
              <a:effectLst>
                <a:outerShdw blurRad="38100" dist="38100" dir="2700000" algn="tl">
                  <a:srgbClr val="000000">
                    <a:alpha val="43137"/>
                  </a:srgbClr>
                </a:outerShdw>
              </a:effectLst>
              <a:latin typeface="+mj-ea"/>
              <a:ea typeface="+mj-ea"/>
            </a:endParaRPr>
          </a:p>
          <a:p>
            <a:pPr marL="742950" lvl="1" indent="-285750">
              <a:buFont typeface="Wingdings" panose="05000000000000000000" pitchFamily="2" charset="2"/>
              <a:buChar char="l"/>
            </a:pPr>
            <a:r>
              <a:rPr lang="zh-CN" altLang="en-US" b="1">
                <a:solidFill>
                  <a:schemeClr val="tx1">
                    <a:lumMod val="75000"/>
                    <a:lumOff val="25000"/>
                  </a:schemeClr>
                </a:solidFill>
                <a:effectLst>
                  <a:outerShdw blurRad="38100" dist="38100" dir="2700000" algn="tl">
                    <a:srgbClr val="000000">
                      <a:alpha val="43137"/>
                    </a:srgbClr>
                  </a:outerShdw>
                </a:effectLst>
                <a:latin typeface="+mj-ea"/>
                <a:ea typeface="+mj-ea"/>
              </a:rPr>
              <a:t>血钾 （</a:t>
            </a:r>
            <a:r>
              <a:rPr lang="en-US" altLang="zh-CN" b="1">
                <a:solidFill>
                  <a:schemeClr val="tx1">
                    <a:lumMod val="75000"/>
                    <a:lumOff val="25000"/>
                  </a:schemeClr>
                </a:solidFill>
                <a:effectLst>
                  <a:outerShdw blurRad="38100" dist="38100" dir="2700000" algn="tl">
                    <a:srgbClr val="000000">
                      <a:alpha val="43137"/>
                    </a:srgbClr>
                  </a:outerShdw>
                </a:effectLst>
                <a:latin typeface="+mj-ea"/>
                <a:ea typeface="+mj-ea"/>
              </a:rPr>
              <a:t>K</a:t>
            </a:r>
            <a:r>
              <a:rPr lang="zh-CN" altLang="en-US" b="1">
                <a:solidFill>
                  <a:schemeClr val="tx1">
                    <a:lumMod val="75000"/>
                    <a:lumOff val="25000"/>
                  </a:schemeClr>
                </a:solidFill>
                <a:effectLst>
                  <a:outerShdw blurRad="38100" dist="38100" dir="2700000" algn="tl">
                    <a:srgbClr val="000000">
                      <a:alpha val="43137"/>
                    </a:srgbClr>
                  </a:outerShdw>
                </a:effectLst>
                <a:latin typeface="+mj-ea"/>
                <a:ea typeface="+mj-ea"/>
              </a:rPr>
              <a:t>）</a:t>
            </a:r>
            <a:endParaRPr lang="en-US" altLang="zh-CN" b="1">
              <a:solidFill>
                <a:schemeClr val="tx1">
                  <a:lumMod val="75000"/>
                  <a:lumOff val="25000"/>
                </a:schemeClr>
              </a:solidFill>
              <a:effectLst>
                <a:outerShdw blurRad="38100" dist="38100" dir="2700000" algn="tl">
                  <a:srgbClr val="000000">
                    <a:alpha val="43137"/>
                  </a:srgbClr>
                </a:outerShdw>
              </a:effectLst>
              <a:latin typeface="+mj-ea"/>
              <a:ea typeface="+mj-ea"/>
            </a:endParaRPr>
          </a:p>
          <a:p>
            <a:pPr marL="742950" lvl="1" indent="-285750">
              <a:buFont typeface="Wingdings" panose="05000000000000000000" pitchFamily="2" charset="2"/>
              <a:buChar char="l"/>
            </a:pPr>
            <a:r>
              <a:rPr lang="zh-CN" altLang="en-US" b="1">
                <a:solidFill>
                  <a:schemeClr val="tx1">
                    <a:lumMod val="75000"/>
                    <a:lumOff val="25000"/>
                  </a:schemeClr>
                </a:solidFill>
                <a:effectLst>
                  <a:outerShdw blurRad="38100" dist="38100" dir="2700000" algn="tl">
                    <a:srgbClr val="000000">
                      <a:alpha val="43137"/>
                    </a:srgbClr>
                  </a:outerShdw>
                </a:effectLst>
                <a:latin typeface="+mj-ea"/>
                <a:ea typeface="+mj-ea"/>
              </a:rPr>
              <a:t>血钙 （</a:t>
            </a:r>
            <a:r>
              <a:rPr lang="en-US" altLang="zh-CN" b="1">
                <a:solidFill>
                  <a:schemeClr val="tx1">
                    <a:lumMod val="75000"/>
                    <a:lumOff val="25000"/>
                  </a:schemeClr>
                </a:solidFill>
                <a:effectLst>
                  <a:outerShdw blurRad="38100" dist="38100" dir="2700000" algn="tl">
                    <a:srgbClr val="000000">
                      <a:alpha val="43137"/>
                    </a:srgbClr>
                  </a:outerShdw>
                </a:effectLst>
                <a:latin typeface="+mj-ea"/>
                <a:ea typeface="+mj-ea"/>
              </a:rPr>
              <a:t>Ca</a:t>
            </a:r>
            <a:r>
              <a:rPr lang="zh-CN" altLang="en-US" b="1">
                <a:solidFill>
                  <a:schemeClr val="tx1">
                    <a:lumMod val="75000"/>
                    <a:lumOff val="25000"/>
                  </a:schemeClr>
                </a:solidFill>
                <a:effectLst>
                  <a:outerShdw blurRad="38100" dist="38100" dir="2700000" algn="tl">
                    <a:srgbClr val="000000">
                      <a:alpha val="43137"/>
                    </a:srgbClr>
                  </a:outerShdw>
                </a:effectLst>
                <a:latin typeface="+mj-ea"/>
                <a:ea typeface="+mj-ea"/>
              </a:rPr>
              <a:t>）</a:t>
            </a:r>
            <a:endParaRPr lang="en-US" altLang="zh-CN" b="1">
              <a:solidFill>
                <a:schemeClr val="tx1">
                  <a:lumMod val="75000"/>
                  <a:lumOff val="25000"/>
                </a:schemeClr>
              </a:solidFill>
              <a:effectLst>
                <a:outerShdw blurRad="38100" dist="38100" dir="2700000" algn="tl">
                  <a:srgbClr val="000000">
                    <a:alpha val="43137"/>
                  </a:srgbClr>
                </a:outerShdw>
              </a:effectLst>
              <a:latin typeface="+mj-ea"/>
              <a:ea typeface="+mj-ea"/>
            </a:endParaRPr>
          </a:p>
          <a:p>
            <a:pPr marL="742950" lvl="1" indent="-285750">
              <a:buFont typeface="Wingdings" panose="05000000000000000000" pitchFamily="2" charset="2"/>
              <a:buChar char="l"/>
            </a:pPr>
            <a:r>
              <a:rPr lang="zh-CN" altLang="en-US" b="1">
                <a:solidFill>
                  <a:schemeClr val="tx1">
                    <a:lumMod val="75000"/>
                    <a:lumOff val="25000"/>
                  </a:schemeClr>
                </a:solidFill>
                <a:effectLst>
                  <a:outerShdw blurRad="38100" dist="38100" dir="2700000" algn="tl">
                    <a:srgbClr val="000000">
                      <a:alpha val="43137"/>
                    </a:srgbClr>
                  </a:outerShdw>
                </a:effectLst>
                <a:latin typeface="+mj-ea"/>
                <a:ea typeface="+mj-ea"/>
              </a:rPr>
              <a:t>血压</a:t>
            </a:r>
            <a:endParaRPr lang="en-US" altLang="zh-CN" b="1">
              <a:solidFill>
                <a:schemeClr val="tx1">
                  <a:lumMod val="75000"/>
                  <a:lumOff val="25000"/>
                </a:schemeClr>
              </a:solidFill>
              <a:effectLst>
                <a:outerShdw blurRad="38100" dist="38100" dir="2700000" algn="tl">
                  <a:srgbClr val="000000">
                    <a:alpha val="43137"/>
                  </a:srgbClr>
                </a:outerShdw>
              </a:effectLst>
              <a:latin typeface="+mj-ea"/>
              <a:ea typeface="+mj-ea"/>
            </a:endParaRPr>
          </a:p>
          <a:p>
            <a:pPr marL="742950" lvl="1" indent="-285750">
              <a:buFont typeface="Wingdings" panose="05000000000000000000" pitchFamily="2" charset="2"/>
              <a:buChar char="l"/>
            </a:pPr>
            <a:r>
              <a:rPr lang="en-US" altLang="zh-CN" b="1">
                <a:solidFill>
                  <a:schemeClr val="tx1">
                    <a:lumMod val="75000"/>
                    <a:lumOff val="25000"/>
                  </a:schemeClr>
                </a:solidFill>
                <a:effectLst>
                  <a:outerShdw blurRad="38100" dist="38100" dir="2700000" algn="tl">
                    <a:srgbClr val="000000">
                      <a:alpha val="43137"/>
                    </a:srgbClr>
                  </a:outerShdw>
                </a:effectLst>
                <a:latin typeface="+mj-ea"/>
                <a:ea typeface="+mj-ea"/>
              </a:rPr>
              <a:t>UPC</a:t>
            </a:r>
          </a:p>
          <a:p>
            <a:pPr marL="742950" lvl="1" indent="-285750">
              <a:buFont typeface="Wingdings" panose="05000000000000000000" pitchFamily="2" charset="2"/>
              <a:buChar char="l"/>
            </a:pPr>
            <a:r>
              <a:rPr lang="zh-CN" altLang="en-US" b="1">
                <a:solidFill>
                  <a:schemeClr val="tx1">
                    <a:lumMod val="75000"/>
                    <a:lumOff val="25000"/>
                  </a:schemeClr>
                </a:solidFill>
                <a:effectLst>
                  <a:outerShdw blurRad="38100" dist="38100" dir="2700000" algn="tl">
                    <a:srgbClr val="000000">
                      <a:alpha val="43137"/>
                    </a:srgbClr>
                  </a:outerShdw>
                </a:effectLst>
                <a:latin typeface="+mj-ea"/>
                <a:ea typeface="+mj-ea"/>
              </a:rPr>
              <a:t>血液</a:t>
            </a:r>
            <a:r>
              <a:rPr lang="en-US" altLang="zh-CN" b="1">
                <a:solidFill>
                  <a:schemeClr val="tx1">
                    <a:lumMod val="75000"/>
                    <a:lumOff val="25000"/>
                  </a:schemeClr>
                </a:solidFill>
                <a:effectLst>
                  <a:outerShdw blurRad="38100" dist="38100" dir="2700000" algn="tl">
                    <a:srgbClr val="000000">
                      <a:alpha val="43137"/>
                    </a:srgbClr>
                  </a:outerShdw>
                </a:effectLst>
                <a:latin typeface="+mj-ea"/>
                <a:ea typeface="+mj-ea"/>
              </a:rPr>
              <a:t>PH</a:t>
            </a:r>
          </a:p>
          <a:p>
            <a:pPr marL="742950" lvl="1" indent="-285750">
              <a:buFont typeface="Wingdings" panose="05000000000000000000" pitchFamily="2" charset="2"/>
              <a:buChar char="l"/>
            </a:pPr>
            <a:r>
              <a:rPr lang="zh-CN" altLang="en-US" sz="2000" b="1">
                <a:solidFill>
                  <a:srgbClr val="EE8640"/>
                </a:solidFill>
                <a:effectLst>
                  <a:outerShdw blurRad="38100" dist="38100" dir="2700000" algn="tl">
                    <a:srgbClr val="000000">
                      <a:alpha val="43137"/>
                    </a:srgbClr>
                  </a:outerShdw>
                </a:effectLst>
                <a:latin typeface="+mj-ea"/>
                <a:ea typeface="+mj-ea"/>
              </a:rPr>
              <a:t>肌酐</a:t>
            </a:r>
            <a:endParaRPr lang="en-US" altLang="zh-CN" sz="2000" b="1">
              <a:solidFill>
                <a:srgbClr val="EE8640"/>
              </a:solidFill>
              <a:effectLst>
                <a:outerShdw blurRad="38100" dist="38100" dir="2700000" algn="tl">
                  <a:srgbClr val="000000">
                    <a:alpha val="43137"/>
                  </a:srgbClr>
                </a:outerShdw>
              </a:effectLst>
              <a:latin typeface="+mj-ea"/>
              <a:ea typeface="+mj-ea"/>
            </a:endParaRPr>
          </a:p>
          <a:p>
            <a:pPr marL="742950" lvl="1" indent="-285750">
              <a:buFont typeface="Wingdings" panose="05000000000000000000" pitchFamily="2" charset="2"/>
              <a:buChar char="l"/>
            </a:pPr>
            <a:r>
              <a:rPr lang="zh-CN" altLang="en-US" sz="2000" b="1">
                <a:solidFill>
                  <a:srgbClr val="EE8640"/>
                </a:solidFill>
                <a:effectLst>
                  <a:outerShdw blurRad="38100" dist="38100" dir="2700000" algn="tl">
                    <a:srgbClr val="000000">
                      <a:alpha val="43137"/>
                    </a:srgbClr>
                  </a:outerShdw>
                </a:effectLst>
                <a:latin typeface="+mj-ea"/>
                <a:ea typeface="+mj-ea"/>
              </a:rPr>
              <a:t>尿素氮</a:t>
            </a:r>
            <a:endParaRPr lang="en-US" altLang="zh-CN" sz="2000" b="1">
              <a:solidFill>
                <a:srgbClr val="EE8640"/>
              </a:solidFill>
              <a:effectLst>
                <a:outerShdw blurRad="38100" dist="38100" dir="2700000" algn="tl">
                  <a:srgbClr val="000000">
                    <a:alpha val="43137"/>
                  </a:srgbClr>
                </a:outerShdw>
              </a:effectLst>
              <a:latin typeface="+mj-ea"/>
              <a:ea typeface="+mj-ea"/>
            </a:endParaRPr>
          </a:p>
          <a:p>
            <a:pPr lvl="1"/>
            <a:endParaRPr lang="en-US" altLang="zh-CN" sz="1600" b="1">
              <a:solidFill>
                <a:schemeClr val="tx1">
                  <a:lumMod val="75000"/>
                  <a:lumOff val="25000"/>
                </a:schemeClr>
              </a:solidFill>
              <a:effectLst>
                <a:outerShdw blurRad="38100" dist="38100" dir="2700000" algn="tl">
                  <a:srgbClr val="000000">
                    <a:alpha val="43137"/>
                  </a:srgbClr>
                </a:outerShdw>
              </a:effectLst>
              <a:latin typeface="+mj-ea"/>
            </a:endParaRPr>
          </a:p>
          <a:p>
            <a:endParaRPr lang="zh-CN" altLang="en-US"/>
          </a:p>
        </p:txBody>
      </p:sp>
      <p:sp>
        <p:nvSpPr>
          <p:cNvPr id="3" name="文本框 2"/>
          <p:cNvSpPr txBox="1"/>
          <p:nvPr/>
        </p:nvSpPr>
        <p:spPr>
          <a:xfrm>
            <a:off x="6250613" y="2083328"/>
            <a:ext cx="2520280" cy="646331"/>
          </a:xfrm>
          <a:prstGeom prst="rect">
            <a:avLst/>
          </a:prstGeom>
          <a:noFill/>
        </p:spPr>
        <p:txBody>
          <a:bodyPr wrap="square" rtlCol="0">
            <a:spAutoFit/>
          </a:bodyPr>
          <a:lstStyle/>
          <a:p>
            <a:r>
              <a:rPr lang="zh-CN" altLang="en-US" b="1">
                <a:effectLst>
                  <a:outerShdw blurRad="38100" dist="38100" dir="2700000" algn="tl">
                    <a:srgbClr val="000000">
                      <a:alpha val="43137"/>
                    </a:srgbClr>
                  </a:outerShdw>
                </a:effectLst>
                <a:latin typeface="+mj-ea"/>
                <a:ea typeface="+mj-ea"/>
              </a:rPr>
              <a:t>容易出现的疏失：</a:t>
            </a:r>
            <a:endParaRPr lang="en-US" altLang="zh-CN" b="1">
              <a:effectLst>
                <a:outerShdw blurRad="38100" dist="38100" dir="2700000" algn="tl">
                  <a:srgbClr val="000000">
                    <a:alpha val="43137"/>
                  </a:srgbClr>
                </a:outerShdw>
              </a:effectLst>
              <a:latin typeface="+mj-ea"/>
              <a:ea typeface="+mj-ea"/>
            </a:endParaRPr>
          </a:p>
          <a:p>
            <a:endParaRPr lang="zh-CN" altLang="en-US"/>
          </a:p>
        </p:txBody>
      </p:sp>
      <p:sp>
        <p:nvSpPr>
          <p:cNvPr id="15" name="文本框 14">
            <a:extLst/>
          </p:cNvPr>
          <p:cNvSpPr txBox="1">
            <a:spLocks noChangeArrowheads="1"/>
          </p:cNvSpPr>
          <p:nvPr/>
        </p:nvSpPr>
        <p:spPr bwMode="auto">
          <a:xfrm>
            <a:off x="859227" y="2116285"/>
            <a:ext cx="4726942" cy="580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chemeClr val="tx2">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猫慢性肾病的该考虑复查的有啥？</a:t>
            </a:r>
            <a:endParaRPr lang="en-US" altLang="zh-CN" sz="2400">
              <a:solidFill>
                <a:srgbClr val="010101"/>
              </a:solidFill>
              <a:effectLst>
                <a:outerShdw blurRad="38100" dist="38100" dir="2700000" algn="tl">
                  <a:srgbClr val="000000">
                    <a:alpha val="43137"/>
                  </a:srgbClr>
                </a:outerShdw>
              </a:effectLst>
              <a:latin typeface="+mn-lt"/>
              <a:ea typeface="+mn-ea"/>
              <a:cs typeface="+mn-ea"/>
              <a:sym typeface="+mn-lt"/>
            </a:endParaRPr>
          </a:p>
        </p:txBody>
      </p:sp>
    </p:spTree>
    <p:extLst>
      <p:ext uri="{BB962C8B-B14F-4D97-AF65-F5344CB8AC3E}">
        <p14:creationId xmlns:p14="http://schemas.microsoft.com/office/powerpoint/2010/main" val="35665887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pic>
        <p:nvPicPr>
          <p:cNvPr id="9218" name="图片 2">
            <a:extLst/>
          </p:cNvPr>
          <p:cNvPicPr>
            <a:picLocks noChangeAspect="1" noChangeArrowheads="1"/>
          </p:cNvPicPr>
          <p:nvPr/>
        </p:nvPicPr>
        <p:blipFill>
          <a:blip r:embed="rId3">
            <a:duotone>
              <a:prstClr val="black"/>
              <a:schemeClr val="accent3">
                <a:tint val="45000"/>
                <a:satMod val="400000"/>
              </a:schemeClr>
            </a:duotone>
            <a:extLst>
              <a:ext uri="{28A0092B-C50C-407E-A947-70E740481C1C}">
                <a14:useLocalDpi xmlns:a14="http://schemas.microsoft.com/office/drawing/2010/main" val="0"/>
              </a:ext>
            </a:extLst>
          </a:blip>
          <a:srcRect l="7875" r="25414"/>
          <a:stretch>
            <a:fillRect/>
          </a:stretch>
        </p:blipFill>
        <p:spPr bwMode="auto">
          <a:xfrm>
            <a:off x="-74310" y="-17714"/>
            <a:ext cx="7356475" cy="689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7" name="组合 16">
            <a:extLst/>
          </p:cNvPr>
          <p:cNvGrpSpPr/>
          <p:nvPr/>
        </p:nvGrpSpPr>
        <p:grpSpPr>
          <a:xfrm>
            <a:off x="4885934" y="151933"/>
            <a:ext cx="7320137" cy="1047744"/>
            <a:chOff x="8120285" y="300070"/>
            <a:chExt cx="4194115" cy="1047744"/>
          </a:xfrm>
          <a:effectLst>
            <a:outerShdw blurRad="50800" dist="38100" dir="5400000" algn="t" rotWithShape="0">
              <a:prstClr val="black">
                <a:alpha val="40000"/>
              </a:prstClr>
            </a:outerShdw>
          </a:effectLst>
        </p:grpSpPr>
        <p:sp>
          <p:nvSpPr>
            <p:cNvPr id="4" name="箭头: 五边形 6">
              <a:extLst/>
            </p:cNvPr>
            <p:cNvSpPr/>
            <p:nvPr/>
          </p:nvSpPr>
          <p:spPr>
            <a:xfrm flipH="1">
              <a:off x="8120285" y="385919"/>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5" name="组合 22">
              <a:extLst/>
            </p:cNvPr>
            <p:cNvGrpSpPr>
              <a:grpSpLocks/>
            </p:cNvGrpSpPr>
            <p:nvPr/>
          </p:nvGrpSpPr>
          <p:grpSpPr bwMode="auto">
            <a:xfrm>
              <a:off x="8281096" y="300070"/>
              <a:ext cx="3955082" cy="1042721"/>
              <a:chOff x="-461843" y="2686932"/>
              <a:chExt cx="4658562" cy="1458099"/>
            </a:xfrm>
          </p:grpSpPr>
          <p:sp>
            <p:nvSpPr>
              <p:cNvPr id="6"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7" name="文本框 14">
                <a:extLst/>
              </p:cNvPr>
              <p:cNvSpPr txBox="1">
                <a:spLocks noChangeArrowheads="1"/>
              </p:cNvSpPr>
              <p:nvPr/>
            </p:nvSpPr>
            <p:spPr bwMode="auto">
              <a:xfrm>
                <a:off x="1078889" y="2686932"/>
                <a:ext cx="3117830" cy="1458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000" b="1">
                    <a:solidFill>
                      <a:schemeClr val="tx2">
                        <a:lumMod val="75000"/>
                      </a:schemeClr>
                    </a:solidFill>
                    <a:latin typeface="微软雅黑" panose="020B0503020204020204" pitchFamily="34" charset="-122"/>
                    <a:ea typeface="微软雅黑" panose="020B0503020204020204" pitchFamily="34" charset="-122"/>
                    <a:cs typeface="+mn-ea"/>
                    <a:sym typeface="+mn-lt"/>
                  </a:rPr>
                  <a:t>猫慢性肾病诊断</a:t>
                </a:r>
                <a:endParaRPr lang="en-US" altLang="zh-CN" sz="2000" b="1">
                  <a:solidFill>
                    <a:schemeClr val="tx2">
                      <a:lumMod val="75000"/>
                    </a:schemeClr>
                  </a:solidFill>
                  <a:latin typeface="微软雅黑" panose="020B0503020204020204" pitchFamily="34" charset="-122"/>
                  <a:ea typeface="微软雅黑" panose="020B0503020204020204" pitchFamily="34" charset="-122"/>
                  <a:cs typeface="+mn-ea"/>
                  <a:sym typeface="+mn-lt"/>
                </a:endParaRPr>
              </a:p>
              <a:p>
                <a:pPr eaLnBrk="1" hangingPunct="1">
                  <a:lnSpc>
                    <a:spcPct val="150000"/>
                  </a:lnSpc>
                  <a:spcBef>
                    <a:spcPct val="0"/>
                  </a:spcBef>
                  <a:buFontTx/>
                  <a:buNone/>
                  <a:defRPr/>
                </a:pPr>
                <a:r>
                  <a:rPr lang="zh-CN" altLang="en-US" sz="2400" b="1">
                    <a:solidFill>
                      <a:schemeClr val="tx2">
                        <a:lumMod val="75000"/>
                      </a:schemeClr>
                    </a:solidFill>
                    <a:latin typeface="微软雅黑" panose="020B0503020204020204" pitchFamily="34" charset="-122"/>
                    <a:ea typeface="微软雅黑" panose="020B0503020204020204" pitchFamily="34" charset="-122"/>
                    <a:cs typeface="+mn-ea"/>
                    <a:sym typeface="+mn-lt"/>
                  </a:rPr>
                  <a:t>为什么肌肉评分</a:t>
                </a:r>
                <a:r>
                  <a:rPr lang="en-US" altLang="zh-CN" sz="2400" b="1">
                    <a:solidFill>
                      <a:schemeClr val="tx2">
                        <a:lumMod val="75000"/>
                      </a:schemeClr>
                    </a:solidFill>
                    <a:latin typeface="微软雅黑" panose="020B0503020204020204" pitchFamily="34" charset="-122"/>
                    <a:ea typeface="微软雅黑" panose="020B0503020204020204" pitchFamily="34" charset="-122"/>
                    <a:cs typeface="+mn-ea"/>
                    <a:sym typeface="+mn-lt"/>
                  </a:rPr>
                  <a:t>(MCS)</a:t>
                </a:r>
                <a:r>
                  <a:rPr lang="zh-CN" altLang="en-US" sz="2400" b="1">
                    <a:solidFill>
                      <a:schemeClr val="tx2">
                        <a:lumMod val="75000"/>
                      </a:schemeClr>
                    </a:solidFill>
                    <a:latin typeface="微软雅黑" panose="020B0503020204020204" pitchFamily="34" charset="-122"/>
                    <a:ea typeface="微软雅黑" panose="020B0503020204020204" pitchFamily="34" charset="-122"/>
                    <a:cs typeface="+mn-ea"/>
                    <a:sym typeface="+mn-lt"/>
                  </a:rPr>
                  <a:t>很重要？</a:t>
                </a:r>
                <a:endParaRPr lang="en-US" altLang="zh-CN" sz="2400" b="1">
                  <a:solidFill>
                    <a:schemeClr val="tx2">
                      <a:lumMod val="75000"/>
                    </a:schemeClr>
                  </a:solidFill>
                  <a:latin typeface="微软雅黑" panose="020B0503020204020204" pitchFamily="34" charset="-122"/>
                  <a:ea typeface="微软雅黑" panose="020B0503020204020204" pitchFamily="34" charset="-122"/>
                  <a:cs typeface="+mn-ea"/>
                  <a:sym typeface="+mn-lt"/>
                </a:endParaRPr>
              </a:p>
            </p:txBody>
          </p:sp>
          <p:cxnSp>
            <p:nvCxnSpPr>
              <p:cNvPr id="8" name="直接连接符 7">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9" name="矩形 20">
                <a:extLst/>
              </p:cNvPr>
              <p:cNvSpPr>
                <a:spLocks noChangeArrowheads="1"/>
              </p:cNvSpPr>
              <p:nvPr/>
            </p:nvSpPr>
            <p:spPr bwMode="auto">
              <a:xfrm>
                <a:off x="506334" y="3461620"/>
                <a:ext cx="608195" cy="645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TWO</a:t>
                </a:r>
                <a:endParaRPr lang="zh-CN" altLang="en-US" sz="1200">
                  <a:latin typeface="+mn-lt"/>
                  <a:ea typeface="+mn-ea"/>
                  <a:cs typeface="+mn-ea"/>
                  <a:sym typeface="+mn-lt"/>
                </a:endParaRPr>
              </a:p>
            </p:txBody>
          </p:sp>
        </p:grpSp>
      </p:grpSp>
      <p:sp>
        <p:nvSpPr>
          <p:cNvPr id="22533" name="文本框 9"/>
          <p:cNvSpPr txBox="1">
            <a:spLocks noChangeArrowheads="1"/>
          </p:cNvSpPr>
          <p:nvPr/>
        </p:nvSpPr>
        <p:spPr bwMode="auto">
          <a:xfrm>
            <a:off x="1847528" y="3184968"/>
            <a:ext cx="439261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en-US" altLang="zh-CN" b="1"/>
          </a:p>
          <a:p>
            <a:endParaRPr lang="en-US" altLang="zh-CN" b="1"/>
          </a:p>
        </p:txBody>
      </p:sp>
      <p:sp>
        <p:nvSpPr>
          <p:cNvPr id="22534" name="文本框 11"/>
          <p:cNvSpPr txBox="1">
            <a:spLocks noChangeArrowheads="1"/>
          </p:cNvSpPr>
          <p:nvPr/>
        </p:nvSpPr>
        <p:spPr bwMode="auto">
          <a:xfrm>
            <a:off x="752084" y="1504632"/>
            <a:ext cx="41338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1" name="文本框 10"/>
          <p:cNvSpPr txBox="1"/>
          <p:nvPr/>
        </p:nvSpPr>
        <p:spPr>
          <a:xfrm>
            <a:off x="1934034" y="4980280"/>
            <a:ext cx="2088232" cy="276999"/>
          </a:xfrm>
          <a:prstGeom prst="rect">
            <a:avLst/>
          </a:prstGeom>
          <a:noFill/>
        </p:spPr>
        <p:txBody>
          <a:bodyPr wrap="square">
            <a:spAutoFit/>
          </a:bodyPr>
          <a:lstStyle/>
          <a:p>
            <a:pPr>
              <a:defRPr/>
            </a:pPr>
            <a:endParaRPr lang="zh-CN" altLang="en-US" sz="1200">
              <a:effectLst>
                <a:outerShdw blurRad="38100" dist="38100" dir="2700000" algn="tl">
                  <a:srgbClr val="000000">
                    <a:alpha val="43137"/>
                  </a:srgbClr>
                </a:outerShdw>
              </a:effectLst>
              <a:latin typeface="+mj-ea"/>
              <a:ea typeface="+mj-ea"/>
            </a:endParaRPr>
          </a:p>
        </p:txBody>
      </p:sp>
      <p:sp>
        <p:nvSpPr>
          <p:cNvPr id="10" name="文本框 9"/>
          <p:cNvSpPr txBox="1"/>
          <p:nvPr/>
        </p:nvSpPr>
        <p:spPr>
          <a:xfrm>
            <a:off x="1847528" y="4980280"/>
            <a:ext cx="2174738" cy="369332"/>
          </a:xfrm>
          <a:prstGeom prst="rect">
            <a:avLst/>
          </a:prstGeom>
          <a:noFill/>
        </p:spPr>
        <p:txBody>
          <a:bodyPr wrap="square" rtlCol="0">
            <a:spAutoFit/>
          </a:bodyPr>
          <a:lstStyle/>
          <a:p>
            <a:endParaRPr lang="zh-CN" altLang="en-US"/>
          </a:p>
        </p:txBody>
      </p:sp>
      <p:sp>
        <p:nvSpPr>
          <p:cNvPr id="13" name="文本框 12"/>
          <p:cNvSpPr txBox="1"/>
          <p:nvPr/>
        </p:nvSpPr>
        <p:spPr>
          <a:xfrm>
            <a:off x="7630969" y="1603787"/>
            <a:ext cx="4226298" cy="4124206"/>
          </a:xfrm>
          <a:prstGeom prst="rect">
            <a:avLst/>
          </a:prstGeom>
          <a:noFill/>
        </p:spPr>
        <p:txBody>
          <a:bodyPr wrap="square" rtlCol="0">
            <a:spAutoFit/>
          </a:bodyPr>
          <a:lstStyle/>
          <a:p>
            <a:pPr marL="285750" indent="-285750">
              <a:buFont typeface="Wingdings" panose="05000000000000000000" pitchFamily="2" charset="2"/>
              <a:buChar char="u"/>
            </a:pPr>
            <a:r>
              <a:rPr lang="zh-CN" altLang="en-US" sz="1400" b="1">
                <a:solidFill>
                  <a:schemeClr val="tx1">
                    <a:lumMod val="85000"/>
                    <a:lumOff val="15000"/>
                  </a:schemeClr>
                </a:solidFill>
                <a:latin typeface="+mj-ea"/>
                <a:ea typeface="+mj-ea"/>
              </a:rPr>
              <a:t>猫的转氨酶调节能力弱于人、狗。猫会持续分解蛋白质，无论内源（自身）或外源（食物）</a:t>
            </a:r>
            <a:r>
              <a:rPr lang="zh-CN" altLang="en-US" sz="1600" b="1">
                <a:solidFill>
                  <a:schemeClr val="tx1">
                    <a:lumMod val="85000"/>
                    <a:lumOff val="15000"/>
                  </a:schemeClr>
                </a:solidFill>
                <a:latin typeface="+mj-ea"/>
                <a:ea typeface="+mj-ea"/>
              </a:rPr>
              <a:t>。</a:t>
            </a:r>
            <a:endParaRPr lang="en-US" altLang="zh-CN" sz="1600" b="1">
              <a:solidFill>
                <a:schemeClr val="tx1">
                  <a:lumMod val="85000"/>
                  <a:lumOff val="15000"/>
                </a:schemeClr>
              </a:solidFill>
              <a:latin typeface="+mj-ea"/>
              <a:ea typeface="+mj-ea"/>
            </a:endParaRPr>
          </a:p>
          <a:p>
            <a:pPr marL="285750" indent="-285750">
              <a:buFont typeface="Wingdings" panose="05000000000000000000" pitchFamily="2" charset="2"/>
              <a:buChar char="u"/>
            </a:pPr>
            <a:endParaRPr lang="en-US" altLang="zh-CN" sz="1600" b="1">
              <a:solidFill>
                <a:schemeClr val="tx1">
                  <a:lumMod val="85000"/>
                  <a:lumOff val="15000"/>
                </a:schemeClr>
              </a:solidFill>
              <a:latin typeface="+mj-ea"/>
              <a:ea typeface="+mj-ea"/>
            </a:endParaRPr>
          </a:p>
          <a:p>
            <a:pPr marL="285750" indent="-285750">
              <a:buFont typeface="Wingdings" panose="05000000000000000000" pitchFamily="2" charset="2"/>
              <a:buChar char="u"/>
            </a:pPr>
            <a:r>
              <a:rPr lang="zh-CN" altLang="en-US" sz="1400" b="1">
                <a:solidFill>
                  <a:schemeClr val="tx1">
                    <a:lumMod val="85000"/>
                    <a:lumOff val="15000"/>
                  </a:schemeClr>
                </a:solidFill>
                <a:latin typeface="+mj-ea"/>
                <a:ea typeface="+mj-ea"/>
              </a:rPr>
              <a:t>如膳食蛋白质不足，猫会开始分解自身肌肉，发生肌肉组织流失，极难使用脂肪、碳水化合物弥补。</a:t>
            </a:r>
            <a:endParaRPr lang="en-US" altLang="zh-CN" sz="1400" b="1">
              <a:solidFill>
                <a:schemeClr val="tx1">
                  <a:lumMod val="85000"/>
                  <a:lumOff val="15000"/>
                </a:schemeClr>
              </a:solidFill>
              <a:latin typeface="+mj-ea"/>
              <a:ea typeface="+mj-ea"/>
            </a:endParaRPr>
          </a:p>
          <a:p>
            <a:pPr marL="285750" indent="-285750">
              <a:buFont typeface="Wingdings" panose="05000000000000000000" pitchFamily="2" charset="2"/>
              <a:buChar char="u"/>
            </a:pPr>
            <a:endParaRPr lang="en-US" altLang="zh-CN" sz="1600" b="1">
              <a:solidFill>
                <a:schemeClr val="tx1">
                  <a:lumMod val="85000"/>
                  <a:lumOff val="15000"/>
                </a:schemeClr>
              </a:solidFill>
              <a:latin typeface="+mj-ea"/>
              <a:ea typeface="+mj-ea"/>
            </a:endParaRPr>
          </a:p>
          <a:p>
            <a:pPr marL="285750" indent="-285750">
              <a:buFont typeface="Wingdings" panose="05000000000000000000" pitchFamily="2" charset="2"/>
              <a:buChar char="u"/>
            </a:pPr>
            <a:r>
              <a:rPr lang="zh-CN" altLang="en-US" sz="1400" b="1">
                <a:solidFill>
                  <a:schemeClr val="tx1">
                    <a:lumMod val="85000"/>
                    <a:lumOff val="15000"/>
                  </a:schemeClr>
                </a:solidFill>
                <a:latin typeface="+mj-ea"/>
                <a:ea typeface="+mj-ea"/>
              </a:rPr>
              <a:t>肾病猫出现持续体重下降非常普遍，其主要原因即是</a:t>
            </a:r>
            <a:r>
              <a:rPr lang="zh-CN" altLang="en-US" sz="1400" b="1">
                <a:solidFill>
                  <a:schemeClr val="tx1">
                    <a:lumMod val="85000"/>
                    <a:lumOff val="15000"/>
                  </a:schemeClr>
                </a:solidFill>
                <a:latin typeface="微软雅黑" panose="020B0503020204020204" pitchFamily="34" charset="-122"/>
                <a:ea typeface="微软雅黑" panose="020B0503020204020204" pitchFamily="34" charset="-122"/>
              </a:rPr>
              <a:t>瘦体组织流失</a:t>
            </a:r>
            <a:r>
              <a:rPr lang="zh-CN" altLang="en-US" sz="1400" b="1">
                <a:solidFill>
                  <a:schemeClr val="tx1">
                    <a:lumMod val="85000"/>
                    <a:lumOff val="15000"/>
                  </a:schemeClr>
                </a:solidFill>
                <a:latin typeface="+mj-ea"/>
                <a:ea typeface="+mj-ea"/>
              </a:rPr>
              <a:t>。</a:t>
            </a:r>
            <a:endParaRPr lang="en-US" altLang="zh-CN" sz="1400" b="1">
              <a:solidFill>
                <a:schemeClr val="tx1">
                  <a:lumMod val="85000"/>
                  <a:lumOff val="15000"/>
                </a:schemeClr>
              </a:solidFill>
              <a:latin typeface="+mj-ea"/>
              <a:ea typeface="+mj-ea"/>
            </a:endParaRPr>
          </a:p>
          <a:p>
            <a:pPr marL="285750" indent="-285750">
              <a:buFont typeface="Wingdings" panose="05000000000000000000" pitchFamily="2" charset="2"/>
              <a:buChar char="u"/>
            </a:pPr>
            <a:endParaRPr lang="en-US" altLang="zh-CN" sz="1400" b="1">
              <a:solidFill>
                <a:schemeClr val="tx2">
                  <a:lumMod val="75000"/>
                </a:schemeClr>
              </a:solidFill>
              <a:latin typeface="+mj-ea"/>
              <a:ea typeface="+mj-ea"/>
            </a:endParaRPr>
          </a:p>
          <a:p>
            <a:pPr marL="285750" indent="-285750">
              <a:buFont typeface="Wingdings" panose="05000000000000000000" pitchFamily="2" charset="2"/>
              <a:buChar char="u"/>
            </a:pPr>
            <a:r>
              <a:rPr lang="zh-CN" altLang="en-US" sz="1400" b="1">
                <a:solidFill>
                  <a:srgbClr val="C00000"/>
                </a:solidFill>
                <a:latin typeface="+mj-ea"/>
                <a:ea typeface="+mj-ea"/>
              </a:rPr>
              <a:t>肾病猫体重下降会显著增加早亡几率</a:t>
            </a:r>
            <a:r>
              <a:rPr lang="en-US" altLang="zh-CN" sz="1000" b="1">
                <a:solidFill>
                  <a:schemeClr val="tx2">
                    <a:lumMod val="75000"/>
                  </a:schemeClr>
                </a:solidFill>
                <a:latin typeface="+mn-ea"/>
                <a:ea typeface="+mn-ea"/>
              </a:rPr>
              <a:t>(</a:t>
            </a:r>
            <a:r>
              <a:rPr lang="en-US" altLang="zh-CN" sz="1000">
                <a:latin typeface="+mn-ea"/>
                <a:ea typeface="+mn-ea"/>
              </a:rPr>
              <a:t>Freeman LM et al.2015)</a:t>
            </a:r>
            <a:r>
              <a:rPr lang="zh-CN" altLang="en-US" sz="1400"/>
              <a:t>，</a:t>
            </a:r>
            <a:r>
              <a:rPr lang="zh-CN" altLang="en-US" sz="1400" b="1">
                <a:solidFill>
                  <a:srgbClr val="C00000"/>
                </a:solidFill>
                <a:latin typeface="微软雅黑" panose="020B0503020204020204" pitchFamily="34" charset="-122"/>
                <a:ea typeface="微软雅黑" panose="020B0503020204020204" pitchFamily="34" charset="-122"/>
              </a:rPr>
              <a:t>中位存活时间比维持体重的猫少</a:t>
            </a:r>
            <a:r>
              <a:rPr lang="en-US" altLang="zh-CN" sz="1400" b="1">
                <a:solidFill>
                  <a:srgbClr val="C00000"/>
                </a:solidFill>
                <a:latin typeface="微软雅黑" panose="020B0503020204020204" pitchFamily="34" charset="-122"/>
                <a:ea typeface="微软雅黑" panose="020B0503020204020204" pitchFamily="34" charset="-122"/>
              </a:rPr>
              <a:t>50%</a:t>
            </a:r>
            <a:r>
              <a:rPr lang="en-US" altLang="zh-CN" sz="1000"/>
              <a:t>(L.M. Boyd et al.2008)</a:t>
            </a:r>
            <a:r>
              <a:rPr lang="zh-CN" altLang="en-US" sz="1400"/>
              <a:t>，</a:t>
            </a:r>
            <a:r>
              <a:rPr lang="zh-CN" altLang="en-US" sz="1400" b="1">
                <a:solidFill>
                  <a:schemeClr val="bg2">
                    <a:lumMod val="25000"/>
                  </a:schemeClr>
                </a:solidFill>
                <a:latin typeface="+mj-ea"/>
                <a:ea typeface="+mj-ea"/>
              </a:rPr>
              <a:t>类似情况在人身上也有发现。</a:t>
            </a:r>
            <a:endParaRPr lang="en-US" altLang="zh-CN" sz="1400" b="1">
              <a:solidFill>
                <a:schemeClr val="bg2">
                  <a:lumMod val="25000"/>
                </a:schemeClr>
              </a:solidFill>
              <a:latin typeface="+mj-ea"/>
              <a:ea typeface="+mj-ea"/>
            </a:endParaRPr>
          </a:p>
          <a:p>
            <a:pPr marL="285750" indent="-285750">
              <a:buFont typeface="Wingdings" panose="05000000000000000000" pitchFamily="2" charset="2"/>
              <a:buChar char="u"/>
            </a:pPr>
            <a:endParaRPr lang="en-US" altLang="zh-CN" sz="1400" b="1">
              <a:solidFill>
                <a:schemeClr val="bg2">
                  <a:lumMod val="25000"/>
                </a:schemeClr>
              </a:solidFill>
              <a:latin typeface="+mj-ea"/>
              <a:ea typeface="+mj-ea"/>
            </a:endParaRPr>
          </a:p>
          <a:p>
            <a:pPr marL="285750" indent="-285750">
              <a:buFont typeface="Wingdings" panose="05000000000000000000" pitchFamily="2" charset="2"/>
              <a:buChar char="u"/>
            </a:pPr>
            <a:r>
              <a:rPr lang="zh-CN" altLang="en-US" sz="1400" b="1">
                <a:solidFill>
                  <a:schemeClr val="bg2">
                    <a:lumMod val="25000"/>
                  </a:schemeClr>
                </a:solidFill>
                <a:latin typeface="+mj-ea"/>
                <a:ea typeface="+mj-ea"/>
              </a:rPr>
              <a:t>维持肌肉组织与体重是肾病猫治疗的第一要务。</a:t>
            </a:r>
            <a:endParaRPr lang="en-US" altLang="zh-CN" sz="1400" b="1">
              <a:solidFill>
                <a:schemeClr val="tx2">
                  <a:lumMod val="75000"/>
                </a:schemeClr>
              </a:solidFill>
              <a:latin typeface="+mj-ea"/>
              <a:ea typeface="+mj-ea"/>
            </a:endParaRPr>
          </a:p>
          <a:p>
            <a:endParaRPr lang="en-US" altLang="zh-CN" sz="1600" b="1">
              <a:solidFill>
                <a:schemeClr val="tx2">
                  <a:lumMod val="75000"/>
                </a:schemeClr>
              </a:solidFill>
              <a:latin typeface="+mj-ea"/>
              <a:ea typeface="+mj-ea"/>
            </a:endParaRPr>
          </a:p>
          <a:p>
            <a:endParaRPr lang="en-US" altLang="zh-CN" sz="1600" b="1">
              <a:solidFill>
                <a:schemeClr val="tx2">
                  <a:lumMod val="75000"/>
                </a:schemeClr>
              </a:solidFill>
              <a:latin typeface="+mj-ea"/>
              <a:ea typeface="+mj-ea"/>
            </a:endParaRPr>
          </a:p>
        </p:txBody>
      </p:sp>
      <p:sp>
        <p:nvSpPr>
          <p:cNvPr id="16" name="文本框 15"/>
          <p:cNvSpPr txBox="1"/>
          <p:nvPr/>
        </p:nvSpPr>
        <p:spPr>
          <a:xfrm>
            <a:off x="7502433" y="5962096"/>
            <a:ext cx="4631992" cy="1107996"/>
          </a:xfrm>
          <a:prstGeom prst="rect">
            <a:avLst/>
          </a:prstGeom>
          <a:noFill/>
        </p:spPr>
        <p:txBody>
          <a:bodyPr wrap="square" rtlCol="0">
            <a:spAutoFit/>
          </a:bodyPr>
          <a:lstStyle/>
          <a:p>
            <a:r>
              <a:rPr lang="zh-CN" altLang="en-US" sz="1600" b="1">
                <a:solidFill>
                  <a:schemeClr val="tx1">
                    <a:lumMod val="75000"/>
                    <a:lumOff val="25000"/>
                  </a:schemeClr>
                </a:solidFill>
                <a:latin typeface="+mn-ea"/>
                <a:ea typeface="+mn-ea"/>
              </a:rPr>
              <a:t>以维持肌肉组织为标准，健康猫的日蛋白质摄入需求＞</a:t>
            </a:r>
            <a:r>
              <a:rPr lang="en-US" altLang="zh-CN" sz="1600" b="1">
                <a:solidFill>
                  <a:schemeClr val="tx1">
                    <a:lumMod val="75000"/>
                    <a:lumOff val="25000"/>
                  </a:schemeClr>
                </a:solidFill>
                <a:latin typeface="+mn-ea"/>
                <a:ea typeface="+mn-ea"/>
              </a:rPr>
              <a:t>5.2</a:t>
            </a:r>
            <a:r>
              <a:rPr lang="zh-CN" altLang="en-US" sz="1600" b="1">
                <a:solidFill>
                  <a:schemeClr val="tx1">
                    <a:lumMod val="75000"/>
                    <a:lumOff val="25000"/>
                  </a:schemeClr>
                </a:solidFill>
                <a:latin typeface="+mn-ea"/>
                <a:ea typeface="+mn-ea"/>
              </a:rPr>
              <a:t>克</a:t>
            </a:r>
            <a:r>
              <a:rPr lang="en-US" altLang="zh-CN" sz="1600" b="1">
                <a:solidFill>
                  <a:schemeClr val="tx1">
                    <a:lumMod val="75000"/>
                    <a:lumOff val="25000"/>
                  </a:schemeClr>
                </a:solidFill>
                <a:latin typeface="+mn-ea"/>
                <a:ea typeface="+mn-ea"/>
              </a:rPr>
              <a:t>/kg</a:t>
            </a:r>
            <a:r>
              <a:rPr lang="zh-CN" altLang="en-US" sz="1600" b="1">
                <a:solidFill>
                  <a:schemeClr val="tx1">
                    <a:lumMod val="75000"/>
                    <a:lumOff val="25000"/>
                  </a:schemeClr>
                </a:solidFill>
                <a:latin typeface="+mn-ea"/>
                <a:ea typeface="+mn-ea"/>
              </a:rPr>
              <a:t>体重。年龄大于</a:t>
            </a:r>
            <a:r>
              <a:rPr lang="en-US" altLang="zh-CN" sz="1600" b="1">
                <a:solidFill>
                  <a:schemeClr val="tx1">
                    <a:lumMod val="75000"/>
                    <a:lumOff val="25000"/>
                  </a:schemeClr>
                </a:solidFill>
                <a:latin typeface="+mn-ea"/>
                <a:ea typeface="+mn-ea"/>
              </a:rPr>
              <a:t>12</a:t>
            </a:r>
            <a:r>
              <a:rPr lang="zh-CN" altLang="en-US" sz="1600" b="1">
                <a:solidFill>
                  <a:schemeClr val="tx1">
                    <a:lumMod val="75000"/>
                    <a:lumOff val="25000"/>
                  </a:schemeClr>
                </a:solidFill>
                <a:latin typeface="+mn-ea"/>
                <a:ea typeface="+mn-ea"/>
              </a:rPr>
              <a:t>岁的猫，或肾病猫应</a:t>
            </a:r>
            <a:r>
              <a:rPr lang="zh-CN" altLang="en-US" sz="1600" b="1">
                <a:solidFill>
                  <a:srgbClr val="C00000"/>
                </a:solidFill>
                <a:latin typeface="+mn-ea"/>
                <a:ea typeface="+mn-ea"/>
              </a:rPr>
              <a:t>酌情增加</a:t>
            </a:r>
            <a:r>
              <a:rPr lang="zh-CN" altLang="en-US" sz="1600" b="1">
                <a:solidFill>
                  <a:schemeClr val="tx1">
                    <a:lumMod val="75000"/>
                    <a:lumOff val="25000"/>
                  </a:schemeClr>
                </a:solidFill>
                <a:latin typeface="+mn-ea"/>
                <a:ea typeface="+mn-ea"/>
              </a:rPr>
              <a:t>二到三成。</a:t>
            </a:r>
          </a:p>
          <a:p>
            <a:endParaRPr lang="zh-CN" altLang="en-US"/>
          </a:p>
        </p:txBody>
      </p:sp>
      <p:pic>
        <p:nvPicPr>
          <p:cNvPr id="20" name="图片 1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39815" y="1706497"/>
            <a:ext cx="2872131" cy="2412416"/>
          </a:xfrm>
          <a:prstGeom prst="rect">
            <a:avLst/>
          </a:prstGeom>
        </p:spPr>
      </p:pic>
      <p:pic>
        <p:nvPicPr>
          <p:cNvPr id="22" name="图片 2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40955" y="4124325"/>
            <a:ext cx="3095084" cy="2276985"/>
          </a:xfrm>
          <a:prstGeom prst="rect">
            <a:avLst/>
          </a:prstGeom>
        </p:spPr>
      </p:pic>
      <p:pic>
        <p:nvPicPr>
          <p:cNvPr id="24" name="图片 2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37297" y="4104342"/>
            <a:ext cx="2872131" cy="2304414"/>
          </a:xfrm>
          <a:prstGeom prst="rect">
            <a:avLst/>
          </a:prstGeom>
        </p:spPr>
      </p:pic>
      <p:sp>
        <p:nvSpPr>
          <p:cNvPr id="25" name="文本框 24"/>
          <p:cNvSpPr txBox="1"/>
          <p:nvPr/>
        </p:nvSpPr>
        <p:spPr>
          <a:xfrm>
            <a:off x="1294904" y="576512"/>
            <a:ext cx="3249266" cy="461665"/>
          </a:xfrm>
          <a:prstGeom prst="rect">
            <a:avLst/>
          </a:prstGeom>
          <a:noFill/>
        </p:spPr>
        <p:txBody>
          <a:bodyPr wrap="square" rtlCol="0">
            <a:spAutoFit/>
          </a:bodyPr>
          <a:lstStyle/>
          <a:p>
            <a:r>
              <a:rPr lang="en-US" altLang="zh-CN" sz="2400" b="1">
                <a:solidFill>
                  <a:schemeClr val="bg1">
                    <a:lumMod val="95000"/>
                  </a:schemeClr>
                </a:solidFill>
                <a:effectLst>
                  <a:outerShdw blurRad="38100" dist="38100" dir="2700000" algn="tl">
                    <a:srgbClr val="000000">
                      <a:alpha val="43137"/>
                    </a:srgbClr>
                  </a:outerShdw>
                </a:effectLst>
                <a:latin typeface="+mj-ea"/>
                <a:ea typeface="+mj-ea"/>
              </a:rPr>
              <a:t>WSAVA </a:t>
            </a:r>
            <a:r>
              <a:rPr lang="zh-CN" altLang="en-US" sz="2400" b="1">
                <a:solidFill>
                  <a:schemeClr val="bg1">
                    <a:lumMod val="95000"/>
                  </a:schemeClr>
                </a:solidFill>
                <a:effectLst>
                  <a:outerShdw blurRad="38100" dist="38100" dir="2700000" algn="tl">
                    <a:srgbClr val="000000">
                      <a:alpha val="43137"/>
                    </a:srgbClr>
                  </a:outerShdw>
                </a:effectLst>
                <a:latin typeface="+mj-ea"/>
                <a:ea typeface="+mj-ea"/>
              </a:rPr>
              <a:t>猫</a:t>
            </a:r>
            <a:r>
              <a:rPr lang="en-US" altLang="zh-CN" sz="2400" b="1">
                <a:solidFill>
                  <a:schemeClr val="bg1">
                    <a:lumMod val="95000"/>
                  </a:schemeClr>
                </a:solidFill>
                <a:effectLst>
                  <a:outerShdw blurRad="38100" dist="38100" dir="2700000" algn="tl">
                    <a:srgbClr val="000000">
                      <a:alpha val="43137"/>
                    </a:srgbClr>
                  </a:outerShdw>
                </a:effectLst>
                <a:latin typeface="+mj-ea"/>
                <a:ea typeface="+mj-ea"/>
              </a:rPr>
              <a:t>MCS</a:t>
            </a:r>
            <a:r>
              <a:rPr lang="zh-CN" altLang="en-US" sz="2400" b="1">
                <a:solidFill>
                  <a:schemeClr val="bg1">
                    <a:lumMod val="95000"/>
                  </a:schemeClr>
                </a:solidFill>
                <a:effectLst>
                  <a:outerShdw blurRad="38100" dist="38100" dir="2700000" algn="tl">
                    <a:srgbClr val="000000">
                      <a:alpha val="43137"/>
                    </a:srgbClr>
                  </a:outerShdw>
                </a:effectLst>
                <a:latin typeface="+mj-ea"/>
                <a:ea typeface="+mj-ea"/>
              </a:rPr>
              <a:t>评分</a:t>
            </a:r>
          </a:p>
        </p:txBody>
      </p:sp>
      <p:sp>
        <p:nvSpPr>
          <p:cNvPr id="26" name="文本框 25"/>
          <p:cNvSpPr txBox="1"/>
          <p:nvPr/>
        </p:nvSpPr>
        <p:spPr>
          <a:xfrm>
            <a:off x="1405760" y="1121322"/>
            <a:ext cx="2622529" cy="461665"/>
          </a:xfrm>
          <a:prstGeom prst="rect">
            <a:avLst/>
          </a:prstGeom>
          <a:noFill/>
        </p:spPr>
        <p:txBody>
          <a:bodyPr wrap="square" rtlCol="0">
            <a:spAutoFit/>
          </a:bodyPr>
          <a:lstStyle/>
          <a:p>
            <a:r>
              <a:rPr lang="en-US" altLang="zh-CN" sz="1200" b="1">
                <a:solidFill>
                  <a:schemeClr val="bg1">
                    <a:lumMod val="95000"/>
                  </a:schemeClr>
                </a:solidFill>
                <a:effectLst>
                  <a:outerShdw blurRad="38100" dist="38100" dir="2700000" algn="tl">
                    <a:srgbClr val="000000">
                      <a:alpha val="43137"/>
                    </a:srgbClr>
                  </a:outerShdw>
                </a:effectLst>
                <a:latin typeface="+mj-ea"/>
                <a:ea typeface="+mj-ea"/>
              </a:rPr>
              <a:t>A</a:t>
            </a:r>
            <a:r>
              <a:rPr lang="zh-CN" altLang="en-US" sz="1200" b="1">
                <a:solidFill>
                  <a:schemeClr val="bg1">
                    <a:lumMod val="95000"/>
                  </a:schemeClr>
                </a:solidFill>
                <a:effectLst>
                  <a:outerShdw blurRad="38100" dist="38100" dir="2700000" algn="tl">
                    <a:srgbClr val="000000">
                      <a:alpha val="43137"/>
                    </a:srgbClr>
                  </a:outerShdw>
                </a:effectLst>
                <a:latin typeface="+mj-ea"/>
                <a:ea typeface="+mj-ea"/>
              </a:rPr>
              <a:t>：正常           </a:t>
            </a:r>
            <a:r>
              <a:rPr lang="en-US" altLang="zh-CN" sz="1200" b="1">
                <a:solidFill>
                  <a:schemeClr val="bg1">
                    <a:lumMod val="95000"/>
                  </a:schemeClr>
                </a:solidFill>
                <a:effectLst>
                  <a:outerShdw blurRad="38100" dist="38100" dir="2700000" algn="tl">
                    <a:srgbClr val="000000">
                      <a:alpha val="43137"/>
                    </a:srgbClr>
                  </a:outerShdw>
                </a:effectLst>
                <a:latin typeface="+mj-ea"/>
                <a:ea typeface="+mj-ea"/>
              </a:rPr>
              <a:t>B</a:t>
            </a:r>
            <a:r>
              <a:rPr lang="zh-CN" altLang="en-US" sz="1200" b="1">
                <a:solidFill>
                  <a:schemeClr val="bg1">
                    <a:lumMod val="95000"/>
                  </a:schemeClr>
                </a:solidFill>
                <a:effectLst>
                  <a:outerShdw blurRad="38100" dist="38100" dir="2700000" algn="tl">
                    <a:srgbClr val="000000">
                      <a:alpha val="43137"/>
                    </a:srgbClr>
                  </a:outerShdw>
                </a:effectLst>
                <a:latin typeface="+mj-ea"/>
                <a:ea typeface="+mj-ea"/>
              </a:rPr>
              <a:t>：轻度肌流失</a:t>
            </a:r>
            <a:endParaRPr lang="en-US" altLang="zh-CN" sz="1200" b="1">
              <a:solidFill>
                <a:schemeClr val="bg1">
                  <a:lumMod val="95000"/>
                </a:schemeClr>
              </a:solidFill>
              <a:effectLst>
                <a:outerShdw blurRad="38100" dist="38100" dir="2700000" algn="tl">
                  <a:srgbClr val="000000">
                    <a:alpha val="43137"/>
                  </a:srgbClr>
                </a:outerShdw>
              </a:effectLst>
              <a:latin typeface="+mj-ea"/>
              <a:ea typeface="+mj-ea"/>
            </a:endParaRPr>
          </a:p>
          <a:p>
            <a:r>
              <a:rPr lang="en-US" altLang="zh-CN" sz="1200" b="1">
                <a:solidFill>
                  <a:schemeClr val="bg1">
                    <a:lumMod val="95000"/>
                  </a:schemeClr>
                </a:solidFill>
                <a:effectLst>
                  <a:outerShdw blurRad="38100" dist="38100" dir="2700000" algn="tl">
                    <a:srgbClr val="000000">
                      <a:alpha val="43137"/>
                    </a:srgbClr>
                  </a:outerShdw>
                </a:effectLst>
                <a:latin typeface="+mj-ea"/>
                <a:ea typeface="+mj-ea"/>
              </a:rPr>
              <a:t>C</a:t>
            </a:r>
            <a:r>
              <a:rPr lang="zh-CN" altLang="en-US" sz="1200" b="1">
                <a:solidFill>
                  <a:schemeClr val="bg1">
                    <a:lumMod val="95000"/>
                  </a:schemeClr>
                </a:solidFill>
                <a:effectLst>
                  <a:outerShdw blurRad="38100" dist="38100" dir="2700000" algn="tl">
                    <a:srgbClr val="000000">
                      <a:alpha val="43137"/>
                    </a:srgbClr>
                  </a:outerShdw>
                </a:effectLst>
                <a:latin typeface="+mj-ea"/>
                <a:ea typeface="+mj-ea"/>
              </a:rPr>
              <a:t>：中度肌流失  </a:t>
            </a:r>
            <a:r>
              <a:rPr lang="en-US" altLang="zh-CN" sz="1200" b="1">
                <a:solidFill>
                  <a:schemeClr val="bg1">
                    <a:lumMod val="95000"/>
                  </a:schemeClr>
                </a:solidFill>
                <a:effectLst>
                  <a:outerShdw blurRad="38100" dist="38100" dir="2700000" algn="tl">
                    <a:srgbClr val="000000">
                      <a:alpha val="43137"/>
                    </a:srgbClr>
                  </a:outerShdw>
                </a:effectLst>
                <a:latin typeface="+mj-ea"/>
                <a:ea typeface="+mj-ea"/>
              </a:rPr>
              <a:t>D</a:t>
            </a:r>
            <a:r>
              <a:rPr lang="zh-CN" altLang="en-US" sz="1200" b="1">
                <a:solidFill>
                  <a:schemeClr val="bg1">
                    <a:lumMod val="95000"/>
                  </a:schemeClr>
                </a:solidFill>
                <a:effectLst>
                  <a:outerShdw blurRad="38100" dist="38100" dir="2700000" algn="tl">
                    <a:srgbClr val="000000">
                      <a:alpha val="43137"/>
                    </a:srgbClr>
                  </a:outerShdw>
                </a:effectLst>
                <a:latin typeface="+mj-ea"/>
                <a:ea typeface="+mj-ea"/>
              </a:rPr>
              <a:t>：重度肌流失  </a:t>
            </a:r>
          </a:p>
        </p:txBody>
      </p:sp>
      <p:pic>
        <p:nvPicPr>
          <p:cNvPr id="19" name="图片 1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43471" y="1706497"/>
            <a:ext cx="3261899" cy="2565868"/>
          </a:xfrm>
          <a:prstGeom prst="rect">
            <a:avLst/>
          </a:prstGeom>
        </p:spPr>
      </p:pic>
    </p:spTree>
    <p:extLst>
      <p:ext uri="{BB962C8B-B14F-4D97-AF65-F5344CB8AC3E}">
        <p14:creationId xmlns:p14="http://schemas.microsoft.com/office/powerpoint/2010/main" val="33286622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pic>
        <p:nvPicPr>
          <p:cNvPr id="9218" name="图片 2">
            <a:extLst/>
          </p:cNvPr>
          <p:cNvPicPr>
            <a:picLocks noChangeAspect="1" noChangeArrowheads="1"/>
          </p:cNvPicPr>
          <p:nvPr/>
        </p:nvPicPr>
        <p:blipFill>
          <a:blip r:embed="rId3">
            <a:duotone>
              <a:prstClr val="black"/>
              <a:schemeClr val="accent3">
                <a:tint val="45000"/>
                <a:satMod val="400000"/>
              </a:schemeClr>
            </a:duotone>
            <a:extLst>
              <a:ext uri="{28A0092B-C50C-407E-A947-70E740481C1C}">
                <a14:useLocalDpi xmlns:a14="http://schemas.microsoft.com/office/drawing/2010/main" val="0"/>
              </a:ext>
            </a:extLst>
          </a:blip>
          <a:srcRect l="7875" r="25414"/>
          <a:stretch>
            <a:fillRect/>
          </a:stretch>
        </p:blipFill>
        <p:spPr bwMode="auto">
          <a:xfrm>
            <a:off x="-74310" y="-17714"/>
            <a:ext cx="7356475" cy="689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7" name="组合 16">
            <a:extLst/>
          </p:cNvPr>
          <p:cNvGrpSpPr/>
          <p:nvPr/>
        </p:nvGrpSpPr>
        <p:grpSpPr>
          <a:xfrm>
            <a:off x="4885934" y="182539"/>
            <a:ext cx="7320137" cy="1017138"/>
            <a:chOff x="8120285" y="330676"/>
            <a:chExt cx="4194115" cy="1017138"/>
          </a:xfrm>
          <a:effectLst>
            <a:outerShdw blurRad="50800" dist="38100" dir="5400000" algn="t" rotWithShape="0">
              <a:prstClr val="black">
                <a:alpha val="40000"/>
              </a:prstClr>
            </a:outerShdw>
          </a:effectLst>
        </p:grpSpPr>
        <p:sp>
          <p:nvSpPr>
            <p:cNvPr id="4" name="箭头: 五边形 6">
              <a:extLst/>
            </p:cNvPr>
            <p:cNvSpPr/>
            <p:nvPr/>
          </p:nvSpPr>
          <p:spPr>
            <a:xfrm flipH="1">
              <a:off x="8120285" y="385919"/>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5" name="组合 22">
              <a:extLst/>
            </p:cNvPr>
            <p:cNvGrpSpPr>
              <a:grpSpLocks/>
            </p:cNvGrpSpPr>
            <p:nvPr/>
          </p:nvGrpSpPr>
          <p:grpSpPr bwMode="auto">
            <a:xfrm>
              <a:off x="8281096" y="330676"/>
              <a:ext cx="3988797" cy="985057"/>
              <a:chOff x="-461843" y="2729730"/>
              <a:chExt cx="4698274" cy="1377464"/>
            </a:xfrm>
          </p:grpSpPr>
          <p:sp>
            <p:nvSpPr>
              <p:cNvPr id="6"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7" name="文本框 14">
                <a:extLst/>
              </p:cNvPr>
              <p:cNvSpPr txBox="1">
                <a:spLocks noChangeArrowheads="1"/>
              </p:cNvSpPr>
              <p:nvPr/>
            </p:nvSpPr>
            <p:spPr bwMode="auto">
              <a:xfrm>
                <a:off x="1118601" y="3239008"/>
                <a:ext cx="3117830" cy="812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chemeClr val="tx2">
                        <a:lumMod val="75000"/>
                      </a:schemeClr>
                    </a:solidFill>
                    <a:latin typeface="微软雅黑" panose="020B0503020204020204" pitchFamily="34" charset="-122"/>
                    <a:ea typeface="微软雅黑" panose="020B0503020204020204" pitchFamily="34" charset="-122"/>
                    <a:cs typeface="+mn-ea"/>
                    <a:sym typeface="+mn-lt"/>
                  </a:rPr>
                  <a:t>别光看数值，看猫。</a:t>
                </a:r>
                <a:endParaRPr lang="en-US" altLang="zh-CN" sz="2400" b="1">
                  <a:solidFill>
                    <a:schemeClr val="tx2">
                      <a:lumMod val="75000"/>
                    </a:schemeClr>
                  </a:solidFill>
                  <a:latin typeface="微软雅黑" panose="020B0503020204020204" pitchFamily="34" charset="-122"/>
                  <a:ea typeface="微软雅黑" panose="020B0503020204020204" pitchFamily="34" charset="-122"/>
                  <a:cs typeface="+mn-ea"/>
                  <a:sym typeface="+mn-lt"/>
                </a:endParaRPr>
              </a:p>
            </p:txBody>
          </p:sp>
          <p:cxnSp>
            <p:nvCxnSpPr>
              <p:cNvPr id="8" name="直接连接符 7">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9" name="矩形 20">
                <a:extLst/>
              </p:cNvPr>
              <p:cNvSpPr>
                <a:spLocks noChangeArrowheads="1"/>
              </p:cNvSpPr>
              <p:nvPr/>
            </p:nvSpPr>
            <p:spPr bwMode="auto">
              <a:xfrm>
                <a:off x="506334" y="3461620"/>
                <a:ext cx="608195" cy="645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TWO</a:t>
                </a:r>
                <a:endParaRPr lang="zh-CN" altLang="en-US" sz="1200">
                  <a:latin typeface="+mn-lt"/>
                  <a:ea typeface="+mn-ea"/>
                  <a:cs typeface="+mn-ea"/>
                  <a:sym typeface="+mn-lt"/>
                </a:endParaRPr>
              </a:p>
            </p:txBody>
          </p:sp>
        </p:grpSp>
      </p:grpSp>
      <p:sp>
        <p:nvSpPr>
          <p:cNvPr id="22533" name="文本框 9"/>
          <p:cNvSpPr txBox="1">
            <a:spLocks noChangeArrowheads="1"/>
          </p:cNvSpPr>
          <p:nvPr/>
        </p:nvSpPr>
        <p:spPr bwMode="auto">
          <a:xfrm>
            <a:off x="1847528" y="3184968"/>
            <a:ext cx="439261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en-US" altLang="zh-CN" b="1"/>
          </a:p>
          <a:p>
            <a:endParaRPr lang="en-US" altLang="zh-CN" b="1"/>
          </a:p>
        </p:txBody>
      </p:sp>
      <p:sp>
        <p:nvSpPr>
          <p:cNvPr id="22534" name="文本框 11"/>
          <p:cNvSpPr txBox="1">
            <a:spLocks noChangeArrowheads="1"/>
          </p:cNvSpPr>
          <p:nvPr/>
        </p:nvSpPr>
        <p:spPr bwMode="auto">
          <a:xfrm>
            <a:off x="752084" y="1504632"/>
            <a:ext cx="41338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1" name="文本框 10"/>
          <p:cNvSpPr txBox="1"/>
          <p:nvPr/>
        </p:nvSpPr>
        <p:spPr>
          <a:xfrm>
            <a:off x="1934034" y="4980280"/>
            <a:ext cx="2088232" cy="276999"/>
          </a:xfrm>
          <a:prstGeom prst="rect">
            <a:avLst/>
          </a:prstGeom>
          <a:noFill/>
        </p:spPr>
        <p:txBody>
          <a:bodyPr wrap="square">
            <a:spAutoFit/>
          </a:bodyPr>
          <a:lstStyle/>
          <a:p>
            <a:pPr>
              <a:defRPr/>
            </a:pPr>
            <a:endParaRPr lang="zh-CN" altLang="en-US" sz="1200">
              <a:effectLst>
                <a:outerShdw blurRad="38100" dist="38100" dir="2700000" algn="tl">
                  <a:srgbClr val="000000">
                    <a:alpha val="43137"/>
                  </a:srgbClr>
                </a:outerShdw>
              </a:effectLst>
              <a:latin typeface="+mj-ea"/>
              <a:ea typeface="+mj-ea"/>
            </a:endParaRPr>
          </a:p>
        </p:txBody>
      </p:sp>
      <p:sp>
        <p:nvSpPr>
          <p:cNvPr id="10" name="文本框 9"/>
          <p:cNvSpPr txBox="1"/>
          <p:nvPr/>
        </p:nvSpPr>
        <p:spPr>
          <a:xfrm>
            <a:off x="1847528" y="4980280"/>
            <a:ext cx="2174738" cy="369332"/>
          </a:xfrm>
          <a:prstGeom prst="rect">
            <a:avLst/>
          </a:prstGeom>
          <a:noFill/>
        </p:spPr>
        <p:txBody>
          <a:bodyPr wrap="square" rtlCol="0">
            <a:spAutoFit/>
          </a:bodyPr>
          <a:lstStyle/>
          <a:p>
            <a:endParaRPr lang="zh-CN" altLang="en-US"/>
          </a:p>
        </p:txBody>
      </p:sp>
      <p:sp>
        <p:nvSpPr>
          <p:cNvPr id="13" name="文本框 12"/>
          <p:cNvSpPr txBox="1"/>
          <p:nvPr/>
        </p:nvSpPr>
        <p:spPr>
          <a:xfrm>
            <a:off x="7368672" y="1379199"/>
            <a:ext cx="4560290" cy="4801314"/>
          </a:xfrm>
          <a:prstGeom prst="rect">
            <a:avLst/>
          </a:prstGeom>
          <a:noFill/>
        </p:spPr>
        <p:txBody>
          <a:bodyPr wrap="square" rtlCol="0">
            <a:spAutoFit/>
          </a:bodyPr>
          <a:lstStyle/>
          <a:p>
            <a:pPr marL="285750" indent="-285750">
              <a:buFont typeface="Wingdings" panose="05000000000000000000" pitchFamily="2" charset="2"/>
              <a:buChar char="u"/>
            </a:pPr>
            <a:endParaRPr lang="en-US" altLang="zh-CN" sz="1600" b="1">
              <a:solidFill>
                <a:schemeClr val="tx1">
                  <a:lumMod val="85000"/>
                  <a:lumOff val="15000"/>
                </a:schemeClr>
              </a:solidFill>
              <a:latin typeface="+mj-ea"/>
              <a:ea typeface="+mj-ea"/>
            </a:endParaRPr>
          </a:p>
          <a:p>
            <a:pPr marL="285750" indent="-285750">
              <a:buFont typeface="Wingdings" panose="05000000000000000000" pitchFamily="2" charset="2"/>
              <a:buChar char="u"/>
            </a:pPr>
            <a:r>
              <a:rPr lang="zh-CN" altLang="en-US" sz="1600" b="1">
                <a:solidFill>
                  <a:schemeClr val="tx1">
                    <a:lumMod val="85000"/>
                    <a:lumOff val="15000"/>
                  </a:schemeClr>
                </a:solidFill>
                <a:latin typeface="+mj-ea"/>
                <a:ea typeface="+mj-ea"/>
              </a:rPr>
              <a:t>肌酐的代谢主要由肾脏负责，代谢速度相对稳定，故被用来衡量肾脏机能与体内尿毒症毒素积聚程度。</a:t>
            </a:r>
            <a:endParaRPr lang="en-US" altLang="zh-CN" sz="1600" b="1">
              <a:solidFill>
                <a:schemeClr val="tx1">
                  <a:lumMod val="85000"/>
                  <a:lumOff val="15000"/>
                </a:schemeClr>
              </a:solidFill>
              <a:latin typeface="+mj-ea"/>
              <a:ea typeface="+mj-ea"/>
            </a:endParaRPr>
          </a:p>
          <a:p>
            <a:pPr marL="285750" indent="-285750">
              <a:buFont typeface="Wingdings" panose="05000000000000000000" pitchFamily="2" charset="2"/>
              <a:buChar char="u"/>
            </a:pPr>
            <a:endParaRPr lang="en-US" altLang="zh-CN" sz="1600" b="1">
              <a:solidFill>
                <a:schemeClr val="tx1">
                  <a:lumMod val="85000"/>
                  <a:lumOff val="15000"/>
                </a:schemeClr>
              </a:solidFill>
              <a:latin typeface="+mj-ea"/>
              <a:ea typeface="+mj-ea"/>
            </a:endParaRPr>
          </a:p>
          <a:p>
            <a:pPr marL="285750" indent="-285750">
              <a:buFont typeface="Wingdings" panose="05000000000000000000" pitchFamily="2" charset="2"/>
              <a:buChar char="u"/>
            </a:pPr>
            <a:r>
              <a:rPr lang="zh-CN" altLang="en-US" sz="1600" b="1">
                <a:solidFill>
                  <a:schemeClr val="tx1">
                    <a:lumMod val="85000"/>
                    <a:lumOff val="15000"/>
                  </a:schemeClr>
                </a:solidFill>
                <a:latin typeface="+mj-ea"/>
                <a:ea typeface="+mj-ea"/>
              </a:rPr>
              <a:t>肌酐的源头是肌肉组织，肌肉组织的流失会让肌酐下降，这不代表病情好转，而是相反。</a:t>
            </a:r>
            <a:endParaRPr lang="en-US" altLang="zh-CN" sz="1600" b="1">
              <a:solidFill>
                <a:schemeClr val="tx1">
                  <a:lumMod val="85000"/>
                  <a:lumOff val="15000"/>
                </a:schemeClr>
              </a:solidFill>
              <a:latin typeface="+mj-ea"/>
              <a:ea typeface="+mj-ea"/>
            </a:endParaRPr>
          </a:p>
          <a:p>
            <a:pPr marL="285750" indent="-285750">
              <a:buFont typeface="Wingdings" panose="05000000000000000000" pitchFamily="2" charset="2"/>
              <a:buChar char="u"/>
            </a:pPr>
            <a:endParaRPr lang="en-US" altLang="zh-CN" sz="1600" b="1">
              <a:solidFill>
                <a:schemeClr val="tx1">
                  <a:lumMod val="85000"/>
                  <a:lumOff val="15000"/>
                </a:schemeClr>
              </a:solidFill>
              <a:latin typeface="+mj-ea"/>
              <a:ea typeface="+mj-ea"/>
            </a:endParaRPr>
          </a:p>
          <a:p>
            <a:pPr marL="285750" indent="-285750">
              <a:buFont typeface="Wingdings" panose="05000000000000000000" pitchFamily="2" charset="2"/>
              <a:buChar char="u"/>
            </a:pPr>
            <a:r>
              <a:rPr lang="zh-CN" altLang="en-US" sz="1600" b="1">
                <a:solidFill>
                  <a:schemeClr val="tx1">
                    <a:lumMod val="85000"/>
                    <a:lumOff val="15000"/>
                  </a:schemeClr>
                </a:solidFill>
                <a:latin typeface="+mj-ea"/>
                <a:ea typeface="+mj-ea"/>
              </a:rPr>
              <a:t>一些肉食，尤其鱼肉经过烹饪，其中的部份肌酸会变为肌酐，食用后可能会让肌酐出现上升至多</a:t>
            </a:r>
            <a:r>
              <a:rPr lang="en-US" altLang="zh-CN" sz="1600" b="1">
                <a:solidFill>
                  <a:schemeClr val="tx1">
                    <a:lumMod val="85000"/>
                    <a:lumOff val="15000"/>
                  </a:schemeClr>
                </a:solidFill>
                <a:latin typeface="+mj-ea"/>
                <a:ea typeface="+mj-ea"/>
              </a:rPr>
              <a:t>50%</a:t>
            </a:r>
            <a:r>
              <a:rPr lang="zh-CN" altLang="en-US" sz="1600" b="1">
                <a:solidFill>
                  <a:schemeClr val="tx1">
                    <a:lumMod val="85000"/>
                    <a:lumOff val="15000"/>
                  </a:schemeClr>
                </a:solidFill>
                <a:latin typeface="+mj-ea"/>
                <a:ea typeface="+mj-ea"/>
              </a:rPr>
              <a:t>，持续</a:t>
            </a:r>
            <a:r>
              <a:rPr lang="en-US" altLang="zh-CN" sz="1600" b="1">
                <a:solidFill>
                  <a:schemeClr val="tx1">
                    <a:lumMod val="85000"/>
                    <a:lumOff val="15000"/>
                  </a:schemeClr>
                </a:solidFill>
                <a:latin typeface="+mj-ea"/>
                <a:ea typeface="+mj-ea"/>
              </a:rPr>
              <a:t>1-4</a:t>
            </a:r>
            <a:r>
              <a:rPr lang="zh-CN" altLang="en-US" sz="1600" b="1">
                <a:solidFill>
                  <a:schemeClr val="tx1">
                    <a:lumMod val="85000"/>
                    <a:lumOff val="15000"/>
                  </a:schemeClr>
                </a:solidFill>
                <a:latin typeface="+mj-ea"/>
                <a:ea typeface="+mj-ea"/>
              </a:rPr>
              <a:t>小时。这并不代表肾脏机能变差。</a:t>
            </a:r>
            <a:endParaRPr lang="en-US" altLang="zh-CN" sz="1600" b="1">
              <a:solidFill>
                <a:schemeClr val="tx1">
                  <a:lumMod val="85000"/>
                  <a:lumOff val="15000"/>
                </a:schemeClr>
              </a:solidFill>
              <a:latin typeface="+mj-ea"/>
              <a:ea typeface="+mj-ea"/>
            </a:endParaRPr>
          </a:p>
          <a:p>
            <a:endParaRPr lang="en-US" altLang="zh-CN" sz="1600" b="1">
              <a:solidFill>
                <a:schemeClr val="tx1">
                  <a:lumMod val="85000"/>
                  <a:lumOff val="15000"/>
                </a:schemeClr>
              </a:solidFill>
              <a:latin typeface="+mj-ea"/>
              <a:ea typeface="+mj-ea"/>
            </a:endParaRPr>
          </a:p>
          <a:p>
            <a:pPr marL="285750" indent="-285750">
              <a:buFont typeface="Wingdings" panose="05000000000000000000" pitchFamily="2" charset="2"/>
              <a:buChar char="u"/>
            </a:pPr>
            <a:r>
              <a:rPr lang="zh-CN" altLang="en-US" sz="1600" b="1">
                <a:solidFill>
                  <a:schemeClr val="tx1">
                    <a:lumMod val="85000"/>
                    <a:lumOff val="15000"/>
                  </a:schemeClr>
                </a:solidFill>
                <a:latin typeface="+mj-ea"/>
                <a:ea typeface="+mj-ea"/>
              </a:rPr>
              <a:t>肌酐本身毒性很低，并非主要的尿毒症毒素。</a:t>
            </a:r>
            <a:endParaRPr lang="en-US" altLang="zh-CN" sz="1600" b="1">
              <a:solidFill>
                <a:schemeClr val="tx1">
                  <a:lumMod val="85000"/>
                  <a:lumOff val="15000"/>
                </a:schemeClr>
              </a:solidFill>
              <a:latin typeface="+mj-ea"/>
              <a:ea typeface="+mj-ea"/>
            </a:endParaRPr>
          </a:p>
          <a:p>
            <a:endParaRPr lang="en-US" altLang="zh-CN" sz="1600" b="1">
              <a:solidFill>
                <a:schemeClr val="tx1">
                  <a:lumMod val="85000"/>
                  <a:lumOff val="15000"/>
                </a:schemeClr>
              </a:solidFill>
              <a:latin typeface="+mj-ea"/>
              <a:ea typeface="+mj-ea"/>
            </a:endParaRPr>
          </a:p>
          <a:p>
            <a:pPr marL="285750" indent="-285750">
              <a:buFont typeface="Wingdings" panose="05000000000000000000" pitchFamily="2" charset="2"/>
              <a:buChar char="u"/>
            </a:pPr>
            <a:r>
              <a:rPr lang="zh-CN" altLang="en-US" sz="1600" b="1">
                <a:solidFill>
                  <a:schemeClr val="tx1">
                    <a:lumMod val="85000"/>
                    <a:lumOff val="15000"/>
                  </a:schemeClr>
                </a:solidFill>
                <a:latin typeface="+mj-ea"/>
                <a:ea typeface="+mj-ea"/>
              </a:rPr>
              <a:t>肌酐与体内尿毒聚居程度，以及肾小球过滤率的关系存在争议，其中的关联程度，也许并没有预想中高。</a:t>
            </a:r>
            <a:endParaRPr lang="en-US" altLang="zh-CN" sz="1600" b="1">
              <a:solidFill>
                <a:schemeClr val="tx1">
                  <a:lumMod val="85000"/>
                  <a:lumOff val="15000"/>
                </a:schemeClr>
              </a:solidFill>
              <a:latin typeface="+mj-ea"/>
              <a:ea typeface="+mj-ea"/>
            </a:endParaRPr>
          </a:p>
          <a:p>
            <a:pPr marL="285750" indent="-285750">
              <a:buFont typeface="Wingdings" panose="05000000000000000000" pitchFamily="2" charset="2"/>
              <a:buChar char="u"/>
            </a:pPr>
            <a:endParaRPr lang="en-US" altLang="zh-CN" b="1">
              <a:solidFill>
                <a:schemeClr val="tx1">
                  <a:lumMod val="85000"/>
                  <a:lumOff val="15000"/>
                </a:schemeClr>
              </a:solidFill>
              <a:latin typeface="+mj-ea"/>
              <a:ea typeface="+mj-ea"/>
            </a:endParaRPr>
          </a:p>
        </p:txBody>
      </p:sp>
      <p:sp>
        <p:nvSpPr>
          <p:cNvPr id="25" name="文本框 24"/>
          <p:cNvSpPr txBox="1"/>
          <p:nvPr/>
        </p:nvSpPr>
        <p:spPr>
          <a:xfrm>
            <a:off x="7473795" y="171991"/>
            <a:ext cx="2726661" cy="646331"/>
          </a:xfrm>
          <a:prstGeom prst="rect">
            <a:avLst/>
          </a:prstGeom>
          <a:noFill/>
        </p:spPr>
        <p:txBody>
          <a:bodyPr wrap="square" rtlCol="0">
            <a:spAutoFit/>
          </a:bodyPr>
          <a:lstStyle/>
          <a:p>
            <a:pPr eaLnBrk="1" hangingPunct="1">
              <a:lnSpc>
                <a:spcPct val="150000"/>
              </a:lnSpc>
              <a:defRPr/>
            </a:pPr>
            <a:r>
              <a:rPr lang="zh-CN" altLang="en-US" sz="2400" b="1">
                <a:solidFill>
                  <a:schemeClr val="bg1"/>
                </a:solidFill>
                <a:effectLst>
                  <a:outerShdw blurRad="38100" dist="38100" dir="2700000" algn="tl">
                    <a:srgbClr val="000000">
                      <a:alpha val="43137"/>
                    </a:srgbClr>
                  </a:outerShdw>
                </a:effectLst>
                <a:latin typeface="+mj-ea"/>
                <a:ea typeface="+mj-ea"/>
                <a:cs typeface="+mn-ea"/>
                <a:sym typeface="+mn-lt"/>
              </a:rPr>
              <a:t>肌酐（</a:t>
            </a:r>
            <a:r>
              <a:rPr lang="en-US" altLang="zh-CN" sz="2400" b="1">
                <a:solidFill>
                  <a:schemeClr val="bg1"/>
                </a:solidFill>
                <a:effectLst>
                  <a:outerShdw blurRad="38100" dist="38100" dir="2700000" algn="tl">
                    <a:srgbClr val="000000">
                      <a:alpha val="43137"/>
                    </a:srgbClr>
                  </a:outerShdw>
                </a:effectLst>
                <a:latin typeface="+mj-ea"/>
                <a:ea typeface="+mj-ea"/>
              </a:rPr>
              <a:t>Creatinine</a:t>
            </a:r>
            <a:r>
              <a:rPr lang="zh-CN" altLang="en-US" sz="2400" b="1">
                <a:solidFill>
                  <a:schemeClr val="bg1"/>
                </a:solidFill>
                <a:effectLst>
                  <a:outerShdw blurRad="38100" dist="38100" dir="2700000" algn="tl">
                    <a:srgbClr val="000000">
                      <a:alpha val="43137"/>
                    </a:srgbClr>
                  </a:outerShdw>
                </a:effectLst>
                <a:latin typeface="+mj-ea"/>
                <a:ea typeface="+mj-ea"/>
              </a:rPr>
              <a:t>）</a:t>
            </a:r>
            <a:endParaRPr lang="en-US" altLang="zh-CN" sz="2400" b="1">
              <a:solidFill>
                <a:schemeClr val="bg1"/>
              </a:solidFill>
              <a:effectLst>
                <a:outerShdw blurRad="38100" dist="38100" dir="2700000" algn="tl">
                  <a:srgbClr val="000000">
                    <a:alpha val="43137"/>
                  </a:srgbClr>
                </a:outerShdw>
              </a:effectLst>
              <a:latin typeface="+mj-ea"/>
              <a:ea typeface="+mj-ea"/>
              <a:cs typeface="+mn-ea"/>
              <a:sym typeface="+mn-lt"/>
            </a:endParaRPr>
          </a:p>
        </p:txBody>
      </p:sp>
      <p:sp>
        <p:nvSpPr>
          <p:cNvPr id="26" name="文本框 25"/>
          <p:cNvSpPr txBox="1"/>
          <p:nvPr/>
        </p:nvSpPr>
        <p:spPr>
          <a:xfrm>
            <a:off x="1214696" y="1022960"/>
            <a:ext cx="2622529" cy="461665"/>
          </a:xfrm>
          <a:prstGeom prst="rect">
            <a:avLst/>
          </a:prstGeom>
          <a:noFill/>
        </p:spPr>
        <p:txBody>
          <a:bodyPr wrap="square" rtlCol="0">
            <a:spAutoFit/>
          </a:bodyPr>
          <a:lstStyle/>
          <a:p>
            <a:endParaRPr lang="en-US" altLang="zh-CN" sz="1200" b="1">
              <a:solidFill>
                <a:schemeClr val="bg1">
                  <a:lumMod val="95000"/>
                </a:schemeClr>
              </a:solidFill>
              <a:effectLst>
                <a:outerShdw blurRad="38100" dist="38100" dir="2700000" algn="tl">
                  <a:srgbClr val="000000">
                    <a:alpha val="43137"/>
                  </a:srgbClr>
                </a:outerShdw>
              </a:effectLst>
              <a:latin typeface="+mj-ea"/>
              <a:ea typeface="+mj-ea"/>
            </a:endParaRPr>
          </a:p>
          <a:p>
            <a:endParaRPr lang="zh-CN" altLang="en-US" sz="1200" b="1">
              <a:solidFill>
                <a:schemeClr val="bg1">
                  <a:lumMod val="95000"/>
                </a:schemeClr>
              </a:solidFill>
              <a:effectLst>
                <a:outerShdw blurRad="38100" dist="38100" dir="2700000" algn="tl">
                  <a:srgbClr val="000000">
                    <a:alpha val="43137"/>
                  </a:srgbClr>
                </a:outerShdw>
              </a:effectLst>
              <a:latin typeface="+mj-ea"/>
              <a:ea typeface="+mj-ea"/>
            </a:endParaRPr>
          </a:p>
        </p:txBody>
      </p:sp>
      <p:sp>
        <p:nvSpPr>
          <p:cNvPr id="2" name="文本框 1"/>
          <p:cNvSpPr txBox="1"/>
          <p:nvPr/>
        </p:nvSpPr>
        <p:spPr>
          <a:xfrm>
            <a:off x="993058" y="1894527"/>
            <a:ext cx="5688333" cy="1508105"/>
          </a:xfrm>
          <a:prstGeom prst="rect">
            <a:avLst/>
          </a:prstGeom>
          <a:noFill/>
        </p:spPr>
        <p:txBody>
          <a:bodyPr wrap="square" rtlCol="0">
            <a:spAutoFit/>
          </a:bodyPr>
          <a:lstStyle/>
          <a:p>
            <a:r>
              <a:rPr lang="zh-CN" altLang="en-US" sz="2800">
                <a:solidFill>
                  <a:schemeClr val="bg1">
                    <a:lumMod val="85000"/>
                  </a:schemeClr>
                </a:solidFill>
                <a:effectLst>
                  <a:outerShdw blurRad="38100" dist="38100" dir="2700000" algn="tl">
                    <a:srgbClr val="000000">
                      <a:alpha val="43137"/>
                    </a:srgbClr>
                  </a:outerShdw>
                </a:effectLst>
                <a:latin typeface="+mj-ea"/>
                <a:ea typeface="+mj-ea"/>
              </a:rPr>
              <a:t>如果你非常在意复查时肌酐的细微变化，务必问自己下面几个问题：</a:t>
            </a:r>
            <a:endParaRPr lang="en-US" altLang="zh-CN" sz="2800">
              <a:solidFill>
                <a:schemeClr val="bg1">
                  <a:lumMod val="85000"/>
                </a:schemeClr>
              </a:solidFill>
              <a:effectLst>
                <a:outerShdw blurRad="38100" dist="38100" dir="2700000" algn="tl">
                  <a:srgbClr val="000000">
                    <a:alpha val="43137"/>
                  </a:srgbClr>
                </a:outerShdw>
              </a:effectLst>
              <a:latin typeface="+mj-ea"/>
              <a:ea typeface="+mj-ea"/>
            </a:endParaRPr>
          </a:p>
          <a:p>
            <a:endParaRPr lang="en-US" altLang="zh-CN"/>
          </a:p>
          <a:p>
            <a:endParaRPr lang="zh-CN" altLang="en-US"/>
          </a:p>
        </p:txBody>
      </p:sp>
      <p:sp>
        <p:nvSpPr>
          <p:cNvPr id="3" name="矩形 2"/>
          <p:cNvSpPr/>
          <p:nvPr/>
        </p:nvSpPr>
        <p:spPr>
          <a:xfrm>
            <a:off x="1055440" y="3407853"/>
            <a:ext cx="6096000" cy="1938992"/>
          </a:xfrm>
          <a:prstGeom prst="rect">
            <a:avLst/>
          </a:prstGeom>
        </p:spPr>
        <p:txBody>
          <a:bodyPr>
            <a:spAutoFit/>
          </a:bodyPr>
          <a:lstStyle/>
          <a:p>
            <a:pPr marL="285750" indent="-285750">
              <a:buFont typeface="Wingdings" panose="05000000000000000000" pitchFamily="2" charset="2"/>
              <a:buChar char="u"/>
            </a:pPr>
            <a:r>
              <a:rPr lang="zh-CN" altLang="en-US" sz="2000" b="1">
                <a:solidFill>
                  <a:schemeClr val="bg1">
                    <a:lumMod val="95000"/>
                  </a:schemeClr>
                </a:solidFill>
                <a:latin typeface="微软雅黑" panose="020B0503020204020204" pitchFamily="34" charset="-122"/>
                <a:ea typeface="微软雅黑" panose="020B0503020204020204" pitchFamily="34" charset="-122"/>
              </a:rPr>
              <a:t>现有肌酐的变化，会让治疗方式改变吗？</a:t>
            </a:r>
            <a:endParaRPr lang="en-US" altLang="zh-CN" sz="2000" b="1">
              <a:solidFill>
                <a:schemeClr val="bg1">
                  <a:lumMod val="95000"/>
                </a:schemeClr>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u"/>
            </a:pPr>
            <a:endParaRPr lang="en-US" altLang="zh-CN" sz="2000" b="1">
              <a:solidFill>
                <a:schemeClr val="bg1">
                  <a:lumMod val="95000"/>
                </a:schemeClr>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u"/>
            </a:pPr>
            <a:r>
              <a:rPr lang="zh-CN" altLang="en-US" sz="2000" b="1">
                <a:solidFill>
                  <a:schemeClr val="bg1">
                    <a:lumMod val="95000"/>
                  </a:schemeClr>
                </a:solidFill>
                <a:latin typeface="微软雅黑" panose="020B0503020204020204" pitchFamily="34" charset="-122"/>
                <a:ea typeface="微软雅黑" panose="020B0503020204020204" pitchFamily="34" charset="-122"/>
              </a:rPr>
              <a:t>肌酐数值下降了，你发现猫状态更好了吗？</a:t>
            </a:r>
            <a:endParaRPr lang="en-US" altLang="zh-CN" sz="2000" b="1">
              <a:solidFill>
                <a:schemeClr val="bg1">
                  <a:lumMod val="95000"/>
                </a:schemeClr>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u"/>
            </a:pPr>
            <a:endParaRPr lang="en-US" altLang="zh-CN" sz="2000" b="1">
              <a:solidFill>
                <a:schemeClr val="bg1">
                  <a:lumMod val="95000"/>
                </a:schemeClr>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u"/>
            </a:pPr>
            <a:r>
              <a:rPr lang="zh-CN" altLang="en-US" sz="2000" b="1">
                <a:solidFill>
                  <a:schemeClr val="bg1">
                    <a:lumMod val="95000"/>
                  </a:schemeClr>
                </a:solidFill>
                <a:latin typeface="微软雅黑" panose="020B0503020204020204" pitchFamily="34" charset="-122"/>
                <a:ea typeface="微软雅黑" panose="020B0503020204020204" pitchFamily="34" charset="-122"/>
              </a:rPr>
              <a:t>肌酐数值上升了，猫的状态当真更差了吗？</a:t>
            </a:r>
            <a:endParaRPr lang="en-US" altLang="zh-CN" sz="2000" b="1">
              <a:solidFill>
                <a:schemeClr val="bg1">
                  <a:lumMod val="95000"/>
                </a:schemeClr>
              </a:solidFill>
              <a:latin typeface="微软雅黑" panose="020B0503020204020204" pitchFamily="34" charset="-122"/>
              <a:ea typeface="微软雅黑" panose="020B0503020204020204" pitchFamily="34" charset="-122"/>
            </a:endParaRPr>
          </a:p>
          <a:p>
            <a:endParaRPr lang="en-US" altLang="zh-CN" sz="2000" b="1">
              <a:solidFill>
                <a:schemeClr val="bg1">
                  <a:lumMod val="9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692360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pic>
        <p:nvPicPr>
          <p:cNvPr id="9218" name="图片 2">
            <a:extLst/>
          </p:cNvPr>
          <p:cNvPicPr>
            <a:picLocks noChangeAspect="1" noChangeArrowheads="1"/>
          </p:cNvPicPr>
          <p:nvPr/>
        </p:nvPicPr>
        <p:blipFill>
          <a:blip r:embed="rId3">
            <a:duotone>
              <a:prstClr val="black"/>
              <a:schemeClr val="accent3">
                <a:tint val="45000"/>
                <a:satMod val="400000"/>
              </a:schemeClr>
            </a:duotone>
            <a:extLst>
              <a:ext uri="{28A0092B-C50C-407E-A947-70E740481C1C}">
                <a14:useLocalDpi xmlns:a14="http://schemas.microsoft.com/office/drawing/2010/main" val="0"/>
              </a:ext>
            </a:extLst>
          </a:blip>
          <a:srcRect l="7875" r="25414"/>
          <a:stretch>
            <a:fillRect/>
          </a:stretch>
        </p:blipFill>
        <p:spPr bwMode="auto">
          <a:xfrm>
            <a:off x="-74310" y="-17714"/>
            <a:ext cx="7356475" cy="689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7" name="组合 16">
            <a:extLst/>
          </p:cNvPr>
          <p:cNvGrpSpPr/>
          <p:nvPr/>
        </p:nvGrpSpPr>
        <p:grpSpPr>
          <a:xfrm>
            <a:off x="4871863" y="1070170"/>
            <a:ext cx="7320137" cy="961895"/>
            <a:chOff x="8112223" y="404664"/>
            <a:chExt cx="4194115" cy="961895"/>
          </a:xfrm>
          <a:effectLst>
            <a:outerShdw blurRad="50800" dist="38100" dir="5400000" algn="t" rotWithShape="0">
              <a:prstClr val="black">
                <a:alpha val="40000"/>
              </a:prstClr>
            </a:outerShdw>
          </a:effectLst>
        </p:grpSpPr>
        <p:sp>
          <p:nvSpPr>
            <p:cNvPr id="4"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5" name="组合 22">
              <a:extLst/>
            </p:cNvPr>
            <p:cNvGrpSpPr>
              <a:grpSpLocks/>
            </p:cNvGrpSpPr>
            <p:nvPr/>
          </p:nvGrpSpPr>
          <p:grpSpPr bwMode="auto">
            <a:xfrm>
              <a:off x="8401025" y="516258"/>
              <a:ext cx="2647013" cy="614808"/>
              <a:chOff x="-320583" y="2989243"/>
              <a:chExt cx="3117830" cy="859723"/>
            </a:xfrm>
          </p:grpSpPr>
          <p:sp>
            <p:nvSpPr>
              <p:cNvPr id="7" name="文本框 14">
                <a:extLst/>
              </p:cNvPr>
              <p:cNvSpPr txBox="1">
                <a:spLocks noChangeArrowheads="1"/>
              </p:cNvSpPr>
              <p:nvPr/>
            </p:nvSpPr>
            <p:spPr bwMode="auto">
              <a:xfrm>
                <a:off x="-320583" y="2989243"/>
                <a:ext cx="3117830" cy="812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chemeClr val="tx2">
                        <a:lumMod val="75000"/>
                      </a:schemeClr>
                    </a:solidFill>
                    <a:latin typeface="微软雅黑" panose="020B0503020204020204" pitchFamily="34" charset="-122"/>
                    <a:ea typeface="微软雅黑" panose="020B0503020204020204" pitchFamily="34" charset="-122"/>
                    <a:cs typeface="+mn-ea"/>
                    <a:sym typeface="+mn-lt"/>
                  </a:rPr>
                  <a:t>别光看数值，看猫。</a:t>
                </a:r>
                <a:endParaRPr lang="en-US" altLang="zh-CN" sz="2400" b="1">
                  <a:solidFill>
                    <a:schemeClr val="tx2">
                      <a:lumMod val="75000"/>
                    </a:schemeClr>
                  </a:solidFill>
                  <a:latin typeface="微软雅黑" panose="020B0503020204020204" pitchFamily="34" charset="-122"/>
                  <a:ea typeface="微软雅黑" panose="020B0503020204020204" pitchFamily="34" charset="-122"/>
                  <a:cs typeface="+mn-ea"/>
                  <a:sym typeface="+mn-lt"/>
                </a:endParaRPr>
              </a:p>
            </p:txBody>
          </p:sp>
          <p:sp>
            <p:nvSpPr>
              <p:cNvPr id="9" name="矩形 20">
                <a:extLst/>
              </p:cNvPr>
              <p:cNvSpPr>
                <a:spLocks noChangeArrowheads="1"/>
              </p:cNvSpPr>
              <p:nvPr/>
            </p:nvSpPr>
            <p:spPr bwMode="auto">
              <a:xfrm>
                <a:off x="506334" y="3461622"/>
                <a:ext cx="124669" cy="387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endParaRPr lang="zh-CN" altLang="en-US" sz="1200">
                  <a:latin typeface="+mn-lt"/>
                  <a:ea typeface="+mn-ea"/>
                  <a:cs typeface="+mn-ea"/>
                  <a:sym typeface="+mn-lt"/>
                </a:endParaRPr>
              </a:p>
            </p:txBody>
          </p:sp>
        </p:grpSp>
      </p:grpSp>
      <p:grpSp>
        <p:nvGrpSpPr>
          <p:cNvPr id="22532" name="组合 17"/>
          <p:cNvGrpSpPr>
            <a:grpSpLocks/>
          </p:cNvGrpSpPr>
          <p:nvPr/>
        </p:nvGrpSpPr>
        <p:grpSpPr bwMode="auto">
          <a:xfrm>
            <a:off x="1444625" y="2411413"/>
            <a:ext cx="10628313" cy="3681883"/>
            <a:chOff x="170987" y="2984657"/>
            <a:chExt cx="9768408" cy="3510340"/>
          </a:xfrm>
        </p:grpSpPr>
        <p:sp>
          <p:nvSpPr>
            <p:cNvPr id="21" name="矩形 20">
              <a:extLst/>
            </p:cNvPr>
            <p:cNvSpPr/>
            <p:nvPr/>
          </p:nvSpPr>
          <p:spPr>
            <a:xfrm>
              <a:off x="170987" y="2984657"/>
              <a:ext cx="9768408" cy="351034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kern="0">
                <a:solidFill>
                  <a:sysClr val="windowText" lastClr="000000"/>
                </a:solidFill>
                <a:cs typeface="+mn-ea"/>
                <a:sym typeface="+mn-lt"/>
              </a:endParaRPr>
            </a:p>
          </p:txBody>
        </p:sp>
        <p:sp>
          <p:nvSpPr>
            <p:cNvPr id="23" name="矩形 22">
              <a:extLst/>
            </p:cNvPr>
            <p:cNvSpPr/>
            <p:nvPr/>
          </p:nvSpPr>
          <p:spPr>
            <a:xfrm>
              <a:off x="5238303" y="3281903"/>
              <a:ext cx="4153944" cy="393755"/>
            </a:xfrm>
            <a:prstGeom prst="rect">
              <a:avLst/>
            </a:prstGeom>
          </p:spPr>
          <p:txBody>
            <a:bodyPr>
              <a:spAutoFit/>
            </a:bodyPr>
            <a:lstStyle/>
            <a:p>
              <a:pPr eaLnBrk="1" fontAlgn="auto" hangingPunct="1">
                <a:lnSpc>
                  <a:spcPct val="150000"/>
                </a:lnSpc>
                <a:spcBef>
                  <a:spcPts val="0"/>
                </a:spcBef>
                <a:spcAft>
                  <a:spcPts val="0"/>
                </a:spcAft>
                <a:defRPr/>
              </a:pPr>
              <a:endParaRPr lang="zh-CN" altLang="en-US" sz="1600" kern="0">
                <a:solidFill>
                  <a:srgbClr val="4F4F4F"/>
                </a:solidFill>
                <a:latin typeface="+mn-lt"/>
                <a:ea typeface="+mn-ea"/>
                <a:cs typeface="+mn-ea"/>
                <a:sym typeface="+mn-lt"/>
              </a:endParaRPr>
            </a:p>
          </p:txBody>
        </p:sp>
      </p:grpSp>
      <p:sp>
        <p:nvSpPr>
          <p:cNvPr id="22533" name="文本框 9"/>
          <p:cNvSpPr txBox="1">
            <a:spLocks noChangeArrowheads="1"/>
          </p:cNvSpPr>
          <p:nvPr/>
        </p:nvSpPr>
        <p:spPr bwMode="auto">
          <a:xfrm>
            <a:off x="1558925" y="2636838"/>
            <a:ext cx="439261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en-US" altLang="zh-CN" b="1"/>
          </a:p>
          <a:p>
            <a:endParaRPr lang="en-US" altLang="zh-CN" b="1"/>
          </a:p>
        </p:txBody>
      </p:sp>
      <p:sp>
        <p:nvSpPr>
          <p:cNvPr id="22534" name="文本框 11"/>
          <p:cNvSpPr txBox="1">
            <a:spLocks noChangeArrowheads="1"/>
          </p:cNvSpPr>
          <p:nvPr/>
        </p:nvSpPr>
        <p:spPr bwMode="auto">
          <a:xfrm>
            <a:off x="1457325" y="2549525"/>
            <a:ext cx="41338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2" name="文本框 1"/>
          <p:cNvSpPr txBox="1"/>
          <p:nvPr/>
        </p:nvSpPr>
        <p:spPr>
          <a:xfrm>
            <a:off x="6823075" y="5580444"/>
            <a:ext cx="4789488" cy="461665"/>
          </a:xfrm>
          <a:prstGeom prst="rect">
            <a:avLst/>
          </a:prstGeom>
          <a:noFill/>
        </p:spPr>
        <p:txBody>
          <a:bodyPr>
            <a:spAutoFit/>
          </a:bodyPr>
          <a:lstStyle/>
          <a:p>
            <a:pPr>
              <a:defRPr/>
            </a:pPr>
            <a:r>
              <a:rPr lang="en-US" altLang="zh-CN" sz="1200" b="1">
                <a:effectLst>
                  <a:outerShdw blurRad="38100" dist="38100" dir="2700000" algn="tl">
                    <a:srgbClr val="000000">
                      <a:alpha val="43137"/>
                    </a:srgbClr>
                  </a:outerShdw>
                </a:effectLst>
                <a:latin typeface="+mj-ea"/>
              </a:rPr>
              <a:t>Renal Disease (2006) Polzin DJ Delaware Valley Academy of Veterinary Medicine</a:t>
            </a:r>
            <a:endParaRPr lang="zh-CN" altLang="en-US" b="1">
              <a:effectLst>
                <a:outerShdw blurRad="38100" dist="38100" dir="2700000" algn="tl">
                  <a:srgbClr val="000000">
                    <a:alpha val="43137"/>
                  </a:srgbClr>
                </a:outerShdw>
              </a:effectLst>
              <a:latin typeface="+mj-ea"/>
              <a:ea typeface="+mj-ea"/>
            </a:endParaRPr>
          </a:p>
        </p:txBody>
      </p:sp>
      <p:sp>
        <p:nvSpPr>
          <p:cNvPr id="11" name="文本框 10"/>
          <p:cNvSpPr txBox="1"/>
          <p:nvPr/>
        </p:nvSpPr>
        <p:spPr>
          <a:xfrm>
            <a:off x="1934034" y="4980280"/>
            <a:ext cx="2145742" cy="954107"/>
          </a:xfrm>
          <a:prstGeom prst="rect">
            <a:avLst/>
          </a:prstGeom>
          <a:noFill/>
        </p:spPr>
        <p:txBody>
          <a:bodyPr wrap="square">
            <a:spAutoFit/>
          </a:bodyPr>
          <a:lstStyle/>
          <a:p>
            <a:pPr>
              <a:defRPr/>
            </a:pPr>
            <a:r>
              <a:rPr lang="en-US" altLang="zh-CN" sz="1400">
                <a:effectLst>
                  <a:outerShdw blurRad="38100" dist="38100" dir="2700000" algn="tl">
                    <a:srgbClr val="000000">
                      <a:alpha val="43137"/>
                    </a:srgbClr>
                  </a:outerShdw>
                </a:effectLst>
                <a:latin typeface="+mn-ea"/>
                <a:ea typeface="+mn-ea"/>
              </a:rPr>
              <a:t>David Polzin, </a:t>
            </a:r>
            <a:r>
              <a:rPr lang="zh-CN" altLang="en-US" sz="1400">
                <a:effectLst>
                  <a:outerShdw blurRad="38100" dist="38100" dir="2700000" algn="tl">
                    <a:srgbClr val="000000">
                      <a:alpha val="43137"/>
                    </a:srgbClr>
                  </a:outerShdw>
                </a:effectLst>
                <a:latin typeface="+mn-ea"/>
                <a:ea typeface="+mn-ea"/>
              </a:rPr>
              <a:t>兽医，博士，小动物肾病方面权威。</a:t>
            </a:r>
            <a:r>
              <a:rPr lang="en-US" altLang="zh-CN" sz="1400">
                <a:effectLst>
                  <a:outerShdw blurRad="38100" dist="38100" dir="2700000" algn="tl">
                    <a:srgbClr val="000000">
                      <a:alpha val="43137"/>
                    </a:srgbClr>
                  </a:outerShdw>
                </a:effectLst>
                <a:latin typeface="+mn-ea"/>
                <a:ea typeface="+mn-ea"/>
              </a:rPr>
              <a:t>IRIS</a:t>
            </a:r>
            <a:r>
              <a:rPr lang="zh-CN" altLang="en-US" sz="1400">
                <a:effectLst>
                  <a:outerShdw blurRad="38100" dist="38100" dir="2700000" algn="tl">
                    <a:srgbClr val="000000">
                      <a:alpha val="43137"/>
                    </a:srgbClr>
                  </a:outerShdw>
                </a:effectLst>
                <a:latin typeface="+mn-ea"/>
                <a:ea typeface="+mn-ea"/>
              </a:rPr>
              <a:t>成员。明尼苏达大学教授。</a:t>
            </a:r>
          </a:p>
        </p:txBody>
      </p:sp>
      <p:sp>
        <p:nvSpPr>
          <p:cNvPr id="14" name="文本框 13"/>
          <p:cNvSpPr txBox="1"/>
          <p:nvPr/>
        </p:nvSpPr>
        <p:spPr>
          <a:xfrm>
            <a:off x="4511675" y="2563813"/>
            <a:ext cx="7056438" cy="1107996"/>
          </a:xfrm>
          <a:prstGeom prst="rect">
            <a:avLst/>
          </a:prstGeom>
          <a:noFill/>
        </p:spPr>
        <p:txBody>
          <a:bodyPr>
            <a:spAutoFit/>
          </a:bodyPr>
          <a:lstStyle/>
          <a:p>
            <a:pPr>
              <a:defRPr/>
            </a:pPr>
            <a:r>
              <a:rPr lang="en-US" altLang="zh-CN" sz="1100">
                <a:effectLst>
                  <a:outerShdw blurRad="38100" dist="38100" dir="2700000" algn="tl">
                    <a:srgbClr val="000000">
                      <a:alpha val="43137"/>
                    </a:srgbClr>
                  </a:outerShdw>
                </a:effectLst>
              </a:rPr>
              <a:t>“Severity of renal dysfunction as determined by serum creatinine concentration or measurement of GFR provides a less accurate means of assessing short-term prognosis than does the clinical condition of the patient. The relationship between magnitude of renal dysfunction and clinical signs of uremia is often unpredictable. Therefore, short-term prognosis should not be established on the basis of a single measurement of the severity of renal function. In addition, a single determination of renal function is unreliable as an index of the potential for improvement in renal function.”</a:t>
            </a:r>
            <a:endParaRPr lang="zh-CN" altLang="en-US">
              <a:effectLst>
                <a:outerShdw blurRad="38100" dist="38100" dir="2700000" algn="tl">
                  <a:srgbClr val="000000">
                    <a:alpha val="43137"/>
                  </a:srgbClr>
                </a:outerShdw>
              </a:effectLst>
            </a:endParaRPr>
          </a:p>
        </p:txBody>
      </p:sp>
      <p:sp>
        <p:nvSpPr>
          <p:cNvPr id="15" name="文本框 14"/>
          <p:cNvSpPr txBox="1"/>
          <p:nvPr/>
        </p:nvSpPr>
        <p:spPr>
          <a:xfrm>
            <a:off x="4511675" y="3868738"/>
            <a:ext cx="6594475" cy="1631216"/>
          </a:xfrm>
          <a:prstGeom prst="rect">
            <a:avLst/>
          </a:prstGeom>
          <a:noFill/>
        </p:spPr>
        <p:txBody>
          <a:bodyPr>
            <a:spAutoFit/>
          </a:bodyPr>
          <a:lstStyle/>
          <a:p>
            <a:pPr>
              <a:defRPr/>
            </a:pPr>
            <a:r>
              <a:rPr lang="en-US" altLang="zh-CN" sz="2000">
                <a:effectLst>
                  <a:outerShdw blurRad="38100" dist="38100" dir="2700000" algn="tl">
                    <a:srgbClr val="000000">
                      <a:alpha val="43137"/>
                    </a:srgbClr>
                  </a:outerShdw>
                </a:effectLst>
                <a:latin typeface="+mn-ea"/>
                <a:ea typeface="+mn-ea"/>
              </a:rPr>
              <a:t>“…</a:t>
            </a:r>
            <a:r>
              <a:rPr lang="zh-CN" altLang="en-US" sz="2000">
                <a:effectLst>
                  <a:outerShdw blurRad="38100" dist="38100" dir="2700000" algn="tl">
                    <a:srgbClr val="000000">
                      <a:alpha val="43137"/>
                    </a:srgbClr>
                  </a:outerShdw>
                </a:effectLst>
                <a:latin typeface="+mn-ea"/>
                <a:ea typeface="+mn-ea"/>
              </a:rPr>
              <a:t>想评估短期预后效果，使用肌酐浓度或是</a:t>
            </a:r>
            <a:r>
              <a:rPr lang="en-US" altLang="zh-CN" sz="2000">
                <a:effectLst>
                  <a:outerShdw blurRad="38100" dist="38100" dir="2700000" algn="tl">
                    <a:srgbClr val="000000">
                      <a:alpha val="43137"/>
                    </a:srgbClr>
                  </a:outerShdw>
                </a:effectLst>
                <a:latin typeface="+mn-ea"/>
                <a:ea typeface="+mn-ea"/>
              </a:rPr>
              <a:t>GFR</a:t>
            </a:r>
            <a:r>
              <a:rPr lang="zh-CN" altLang="en-US" sz="2000">
                <a:effectLst>
                  <a:outerShdw blurRad="38100" dist="38100" dir="2700000" algn="tl">
                    <a:srgbClr val="000000">
                      <a:alpha val="43137"/>
                    </a:srgbClr>
                  </a:outerShdw>
                </a:effectLst>
                <a:latin typeface="+mn-ea"/>
                <a:ea typeface="+mn-ea"/>
              </a:rPr>
              <a:t>检测还不如看病患的临床状态来得准确。尿毒症是否发生，与肾脏损伤关系多大是难以预料的。故此，别用单次的肾机能检测结果轻易评估病情。此外，用单次检测结果来预估今后的肾机能改善潜能也是靠不住的。”</a:t>
            </a:r>
          </a:p>
        </p:txBody>
      </p:sp>
      <p:pic>
        <p:nvPicPr>
          <p:cNvPr id="6" name="图片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48304" y="2648341"/>
            <a:ext cx="1603904" cy="2249632"/>
          </a:xfrm>
          <a:prstGeom prst="rect">
            <a:avLst/>
          </a:prstGeom>
        </p:spPr>
      </p:pic>
    </p:spTree>
    <p:extLst>
      <p:ext uri="{BB962C8B-B14F-4D97-AF65-F5344CB8AC3E}">
        <p14:creationId xmlns:p14="http://schemas.microsoft.com/office/powerpoint/2010/main" val="13908953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17" name="组合 16">
            <a:extLst/>
          </p:cNvPr>
          <p:cNvGrpSpPr/>
          <p:nvPr/>
        </p:nvGrpSpPr>
        <p:grpSpPr>
          <a:xfrm>
            <a:off x="4866703" y="729365"/>
            <a:ext cx="7320137" cy="997349"/>
            <a:chOff x="8112223" y="369210"/>
            <a:chExt cx="4194115" cy="997349"/>
          </a:xfrm>
          <a:effectLst>
            <a:outerShdw blurRad="50800" dist="38100" dir="5400000" algn="t" rotWithShape="0">
              <a:prstClr val="black">
                <a:alpha val="40000"/>
              </a:prstClr>
            </a:outerShdw>
          </a:effectLst>
        </p:grpSpPr>
        <p:sp>
          <p:nvSpPr>
            <p:cNvPr id="4"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5" name="组合 22">
              <a:extLst/>
            </p:cNvPr>
            <p:cNvGrpSpPr>
              <a:grpSpLocks/>
            </p:cNvGrpSpPr>
            <p:nvPr/>
          </p:nvGrpSpPr>
          <p:grpSpPr bwMode="auto">
            <a:xfrm>
              <a:off x="8321467" y="369210"/>
              <a:ext cx="2430517" cy="761860"/>
              <a:chOff x="-414291" y="2783610"/>
              <a:chExt cx="2862826" cy="1065353"/>
            </a:xfrm>
          </p:grpSpPr>
          <p:sp>
            <p:nvSpPr>
              <p:cNvPr id="6" name="文本框 13">
                <a:extLst/>
              </p:cNvPr>
              <p:cNvSpPr txBox="1">
                <a:spLocks noChangeArrowheads="1"/>
              </p:cNvSpPr>
              <p:nvPr/>
            </p:nvSpPr>
            <p:spPr bwMode="auto">
              <a:xfrm>
                <a:off x="-317523" y="2783610"/>
                <a:ext cx="1647713" cy="1040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endParaRPr lang="en-US" altLang="zh-CN" sz="3200" b="1">
                  <a:solidFill>
                    <a:srgbClr val="010101"/>
                  </a:solidFill>
                  <a:latin typeface="+mn-lt"/>
                  <a:ea typeface="+mn-ea"/>
                  <a:cs typeface="+mn-ea"/>
                  <a:sym typeface="+mn-lt"/>
                </a:endParaRPr>
              </a:p>
            </p:txBody>
          </p:sp>
          <p:sp>
            <p:nvSpPr>
              <p:cNvPr id="7" name="文本框 14">
                <a:extLst/>
              </p:cNvPr>
              <p:cNvSpPr txBox="1">
                <a:spLocks noChangeArrowheads="1"/>
              </p:cNvSpPr>
              <p:nvPr/>
            </p:nvSpPr>
            <p:spPr bwMode="auto">
              <a:xfrm>
                <a:off x="-414291" y="2909977"/>
                <a:ext cx="2862826" cy="926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b="1">
                    <a:solidFill>
                      <a:schemeClr val="tx2">
                        <a:lumMod val="75000"/>
                      </a:schemeClr>
                    </a:solidFill>
                    <a:latin typeface="微软雅黑" panose="020B0503020204020204" pitchFamily="34" charset="-122"/>
                    <a:ea typeface="微软雅黑" panose="020B0503020204020204" pitchFamily="34" charset="-122"/>
                    <a:cs typeface="+mn-ea"/>
                    <a:sym typeface="+mn-lt"/>
                  </a:rPr>
                  <a:t>别光看数值，看猫。</a:t>
                </a:r>
                <a:endParaRPr lang="en-US" altLang="zh-CN" b="1">
                  <a:solidFill>
                    <a:schemeClr val="tx2">
                      <a:lumMod val="75000"/>
                    </a:schemeClr>
                  </a:solidFill>
                  <a:latin typeface="微软雅黑" panose="020B0503020204020204" pitchFamily="34" charset="-122"/>
                  <a:ea typeface="微软雅黑" panose="020B0503020204020204" pitchFamily="34" charset="-122"/>
                  <a:cs typeface="+mn-ea"/>
                  <a:sym typeface="+mn-lt"/>
                </a:endParaRPr>
              </a:p>
            </p:txBody>
          </p:sp>
          <p:sp>
            <p:nvSpPr>
              <p:cNvPr id="9" name="矩形 20">
                <a:extLst/>
              </p:cNvPr>
              <p:cNvSpPr>
                <a:spLocks noChangeArrowheads="1"/>
              </p:cNvSpPr>
              <p:nvPr/>
            </p:nvSpPr>
            <p:spPr bwMode="auto">
              <a:xfrm>
                <a:off x="506334" y="3461619"/>
                <a:ext cx="124669" cy="387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endParaRPr lang="zh-CN" altLang="en-US" sz="1200">
                  <a:latin typeface="+mn-lt"/>
                  <a:ea typeface="+mn-ea"/>
                  <a:cs typeface="+mn-ea"/>
                  <a:sym typeface="+mn-lt"/>
                </a:endParaRPr>
              </a:p>
            </p:txBody>
          </p:sp>
        </p:grpSp>
      </p:grpSp>
      <p:sp>
        <p:nvSpPr>
          <p:cNvPr id="2" name="文本框 1"/>
          <p:cNvSpPr txBox="1"/>
          <p:nvPr/>
        </p:nvSpPr>
        <p:spPr>
          <a:xfrm>
            <a:off x="1415480" y="2155338"/>
            <a:ext cx="9433048" cy="3577903"/>
          </a:xfrm>
          <a:prstGeom prst="rect">
            <a:avLst/>
          </a:prstGeom>
          <a:noFill/>
        </p:spPr>
        <p:txBody>
          <a:bodyPr wrap="square" rtlCol="0">
            <a:spAutoFit/>
          </a:bodyPr>
          <a:lstStyle/>
          <a:p>
            <a:pPr marL="285750" indent="-285750">
              <a:buFont typeface="Wingdings" panose="05000000000000000000" pitchFamily="2" charset="2"/>
              <a:buChar char="u"/>
            </a:pPr>
            <a:r>
              <a:rPr lang="zh-CN" altLang="en-US" sz="2000" b="1">
                <a:solidFill>
                  <a:srgbClr val="FFCC00"/>
                </a:solidFill>
                <a:effectLst>
                  <a:outerShdw blurRad="38100" dist="38100" dir="2700000" algn="tl">
                    <a:srgbClr val="000000">
                      <a:alpha val="43137"/>
                    </a:srgbClr>
                  </a:outerShdw>
                </a:effectLst>
                <a:latin typeface="+mj-ea"/>
                <a:ea typeface="+mj-ea"/>
              </a:rPr>
              <a:t>短期的肌酐检测结果并不能告诉我们肾脏机能的全貌，更无法预知今后发展。</a:t>
            </a:r>
            <a:endParaRPr lang="en-US" altLang="zh-CN" sz="2000" b="1">
              <a:solidFill>
                <a:srgbClr val="FFCC00"/>
              </a:solidFill>
              <a:effectLst>
                <a:outerShdw blurRad="38100" dist="38100" dir="2700000" algn="tl">
                  <a:srgbClr val="000000">
                    <a:alpha val="43137"/>
                  </a:srgbClr>
                </a:outerShdw>
              </a:effectLst>
              <a:latin typeface="+mj-ea"/>
              <a:ea typeface="+mj-ea"/>
            </a:endParaRPr>
          </a:p>
          <a:p>
            <a:pPr marL="285750" indent="-285750">
              <a:buFont typeface="Wingdings" panose="05000000000000000000" pitchFamily="2" charset="2"/>
              <a:buChar char="u"/>
            </a:pPr>
            <a:endParaRPr lang="en-US" altLang="zh-CN" sz="2000" b="1">
              <a:solidFill>
                <a:srgbClr val="FFCC00"/>
              </a:solidFill>
              <a:effectLst>
                <a:outerShdw blurRad="38100" dist="38100" dir="2700000" algn="tl">
                  <a:srgbClr val="000000">
                    <a:alpha val="43137"/>
                  </a:srgbClr>
                </a:outerShdw>
              </a:effectLst>
              <a:latin typeface="+mj-ea"/>
              <a:ea typeface="+mj-ea"/>
            </a:endParaRPr>
          </a:p>
          <a:p>
            <a:pPr marL="285750" indent="-285750">
              <a:buFont typeface="Wingdings" panose="05000000000000000000" pitchFamily="2" charset="2"/>
              <a:buChar char="u"/>
            </a:pPr>
            <a:r>
              <a:rPr lang="zh-CN" altLang="en-US" sz="2000" b="1">
                <a:solidFill>
                  <a:srgbClr val="FFCC00"/>
                </a:solidFill>
                <a:effectLst>
                  <a:outerShdw blurRad="38100" dist="38100" dir="2700000" algn="tl">
                    <a:srgbClr val="000000">
                      <a:alpha val="43137"/>
                    </a:srgbClr>
                  </a:outerShdw>
                </a:effectLst>
                <a:latin typeface="+mj-ea"/>
                <a:ea typeface="+mj-ea"/>
              </a:rPr>
              <a:t>肌酐并不是尿毒症毒素的主力，是否能如前人认知中那般反映体内尿毒症毒素的积聚程度，现在也受到了质疑。</a:t>
            </a:r>
            <a:endParaRPr lang="en-US" altLang="zh-CN" sz="2000" b="1">
              <a:solidFill>
                <a:srgbClr val="FFCC00"/>
              </a:solidFill>
              <a:effectLst>
                <a:outerShdw blurRad="38100" dist="38100" dir="2700000" algn="tl">
                  <a:srgbClr val="000000">
                    <a:alpha val="43137"/>
                  </a:srgbClr>
                </a:outerShdw>
              </a:effectLst>
              <a:latin typeface="+mj-ea"/>
              <a:ea typeface="+mj-ea"/>
            </a:endParaRPr>
          </a:p>
          <a:p>
            <a:pPr marL="285750" indent="-285750">
              <a:buFont typeface="Wingdings" panose="05000000000000000000" pitchFamily="2" charset="2"/>
              <a:buChar char="u"/>
            </a:pPr>
            <a:endParaRPr lang="en-US" altLang="zh-CN" sz="2000" b="1">
              <a:solidFill>
                <a:srgbClr val="FFCC00"/>
              </a:solidFill>
              <a:effectLst>
                <a:outerShdw blurRad="38100" dist="38100" dir="2700000" algn="tl">
                  <a:srgbClr val="000000">
                    <a:alpha val="43137"/>
                  </a:srgbClr>
                </a:outerShdw>
              </a:effectLst>
              <a:latin typeface="+mj-ea"/>
              <a:ea typeface="+mj-ea"/>
            </a:endParaRPr>
          </a:p>
          <a:p>
            <a:pPr marL="285750" indent="-285750">
              <a:buFont typeface="Wingdings" panose="05000000000000000000" pitchFamily="2" charset="2"/>
              <a:buChar char="u"/>
            </a:pPr>
            <a:r>
              <a:rPr lang="zh-CN" altLang="en-US" sz="2000" b="1">
                <a:solidFill>
                  <a:srgbClr val="FFCC00"/>
                </a:solidFill>
                <a:effectLst>
                  <a:outerShdw blurRad="38100" dist="38100" dir="2700000" algn="tl">
                    <a:srgbClr val="000000">
                      <a:alpha val="43137"/>
                    </a:srgbClr>
                  </a:outerShdw>
                </a:effectLst>
                <a:latin typeface="+mj-ea"/>
                <a:ea typeface="+mj-ea"/>
              </a:rPr>
              <a:t>相比关心肌酐的微妙变化，去</a:t>
            </a:r>
            <a:r>
              <a:rPr lang="zh-CN" altLang="en-US" sz="2000" b="1">
                <a:solidFill>
                  <a:srgbClr val="EE8640"/>
                </a:solidFill>
                <a:effectLst>
                  <a:outerShdw blurRad="38100" dist="38100" dir="2700000" algn="tl">
                    <a:srgbClr val="000000">
                      <a:alpha val="43137"/>
                    </a:srgbClr>
                  </a:outerShdw>
                </a:effectLst>
                <a:latin typeface="+mj-ea"/>
                <a:ea typeface="+mj-ea"/>
              </a:rPr>
              <a:t>过度诠释</a:t>
            </a:r>
            <a:r>
              <a:rPr lang="zh-CN" altLang="en-US" sz="2000" b="1">
                <a:solidFill>
                  <a:srgbClr val="FFCC00"/>
                </a:solidFill>
                <a:effectLst>
                  <a:outerShdw blurRad="38100" dist="38100" dir="2700000" algn="tl">
                    <a:srgbClr val="000000">
                      <a:alpha val="43137"/>
                    </a:srgbClr>
                  </a:outerShdw>
                </a:effectLst>
                <a:latin typeface="+mj-ea"/>
                <a:ea typeface="+mj-ea"/>
              </a:rPr>
              <a:t>这个有局限的标志物，不如关心病患的身体状况更有价值。比如猫脱水情况，肌肉，体重，食欲等。</a:t>
            </a:r>
            <a:endParaRPr lang="en-US" altLang="zh-CN" sz="2000" b="1">
              <a:solidFill>
                <a:srgbClr val="FFCC00"/>
              </a:solidFill>
              <a:effectLst>
                <a:outerShdw blurRad="38100" dist="38100" dir="2700000" algn="tl">
                  <a:srgbClr val="000000">
                    <a:alpha val="43137"/>
                  </a:srgbClr>
                </a:outerShdw>
              </a:effectLst>
              <a:latin typeface="+mj-ea"/>
              <a:ea typeface="+mj-ea"/>
            </a:endParaRPr>
          </a:p>
          <a:p>
            <a:pPr marL="285750" indent="-285750">
              <a:buFont typeface="Wingdings" panose="05000000000000000000" pitchFamily="2" charset="2"/>
              <a:buChar char="u"/>
            </a:pPr>
            <a:endParaRPr lang="en-US" altLang="zh-CN" sz="2000" b="1">
              <a:solidFill>
                <a:srgbClr val="FFCC00"/>
              </a:solidFill>
              <a:effectLst>
                <a:outerShdw blurRad="38100" dist="38100" dir="2700000" algn="tl">
                  <a:srgbClr val="000000">
                    <a:alpha val="43137"/>
                  </a:srgbClr>
                </a:outerShdw>
              </a:effectLst>
              <a:latin typeface="+mj-ea"/>
              <a:ea typeface="+mj-ea"/>
            </a:endParaRPr>
          </a:p>
          <a:p>
            <a:pPr marL="285750" indent="-285750">
              <a:buFont typeface="Wingdings" panose="05000000000000000000" pitchFamily="2" charset="2"/>
              <a:buChar char="u"/>
            </a:pPr>
            <a:r>
              <a:rPr lang="zh-CN" altLang="en-US" sz="2000" b="1">
                <a:solidFill>
                  <a:srgbClr val="FFCC00"/>
                </a:solidFill>
                <a:effectLst>
                  <a:outerShdw blurRad="38100" dist="38100" dir="2700000" algn="tl">
                    <a:srgbClr val="000000">
                      <a:alpha val="43137"/>
                    </a:srgbClr>
                  </a:outerShdw>
                </a:effectLst>
                <a:latin typeface="+mj-ea"/>
                <a:ea typeface="+mj-ea"/>
              </a:rPr>
              <a:t>对肌酐，大家请记住</a:t>
            </a:r>
            <a:r>
              <a:rPr lang="en-US" altLang="zh-CN" sz="2000" b="1">
                <a:solidFill>
                  <a:schemeClr val="bg1"/>
                </a:solidFill>
                <a:effectLst>
                  <a:outerShdw blurRad="38100" dist="38100" dir="2700000" algn="tl">
                    <a:srgbClr val="000000">
                      <a:alpha val="43137"/>
                    </a:srgbClr>
                  </a:outerShdw>
                </a:effectLst>
                <a:latin typeface="+mj-ea"/>
                <a:ea typeface="+mj-ea"/>
              </a:rPr>
              <a:t>265µmol/L</a:t>
            </a:r>
            <a:r>
              <a:rPr lang="zh-CN" altLang="en-US" sz="2000" b="1">
                <a:solidFill>
                  <a:schemeClr val="bg1"/>
                </a:solidFill>
                <a:effectLst>
                  <a:outerShdw blurRad="38100" dist="38100" dir="2700000" algn="tl">
                    <a:srgbClr val="000000">
                      <a:alpha val="43137"/>
                    </a:srgbClr>
                  </a:outerShdw>
                </a:effectLst>
                <a:latin typeface="+mj-ea"/>
                <a:ea typeface="+mj-ea"/>
              </a:rPr>
              <a:t>到</a:t>
            </a:r>
            <a:r>
              <a:rPr lang="en-US" altLang="zh-CN" sz="2000" b="1">
                <a:solidFill>
                  <a:schemeClr val="bg1"/>
                </a:solidFill>
                <a:effectLst>
                  <a:outerShdw blurRad="38100" dist="38100" dir="2700000" algn="tl">
                    <a:srgbClr val="000000">
                      <a:alpha val="43137"/>
                    </a:srgbClr>
                  </a:outerShdw>
                </a:effectLst>
                <a:latin typeface="+mj-ea"/>
                <a:ea typeface="+mj-ea"/>
              </a:rPr>
              <a:t>300µmol/L</a:t>
            </a:r>
            <a:r>
              <a:rPr lang="zh-CN" altLang="en-US" sz="2000" b="1">
                <a:solidFill>
                  <a:srgbClr val="FFCC00"/>
                </a:solidFill>
                <a:effectLst>
                  <a:outerShdw blurRad="38100" dist="38100" dir="2700000" algn="tl">
                    <a:srgbClr val="000000">
                      <a:alpha val="43137"/>
                    </a:srgbClr>
                  </a:outerShdw>
                </a:effectLst>
                <a:latin typeface="+mj-ea"/>
                <a:ea typeface="+mj-ea"/>
              </a:rPr>
              <a:t>这个区间。</a:t>
            </a:r>
            <a:r>
              <a:rPr lang="en-US" altLang="zh-CN" sz="2000" b="1">
                <a:solidFill>
                  <a:srgbClr val="FFCC00"/>
                </a:solidFill>
                <a:effectLst>
                  <a:outerShdw blurRad="38100" dist="38100" dir="2700000" algn="tl">
                    <a:srgbClr val="000000">
                      <a:alpha val="43137"/>
                    </a:srgbClr>
                  </a:outerShdw>
                </a:effectLst>
                <a:latin typeface="+mj-ea"/>
                <a:ea typeface="+mj-ea"/>
              </a:rPr>
              <a:t>265</a:t>
            </a:r>
            <a:r>
              <a:rPr lang="zh-CN" altLang="en-US" sz="2000" b="1">
                <a:solidFill>
                  <a:srgbClr val="FFCC00"/>
                </a:solidFill>
                <a:effectLst>
                  <a:outerShdw blurRad="38100" dist="38100" dir="2700000" algn="tl">
                    <a:srgbClr val="000000">
                      <a:alpha val="43137"/>
                    </a:srgbClr>
                  </a:outerShdw>
                </a:effectLst>
                <a:latin typeface="+mj-ea"/>
                <a:ea typeface="+mj-ea"/>
              </a:rPr>
              <a:t>以上</a:t>
            </a:r>
            <a:r>
              <a:rPr lang="zh-CN" altLang="en-US" sz="2000" b="1">
                <a:solidFill>
                  <a:srgbClr val="FF2929"/>
                </a:solidFill>
                <a:effectLst>
                  <a:outerShdw blurRad="38100" dist="38100" dir="2700000" algn="tl">
                    <a:srgbClr val="000000">
                      <a:alpha val="43137"/>
                    </a:srgbClr>
                  </a:outerShdw>
                </a:effectLst>
                <a:latin typeface="+mj-ea"/>
                <a:ea typeface="+mj-ea"/>
              </a:rPr>
              <a:t>也许</a:t>
            </a:r>
            <a:r>
              <a:rPr lang="zh-CN" altLang="en-US" sz="2000" b="1">
                <a:solidFill>
                  <a:srgbClr val="FFCC00"/>
                </a:solidFill>
                <a:effectLst>
                  <a:outerShdw blurRad="38100" dist="38100" dir="2700000" algn="tl">
                    <a:srgbClr val="000000">
                      <a:alpha val="43137"/>
                    </a:srgbClr>
                  </a:outerShdw>
                </a:effectLst>
                <a:latin typeface="+mj-ea"/>
                <a:ea typeface="+mj-ea"/>
              </a:rPr>
              <a:t>预示着尿毒症毒素过度积聚，而</a:t>
            </a:r>
            <a:r>
              <a:rPr lang="en-US" altLang="zh-CN" sz="2000" b="1">
                <a:solidFill>
                  <a:srgbClr val="FFCC00"/>
                </a:solidFill>
                <a:effectLst>
                  <a:outerShdw blurRad="38100" dist="38100" dir="2700000" algn="tl">
                    <a:srgbClr val="000000">
                      <a:alpha val="43137"/>
                    </a:srgbClr>
                  </a:outerShdw>
                </a:effectLst>
                <a:latin typeface="+mj-ea"/>
                <a:ea typeface="+mj-ea"/>
              </a:rPr>
              <a:t>300</a:t>
            </a:r>
            <a:r>
              <a:rPr lang="zh-CN" altLang="en-US" sz="2000" b="1">
                <a:solidFill>
                  <a:srgbClr val="FFCC00"/>
                </a:solidFill>
                <a:effectLst>
                  <a:outerShdw blurRad="38100" dist="38100" dir="2700000" algn="tl">
                    <a:srgbClr val="000000">
                      <a:alpha val="43137"/>
                    </a:srgbClr>
                  </a:outerShdw>
                </a:effectLst>
                <a:latin typeface="+mj-ea"/>
                <a:ea typeface="+mj-ea"/>
              </a:rPr>
              <a:t>以上使用皮下补液来预防脱水的必要性开始提高。</a:t>
            </a:r>
            <a:r>
              <a:rPr lang="zh-CN" altLang="en-US" sz="1050" b="1">
                <a:solidFill>
                  <a:srgbClr val="FFCC00"/>
                </a:solidFill>
                <a:effectLst>
                  <a:outerShdw blurRad="38100" dist="38100" dir="2700000" algn="tl">
                    <a:srgbClr val="000000">
                      <a:alpha val="43137"/>
                    </a:srgbClr>
                  </a:outerShdw>
                </a:effectLst>
                <a:latin typeface="+mj-ea"/>
                <a:ea typeface="+mj-ea"/>
              </a:rPr>
              <a:t>（即肌酐</a:t>
            </a:r>
            <a:r>
              <a:rPr lang="en-US" altLang="zh-CN" sz="1050" b="1">
                <a:solidFill>
                  <a:srgbClr val="FFCC00"/>
                </a:solidFill>
                <a:effectLst>
                  <a:outerShdw blurRad="38100" dist="38100" dir="2700000" algn="tl">
                    <a:srgbClr val="000000">
                      <a:alpha val="43137"/>
                    </a:srgbClr>
                  </a:outerShdw>
                </a:effectLst>
                <a:latin typeface="+mj-ea"/>
                <a:ea typeface="+mj-ea"/>
              </a:rPr>
              <a:t>3mg/dl</a:t>
            </a:r>
            <a:r>
              <a:rPr lang="zh-CN" altLang="en-US" sz="1050" b="1">
                <a:solidFill>
                  <a:srgbClr val="FFCC00"/>
                </a:solidFill>
                <a:effectLst>
                  <a:outerShdw blurRad="38100" dist="38100" dir="2700000" algn="tl">
                    <a:srgbClr val="000000">
                      <a:alpha val="43137"/>
                    </a:srgbClr>
                  </a:outerShdw>
                </a:effectLst>
                <a:latin typeface="+mj-ea"/>
                <a:ea typeface="+mj-ea"/>
              </a:rPr>
              <a:t>与</a:t>
            </a:r>
            <a:r>
              <a:rPr lang="en-US" altLang="zh-CN" sz="1050" b="1">
                <a:solidFill>
                  <a:srgbClr val="FFCC00"/>
                </a:solidFill>
                <a:effectLst>
                  <a:outerShdw blurRad="38100" dist="38100" dir="2700000" algn="tl">
                    <a:srgbClr val="000000">
                      <a:alpha val="43137"/>
                    </a:srgbClr>
                  </a:outerShdw>
                </a:effectLst>
                <a:latin typeface="+mj-ea"/>
                <a:ea typeface="+mj-ea"/>
              </a:rPr>
              <a:t>3.5mg/dl</a:t>
            </a:r>
            <a:r>
              <a:rPr lang="zh-CN" altLang="en-US" sz="1050" b="1">
                <a:solidFill>
                  <a:srgbClr val="FFCC00"/>
                </a:solidFill>
                <a:effectLst>
                  <a:outerShdw blurRad="38100" dist="38100" dir="2700000" algn="tl">
                    <a:srgbClr val="000000">
                      <a:alpha val="43137"/>
                    </a:srgbClr>
                  </a:outerShdw>
                </a:effectLst>
                <a:latin typeface="+mj-ea"/>
                <a:ea typeface="+mj-ea"/>
              </a:rPr>
              <a:t>）</a:t>
            </a:r>
            <a:endParaRPr lang="en-US" altLang="zh-CN" sz="1050" b="1">
              <a:solidFill>
                <a:srgbClr val="FFCC00"/>
              </a:solidFill>
              <a:effectLst>
                <a:outerShdw blurRad="38100" dist="38100" dir="2700000" algn="tl">
                  <a:srgbClr val="000000">
                    <a:alpha val="43137"/>
                  </a:srgbClr>
                </a:outerShdw>
              </a:effectLst>
              <a:latin typeface="+mj-ea"/>
              <a:ea typeface="+mj-ea"/>
            </a:endParaRPr>
          </a:p>
          <a:p>
            <a:pPr marL="285750" indent="-285750">
              <a:buFont typeface="Wingdings" panose="05000000000000000000" pitchFamily="2" charset="2"/>
              <a:buChar char="u"/>
            </a:pPr>
            <a:endParaRPr lang="en-US" altLang="zh-CN" sz="1600" b="1">
              <a:solidFill>
                <a:srgbClr val="FFCC00"/>
              </a:solidFill>
              <a:effectLst>
                <a:outerShdw blurRad="38100" dist="38100" dir="2700000" algn="tl">
                  <a:srgbClr val="000000">
                    <a:alpha val="43137"/>
                  </a:srgbClr>
                </a:outerShdw>
              </a:effectLst>
              <a:latin typeface="+mj-ea"/>
              <a:ea typeface="+mj-ea"/>
            </a:endParaRPr>
          </a:p>
        </p:txBody>
      </p:sp>
    </p:spTree>
    <p:extLst>
      <p:ext uri="{BB962C8B-B14F-4D97-AF65-F5344CB8AC3E}">
        <p14:creationId xmlns:p14="http://schemas.microsoft.com/office/powerpoint/2010/main" val="6894763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0" name="箭头: 五边形 6">
            <a:extLst/>
          </p:cNvPr>
          <p:cNvSpPr/>
          <p:nvPr/>
        </p:nvSpPr>
        <p:spPr>
          <a:xfrm rot="10800000" flipH="1">
            <a:off x="0" y="404813"/>
            <a:ext cx="7392144" cy="1344612"/>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grpSp>
        <p:nvGrpSpPr>
          <p:cNvPr id="30724" name="组合 22"/>
          <p:cNvGrpSpPr>
            <a:grpSpLocks/>
          </p:cNvGrpSpPr>
          <p:nvPr/>
        </p:nvGrpSpPr>
        <p:grpSpPr bwMode="auto">
          <a:xfrm>
            <a:off x="196850" y="404813"/>
            <a:ext cx="5779784" cy="1134998"/>
            <a:chOff x="-101400" y="2876417"/>
            <a:chExt cx="5114992" cy="1134983"/>
          </a:xfrm>
        </p:grpSpPr>
        <p:sp>
          <p:nvSpPr>
            <p:cNvPr id="20494" name="文本框 13">
              <a:extLst/>
            </p:cNvPr>
            <p:cNvSpPr txBox="1">
              <a:spLocks noChangeArrowheads="1"/>
            </p:cNvSpPr>
            <p:nvPr/>
          </p:nvSpPr>
          <p:spPr bwMode="auto">
            <a:xfrm>
              <a:off x="-101400" y="2876417"/>
              <a:ext cx="1343136" cy="825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600" b="1">
                  <a:solidFill>
                    <a:srgbClr val="010101"/>
                  </a:solidFill>
                  <a:latin typeface="+mn-lt"/>
                  <a:ea typeface="+mn-ea"/>
                  <a:cs typeface="+mn-ea"/>
                  <a:sym typeface="+mn-lt"/>
                </a:rPr>
                <a:t>PART</a:t>
              </a:r>
            </a:p>
          </p:txBody>
        </p:sp>
        <p:sp>
          <p:nvSpPr>
            <p:cNvPr id="20495" name="文本框 14">
              <a:extLst/>
            </p:cNvPr>
            <p:cNvSpPr txBox="1">
              <a:spLocks noChangeArrowheads="1"/>
            </p:cNvSpPr>
            <p:nvPr/>
          </p:nvSpPr>
          <p:spPr bwMode="auto">
            <a:xfrm>
              <a:off x="2150733" y="3430993"/>
              <a:ext cx="2862859" cy="580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endParaRPr lang="en-US" altLang="zh-CN" sz="2400">
                <a:solidFill>
                  <a:srgbClr val="010101"/>
                </a:solidFill>
                <a:latin typeface="+mn-lt"/>
                <a:ea typeface="+mn-ea"/>
                <a:cs typeface="+mn-ea"/>
                <a:sym typeface="+mn-lt"/>
              </a:endParaRPr>
            </a:p>
          </p:txBody>
        </p:sp>
        <p:cxnSp>
          <p:nvCxnSpPr>
            <p:cNvPr id="24" name="直接连接符 23">
              <a:extLst/>
            </p:cNvPr>
            <p:cNvCxnSpPr>
              <a:cxnSpLocks/>
            </p:cNvCxnSpPr>
            <p:nvPr/>
          </p:nvCxnSpPr>
          <p:spPr>
            <a:xfrm flipH="1">
              <a:off x="489901" y="3171688"/>
              <a:ext cx="1074241" cy="722302"/>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0497" name="矩形 20">
              <a:extLst/>
            </p:cNvPr>
            <p:cNvSpPr>
              <a:spLocks noChangeArrowheads="1"/>
            </p:cNvSpPr>
            <p:nvPr/>
          </p:nvSpPr>
          <p:spPr bwMode="auto">
            <a:xfrm>
              <a:off x="618328" y="3473309"/>
              <a:ext cx="1577249" cy="523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lvl="1">
                <a:lnSpc>
                  <a:spcPct val="100000"/>
                </a:lnSpc>
                <a:spcBef>
                  <a:spcPct val="0"/>
                </a:spcBef>
                <a:buFontTx/>
                <a:buNone/>
                <a:defRPr/>
              </a:pPr>
              <a:r>
                <a:rPr lang="en-US" altLang="zh-CN" sz="2800" b="1">
                  <a:solidFill>
                    <a:srgbClr val="010101"/>
                  </a:solidFill>
                  <a:latin typeface="+mn-lt"/>
                  <a:ea typeface="+mn-ea"/>
                  <a:cs typeface="+mn-ea"/>
                  <a:sym typeface="+mn-lt"/>
                </a:rPr>
                <a:t>TWO</a:t>
              </a:r>
              <a:endParaRPr lang="zh-CN" altLang="en-US" sz="1400">
                <a:latin typeface="+mn-lt"/>
                <a:ea typeface="+mn-ea"/>
                <a:cs typeface="+mn-ea"/>
                <a:sym typeface="+mn-lt"/>
              </a:endParaRPr>
            </a:p>
          </p:txBody>
        </p:sp>
      </p:grpSp>
      <p:sp>
        <p:nvSpPr>
          <p:cNvPr id="45" name="矩形 44">
            <a:extLst/>
          </p:cNvPr>
          <p:cNvSpPr/>
          <p:nvPr/>
        </p:nvSpPr>
        <p:spPr>
          <a:xfrm>
            <a:off x="0" y="1749426"/>
            <a:ext cx="4799856" cy="510857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sp>
        <p:nvSpPr>
          <p:cNvPr id="8" name="文本框 7"/>
          <p:cNvSpPr txBox="1"/>
          <p:nvPr/>
        </p:nvSpPr>
        <p:spPr>
          <a:xfrm>
            <a:off x="254618" y="2470092"/>
            <a:ext cx="5683126" cy="615553"/>
          </a:xfrm>
          <a:prstGeom prst="rect">
            <a:avLst/>
          </a:prstGeom>
          <a:noFill/>
        </p:spPr>
        <p:txBody>
          <a:bodyPr wrap="square" numCol="2" rtlCol="0">
            <a:spAutoFit/>
          </a:bodyPr>
          <a:lstStyle/>
          <a:p>
            <a:pPr lvl="1"/>
            <a:endParaRPr lang="en-US" altLang="zh-CN" sz="1600" b="1">
              <a:solidFill>
                <a:schemeClr val="tx1">
                  <a:lumMod val="75000"/>
                  <a:lumOff val="25000"/>
                </a:schemeClr>
              </a:solidFill>
              <a:effectLst>
                <a:outerShdw blurRad="38100" dist="38100" dir="2700000" algn="tl">
                  <a:srgbClr val="000000">
                    <a:alpha val="43137"/>
                  </a:srgbClr>
                </a:outerShdw>
              </a:effectLst>
              <a:latin typeface="+mj-ea"/>
            </a:endParaRPr>
          </a:p>
          <a:p>
            <a:endParaRPr lang="zh-CN" altLang="en-US"/>
          </a:p>
        </p:txBody>
      </p:sp>
      <p:sp>
        <p:nvSpPr>
          <p:cNvPr id="2" name="文本框 1"/>
          <p:cNvSpPr txBox="1"/>
          <p:nvPr/>
        </p:nvSpPr>
        <p:spPr>
          <a:xfrm>
            <a:off x="2382704" y="1125478"/>
            <a:ext cx="4721408" cy="400110"/>
          </a:xfrm>
          <a:prstGeom prst="rect">
            <a:avLst/>
          </a:prstGeom>
          <a:noFill/>
        </p:spPr>
        <p:txBody>
          <a:bodyPr wrap="square" rtlCol="0">
            <a:spAutoFit/>
          </a:bodyPr>
          <a:lstStyle/>
          <a:p>
            <a:r>
              <a:rPr lang="zh-CN" altLang="en-US" sz="2000" b="1">
                <a:solidFill>
                  <a:schemeClr val="tx2">
                    <a:lumMod val="75000"/>
                  </a:schemeClr>
                </a:solidFill>
                <a:latin typeface="+mj-ea"/>
                <a:ea typeface="+mj-ea"/>
              </a:rPr>
              <a:t>“</a:t>
            </a:r>
            <a:r>
              <a:rPr lang="en-US" altLang="zh-CN" sz="2000" b="1">
                <a:solidFill>
                  <a:schemeClr val="tx2">
                    <a:lumMod val="75000"/>
                  </a:schemeClr>
                </a:solidFill>
                <a:latin typeface="+mj-ea"/>
                <a:ea typeface="+mj-ea"/>
              </a:rPr>
              <a:t>130</a:t>
            </a:r>
            <a:r>
              <a:rPr lang="zh-CN" altLang="en-US" sz="2000" b="1">
                <a:solidFill>
                  <a:schemeClr val="tx2">
                    <a:lumMod val="75000"/>
                  </a:schemeClr>
                </a:solidFill>
                <a:latin typeface="+mj-ea"/>
                <a:ea typeface="+mj-ea"/>
              </a:rPr>
              <a:t>个同伴，为什么就盯着我呢？”</a:t>
            </a:r>
          </a:p>
        </p:txBody>
      </p:sp>
      <p:sp>
        <p:nvSpPr>
          <p:cNvPr id="4" name="文本框 3"/>
          <p:cNvSpPr txBox="1"/>
          <p:nvPr/>
        </p:nvSpPr>
        <p:spPr>
          <a:xfrm>
            <a:off x="2897878" y="620688"/>
            <a:ext cx="3078756" cy="461665"/>
          </a:xfrm>
          <a:prstGeom prst="rect">
            <a:avLst/>
          </a:prstGeom>
          <a:noFill/>
        </p:spPr>
        <p:txBody>
          <a:bodyPr wrap="square" rtlCol="0">
            <a:spAutoFit/>
          </a:bodyPr>
          <a:lstStyle/>
          <a:p>
            <a:r>
              <a:rPr lang="zh-CN" altLang="en-US" sz="2400" b="1">
                <a:solidFill>
                  <a:schemeClr val="bg1"/>
                </a:solidFill>
                <a:effectLst>
                  <a:outerShdw blurRad="38100" dist="38100" dir="2700000" algn="tl">
                    <a:srgbClr val="000000">
                      <a:alpha val="43137"/>
                    </a:srgbClr>
                  </a:outerShdw>
                </a:effectLst>
                <a:latin typeface="+mj-ea"/>
                <a:ea typeface="+mj-ea"/>
              </a:rPr>
              <a:t>尿素氮</a:t>
            </a:r>
            <a:r>
              <a:rPr lang="en-US" altLang="zh-CN" sz="2400" b="1">
                <a:solidFill>
                  <a:schemeClr val="bg1"/>
                </a:solidFill>
                <a:effectLst>
                  <a:outerShdw blurRad="38100" dist="38100" dir="2700000" algn="tl">
                    <a:srgbClr val="000000">
                      <a:alpha val="43137"/>
                    </a:srgbClr>
                  </a:outerShdw>
                </a:effectLst>
                <a:latin typeface="+mj-ea"/>
                <a:ea typeface="+mj-ea"/>
              </a:rPr>
              <a:t>(UREA/BUN)</a:t>
            </a:r>
            <a:endParaRPr lang="zh-CN" altLang="en-US" sz="2400" b="1">
              <a:solidFill>
                <a:schemeClr val="bg1"/>
              </a:solidFill>
              <a:effectLst>
                <a:outerShdw blurRad="38100" dist="38100" dir="2700000" algn="tl">
                  <a:srgbClr val="000000">
                    <a:alpha val="43137"/>
                  </a:srgbClr>
                </a:outerShdw>
              </a:effectLst>
              <a:latin typeface="+mj-ea"/>
              <a:ea typeface="+mj-ea"/>
            </a:endParaRPr>
          </a:p>
        </p:txBody>
      </p:sp>
      <p:sp>
        <p:nvSpPr>
          <p:cNvPr id="5" name="文本框 4"/>
          <p:cNvSpPr txBox="1"/>
          <p:nvPr/>
        </p:nvSpPr>
        <p:spPr>
          <a:xfrm>
            <a:off x="254618" y="2176777"/>
            <a:ext cx="3969174" cy="4739759"/>
          </a:xfrm>
          <a:prstGeom prst="rect">
            <a:avLst/>
          </a:prstGeom>
          <a:noFill/>
        </p:spPr>
        <p:txBody>
          <a:bodyPr wrap="square" rtlCol="0">
            <a:spAutoFit/>
          </a:bodyPr>
          <a:lstStyle/>
          <a:p>
            <a:pPr marL="285750" indent="-285750">
              <a:buFont typeface="Wingdings" panose="05000000000000000000" pitchFamily="2" charset="2"/>
              <a:buChar char="u"/>
            </a:pPr>
            <a:r>
              <a:rPr lang="zh-CN" altLang="en-US" sz="1400" b="1">
                <a:latin typeface="+mj-ea"/>
                <a:ea typeface="+mj-ea"/>
              </a:rPr>
              <a:t>尿素氮是蛋白质代谢的产物，由肝脏制造，蛋白质摄入多，尿素氮产量增加。</a:t>
            </a:r>
            <a:endParaRPr lang="en-US" altLang="zh-CN" sz="1400" b="1">
              <a:latin typeface="+mj-ea"/>
              <a:ea typeface="+mj-ea"/>
            </a:endParaRPr>
          </a:p>
          <a:p>
            <a:pPr marL="285750" indent="-285750">
              <a:buFont typeface="Wingdings" panose="05000000000000000000" pitchFamily="2" charset="2"/>
              <a:buChar char="u"/>
            </a:pPr>
            <a:endParaRPr lang="en-US" altLang="zh-CN" sz="1400" b="1">
              <a:latin typeface="+mj-ea"/>
              <a:ea typeface="+mj-ea"/>
            </a:endParaRPr>
          </a:p>
          <a:p>
            <a:pPr marL="285750" indent="-285750">
              <a:buFont typeface="Wingdings" panose="05000000000000000000" pitchFamily="2" charset="2"/>
              <a:buChar char="u"/>
            </a:pPr>
            <a:r>
              <a:rPr lang="zh-CN" altLang="en-US" sz="1400" b="1">
                <a:latin typeface="+mj-ea"/>
                <a:ea typeface="+mj-ea"/>
              </a:rPr>
              <a:t>作为最早被发现的“尿毒症毒素”，尿素氮与尿毒症近乎划了等号，在肾脏研究起步的年代受到莫大关注。</a:t>
            </a:r>
            <a:endParaRPr lang="en-US" altLang="zh-CN" sz="1400" b="1">
              <a:latin typeface="+mj-ea"/>
              <a:ea typeface="+mj-ea"/>
            </a:endParaRPr>
          </a:p>
          <a:p>
            <a:endParaRPr lang="en-US" altLang="zh-CN" sz="1400" b="1">
              <a:latin typeface="+mj-ea"/>
              <a:ea typeface="+mj-ea"/>
            </a:endParaRPr>
          </a:p>
          <a:p>
            <a:pPr marL="285750" indent="-285750">
              <a:buFont typeface="Wingdings" panose="05000000000000000000" pitchFamily="2" charset="2"/>
              <a:buChar char="u"/>
            </a:pPr>
            <a:r>
              <a:rPr lang="zh-CN" altLang="en-US" sz="1400" b="1">
                <a:latin typeface="+mj-ea"/>
                <a:ea typeface="+mj-ea"/>
              </a:rPr>
              <a:t>尿毒症一词“</a:t>
            </a:r>
            <a:r>
              <a:rPr lang="en-US" altLang="zh-CN" sz="1400" b="1">
                <a:latin typeface="+mj-ea"/>
                <a:ea typeface="+mj-ea"/>
              </a:rPr>
              <a:t>Uremia</a:t>
            </a:r>
            <a:r>
              <a:rPr lang="zh-CN" altLang="en-US" sz="1400" b="1">
                <a:latin typeface="+mj-ea"/>
                <a:ea typeface="+mj-ea"/>
              </a:rPr>
              <a:t>”最初的字面意思就是尿中尿素氮太多。</a:t>
            </a:r>
            <a:endParaRPr lang="en-US" altLang="zh-CN" sz="1400" b="1">
              <a:latin typeface="+mj-ea"/>
              <a:ea typeface="+mj-ea"/>
            </a:endParaRPr>
          </a:p>
          <a:p>
            <a:endParaRPr lang="en-US" altLang="zh-CN" sz="1400" b="1">
              <a:latin typeface="+mj-ea"/>
              <a:ea typeface="+mj-ea"/>
            </a:endParaRPr>
          </a:p>
          <a:p>
            <a:pPr marL="285750" indent="-285750">
              <a:buFont typeface="Wingdings" panose="05000000000000000000" pitchFamily="2" charset="2"/>
              <a:buChar char="u"/>
            </a:pPr>
            <a:r>
              <a:rPr lang="zh-CN" altLang="en-US" sz="1400" b="1">
                <a:latin typeface="+mj-ea"/>
                <a:ea typeface="+mj-ea"/>
              </a:rPr>
              <a:t>基于上面的原因，许多人至今认为蛋白质吃太多是尿毒症加剧与肾病罪魁祸首。</a:t>
            </a:r>
            <a:endParaRPr lang="en-US" altLang="zh-CN" sz="1400" b="1">
              <a:latin typeface="+mj-ea"/>
              <a:ea typeface="+mj-ea"/>
            </a:endParaRPr>
          </a:p>
          <a:p>
            <a:pPr marL="285750" indent="-285750">
              <a:buFont typeface="Wingdings" panose="05000000000000000000" pitchFamily="2" charset="2"/>
              <a:buChar char="u"/>
            </a:pPr>
            <a:endParaRPr lang="en-US" altLang="zh-CN" sz="1400" b="1">
              <a:latin typeface="+mj-ea"/>
              <a:ea typeface="+mj-ea"/>
            </a:endParaRPr>
          </a:p>
          <a:p>
            <a:pPr marL="285750" indent="-285750">
              <a:buFont typeface="Wingdings" panose="05000000000000000000" pitchFamily="2" charset="2"/>
              <a:buChar char="u"/>
            </a:pPr>
            <a:r>
              <a:rPr lang="zh-CN" altLang="en-US" sz="1400" b="1">
                <a:latin typeface="+mj-ea"/>
                <a:ea typeface="+mj-ea"/>
              </a:rPr>
              <a:t>讽刺的是，尿素氮本就是身体脱毒处理的产物，其毒性远不如其它尿毒症毒素，肾脏中的代谢过程也没什么压力可言。</a:t>
            </a:r>
            <a:endParaRPr lang="en-US" altLang="zh-CN" sz="1400" b="1">
              <a:latin typeface="+mj-ea"/>
              <a:ea typeface="+mj-ea"/>
            </a:endParaRPr>
          </a:p>
          <a:p>
            <a:pPr marL="285750" indent="-285750">
              <a:buFont typeface="Wingdings" panose="05000000000000000000" pitchFamily="2" charset="2"/>
              <a:buChar char="u"/>
            </a:pPr>
            <a:endParaRPr lang="en-US" altLang="zh-CN" sz="1400" b="1">
              <a:latin typeface="+mj-ea"/>
              <a:ea typeface="+mj-ea"/>
            </a:endParaRPr>
          </a:p>
          <a:p>
            <a:pPr marL="285750" indent="-285750">
              <a:buFont typeface="Wingdings" panose="05000000000000000000" pitchFamily="2" charset="2"/>
              <a:buChar char="u"/>
            </a:pPr>
            <a:r>
              <a:rPr lang="zh-CN" altLang="en-US" sz="1400" b="1">
                <a:latin typeface="+mj-ea"/>
                <a:ea typeface="+mj-ea"/>
              </a:rPr>
              <a:t>尿素氮会被多种因素影响，被认为是一个“不太好使”的肾机能衡量指标。</a:t>
            </a:r>
            <a:endParaRPr lang="en-US" altLang="zh-CN" sz="1400" b="1">
              <a:latin typeface="+mj-ea"/>
              <a:ea typeface="+mj-ea"/>
            </a:endParaRPr>
          </a:p>
          <a:p>
            <a:endParaRPr lang="en-US" altLang="zh-CN"/>
          </a:p>
          <a:p>
            <a:endParaRPr lang="en-US" altLang="zh-CN"/>
          </a:p>
        </p:txBody>
      </p:sp>
      <p:graphicFrame>
        <p:nvGraphicFramePr>
          <p:cNvPr id="30743" name="图表 30742"/>
          <p:cNvGraphicFramePr/>
          <p:nvPr>
            <p:extLst>
              <p:ext uri="{D42A27DB-BD31-4B8C-83A1-F6EECF244321}">
                <p14:modId xmlns:p14="http://schemas.microsoft.com/office/powerpoint/2010/main" val="975309617"/>
              </p:ext>
            </p:extLst>
          </p:nvPr>
        </p:nvGraphicFramePr>
        <p:xfrm>
          <a:off x="5375920" y="1679400"/>
          <a:ext cx="5904656" cy="4077171"/>
        </p:xfrm>
        <a:graphic>
          <a:graphicData uri="http://schemas.openxmlformats.org/drawingml/2006/chart">
            <c:chart xmlns:c="http://schemas.openxmlformats.org/drawingml/2006/chart" xmlns:r="http://schemas.openxmlformats.org/officeDocument/2006/relationships" r:id="rId4"/>
          </a:graphicData>
        </a:graphic>
      </p:graphicFrame>
      <p:sp>
        <p:nvSpPr>
          <p:cNvPr id="30745" name="文本框 30744"/>
          <p:cNvSpPr txBox="1"/>
          <p:nvPr/>
        </p:nvSpPr>
        <p:spPr>
          <a:xfrm>
            <a:off x="9048328" y="3256320"/>
            <a:ext cx="1944216" cy="400110"/>
          </a:xfrm>
          <a:prstGeom prst="rect">
            <a:avLst/>
          </a:prstGeom>
          <a:noFill/>
        </p:spPr>
        <p:txBody>
          <a:bodyPr wrap="square" rtlCol="0">
            <a:spAutoFit/>
          </a:bodyPr>
          <a:lstStyle/>
          <a:p>
            <a:r>
              <a:rPr lang="zh-CN" altLang="en-US" sz="2000" b="1">
                <a:solidFill>
                  <a:schemeClr val="accent2">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可能厌食？</a:t>
            </a:r>
          </a:p>
        </p:txBody>
      </p:sp>
      <p:sp>
        <p:nvSpPr>
          <p:cNvPr id="30747" name="文本框 30746"/>
          <p:cNvSpPr txBox="1"/>
          <p:nvPr/>
        </p:nvSpPr>
        <p:spPr>
          <a:xfrm>
            <a:off x="10344472" y="2481919"/>
            <a:ext cx="1728192" cy="400110"/>
          </a:xfrm>
          <a:prstGeom prst="rect">
            <a:avLst/>
          </a:prstGeom>
          <a:noFill/>
        </p:spPr>
        <p:txBody>
          <a:bodyPr wrap="square" rtlCol="0">
            <a:spAutoFit/>
          </a:bodyPr>
          <a:lstStyle/>
          <a:p>
            <a:r>
              <a:rPr lang="zh-CN" altLang="en-US" sz="2000" b="1">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可能呕吐？</a:t>
            </a:r>
          </a:p>
        </p:txBody>
      </p:sp>
      <p:sp>
        <p:nvSpPr>
          <p:cNvPr id="30748" name="文本框 30747"/>
          <p:cNvSpPr txBox="1"/>
          <p:nvPr/>
        </p:nvSpPr>
        <p:spPr>
          <a:xfrm>
            <a:off x="8184232" y="4077072"/>
            <a:ext cx="2376264" cy="400110"/>
          </a:xfrm>
          <a:prstGeom prst="rect">
            <a:avLst/>
          </a:prstGeom>
          <a:noFill/>
        </p:spPr>
        <p:txBody>
          <a:bodyPr wrap="square" rtlCol="0">
            <a:spAutoFit/>
          </a:bodyPr>
          <a:lstStyle/>
          <a:p>
            <a:r>
              <a:rPr lang="zh-CN" altLang="en-US" sz="2000" b="1">
                <a:solidFill>
                  <a:schemeClr val="accent4">
                    <a:lumMod val="20000"/>
                    <a:lumOff val="8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超标，但无症状</a:t>
            </a:r>
          </a:p>
        </p:txBody>
      </p:sp>
      <p:sp>
        <p:nvSpPr>
          <p:cNvPr id="30749" name="文本框 30748"/>
          <p:cNvSpPr txBox="1"/>
          <p:nvPr/>
        </p:nvSpPr>
        <p:spPr>
          <a:xfrm>
            <a:off x="7284132" y="4891509"/>
            <a:ext cx="2736304" cy="400110"/>
          </a:xfrm>
          <a:prstGeom prst="rect">
            <a:avLst/>
          </a:prstGeom>
          <a:noFill/>
        </p:spPr>
        <p:txBody>
          <a:bodyPr wrap="square" rtlCol="0">
            <a:spAutoFit/>
          </a:bodyPr>
          <a:lstStyle/>
          <a:p>
            <a:r>
              <a:rPr lang="zh-CN" altLang="en-US" sz="2000" b="1">
                <a:solidFill>
                  <a:srgbClr val="92D05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正常范围</a:t>
            </a:r>
            <a:r>
              <a:rPr lang="zh-CN" altLang="en-US" sz="1600" b="1">
                <a:solidFill>
                  <a:srgbClr val="92D05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1600" b="1">
                <a:solidFill>
                  <a:srgbClr val="92D05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5.7-12.9</a:t>
            </a:r>
            <a:r>
              <a:rPr lang="zh-CN" altLang="en-US" sz="1600" b="1">
                <a:solidFill>
                  <a:srgbClr val="92D05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p>
        </p:txBody>
      </p:sp>
      <p:sp>
        <p:nvSpPr>
          <p:cNvPr id="30750" name="文本框 30749"/>
          <p:cNvSpPr txBox="1"/>
          <p:nvPr/>
        </p:nvSpPr>
        <p:spPr>
          <a:xfrm>
            <a:off x="5484581" y="5944866"/>
            <a:ext cx="6012019" cy="584775"/>
          </a:xfrm>
          <a:prstGeom prst="rect">
            <a:avLst/>
          </a:prstGeom>
          <a:noFill/>
        </p:spPr>
        <p:txBody>
          <a:bodyPr wrap="square" rtlCol="0">
            <a:spAutoFit/>
          </a:bodyPr>
          <a:lstStyle/>
          <a:p>
            <a:r>
              <a:rPr lang="zh-CN" altLang="en-US" sz="1600" b="1">
                <a:solidFill>
                  <a:srgbClr val="FFCC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尿素氮本身并不产生这些症状，但从尿素氮积聚程度，可以大致推测体内尿毒症毒素的积聚情况</a:t>
            </a:r>
            <a:r>
              <a:rPr lang="en-US" altLang="zh-CN" sz="1600" b="1">
                <a:solidFill>
                  <a:srgbClr val="FFCC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1600" b="1">
                <a:solidFill>
                  <a:srgbClr val="FFCC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当然，也没那么准就是了。</a:t>
            </a:r>
          </a:p>
        </p:txBody>
      </p:sp>
    </p:spTree>
    <p:extLst>
      <p:ext uri="{BB962C8B-B14F-4D97-AF65-F5344CB8AC3E}">
        <p14:creationId xmlns:p14="http://schemas.microsoft.com/office/powerpoint/2010/main" val="26085321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17" name="组合 16">
            <a:extLst/>
          </p:cNvPr>
          <p:cNvGrpSpPr/>
          <p:nvPr/>
        </p:nvGrpSpPr>
        <p:grpSpPr>
          <a:xfrm>
            <a:off x="4866703" y="687877"/>
            <a:ext cx="7320137" cy="1038837"/>
            <a:chOff x="8112223" y="327722"/>
            <a:chExt cx="4194115" cy="1038837"/>
          </a:xfrm>
          <a:effectLst>
            <a:outerShdw blurRad="50800" dist="38100" dir="5400000" algn="t" rotWithShape="0">
              <a:prstClr val="black">
                <a:alpha val="40000"/>
              </a:prstClr>
            </a:outerShdw>
          </a:effectLst>
        </p:grpSpPr>
        <p:sp>
          <p:nvSpPr>
            <p:cNvPr id="4"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sp>
          <p:nvSpPr>
            <p:cNvPr id="7" name="文本框 14">
              <a:extLst/>
            </p:cNvPr>
            <p:cNvSpPr txBox="1">
              <a:spLocks noChangeArrowheads="1"/>
            </p:cNvSpPr>
            <p:nvPr/>
          </p:nvSpPr>
          <p:spPr bwMode="auto">
            <a:xfrm>
              <a:off x="8280210" y="327722"/>
              <a:ext cx="3506879" cy="825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600" b="1">
                  <a:solidFill>
                    <a:srgbClr val="010101"/>
                  </a:solidFill>
                  <a:effectLst>
                    <a:outerShdw blurRad="38100" dist="38100" dir="2700000" algn="tl">
                      <a:srgbClr val="000000">
                        <a:alpha val="43137"/>
                      </a:srgbClr>
                    </a:outerShdw>
                  </a:effectLst>
                  <a:latin typeface="+mj-ea"/>
                  <a:ea typeface="+mj-ea"/>
                  <a:cs typeface="+mn-ea"/>
                  <a:sym typeface="+mn-lt"/>
                </a:rPr>
                <a:t>Uremic Toxins </a:t>
              </a:r>
              <a:r>
                <a:rPr lang="zh-CN" altLang="en-US" sz="3600" b="1">
                  <a:solidFill>
                    <a:schemeClr val="bg2">
                      <a:lumMod val="25000"/>
                    </a:schemeClr>
                  </a:solidFill>
                  <a:effectLst>
                    <a:outerShdw blurRad="38100" dist="38100" dir="2700000" algn="tl">
                      <a:srgbClr val="000000">
                        <a:alpha val="43137"/>
                      </a:srgbClr>
                    </a:outerShdw>
                  </a:effectLst>
                  <a:latin typeface="+mj-ea"/>
                  <a:ea typeface="+mj-ea"/>
                  <a:cs typeface="+mn-ea"/>
                  <a:sym typeface="+mn-lt"/>
                </a:rPr>
                <a:t>尿毒症毒素</a:t>
              </a:r>
              <a:endParaRPr lang="en-US" altLang="zh-CN" sz="36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grpSp>
      <p:sp>
        <p:nvSpPr>
          <p:cNvPr id="10" name="流程图: 过程 9">
            <a:extLst/>
          </p:cNvPr>
          <p:cNvSpPr/>
          <p:nvPr/>
        </p:nvSpPr>
        <p:spPr bwMode="auto">
          <a:xfrm>
            <a:off x="911225" y="2060575"/>
            <a:ext cx="10596563" cy="4681538"/>
          </a:xfrm>
          <a:prstGeom prst="flowChartProcess">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numCol="3" anchor="ctr"/>
          <a:lstStyle/>
          <a:p>
            <a:pPr eaLnBrk="1" fontAlgn="auto" hangingPunct="1">
              <a:spcBef>
                <a:spcPts val="0"/>
              </a:spcBef>
              <a:spcAft>
                <a:spcPts val="0"/>
              </a:spcAft>
              <a:defRPr/>
            </a:pPr>
            <a:endParaRPr lang="zh-CN" altLang="en-US" kern="0">
              <a:solidFill>
                <a:sysClr val="windowText" lastClr="000000"/>
              </a:solidFill>
              <a:cs typeface="+mn-ea"/>
              <a:sym typeface="+mn-lt"/>
            </a:endParaRPr>
          </a:p>
        </p:txBody>
      </p:sp>
      <p:sp>
        <p:nvSpPr>
          <p:cNvPr id="2" name="文本框 1"/>
          <p:cNvSpPr txBox="1"/>
          <p:nvPr/>
        </p:nvSpPr>
        <p:spPr>
          <a:xfrm>
            <a:off x="1415480" y="2571804"/>
            <a:ext cx="2664296" cy="3970318"/>
          </a:xfrm>
          <a:prstGeom prst="rect">
            <a:avLst/>
          </a:prstGeom>
          <a:noFill/>
        </p:spPr>
        <p:txBody>
          <a:bodyPr numCol="2">
            <a:spAutoFit/>
          </a:bodyPr>
          <a:lstStyle/>
          <a:p>
            <a:pPr marL="171450" indent="-171450">
              <a:buFont typeface="Arial" panose="020B0604020202020204" pitchFamily="34" charset="0"/>
              <a:buChar char="•"/>
              <a:defRPr/>
            </a:pPr>
            <a:r>
              <a:rPr lang="zh-CN" altLang="en-US" sz="1400" b="1">
                <a:solidFill>
                  <a:schemeClr val="bg1">
                    <a:lumMod val="95000"/>
                  </a:schemeClr>
                </a:solidFill>
                <a:latin typeface="+mj-ea"/>
                <a:ea typeface="+mj-ea"/>
              </a:rPr>
              <a:t>不对称二甲基 精氨酸</a:t>
            </a:r>
          </a:p>
          <a:p>
            <a:pPr marL="171450" indent="-171450">
              <a:buFont typeface="Arial" panose="020B0604020202020204" pitchFamily="34" charset="0"/>
              <a:buChar char="•"/>
              <a:defRPr/>
            </a:pPr>
            <a:r>
              <a:rPr lang="zh-CN" altLang="en-US" sz="1400" b="1">
                <a:solidFill>
                  <a:schemeClr val="bg1">
                    <a:lumMod val="95000"/>
                  </a:schemeClr>
                </a:solidFill>
                <a:latin typeface="+mj-ea"/>
                <a:ea typeface="+mj-ea"/>
              </a:rPr>
              <a:t>苯甲醇</a:t>
            </a:r>
          </a:p>
          <a:p>
            <a:pPr marL="171450" indent="-171450">
              <a:buFont typeface="Arial" panose="020B0604020202020204" pitchFamily="34" charset="0"/>
              <a:buChar char="•"/>
              <a:defRPr/>
            </a:pPr>
            <a:r>
              <a:rPr lang="en-US" altLang="zh-CN" sz="1400" b="1">
                <a:solidFill>
                  <a:schemeClr val="bg1">
                    <a:lumMod val="95000"/>
                  </a:schemeClr>
                </a:solidFill>
                <a:latin typeface="+mj-ea"/>
                <a:ea typeface="+mj-ea"/>
              </a:rPr>
              <a:t>b-</a:t>
            </a:r>
            <a:r>
              <a:rPr lang="zh-CN" altLang="en-US" sz="1400" b="1">
                <a:solidFill>
                  <a:schemeClr val="bg1">
                    <a:lumMod val="95000"/>
                  </a:schemeClr>
                </a:solidFill>
                <a:latin typeface="+mj-ea"/>
                <a:ea typeface="+mj-ea"/>
              </a:rPr>
              <a:t>胍基丙酸</a:t>
            </a:r>
          </a:p>
          <a:p>
            <a:pPr marL="171450" indent="-171450">
              <a:buFont typeface="Arial" panose="020B0604020202020204" pitchFamily="34" charset="0"/>
              <a:buChar char="•"/>
              <a:defRPr/>
            </a:pPr>
            <a:r>
              <a:rPr lang="en-US" altLang="zh-CN" sz="1400" b="1">
                <a:solidFill>
                  <a:schemeClr val="bg1">
                    <a:lumMod val="95000"/>
                  </a:schemeClr>
                </a:solidFill>
                <a:latin typeface="+mj-ea"/>
                <a:ea typeface="+mj-ea"/>
              </a:rPr>
              <a:t>B-</a:t>
            </a:r>
            <a:r>
              <a:rPr lang="zh-CN" altLang="en-US" sz="1400" b="1">
                <a:solidFill>
                  <a:schemeClr val="bg1">
                    <a:lumMod val="95000"/>
                  </a:schemeClr>
                </a:solidFill>
                <a:latin typeface="+mj-ea"/>
                <a:ea typeface="+mj-ea"/>
              </a:rPr>
              <a:t>促脂解素</a:t>
            </a:r>
          </a:p>
          <a:p>
            <a:pPr marL="285750" indent="-285750">
              <a:buFont typeface="Wingdings" panose="05000000000000000000" pitchFamily="2" charset="2"/>
              <a:buChar char="u"/>
              <a:defRPr/>
            </a:pPr>
            <a:r>
              <a:rPr lang="zh-CN" altLang="en-US" sz="1400" b="1">
                <a:solidFill>
                  <a:srgbClr val="92D050"/>
                </a:solidFill>
                <a:latin typeface="+mj-ea"/>
                <a:ea typeface="+mj-ea"/>
              </a:rPr>
              <a:t>肌酐</a:t>
            </a:r>
          </a:p>
          <a:p>
            <a:pPr marL="171450" indent="-171450">
              <a:buFont typeface="Arial" panose="020B0604020202020204" pitchFamily="34" charset="0"/>
              <a:buChar char="•"/>
              <a:defRPr/>
            </a:pPr>
            <a:r>
              <a:rPr lang="zh-CN" altLang="en-US" sz="1400" b="1">
                <a:solidFill>
                  <a:schemeClr val="bg1">
                    <a:lumMod val="95000"/>
                  </a:schemeClr>
                </a:solidFill>
                <a:latin typeface="+mj-ea"/>
                <a:ea typeface="+mj-ea"/>
              </a:rPr>
              <a:t>胞苷</a:t>
            </a:r>
          </a:p>
          <a:p>
            <a:pPr marL="171450" indent="-171450">
              <a:buFont typeface="Arial" panose="020B0604020202020204" pitchFamily="34" charset="0"/>
              <a:buChar char="•"/>
              <a:defRPr/>
            </a:pPr>
            <a:r>
              <a:rPr lang="zh-CN" altLang="en-US" sz="1400" b="1">
                <a:solidFill>
                  <a:schemeClr val="bg1">
                    <a:lumMod val="95000"/>
                  </a:schemeClr>
                </a:solidFill>
                <a:latin typeface="+mj-ea"/>
                <a:ea typeface="+mj-ea"/>
              </a:rPr>
              <a:t>胍类</a:t>
            </a:r>
          </a:p>
          <a:p>
            <a:pPr marL="171450" indent="-171450">
              <a:buFont typeface="Arial" panose="020B0604020202020204" pitchFamily="34" charset="0"/>
              <a:buChar char="•"/>
              <a:defRPr/>
            </a:pPr>
            <a:r>
              <a:rPr lang="zh-CN" altLang="en-US" sz="1400" b="1">
                <a:solidFill>
                  <a:schemeClr val="bg1">
                    <a:lumMod val="95000"/>
                  </a:schemeClr>
                </a:solidFill>
                <a:latin typeface="+mj-ea"/>
                <a:ea typeface="+mj-ea"/>
              </a:rPr>
              <a:t>胍基乙酸</a:t>
            </a:r>
          </a:p>
          <a:p>
            <a:pPr marL="171450" indent="-171450">
              <a:buFont typeface="Arial" panose="020B0604020202020204" pitchFamily="34" charset="0"/>
              <a:buChar char="•"/>
              <a:defRPr/>
            </a:pPr>
            <a:r>
              <a:rPr lang="zh-CN" altLang="en-US" sz="1400" b="1">
                <a:solidFill>
                  <a:schemeClr val="bg1">
                    <a:lumMod val="95000"/>
                  </a:schemeClr>
                </a:solidFill>
                <a:latin typeface="+mj-ea"/>
                <a:ea typeface="+mj-ea"/>
              </a:rPr>
              <a:t>胍基琥珀酸</a:t>
            </a:r>
          </a:p>
          <a:p>
            <a:pPr marL="171450" indent="-171450">
              <a:buFont typeface="Arial" panose="020B0604020202020204" pitchFamily="34" charset="0"/>
              <a:buChar char="•"/>
              <a:defRPr/>
            </a:pPr>
            <a:r>
              <a:rPr lang="zh-CN" altLang="en-US" sz="1400" b="1">
                <a:solidFill>
                  <a:schemeClr val="bg1">
                    <a:lumMod val="95000"/>
                  </a:schemeClr>
                </a:solidFill>
                <a:latin typeface="+mj-ea"/>
                <a:ea typeface="+mj-ea"/>
              </a:rPr>
              <a:t>次黄嘌呤</a:t>
            </a:r>
          </a:p>
          <a:p>
            <a:pPr marL="171450" indent="-171450">
              <a:buFont typeface="Arial" panose="020B0604020202020204" pitchFamily="34" charset="0"/>
              <a:buChar char="•"/>
              <a:defRPr/>
            </a:pPr>
            <a:r>
              <a:rPr lang="zh-CN" altLang="en-US" sz="1400" b="1">
                <a:solidFill>
                  <a:schemeClr val="bg1">
                    <a:lumMod val="95000"/>
                  </a:schemeClr>
                </a:solidFill>
                <a:latin typeface="+mj-ea"/>
                <a:ea typeface="+mj-ea"/>
              </a:rPr>
              <a:t>丙二醛</a:t>
            </a:r>
          </a:p>
          <a:p>
            <a:pPr marL="171450" indent="-171450">
              <a:buFont typeface="Arial" panose="020B0604020202020204" pitchFamily="34" charset="0"/>
              <a:buChar char="•"/>
              <a:defRPr/>
            </a:pPr>
            <a:r>
              <a:rPr lang="zh-CN" altLang="en-US" sz="1400" b="1">
                <a:solidFill>
                  <a:schemeClr val="bg1">
                    <a:lumMod val="95000"/>
                  </a:schemeClr>
                </a:solidFill>
                <a:latin typeface="+mj-ea"/>
                <a:ea typeface="+mj-ea"/>
              </a:rPr>
              <a:t>甲基胍</a:t>
            </a:r>
          </a:p>
          <a:p>
            <a:pPr marL="171450" indent="-171450">
              <a:buFont typeface="Arial" panose="020B0604020202020204" pitchFamily="34" charset="0"/>
              <a:buChar char="•"/>
              <a:defRPr/>
            </a:pPr>
            <a:r>
              <a:rPr lang="zh-CN" altLang="en-US" sz="1400" b="1">
                <a:solidFill>
                  <a:schemeClr val="bg1">
                    <a:lumMod val="95000"/>
                  </a:schemeClr>
                </a:solidFill>
                <a:latin typeface="+mj-ea"/>
                <a:ea typeface="+mj-ea"/>
              </a:rPr>
              <a:t>肌醇</a:t>
            </a:r>
          </a:p>
          <a:p>
            <a:pPr marL="171450" indent="-171450">
              <a:buFont typeface="Arial" panose="020B0604020202020204" pitchFamily="34" charset="0"/>
              <a:buChar char="•"/>
              <a:defRPr/>
            </a:pPr>
            <a:r>
              <a:rPr lang="zh-CN" altLang="en-US" sz="1400" b="1">
                <a:solidFill>
                  <a:schemeClr val="bg1">
                    <a:lumMod val="95000"/>
                  </a:schemeClr>
                </a:solidFill>
                <a:latin typeface="+mj-ea"/>
                <a:ea typeface="+mj-ea"/>
              </a:rPr>
              <a:t>乳清酸</a:t>
            </a:r>
          </a:p>
          <a:p>
            <a:pPr marL="171450" indent="-171450">
              <a:buFont typeface="Arial" panose="020B0604020202020204" pitchFamily="34" charset="0"/>
              <a:buChar char="•"/>
              <a:defRPr/>
            </a:pPr>
            <a:r>
              <a:rPr lang="zh-CN" altLang="en-US" sz="1400" b="1">
                <a:solidFill>
                  <a:schemeClr val="bg1">
                    <a:lumMod val="95000"/>
                  </a:schemeClr>
                </a:solidFill>
                <a:latin typeface="+mj-ea"/>
                <a:ea typeface="+mj-ea"/>
              </a:rPr>
              <a:t>乳清苷</a:t>
            </a:r>
            <a:endParaRPr lang="en-US" altLang="zh-CN" sz="1400" b="1">
              <a:solidFill>
                <a:schemeClr val="bg1">
                  <a:lumMod val="95000"/>
                </a:schemeClr>
              </a:solidFill>
              <a:latin typeface="+mj-ea"/>
              <a:ea typeface="+mj-ea"/>
            </a:endParaRPr>
          </a:p>
          <a:p>
            <a:pPr marL="171450" indent="-171450">
              <a:buFont typeface="Arial" panose="020B0604020202020204" pitchFamily="34" charset="0"/>
              <a:buChar char="•"/>
              <a:defRPr/>
            </a:pPr>
            <a:r>
              <a:rPr lang="zh-CN" altLang="en-US" sz="1400" b="1">
                <a:solidFill>
                  <a:schemeClr val="bg1">
                    <a:lumMod val="95000"/>
                  </a:schemeClr>
                </a:solidFill>
                <a:latin typeface="+mj-ea"/>
                <a:ea typeface="+mj-ea"/>
              </a:rPr>
              <a:t>草酸盐</a:t>
            </a:r>
          </a:p>
          <a:p>
            <a:pPr marL="171450" indent="-171450">
              <a:buFont typeface="Arial" panose="020B0604020202020204" pitchFamily="34" charset="0"/>
              <a:buChar char="•"/>
              <a:defRPr/>
            </a:pPr>
            <a:r>
              <a:rPr lang="zh-CN" altLang="en-US" sz="1400" b="1">
                <a:solidFill>
                  <a:schemeClr val="bg1">
                    <a:lumMod val="95000"/>
                  </a:schemeClr>
                </a:solidFill>
                <a:latin typeface="+mj-ea"/>
                <a:ea typeface="+mj-ea"/>
              </a:rPr>
              <a:t>假尿苷</a:t>
            </a:r>
          </a:p>
          <a:p>
            <a:pPr marL="171450" indent="-171450">
              <a:buFont typeface="Arial" panose="020B0604020202020204" pitchFamily="34" charset="0"/>
              <a:buChar char="•"/>
              <a:defRPr/>
            </a:pPr>
            <a:r>
              <a:rPr lang="zh-CN" altLang="en-US" sz="1400" b="1">
                <a:solidFill>
                  <a:schemeClr val="bg1">
                    <a:lumMod val="95000"/>
                  </a:schemeClr>
                </a:solidFill>
                <a:latin typeface="+mj-ea"/>
                <a:ea typeface="+mj-ea"/>
              </a:rPr>
              <a:t>对称二甲基精氨酸</a:t>
            </a:r>
          </a:p>
          <a:p>
            <a:pPr marL="285750" indent="-285750">
              <a:buFont typeface="Wingdings" panose="05000000000000000000" pitchFamily="2" charset="2"/>
              <a:buChar char="u"/>
              <a:defRPr/>
            </a:pPr>
            <a:r>
              <a:rPr lang="zh-CN" altLang="en-US" sz="1400" b="1">
                <a:solidFill>
                  <a:srgbClr val="FFC000"/>
                </a:solidFill>
                <a:latin typeface="+mj-ea"/>
                <a:ea typeface="+mj-ea"/>
              </a:rPr>
              <a:t>尿素氮</a:t>
            </a:r>
          </a:p>
          <a:p>
            <a:pPr marL="171450" indent="-171450">
              <a:buFont typeface="Arial" panose="020B0604020202020204" pitchFamily="34" charset="0"/>
              <a:buChar char="•"/>
              <a:defRPr/>
            </a:pPr>
            <a:r>
              <a:rPr lang="zh-CN" altLang="en-US" sz="1400" b="1">
                <a:solidFill>
                  <a:schemeClr val="bg1">
                    <a:lumMod val="95000"/>
                  </a:schemeClr>
                </a:solidFill>
                <a:latin typeface="+mj-ea"/>
                <a:ea typeface="+mj-ea"/>
              </a:rPr>
              <a:t>尿酸</a:t>
            </a:r>
          </a:p>
          <a:p>
            <a:pPr marL="171450" indent="-171450">
              <a:buFont typeface="Arial" panose="020B0604020202020204" pitchFamily="34" charset="0"/>
              <a:buChar char="•"/>
              <a:defRPr/>
            </a:pPr>
            <a:r>
              <a:rPr lang="zh-CN" altLang="en-US" sz="1400" b="1">
                <a:solidFill>
                  <a:schemeClr val="bg1">
                    <a:lumMod val="95000"/>
                  </a:schemeClr>
                </a:solidFill>
                <a:latin typeface="+mj-ea"/>
                <a:ea typeface="+mj-ea"/>
              </a:rPr>
              <a:t>黄嘌呤</a:t>
            </a:r>
          </a:p>
        </p:txBody>
      </p:sp>
      <p:sp>
        <p:nvSpPr>
          <p:cNvPr id="21509" name="文本框 10"/>
          <p:cNvSpPr txBox="1">
            <a:spLocks noChangeArrowheads="1"/>
          </p:cNvSpPr>
          <p:nvPr/>
        </p:nvSpPr>
        <p:spPr bwMode="auto">
          <a:xfrm>
            <a:off x="5448300" y="1474788"/>
            <a:ext cx="48244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800"/>
              <a:t>Vanholder R, Glorieux G, De Smet R, et al. New insights in uremeic toxins. Kidney Int 2003;63:S7</a:t>
            </a:r>
            <a:endParaRPr lang="zh-CN" altLang="en-US" sz="800"/>
          </a:p>
        </p:txBody>
      </p:sp>
      <p:sp>
        <p:nvSpPr>
          <p:cNvPr id="12" name="文本框 11"/>
          <p:cNvSpPr txBox="1"/>
          <p:nvPr/>
        </p:nvSpPr>
        <p:spPr>
          <a:xfrm>
            <a:off x="1631950" y="2147888"/>
            <a:ext cx="2592388" cy="400050"/>
          </a:xfrm>
          <a:prstGeom prst="rect">
            <a:avLst/>
          </a:prstGeom>
          <a:noFill/>
        </p:spPr>
        <p:txBody>
          <a:bodyPr>
            <a:spAutoFit/>
          </a:bodyPr>
          <a:lstStyle/>
          <a:p>
            <a:pPr>
              <a:defRPr/>
            </a:pPr>
            <a:r>
              <a:rPr lang="zh-CN" altLang="en-US" sz="2000"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水溶性小分子毒素</a:t>
            </a:r>
          </a:p>
        </p:txBody>
      </p:sp>
      <p:sp>
        <p:nvSpPr>
          <p:cNvPr id="14" name="文本框 13"/>
          <p:cNvSpPr txBox="1"/>
          <p:nvPr/>
        </p:nvSpPr>
        <p:spPr>
          <a:xfrm>
            <a:off x="4367808" y="2571804"/>
            <a:ext cx="3093162" cy="3755454"/>
          </a:xfrm>
          <a:prstGeom prst="rect">
            <a:avLst/>
          </a:prstGeom>
          <a:noFill/>
        </p:spPr>
        <p:txBody>
          <a:bodyPr numCol="2">
            <a:spAutoFit/>
          </a:bodyPr>
          <a:lstStyle/>
          <a:p>
            <a:pPr marL="285750" indent="-285750">
              <a:buFont typeface="Arial" panose="020B0604020202020204" pitchFamily="34" charset="0"/>
              <a:buChar char="•"/>
              <a:defRPr/>
            </a:pPr>
            <a:r>
              <a:rPr lang="en-US" altLang="zh-CN" sz="1400" b="1">
                <a:solidFill>
                  <a:schemeClr val="bg1">
                    <a:lumMod val="85000"/>
                  </a:schemeClr>
                </a:solidFill>
                <a:latin typeface="+mj-ea"/>
                <a:ea typeface="+mj-ea"/>
              </a:rPr>
              <a:t>3-</a:t>
            </a:r>
            <a:r>
              <a:rPr lang="zh-CN" altLang="en-US" sz="1400" b="1">
                <a:solidFill>
                  <a:schemeClr val="bg1">
                    <a:lumMod val="85000"/>
                  </a:schemeClr>
                </a:solidFill>
                <a:latin typeface="+mj-ea"/>
                <a:ea typeface="+mj-ea"/>
              </a:rPr>
              <a:t>葡糖醛酮</a:t>
            </a:r>
          </a:p>
          <a:p>
            <a:pPr marL="285750" indent="-285750">
              <a:buFont typeface="Arial" panose="020B0604020202020204" pitchFamily="34" charset="0"/>
              <a:buChar char="•"/>
              <a:defRPr/>
            </a:pPr>
            <a:r>
              <a:rPr lang="en-US" altLang="zh-CN" sz="1400" b="1">
                <a:solidFill>
                  <a:schemeClr val="bg1">
                    <a:lumMod val="85000"/>
                  </a:schemeClr>
                </a:solidFill>
                <a:latin typeface="+mj-ea"/>
                <a:ea typeface="+mj-ea"/>
              </a:rPr>
              <a:t>CMPF</a:t>
            </a:r>
          </a:p>
          <a:p>
            <a:pPr marL="285750" indent="-285750">
              <a:buFont typeface="Arial" panose="020B0604020202020204" pitchFamily="34" charset="0"/>
              <a:buChar char="•"/>
              <a:defRPr/>
            </a:pPr>
            <a:r>
              <a:rPr lang="zh-CN" altLang="en-US" sz="1400" b="1">
                <a:solidFill>
                  <a:schemeClr val="bg1">
                    <a:lumMod val="85000"/>
                  </a:schemeClr>
                </a:solidFill>
                <a:latin typeface="+mj-ea"/>
                <a:ea typeface="+mj-ea"/>
              </a:rPr>
              <a:t>果糖赖氨酸</a:t>
            </a:r>
          </a:p>
          <a:p>
            <a:pPr marL="285750" indent="-285750">
              <a:buFont typeface="Arial" panose="020B0604020202020204" pitchFamily="34" charset="0"/>
              <a:buChar char="•"/>
              <a:defRPr/>
            </a:pPr>
            <a:r>
              <a:rPr lang="zh-CN" altLang="en-US" sz="1400" b="1">
                <a:solidFill>
                  <a:schemeClr val="bg1">
                    <a:lumMod val="85000"/>
                  </a:schemeClr>
                </a:solidFill>
                <a:latin typeface="+mj-ea"/>
                <a:ea typeface="+mj-ea"/>
              </a:rPr>
              <a:t>乙二醛</a:t>
            </a:r>
          </a:p>
          <a:p>
            <a:pPr marL="285750" indent="-285750">
              <a:buFont typeface="Arial" panose="020B0604020202020204" pitchFamily="34" charset="0"/>
              <a:buChar char="•"/>
              <a:defRPr/>
            </a:pPr>
            <a:r>
              <a:rPr lang="zh-CN" altLang="en-US" sz="1400" b="1">
                <a:solidFill>
                  <a:schemeClr val="bg1">
                    <a:lumMod val="85000"/>
                  </a:schemeClr>
                </a:solidFill>
                <a:latin typeface="+mj-ea"/>
                <a:ea typeface="+mj-ea"/>
              </a:rPr>
              <a:t>马尿酸</a:t>
            </a:r>
            <a:endParaRPr lang="en-US" altLang="zh-CN" sz="1400" b="1">
              <a:solidFill>
                <a:schemeClr val="bg1">
                  <a:lumMod val="85000"/>
                </a:schemeClr>
              </a:solidFill>
              <a:latin typeface="+mj-ea"/>
              <a:ea typeface="+mj-ea"/>
            </a:endParaRPr>
          </a:p>
          <a:p>
            <a:pPr marL="285750" indent="-285750">
              <a:buFont typeface="Arial" panose="020B0604020202020204" pitchFamily="34" charset="0"/>
              <a:buChar char="•"/>
              <a:defRPr/>
            </a:pPr>
            <a:r>
              <a:rPr lang="zh-CN" altLang="en-US" sz="1400" b="1">
                <a:solidFill>
                  <a:schemeClr val="bg1">
                    <a:lumMod val="85000"/>
                  </a:schemeClr>
                </a:solidFill>
                <a:latin typeface="+mj-ea"/>
                <a:ea typeface="+mj-ea"/>
              </a:rPr>
              <a:t>同型半胱氨酸</a:t>
            </a:r>
          </a:p>
          <a:p>
            <a:pPr marL="285750" indent="-285750">
              <a:buFont typeface="Arial" panose="020B0604020202020204" pitchFamily="34" charset="0"/>
              <a:buChar char="•"/>
              <a:defRPr/>
            </a:pPr>
            <a:r>
              <a:rPr lang="zh-CN" altLang="en-US" sz="1400" b="1">
                <a:solidFill>
                  <a:schemeClr val="bg1">
                    <a:lumMod val="85000"/>
                  </a:schemeClr>
                </a:solidFill>
                <a:latin typeface="+mj-ea"/>
                <a:ea typeface="+mj-ea"/>
              </a:rPr>
              <a:t>对苯二酚</a:t>
            </a:r>
          </a:p>
          <a:p>
            <a:pPr marL="285750" indent="-285750">
              <a:buFont typeface="Arial" panose="020B0604020202020204" pitchFamily="34" charset="0"/>
              <a:buChar char="•"/>
              <a:defRPr/>
            </a:pPr>
            <a:r>
              <a:rPr lang="zh-CN" altLang="en-US" sz="1400" b="1">
                <a:solidFill>
                  <a:schemeClr val="bg1">
                    <a:lumMod val="85000"/>
                  </a:schemeClr>
                </a:solidFill>
                <a:latin typeface="+mj-ea"/>
                <a:ea typeface="+mj-ea"/>
              </a:rPr>
              <a:t>吲哚</a:t>
            </a:r>
            <a:r>
              <a:rPr lang="en-US" altLang="zh-CN" sz="1400" b="1">
                <a:solidFill>
                  <a:schemeClr val="bg1">
                    <a:lumMod val="85000"/>
                  </a:schemeClr>
                </a:solidFill>
                <a:latin typeface="+mj-ea"/>
                <a:ea typeface="+mj-ea"/>
              </a:rPr>
              <a:t>-3-</a:t>
            </a:r>
            <a:r>
              <a:rPr lang="zh-CN" altLang="en-US" sz="1400" b="1">
                <a:solidFill>
                  <a:schemeClr val="bg1">
                    <a:lumMod val="85000"/>
                  </a:schemeClr>
                </a:solidFill>
                <a:latin typeface="+mj-ea"/>
                <a:ea typeface="+mj-ea"/>
              </a:rPr>
              <a:t>乙酸</a:t>
            </a:r>
          </a:p>
          <a:p>
            <a:pPr marL="285750" indent="-285750">
              <a:buFont typeface="Arial" panose="020B0604020202020204" pitchFamily="34" charset="0"/>
              <a:buChar char="•"/>
              <a:defRPr/>
            </a:pPr>
            <a:r>
              <a:rPr lang="zh-CN" altLang="en-US" sz="1400" b="1">
                <a:solidFill>
                  <a:schemeClr val="bg1">
                    <a:lumMod val="85000"/>
                  </a:schemeClr>
                </a:solidFill>
                <a:latin typeface="+mj-ea"/>
                <a:ea typeface="+mj-ea"/>
              </a:rPr>
              <a:t>硫酸吲哚酯</a:t>
            </a:r>
          </a:p>
          <a:p>
            <a:pPr marL="285750" indent="-285750">
              <a:buFont typeface="Arial" panose="020B0604020202020204" pitchFamily="34" charset="0"/>
              <a:buChar char="•"/>
              <a:defRPr/>
            </a:pPr>
            <a:r>
              <a:rPr lang="zh-CN" altLang="en-US" sz="1400" b="1">
                <a:solidFill>
                  <a:schemeClr val="bg1">
                    <a:lumMod val="85000"/>
                  </a:schemeClr>
                </a:solidFill>
                <a:latin typeface="+mj-ea"/>
                <a:ea typeface="+mj-ea"/>
              </a:rPr>
              <a:t>犬尿氨酸</a:t>
            </a:r>
            <a:endParaRPr lang="en-US" altLang="zh-CN" sz="1400" b="1">
              <a:solidFill>
                <a:schemeClr val="bg1">
                  <a:lumMod val="85000"/>
                </a:schemeClr>
              </a:solidFill>
              <a:latin typeface="+mj-ea"/>
              <a:ea typeface="+mj-ea"/>
            </a:endParaRPr>
          </a:p>
          <a:p>
            <a:pPr marL="285750" indent="-285750">
              <a:buFont typeface="Arial" panose="020B0604020202020204" pitchFamily="34" charset="0"/>
              <a:buChar char="•"/>
              <a:defRPr/>
            </a:pPr>
            <a:r>
              <a:rPr lang="zh-CN" altLang="en-US" sz="1400" b="1">
                <a:solidFill>
                  <a:schemeClr val="bg1">
                    <a:lumMod val="85000"/>
                  </a:schemeClr>
                </a:solidFill>
                <a:latin typeface="+mj-ea"/>
                <a:ea typeface="+mj-ea"/>
              </a:rPr>
              <a:t>犬尿喹啉酸</a:t>
            </a:r>
          </a:p>
          <a:p>
            <a:pPr marL="285750" indent="-285750">
              <a:buFont typeface="Arial" panose="020B0604020202020204" pitchFamily="34" charset="0"/>
              <a:buChar char="•"/>
              <a:defRPr/>
            </a:pPr>
            <a:r>
              <a:rPr lang="zh-CN" altLang="en-US" sz="1400" b="1">
                <a:solidFill>
                  <a:schemeClr val="bg1">
                    <a:lumMod val="85000"/>
                  </a:schemeClr>
                </a:solidFill>
                <a:latin typeface="+mj-ea"/>
                <a:ea typeface="+mj-ea"/>
              </a:rPr>
              <a:t>甲基乙二醛</a:t>
            </a:r>
          </a:p>
          <a:p>
            <a:pPr marL="285750" indent="-285750">
              <a:buFont typeface="Arial" panose="020B0604020202020204" pitchFamily="34" charset="0"/>
              <a:buChar char="•"/>
              <a:defRPr/>
            </a:pPr>
            <a:r>
              <a:rPr lang="en-US" altLang="zh-CN" sz="1400" b="1">
                <a:solidFill>
                  <a:schemeClr val="bg1">
                    <a:lumMod val="85000"/>
                  </a:schemeClr>
                </a:solidFill>
                <a:latin typeface="+mj-ea"/>
                <a:ea typeface="+mj-ea"/>
              </a:rPr>
              <a:t>N-</a:t>
            </a:r>
            <a:r>
              <a:rPr lang="zh-CN" altLang="en-US" sz="1400" b="1">
                <a:solidFill>
                  <a:schemeClr val="bg1">
                    <a:lumMod val="85000"/>
                  </a:schemeClr>
                </a:solidFill>
                <a:latin typeface="+mj-ea"/>
                <a:ea typeface="+mj-ea"/>
              </a:rPr>
              <a:t>二羧甲基</a:t>
            </a:r>
          </a:p>
          <a:p>
            <a:pPr marL="285750" indent="-285750">
              <a:buFont typeface="Arial" panose="020B0604020202020204" pitchFamily="34" charset="0"/>
              <a:buChar char="•"/>
              <a:defRPr/>
            </a:pPr>
            <a:r>
              <a:rPr lang="zh-CN" altLang="en-US" sz="1400" b="1">
                <a:solidFill>
                  <a:schemeClr val="bg1">
                    <a:lumMod val="85000"/>
                  </a:schemeClr>
                </a:solidFill>
                <a:latin typeface="+mj-ea"/>
                <a:ea typeface="+mj-ea"/>
              </a:rPr>
              <a:t>对甲酚</a:t>
            </a:r>
          </a:p>
          <a:p>
            <a:pPr marL="285750" indent="-285750">
              <a:buFont typeface="Arial" panose="020B0604020202020204" pitchFamily="34" charset="0"/>
              <a:buChar char="•"/>
              <a:defRPr/>
            </a:pPr>
            <a:r>
              <a:rPr lang="zh-CN" altLang="en-US" sz="1400" b="1">
                <a:solidFill>
                  <a:schemeClr val="bg1">
                    <a:lumMod val="85000"/>
                  </a:schemeClr>
                </a:solidFill>
                <a:latin typeface="+mj-ea"/>
                <a:ea typeface="+mj-ea"/>
              </a:rPr>
              <a:t>戊糖</a:t>
            </a:r>
          </a:p>
          <a:p>
            <a:pPr marL="285750" indent="-285750">
              <a:buFont typeface="Arial" panose="020B0604020202020204" pitchFamily="34" charset="0"/>
              <a:buChar char="•"/>
              <a:defRPr/>
            </a:pPr>
            <a:r>
              <a:rPr lang="zh-CN" altLang="en-US" sz="1400" b="1">
                <a:solidFill>
                  <a:schemeClr val="bg1">
                    <a:lumMod val="85000"/>
                  </a:schemeClr>
                </a:solidFill>
                <a:latin typeface="+mj-ea"/>
                <a:ea typeface="+mj-ea"/>
              </a:rPr>
              <a:t>苯酚</a:t>
            </a:r>
          </a:p>
          <a:p>
            <a:pPr marL="285750" indent="-285750">
              <a:buFont typeface="Arial" panose="020B0604020202020204" pitchFamily="34" charset="0"/>
              <a:buChar char="•"/>
              <a:defRPr/>
            </a:pPr>
            <a:r>
              <a:rPr lang="en-US" altLang="zh-CN" sz="1400" b="1">
                <a:solidFill>
                  <a:schemeClr val="bg1">
                    <a:lumMod val="85000"/>
                  </a:schemeClr>
                </a:solidFill>
                <a:latin typeface="+mj-ea"/>
                <a:ea typeface="+mj-ea"/>
              </a:rPr>
              <a:t>P-OH</a:t>
            </a:r>
            <a:r>
              <a:rPr lang="zh-CN" altLang="en-US" sz="1400" b="1">
                <a:solidFill>
                  <a:schemeClr val="bg1">
                    <a:lumMod val="85000"/>
                  </a:schemeClr>
                </a:solidFill>
                <a:latin typeface="+mj-ea"/>
                <a:ea typeface="+mj-ea"/>
              </a:rPr>
              <a:t>马尿酸</a:t>
            </a:r>
          </a:p>
          <a:p>
            <a:pPr marL="285750" indent="-285750">
              <a:buFont typeface="Arial" panose="020B0604020202020204" pitchFamily="34" charset="0"/>
              <a:buChar char="•"/>
              <a:defRPr/>
            </a:pPr>
            <a:r>
              <a:rPr lang="zh-CN" altLang="en-US" sz="1400" b="1">
                <a:solidFill>
                  <a:schemeClr val="bg1">
                    <a:lumMod val="85000"/>
                  </a:schemeClr>
                </a:solidFill>
                <a:latin typeface="+mj-ea"/>
                <a:ea typeface="+mj-ea"/>
              </a:rPr>
              <a:t>喹啉酸</a:t>
            </a:r>
          </a:p>
          <a:p>
            <a:pPr marL="285750" indent="-285750">
              <a:buFont typeface="Arial" panose="020B0604020202020204" pitchFamily="34" charset="0"/>
              <a:buChar char="•"/>
              <a:defRPr/>
            </a:pPr>
            <a:r>
              <a:rPr lang="zh-CN" altLang="en-US" sz="1400" b="1">
                <a:solidFill>
                  <a:schemeClr val="bg1">
                    <a:lumMod val="85000"/>
                  </a:schemeClr>
                </a:solidFill>
                <a:latin typeface="+mj-ea"/>
                <a:ea typeface="+mj-ea"/>
              </a:rPr>
              <a:t>亚精胺</a:t>
            </a:r>
          </a:p>
          <a:p>
            <a:pPr marL="285750" indent="-285750">
              <a:buFont typeface="Arial" panose="020B0604020202020204" pitchFamily="34" charset="0"/>
              <a:buChar char="•"/>
              <a:defRPr/>
            </a:pPr>
            <a:r>
              <a:rPr lang="zh-CN" altLang="en-US" sz="1400" b="1">
                <a:solidFill>
                  <a:schemeClr val="bg1">
                    <a:lumMod val="85000"/>
                  </a:schemeClr>
                </a:solidFill>
                <a:latin typeface="+mj-ea"/>
                <a:ea typeface="+mj-ea"/>
              </a:rPr>
              <a:t>精胺</a:t>
            </a:r>
          </a:p>
        </p:txBody>
      </p:sp>
      <p:sp>
        <p:nvSpPr>
          <p:cNvPr id="15" name="文本框 14"/>
          <p:cNvSpPr txBox="1"/>
          <p:nvPr/>
        </p:nvSpPr>
        <p:spPr>
          <a:xfrm>
            <a:off x="4868863" y="2122488"/>
            <a:ext cx="2952750" cy="400050"/>
          </a:xfrm>
          <a:prstGeom prst="rect">
            <a:avLst/>
          </a:prstGeom>
          <a:noFill/>
        </p:spPr>
        <p:txBody>
          <a:bodyPr>
            <a:spAutoFit/>
          </a:bodyPr>
          <a:lstStyle/>
          <a:p>
            <a:pPr>
              <a:defRPr/>
            </a:pPr>
            <a:r>
              <a:rPr lang="zh-CN" altLang="en-US" sz="2000" b="1">
                <a:solidFill>
                  <a:schemeClr val="bg1">
                    <a:lumMod val="95000"/>
                  </a:schemeClr>
                </a:solidFill>
                <a:latin typeface="微软雅黑" panose="020B0503020204020204" pitchFamily="34" charset="-122"/>
                <a:ea typeface="微软雅黑" panose="020B0503020204020204" pitchFamily="34" charset="-122"/>
              </a:rPr>
              <a:t>蛋白结合类毒素</a:t>
            </a:r>
          </a:p>
        </p:txBody>
      </p:sp>
      <p:sp>
        <p:nvSpPr>
          <p:cNvPr id="21513" name="文本框 15"/>
          <p:cNvSpPr txBox="1">
            <a:spLocks noChangeArrowheads="1"/>
          </p:cNvSpPr>
          <p:nvPr/>
        </p:nvSpPr>
        <p:spPr bwMode="auto">
          <a:xfrm>
            <a:off x="8447088" y="2100263"/>
            <a:ext cx="3060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000" b="1">
                <a:solidFill>
                  <a:schemeClr val="bg1"/>
                </a:solidFill>
                <a:latin typeface="微软雅黑" panose="020B0503020204020204" pitchFamily="34" charset="-122"/>
                <a:ea typeface="微软雅黑" panose="020B0503020204020204" pitchFamily="34" charset="-122"/>
              </a:rPr>
              <a:t>中、大分子毒素</a:t>
            </a:r>
          </a:p>
        </p:txBody>
      </p:sp>
      <p:sp>
        <p:nvSpPr>
          <p:cNvPr id="18" name="文本框 17"/>
          <p:cNvSpPr txBox="1"/>
          <p:nvPr/>
        </p:nvSpPr>
        <p:spPr>
          <a:xfrm>
            <a:off x="7880634" y="2539849"/>
            <a:ext cx="3384377" cy="3993517"/>
          </a:xfrm>
          <a:prstGeom prst="rect">
            <a:avLst/>
          </a:prstGeom>
          <a:noFill/>
        </p:spPr>
        <p:txBody>
          <a:bodyPr numCol="2">
            <a:spAutoFit/>
          </a:bodyPr>
          <a:lstStyle/>
          <a:p>
            <a:pPr marL="285750" indent="-285750">
              <a:buFont typeface="Arial" panose="020B0604020202020204" pitchFamily="34" charset="0"/>
              <a:buChar char="•"/>
              <a:defRPr/>
            </a:pPr>
            <a:r>
              <a:rPr lang="zh-CN" altLang="en-US" sz="1400" b="1">
                <a:solidFill>
                  <a:schemeClr val="bg1">
                    <a:lumMod val="95000"/>
                  </a:schemeClr>
                </a:solidFill>
                <a:latin typeface="+mj-ea"/>
                <a:ea typeface="+mj-ea"/>
              </a:rPr>
              <a:t>肾上腺髓质素</a:t>
            </a:r>
          </a:p>
          <a:p>
            <a:pPr marL="285750" indent="-285750">
              <a:buFont typeface="Arial" panose="020B0604020202020204" pitchFamily="34" charset="0"/>
              <a:buChar char="•"/>
              <a:defRPr/>
            </a:pPr>
            <a:r>
              <a:rPr lang="zh-CN" altLang="en-US" sz="1400" b="1">
                <a:solidFill>
                  <a:schemeClr val="bg1">
                    <a:lumMod val="95000"/>
                  </a:schemeClr>
                </a:solidFill>
                <a:latin typeface="+mj-ea"/>
                <a:ea typeface="+mj-ea"/>
              </a:rPr>
              <a:t>心房利钠肽</a:t>
            </a:r>
          </a:p>
          <a:p>
            <a:pPr marL="285750" indent="-285750">
              <a:buFont typeface="Arial" panose="020B0604020202020204" pitchFamily="34" charset="0"/>
              <a:buChar char="•"/>
              <a:defRPr/>
            </a:pPr>
            <a:r>
              <a:rPr lang="en-US" altLang="zh-CN" sz="1400" b="1">
                <a:solidFill>
                  <a:schemeClr val="bg1">
                    <a:lumMod val="95000"/>
                  </a:schemeClr>
                </a:solidFill>
                <a:latin typeface="+mj-ea"/>
                <a:ea typeface="+mj-ea"/>
              </a:rPr>
              <a:t>B2</a:t>
            </a:r>
            <a:r>
              <a:rPr lang="zh-CN" altLang="en-US" sz="1400" b="1">
                <a:solidFill>
                  <a:schemeClr val="bg1">
                    <a:lumMod val="95000"/>
                  </a:schemeClr>
                </a:solidFill>
                <a:latin typeface="+mj-ea"/>
                <a:ea typeface="+mj-ea"/>
              </a:rPr>
              <a:t>微球蛋白</a:t>
            </a:r>
          </a:p>
          <a:p>
            <a:pPr marL="285750" indent="-285750">
              <a:buFont typeface="Arial" panose="020B0604020202020204" pitchFamily="34" charset="0"/>
              <a:buChar char="•"/>
              <a:defRPr/>
            </a:pPr>
            <a:r>
              <a:rPr lang="en-US" altLang="zh-CN" sz="1400" b="1">
                <a:solidFill>
                  <a:schemeClr val="bg1">
                    <a:lumMod val="95000"/>
                  </a:schemeClr>
                </a:solidFill>
                <a:latin typeface="+mj-ea"/>
                <a:ea typeface="+mj-ea"/>
              </a:rPr>
              <a:t>B-</a:t>
            </a:r>
            <a:r>
              <a:rPr lang="zh-CN" altLang="en-US" sz="1400" b="1">
                <a:solidFill>
                  <a:schemeClr val="bg1">
                    <a:lumMod val="95000"/>
                  </a:schemeClr>
                </a:solidFill>
                <a:latin typeface="+mj-ea"/>
                <a:ea typeface="+mj-ea"/>
              </a:rPr>
              <a:t>内啡肽</a:t>
            </a:r>
          </a:p>
          <a:p>
            <a:pPr marL="285750" indent="-285750">
              <a:buFont typeface="Arial" panose="020B0604020202020204" pitchFamily="34" charset="0"/>
              <a:buChar char="•"/>
              <a:defRPr/>
            </a:pPr>
            <a:r>
              <a:rPr lang="zh-CN" altLang="en-US" sz="1400" b="1">
                <a:solidFill>
                  <a:schemeClr val="bg1">
                    <a:lumMod val="95000"/>
                  </a:schemeClr>
                </a:solidFill>
                <a:latin typeface="+mj-ea"/>
                <a:ea typeface="+mj-ea"/>
              </a:rPr>
              <a:t>胆囊收缩素</a:t>
            </a:r>
          </a:p>
          <a:p>
            <a:pPr marL="285750" indent="-285750">
              <a:buFont typeface="Arial" panose="020B0604020202020204" pitchFamily="34" charset="0"/>
              <a:buChar char="•"/>
              <a:defRPr/>
            </a:pPr>
            <a:r>
              <a:rPr lang="zh-CN" altLang="en-US" sz="1400" b="1">
                <a:solidFill>
                  <a:schemeClr val="bg1">
                    <a:lumMod val="95000"/>
                  </a:schemeClr>
                </a:solidFill>
                <a:latin typeface="+mj-ea"/>
                <a:ea typeface="+mj-ea"/>
              </a:rPr>
              <a:t>克拉拉细胞蛋白</a:t>
            </a:r>
          </a:p>
          <a:p>
            <a:pPr marL="285750" indent="-285750">
              <a:buFont typeface="Arial" panose="020B0604020202020204" pitchFamily="34" charset="0"/>
              <a:buChar char="•"/>
              <a:defRPr/>
            </a:pPr>
            <a:r>
              <a:rPr lang="zh-CN" altLang="en-US" sz="1400" b="1">
                <a:solidFill>
                  <a:schemeClr val="bg1">
                    <a:lumMod val="95000"/>
                  </a:schemeClr>
                </a:solidFill>
                <a:latin typeface="+mj-ea"/>
                <a:ea typeface="+mj-ea"/>
              </a:rPr>
              <a:t>补充因子</a:t>
            </a:r>
            <a:r>
              <a:rPr lang="en-US" altLang="zh-CN" sz="1400" b="1">
                <a:solidFill>
                  <a:schemeClr val="bg1">
                    <a:lumMod val="95000"/>
                  </a:schemeClr>
                </a:solidFill>
                <a:latin typeface="+mj-ea"/>
                <a:ea typeface="+mj-ea"/>
              </a:rPr>
              <a:t>D.</a:t>
            </a:r>
          </a:p>
          <a:p>
            <a:pPr marL="285750" indent="-285750">
              <a:buFont typeface="Arial" panose="020B0604020202020204" pitchFamily="34" charset="0"/>
              <a:buChar char="•"/>
              <a:defRPr/>
            </a:pPr>
            <a:r>
              <a:rPr lang="zh-CN" altLang="en-US" sz="1400" b="1">
                <a:solidFill>
                  <a:schemeClr val="bg1">
                    <a:lumMod val="95000"/>
                  </a:schemeClr>
                </a:solidFill>
                <a:latin typeface="+mj-ea"/>
                <a:ea typeface="+mj-ea"/>
              </a:rPr>
              <a:t>胱抑素</a:t>
            </a:r>
            <a:r>
              <a:rPr lang="en-US" altLang="zh-CN" sz="1400" b="1">
                <a:solidFill>
                  <a:schemeClr val="bg1">
                    <a:lumMod val="95000"/>
                  </a:schemeClr>
                </a:solidFill>
                <a:latin typeface="+mj-ea"/>
                <a:ea typeface="+mj-ea"/>
              </a:rPr>
              <a:t>C.</a:t>
            </a:r>
          </a:p>
          <a:p>
            <a:pPr marL="285750" indent="-285750">
              <a:buFont typeface="Arial" panose="020B0604020202020204" pitchFamily="34" charset="0"/>
              <a:buChar char="•"/>
              <a:defRPr/>
            </a:pPr>
            <a:r>
              <a:rPr lang="zh-CN" altLang="en-US" sz="1400" b="1">
                <a:solidFill>
                  <a:schemeClr val="bg1">
                    <a:lumMod val="95000"/>
                  </a:schemeClr>
                </a:solidFill>
                <a:latin typeface="+mj-ea"/>
                <a:ea typeface="+mj-ea"/>
              </a:rPr>
              <a:t>脱颗粒抑制蛋白</a:t>
            </a:r>
            <a:r>
              <a:rPr lang="en-US" altLang="zh-CN" sz="1400" b="1">
                <a:solidFill>
                  <a:schemeClr val="bg1">
                    <a:lumMod val="95000"/>
                  </a:schemeClr>
                </a:solidFill>
                <a:latin typeface="+mj-ea"/>
                <a:ea typeface="+mj-ea"/>
              </a:rPr>
              <a:t>I</a:t>
            </a:r>
          </a:p>
          <a:p>
            <a:pPr marL="285750" indent="-285750">
              <a:buFont typeface="Arial" panose="020B0604020202020204" pitchFamily="34" charset="0"/>
              <a:buChar char="•"/>
              <a:defRPr/>
            </a:pPr>
            <a:r>
              <a:rPr lang="en-US" altLang="zh-CN" sz="1400" b="1">
                <a:solidFill>
                  <a:schemeClr val="bg1">
                    <a:lumMod val="95000"/>
                  </a:schemeClr>
                </a:solidFill>
                <a:latin typeface="+mj-ea"/>
                <a:ea typeface="+mj-ea"/>
              </a:rPr>
              <a:t>Delta-</a:t>
            </a:r>
            <a:r>
              <a:rPr lang="zh-CN" altLang="en-US" sz="1400" b="1">
                <a:solidFill>
                  <a:schemeClr val="bg1">
                    <a:lumMod val="95000"/>
                  </a:schemeClr>
                </a:solidFill>
                <a:latin typeface="+mj-ea"/>
                <a:ea typeface="+mj-ea"/>
              </a:rPr>
              <a:t>睡眠诱导肽</a:t>
            </a:r>
          </a:p>
          <a:p>
            <a:pPr marL="285750" indent="-285750">
              <a:buFont typeface="Arial" panose="020B0604020202020204" pitchFamily="34" charset="0"/>
              <a:buChar char="•"/>
              <a:defRPr/>
            </a:pPr>
            <a:r>
              <a:rPr lang="zh-CN" altLang="en-US" sz="1400" b="1">
                <a:solidFill>
                  <a:schemeClr val="bg1">
                    <a:lumMod val="95000"/>
                  </a:schemeClr>
                </a:solidFill>
                <a:latin typeface="+mj-ea"/>
                <a:ea typeface="+mj-ea"/>
              </a:rPr>
              <a:t>内皮素</a:t>
            </a:r>
          </a:p>
          <a:p>
            <a:pPr marL="285750" indent="-285750">
              <a:buFont typeface="Arial" panose="020B0604020202020204" pitchFamily="34" charset="0"/>
              <a:buChar char="•"/>
              <a:defRPr/>
            </a:pPr>
            <a:r>
              <a:rPr lang="zh-CN" altLang="en-US" sz="1400" b="1">
                <a:solidFill>
                  <a:schemeClr val="bg1">
                    <a:lumMod val="95000"/>
                  </a:schemeClr>
                </a:solidFill>
                <a:latin typeface="+mj-ea"/>
                <a:ea typeface="+mj-ea"/>
              </a:rPr>
              <a:t>透明质酸</a:t>
            </a:r>
          </a:p>
          <a:p>
            <a:pPr marL="285750" indent="-285750">
              <a:buFont typeface="Arial" panose="020B0604020202020204" pitchFamily="34" charset="0"/>
              <a:buChar char="•"/>
              <a:defRPr/>
            </a:pPr>
            <a:r>
              <a:rPr lang="zh-CN" altLang="en-US" sz="1400" b="1">
                <a:solidFill>
                  <a:schemeClr val="bg1">
                    <a:lumMod val="95000"/>
                  </a:schemeClr>
                </a:solidFill>
                <a:latin typeface="+mj-ea"/>
                <a:ea typeface="+mj-ea"/>
              </a:rPr>
              <a:t>白介素</a:t>
            </a:r>
            <a:r>
              <a:rPr lang="en-US" altLang="zh-CN" sz="1400" b="1">
                <a:solidFill>
                  <a:schemeClr val="bg1">
                    <a:lumMod val="95000"/>
                  </a:schemeClr>
                </a:solidFill>
                <a:latin typeface="+mj-ea"/>
                <a:ea typeface="+mj-ea"/>
              </a:rPr>
              <a:t>1b</a:t>
            </a:r>
          </a:p>
          <a:p>
            <a:pPr marL="285750" indent="-285750">
              <a:buFont typeface="Arial" panose="020B0604020202020204" pitchFamily="34" charset="0"/>
              <a:buChar char="•"/>
              <a:defRPr/>
            </a:pPr>
            <a:r>
              <a:rPr lang="zh-CN" altLang="en-US" sz="1400" b="1">
                <a:solidFill>
                  <a:schemeClr val="bg1">
                    <a:lumMod val="95000"/>
                  </a:schemeClr>
                </a:solidFill>
                <a:latin typeface="+mj-ea"/>
                <a:ea typeface="+mj-ea"/>
              </a:rPr>
              <a:t>白介素</a:t>
            </a:r>
            <a:r>
              <a:rPr lang="en-US" altLang="zh-CN" sz="1400" b="1">
                <a:solidFill>
                  <a:schemeClr val="bg1">
                    <a:lumMod val="95000"/>
                  </a:schemeClr>
                </a:solidFill>
                <a:latin typeface="+mj-ea"/>
                <a:ea typeface="+mj-ea"/>
              </a:rPr>
              <a:t>6</a:t>
            </a:r>
          </a:p>
          <a:p>
            <a:pPr marL="285750" indent="-285750">
              <a:buFont typeface="Arial" panose="020B0604020202020204" pitchFamily="34" charset="0"/>
              <a:buChar char="•"/>
              <a:defRPr/>
            </a:pPr>
            <a:r>
              <a:rPr lang="en-US" altLang="zh-CN" sz="1400" b="1">
                <a:solidFill>
                  <a:schemeClr val="bg1">
                    <a:lumMod val="95000"/>
                  </a:schemeClr>
                </a:solidFill>
                <a:latin typeface="+mj-ea"/>
                <a:ea typeface="+mj-ea"/>
              </a:rPr>
              <a:t>Kappa</a:t>
            </a:r>
            <a:r>
              <a:rPr lang="zh-CN" altLang="en-US" sz="1400" b="1">
                <a:solidFill>
                  <a:schemeClr val="bg1">
                    <a:lumMod val="95000"/>
                  </a:schemeClr>
                </a:solidFill>
                <a:latin typeface="+mj-ea"/>
                <a:ea typeface="+mj-ea"/>
              </a:rPr>
              <a:t>轻链抗体</a:t>
            </a:r>
          </a:p>
          <a:p>
            <a:pPr marL="285750" indent="-285750">
              <a:buFont typeface="Arial" panose="020B0604020202020204" pitchFamily="34" charset="0"/>
              <a:buChar char="•"/>
              <a:defRPr/>
            </a:pPr>
            <a:r>
              <a:rPr lang="en-US" altLang="zh-CN" sz="1400" b="1">
                <a:solidFill>
                  <a:schemeClr val="bg1">
                    <a:lumMod val="95000"/>
                  </a:schemeClr>
                </a:solidFill>
                <a:latin typeface="+mj-ea"/>
                <a:ea typeface="+mj-ea"/>
              </a:rPr>
              <a:t>Lambda</a:t>
            </a:r>
            <a:r>
              <a:rPr lang="zh-CN" altLang="en-US" sz="1400" b="1">
                <a:solidFill>
                  <a:schemeClr val="bg1">
                    <a:lumMod val="95000"/>
                  </a:schemeClr>
                </a:solidFill>
                <a:latin typeface="+mj-ea"/>
                <a:ea typeface="+mj-ea"/>
              </a:rPr>
              <a:t>轻链抗体</a:t>
            </a:r>
          </a:p>
          <a:p>
            <a:pPr marL="285750" indent="-285750">
              <a:buFont typeface="Arial" panose="020B0604020202020204" pitchFamily="34" charset="0"/>
              <a:buChar char="•"/>
              <a:defRPr/>
            </a:pPr>
            <a:r>
              <a:rPr lang="zh-CN" altLang="en-US" sz="1400" b="1">
                <a:solidFill>
                  <a:schemeClr val="bg1">
                    <a:lumMod val="95000"/>
                  </a:schemeClr>
                </a:solidFill>
                <a:latin typeface="+mj-ea"/>
                <a:ea typeface="+mj-ea"/>
              </a:rPr>
              <a:t>瘦素</a:t>
            </a:r>
          </a:p>
          <a:p>
            <a:pPr marL="285750" indent="-285750">
              <a:buFont typeface="Arial" panose="020B0604020202020204" pitchFamily="34" charset="0"/>
              <a:buChar char="•"/>
              <a:defRPr/>
            </a:pPr>
            <a:r>
              <a:rPr lang="zh-CN" altLang="en-US" sz="1400" b="1">
                <a:solidFill>
                  <a:schemeClr val="bg1">
                    <a:lumMod val="95000"/>
                  </a:schemeClr>
                </a:solidFill>
                <a:latin typeface="+mj-ea"/>
                <a:ea typeface="+mj-ea"/>
              </a:rPr>
              <a:t>甲脑啡肽</a:t>
            </a:r>
            <a:endParaRPr lang="en-US" altLang="zh-CN" sz="1400" b="1">
              <a:solidFill>
                <a:schemeClr val="bg1">
                  <a:lumMod val="95000"/>
                </a:schemeClr>
              </a:solidFill>
              <a:latin typeface="+mj-ea"/>
              <a:ea typeface="+mj-ea"/>
            </a:endParaRPr>
          </a:p>
          <a:p>
            <a:pPr marL="285750" indent="-285750">
              <a:buFont typeface="Arial" panose="020B0604020202020204" pitchFamily="34" charset="0"/>
              <a:buChar char="•"/>
              <a:defRPr/>
            </a:pPr>
            <a:r>
              <a:rPr lang="zh-CN" altLang="en-US" sz="1400" b="1">
                <a:solidFill>
                  <a:schemeClr val="bg1">
                    <a:lumMod val="95000"/>
                  </a:schemeClr>
                </a:solidFill>
                <a:latin typeface="+mj-ea"/>
                <a:ea typeface="+mj-ea"/>
              </a:rPr>
              <a:t>神经肽</a:t>
            </a:r>
            <a:r>
              <a:rPr lang="en-US" altLang="zh-CN" sz="1400" b="1">
                <a:solidFill>
                  <a:schemeClr val="bg1">
                    <a:lumMod val="95000"/>
                  </a:schemeClr>
                </a:solidFill>
                <a:latin typeface="+mj-ea"/>
                <a:ea typeface="+mj-ea"/>
              </a:rPr>
              <a:t>Y</a:t>
            </a:r>
          </a:p>
          <a:p>
            <a:pPr marL="285750" indent="-285750">
              <a:buFont typeface="Arial" panose="020B0604020202020204" pitchFamily="34" charset="0"/>
              <a:buChar char="•"/>
              <a:defRPr/>
            </a:pPr>
            <a:r>
              <a:rPr lang="zh-CN" altLang="en-US" sz="1400" b="1">
                <a:solidFill>
                  <a:srgbClr val="C00000"/>
                </a:solidFill>
                <a:latin typeface="+mj-ea"/>
                <a:ea typeface="+mj-ea"/>
              </a:rPr>
              <a:t>甲旁腺激素</a:t>
            </a:r>
          </a:p>
          <a:p>
            <a:pPr marL="285750" indent="-285750">
              <a:buFont typeface="Arial" panose="020B0604020202020204" pitchFamily="34" charset="0"/>
              <a:buChar char="•"/>
              <a:defRPr/>
            </a:pPr>
            <a:r>
              <a:rPr lang="zh-CN" altLang="en-US" sz="1400" b="1">
                <a:solidFill>
                  <a:schemeClr val="bg1">
                    <a:lumMod val="95000"/>
                  </a:schemeClr>
                </a:solidFill>
                <a:latin typeface="+mj-ea"/>
                <a:ea typeface="+mj-ea"/>
              </a:rPr>
              <a:t>视黄醇结合蛋白</a:t>
            </a:r>
          </a:p>
          <a:p>
            <a:pPr marL="285750" indent="-285750">
              <a:buFont typeface="Arial" panose="020B0604020202020204" pitchFamily="34" charset="0"/>
              <a:buChar char="•"/>
              <a:defRPr/>
            </a:pPr>
            <a:r>
              <a:rPr lang="zh-CN" altLang="en-US" sz="1400" b="1">
                <a:solidFill>
                  <a:schemeClr val="bg1">
                    <a:lumMod val="95000"/>
                  </a:schemeClr>
                </a:solidFill>
                <a:latin typeface="+mj-ea"/>
                <a:ea typeface="+mj-ea"/>
              </a:rPr>
              <a:t>肿瘤坏死因子</a:t>
            </a:r>
            <a:r>
              <a:rPr lang="en-US" altLang="zh-CN" sz="1400" b="1">
                <a:solidFill>
                  <a:schemeClr val="bg1">
                    <a:lumMod val="95000"/>
                  </a:schemeClr>
                </a:solidFill>
                <a:latin typeface="+mj-ea"/>
                <a:ea typeface="+mj-ea"/>
              </a:rPr>
              <a:t>α</a:t>
            </a:r>
          </a:p>
          <a:p>
            <a:pPr marL="285750" indent="-285750">
              <a:buFont typeface="Arial" panose="020B0604020202020204" pitchFamily="34" charset="0"/>
              <a:buChar char="•"/>
              <a:defRPr/>
            </a:pPr>
            <a:r>
              <a:rPr lang="en-US" altLang="zh-CN" sz="1400" b="1">
                <a:solidFill>
                  <a:srgbClr val="C00000"/>
                </a:solidFill>
                <a:latin typeface="+mj-ea"/>
                <a:ea typeface="+mj-ea"/>
              </a:rPr>
              <a:t>FGF-23</a:t>
            </a:r>
            <a:endParaRPr lang="zh-CN" altLang="en-US" sz="1400" b="1">
              <a:solidFill>
                <a:srgbClr val="C00000"/>
              </a:solidFill>
              <a:latin typeface="+mj-ea"/>
              <a:ea typeface="+mj-ea"/>
            </a:endParaRPr>
          </a:p>
        </p:txBody>
      </p:sp>
      <p:sp>
        <p:nvSpPr>
          <p:cNvPr id="3" name="文本框 2"/>
          <p:cNvSpPr txBox="1"/>
          <p:nvPr/>
        </p:nvSpPr>
        <p:spPr>
          <a:xfrm>
            <a:off x="870905" y="1346693"/>
            <a:ext cx="2547602" cy="646331"/>
          </a:xfrm>
          <a:prstGeom prst="rect">
            <a:avLst/>
          </a:prstGeom>
          <a:noFill/>
        </p:spPr>
        <p:txBody>
          <a:bodyPr wrap="square" rtlCol="0">
            <a:spAutoFit/>
          </a:bodyPr>
          <a:lstStyle/>
          <a:p>
            <a:r>
              <a:rPr lang="zh-CN" altLang="en-US" b="1">
                <a:solidFill>
                  <a:schemeClr val="bg1">
                    <a:lumMod val="95000"/>
                  </a:schemeClr>
                </a:solidFill>
                <a:effectLst>
                  <a:outerShdw blurRad="38100" dist="38100" dir="2700000" algn="tl">
                    <a:srgbClr val="000000">
                      <a:alpha val="43137"/>
                    </a:srgbClr>
                  </a:outerShdw>
                </a:effectLst>
                <a:latin typeface="+mj-ea"/>
                <a:ea typeface="+mj-ea"/>
              </a:rPr>
              <a:t>目前</a:t>
            </a:r>
            <a:r>
              <a:rPr lang="en-US" altLang="zh-CN" b="1">
                <a:solidFill>
                  <a:schemeClr val="bg1">
                    <a:lumMod val="95000"/>
                  </a:schemeClr>
                </a:solidFill>
                <a:effectLst>
                  <a:outerShdw blurRad="38100" dist="38100" dir="2700000" algn="tl">
                    <a:srgbClr val="000000">
                      <a:alpha val="43137"/>
                    </a:srgbClr>
                  </a:outerShdw>
                </a:effectLst>
                <a:latin typeface="+mj-ea"/>
                <a:ea typeface="+mj-ea"/>
              </a:rPr>
              <a:t>Eutox</a:t>
            </a:r>
            <a:r>
              <a:rPr lang="zh-CN" altLang="en-US" b="1">
                <a:solidFill>
                  <a:schemeClr val="bg1">
                    <a:lumMod val="95000"/>
                  </a:schemeClr>
                </a:solidFill>
                <a:effectLst>
                  <a:outerShdw blurRad="38100" dist="38100" dir="2700000" algn="tl">
                    <a:srgbClr val="000000">
                      <a:alpha val="43137"/>
                    </a:srgbClr>
                  </a:outerShdw>
                </a:effectLst>
                <a:latin typeface="+mj-ea"/>
                <a:ea typeface="+mj-ea"/>
              </a:rPr>
              <a:t>数据库中共有尿毒症毒素</a:t>
            </a:r>
            <a:r>
              <a:rPr lang="en-US" altLang="zh-CN" b="1">
                <a:solidFill>
                  <a:schemeClr val="bg1">
                    <a:lumMod val="95000"/>
                  </a:schemeClr>
                </a:solidFill>
                <a:effectLst>
                  <a:outerShdw blurRad="38100" dist="38100" dir="2700000" algn="tl">
                    <a:srgbClr val="000000">
                      <a:alpha val="43137"/>
                    </a:srgbClr>
                  </a:outerShdw>
                </a:effectLst>
                <a:latin typeface="+mj-ea"/>
                <a:ea typeface="+mj-ea"/>
              </a:rPr>
              <a:t>130</a:t>
            </a:r>
            <a:r>
              <a:rPr lang="zh-CN" altLang="en-US" b="1">
                <a:solidFill>
                  <a:schemeClr val="bg1">
                    <a:lumMod val="95000"/>
                  </a:schemeClr>
                </a:solidFill>
                <a:effectLst>
                  <a:outerShdw blurRad="38100" dist="38100" dir="2700000" algn="tl">
                    <a:srgbClr val="000000">
                      <a:alpha val="43137"/>
                    </a:srgbClr>
                  </a:outerShdw>
                </a:effectLst>
                <a:latin typeface="+mj-ea"/>
                <a:ea typeface="+mj-ea"/>
              </a:rPr>
              <a:t>种</a:t>
            </a:r>
          </a:p>
        </p:txBody>
      </p:sp>
    </p:spTree>
    <p:extLst>
      <p:ext uri="{BB962C8B-B14F-4D97-AF65-F5344CB8AC3E}">
        <p14:creationId xmlns:p14="http://schemas.microsoft.com/office/powerpoint/2010/main" val="1487331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17" name="组合 16">
            <a:extLst/>
          </p:cNvPr>
          <p:cNvGrpSpPr/>
          <p:nvPr/>
        </p:nvGrpSpPr>
        <p:grpSpPr>
          <a:xfrm>
            <a:off x="4866703" y="715553"/>
            <a:ext cx="7320137" cy="1011161"/>
            <a:chOff x="8112223" y="355398"/>
            <a:chExt cx="4194115" cy="1011161"/>
          </a:xfrm>
          <a:effectLst>
            <a:outerShdw blurRad="50800" dist="38100" dir="5400000" algn="t" rotWithShape="0">
              <a:prstClr val="black">
                <a:alpha val="40000"/>
              </a:prstClr>
            </a:outerShdw>
          </a:effectLst>
        </p:grpSpPr>
        <p:sp>
          <p:nvSpPr>
            <p:cNvPr id="4"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sp>
          <p:nvSpPr>
            <p:cNvPr id="7" name="文本框 14">
              <a:extLst/>
            </p:cNvPr>
            <p:cNvSpPr txBox="1">
              <a:spLocks noChangeArrowheads="1"/>
            </p:cNvSpPr>
            <p:nvPr/>
          </p:nvSpPr>
          <p:spPr bwMode="auto">
            <a:xfrm>
              <a:off x="8410186" y="355398"/>
              <a:ext cx="3506879" cy="825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3600" b="1">
                  <a:solidFill>
                    <a:schemeClr val="accent6">
                      <a:lumMod val="50000"/>
                    </a:schemeClr>
                  </a:solidFill>
                  <a:effectLst>
                    <a:outerShdw blurRad="38100" dist="38100" dir="2700000" algn="tl">
                      <a:srgbClr val="000000">
                        <a:alpha val="43137"/>
                      </a:srgbClr>
                    </a:outerShdw>
                  </a:effectLst>
                  <a:latin typeface="+mj-ea"/>
                  <a:ea typeface="+mj-ea"/>
                  <a:cs typeface="+mn-ea"/>
                  <a:sym typeface="+mn-lt"/>
                </a:rPr>
                <a:t>明白尿毒症 </a:t>
              </a:r>
              <a:r>
                <a:rPr lang="en-US" altLang="zh-CN" sz="1200" b="1">
                  <a:solidFill>
                    <a:schemeClr val="accent6">
                      <a:lumMod val="50000"/>
                    </a:schemeClr>
                  </a:solidFill>
                  <a:effectLst>
                    <a:outerShdw blurRad="38100" dist="38100" dir="2700000" algn="tl">
                      <a:srgbClr val="000000">
                        <a:alpha val="43137"/>
                      </a:srgbClr>
                    </a:outerShdw>
                  </a:effectLst>
                  <a:latin typeface="+mj-ea"/>
                  <a:ea typeface="+mj-ea"/>
                  <a:cs typeface="+mn-ea"/>
                  <a:sym typeface="+mn-lt"/>
                </a:rPr>
                <a:t>Understanding Uremia</a:t>
              </a:r>
              <a:endParaRPr lang="en-US" altLang="zh-CN" sz="1200" b="1">
                <a:solidFill>
                  <a:schemeClr val="accent6">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grpSp>
      <p:sp>
        <p:nvSpPr>
          <p:cNvPr id="10" name="流程图: 过程 9">
            <a:extLst/>
          </p:cNvPr>
          <p:cNvSpPr/>
          <p:nvPr/>
        </p:nvSpPr>
        <p:spPr bwMode="auto">
          <a:xfrm>
            <a:off x="833722" y="1875106"/>
            <a:ext cx="10596563" cy="4825281"/>
          </a:xfrm>
          <a:prstGeom prst="flowChartProcess">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numCol="3" anchor="ctr"/>
          <a:lstStyle/>
          <a:p>
            <a:pPr eaLnBrk="1" fontAlgn="auto" hangingPunct="1">
              <a:spcBef>
                <a:spcPts val="0"/>
              </a:spcBef>
              <a:spcAft>
                <a:spcPts val="0"/>
              </a:spcAft>
              <a:defRPr/>
            </a:pPr>
            <a:endParaRPr lang="zh-CN" altLang="en-US" kern="0">
              <a:solidFill>
                <a:sysClr val="windowText" lastClr="000000"/>
              </a:solidFill>
              <a:cs typeface="+mn-ea"/>
              <a:sym typeface="+mn-lt"/>
            </a:endParaRPr>
          </a:p>
        </p:txBody>
      </p:sp>
      <p:sp>
        <p:nvSpPr>
          <p:cNvPr id="5" name="文本框 4"/>
          <p:cNvSpPr txBox="1"/>
          <p:nvPr/>
        </p:nvSpPr>
        <p:spPr>
          <a:xfrm>
            <a:off x="1271464" y="2902751"/>
            <a:ext cx="10009112" cy="2769989"/>
          </a:xfrm>
          <a:prstGeom prst="rect">
            <a:avLst/>
          </a:prstGeom>
          <a:noFill/>
        </p:spPr>
        <p:txBody>
          <a:bodyPr wrap="square" rtlCol="0">
            <a:spAutoFit/>
          </a:bodyPr>
          <a:lstStyle/>
          <a:p>
            <a:pPr marL="342900" indent="-342900">
              <a:buFont typeface="Wingdings" panose="05000000000000000000" pitchFamily="2" charset="2"/>
              <a:buChar char="u"/>
            </a:pPr>
            <a:r>
              <a:rPr lang="zh-CN" altLang="en-US" sz="2800" b="1">
                <a:solidFill>
                  <a:srgbClr val="FFCC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肌酐（</a:t>
            </a:r>
            <a:r>
              <a:rPr lang="en-US" altLang="zh-CN" sz="2800" b="1">
                <a:solidFill>
                  <a:srgbClr val="FFCC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CREA</a:t>
            </a:r>
            <a:r>
              <a:rPr lang="zh-CN" altLang="en-US" sz="2800" b="1">
                <a:solidFill>
                  <a:srgbClr val="FFCC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）和尿素氮（</a:t>
            </a:r>
            <a:r>
              <a:rPr lang="en-US" altLang="zh-CN" sz="2800" b="1">
                <a:solidFill>
                  <a:srgbClr val="FFCC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BUN</a:t>
            </a:r>
            <a:r>
              <a:rPr lang="zh-CN" altLang="en-US" sz="2800" b="1">
                <a:solidFill>
                  <a:srgbClr val="FFCC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）被用来衡量肾脏功能，所以说这俩下降了，肯定尿毒症毒素少了，升高了，肯定体内毒素多了！</a:t>
            </a:r>
            <a:endParaRPr lang="en-US" altLang="zh-CN" sz="2800" b="1">
              <a:solidFill>
                <a:srgbClr val="FFCC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endParaRPr lang="en-US" altLang="zh-CN" sz="2800" b="1">
              <a:solidFill>
                <a:srgbClr val="FFCC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r>
              <a:rPr lang="zh-CN" altLang="en-US" sz="2400"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答：</a:t>
            </a:r>
            <a:r>
              <a:rPr lang="zh-CN" altLang="en-US" sz="2000"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原来认为是这样，现在发现不尽如此。人类医学研究发现，</a:t>
            </a:r>
            <a:r>
              <a:rPr lang="en-US" altLang="zh-CN" sz="2000"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BUN</a:t>
            </a:r>
            <a:r>
              <a:rPr lang="zh-CN" altLang="en-US" sz="2000"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与肌酐这俩肾病标志物并不能反映体内尿毒症毒素全貌</a:t>
            </a:r>
            <a:r>
              <a:rPr lang="zh-CN" altLang="en-US" sz="1200"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1200"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Lisowaska-Myjak B et al.2014</a:t>
            </a:r>
            <a:r>
              <a:rPr lang="zh-CN" altLang="en-US" sz="1200"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endParaRPr lang="en-US" altLang="zh-CN" sz="1200"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endParaRPr lang="en-US" altLang="zh-CN"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594217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17" name="组合 16">
            <a:extLst/>
          </p:cNvPr>
          <p:cNvGrpSpPr/>
          <p:nvPr/>
        </p:nvGrpSpPr>
        <p:grpSpPr>
          <a:xfrm>
            <a:off x="4866703" y="715553"/>
            <a:ext cx="7320137" cy="1011161"/>
            <a:chOff x="8112223" y="355398"/>
            <a:chExt cx="4194115" cy="1011161"/>
          </a:xfrm>
          <a:effectLst>
            <a:outerShdw blurRad="50800" dist="38100" dir="5400000" algn="t" rotWithShape="0">
              <a:prstClr val="black">
                <a:alpha val="40000"/>
              </a:prstClr>
            </a:outerShdw>
          </a:effectLst>
        </p:grpSpPr>
        <p:sp>
          <p:nvSpPr>
            <p:cNvPr id="4"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sp>
          <p:nvSpPr>
            <p:cNvPr id="7" name="文本框 14">
              <a:extLst/>
            </p:cNvPr>
            <p:cNvSpPr txBox="1">
              <a:spLocks noChangeArrowheads="1"/>
            </p:cNvSpPr>
            <p:nvPr/>
          </p:nvSpPr>
          <p:spPr bwMode="auto">
            <a:xfrm>
              <a:off x="8410186" y="355398"/>
              <a:ext cx="3506879" cy="825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3600" b="1">
                  <a:solidFill>
                    <a:schemeClr val="accent6">
                      <a:lumMod val="50000"/>
                    </a:schemeClr>
                  </a:solidFill>
                  <a:effectLst>
                    <a:outerShdw blurRad="38100" dist="38100" dir="2700000" algn="tl">
                      <a:srgbClr val="000000">
                        <a:alpha val="43137"/>
                      </a:srgbClr>
                    </a:outerShdw>
                  </a:effectLst>
                  <a:latin typeface="+mj-ea"/>
                  <a:ea typeface="+mj-ea"/>
                  <a:cs typeface="+mn-ea"/>
                  <a:sym typeface="+mn-lt"/>
                </a:rPr>
                <a:t>明白尿毒症 </a:t>
              </a:r>
              <a:r>
                <a:rPr lang="en-US" altLang="zh-CN" sz="1200" b="1">
                  <a:solidFill>
                    <a:schemeClr val="accent6">
                      <a:lumMod val="50000"/>
                    </a:schemeClr>
                  </a:solidFill>
                  <a:effectLst>
                    <a:outerShdw blurRad="38100" dist="38100" dir="2700000" algn="tl">
                      <a:srgbClr val="000000">
                        <a:alpha val="43137"/>
                      </a:srgbClr>
                    </a:outerShdw>
                  </a:effectLst>
                  <a:latin typeface="+mj-ea"/>
                  <a:ea typeface="+mj-ea"/>
                  <a:cs typeface="+mn-ea"/>
                  <a:sym typeface="+mn-lt"/>
                </a:rPr>
                <a:t>Understanding Uremia</a:t>
              </a:r>
              <a:endParaRPr lang="en-US" altLang="zh-CN" sz="1200" b="1">
                <a:solidFill>
                  <a:schemeClr val="accent6">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grpSp>
      <p:sp>
        <p:nvSpPr>
          <p:cNvPr id="10" name="流程图: 过程 9">
            <a:extLst/>
          </p:cNvPr>
          <p:cNvSpPr/>
          <p:nvPr/>
        </p:nvSpPr>
        <p:spPr bwMode="auto">
          <a:xfrm>
            <a:off x="833722" y="1875107"/>
            <a:ext cx="10596563" cy="4218190"/>
          </a:xfrm>
          <a:prstGeom prst="flowChartProcess">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numCol="3" anchor="ctr"/>
          <a:lstStyle/>
          <a:p>
            <a:pPr eaLnBrk="1" fontAlgn="auto" hangingPunct="1">
              <a:spcBef>
                <a:spcPts val="0"/>
              </a:spcBef>
              <a:spcAft>
                <a:spcPts val="0"/>
              </a:spcAft>
              <a:defRPr/>
            </a:pPr>
            <a:endParaRPr lang="zh-CN" altLang="en-US" kern="0">
              <a:solidFill>
                <a:sysClr val="windowText" lastClr="000000"/>
              </a:solidFill>
              <a:cs typeface="+mn-ea"/>
              <a:sym typeface="+mn-lt"/>
            </a:endParaRPr>
          </a:p>
        </p:txBody>
      </p:sp>
      <p:sp>
        <p:nvSpPr>
          <p:cNvPr id="5" name="文本框 4"/>
          <p:cNvSpPr txBox="1"/>
          <p:nvPr/>
        </p:nvSpPr>
        <p:spPr>
          <a:xfrm>
            <a:off x="1199456" y="2636912"/>
            <a:ext cx="10009112" cy="2462213"/>
          </a:xfrm>
          <a:prstGeom prst="rect">
            <a:avLst/>
          </a:prstGeom>
          <a:noFill/>
        </p:spPr>
        <p:txBody>
          <a:bodyPr wrap="square" rtlCol="0">
            <a:spAutoFit/>
          </a:bodyPr>
          <a:lstStyle/>
          <a:p>
            <a:endParaRPr lang="en-US" altLang="zh-CN"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u"/>
            </a:pPr>
            <a:r>
              <a:rPr lang="zh-CN" altLang="en-US" sz="2800" b="1">
                <a:solidFill>
                  <a:srgbClr val="FFCC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尿毒症是肾病中后期，体内毒素排不出去造成的毛病！</a:t>
            </a:r>
            <a:endParaRPr lang="en-US" altLang="zh-CN" sz="2800" b="1">
              <a:solidFill>
                <a:srgbClr val="FFCC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endParaRPr lang="en-US" altLang="zh-CN" sz="2800" b="1">
              <a:solidFill>
                <a:srgbClr val="FFCC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r>
              <a:rPr lang="zh-CN" altLang="en-US" sz="2000"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答：这个解释太粗糙，所以对也不对。除了代谢能力问题，尿毒症与营养不良、体内炎症亦是互为因果。尿毒症、肾病会导致营养不良，营养不良加剧炎症、尿毒症，提高致病、致死率。</a:t>
            </a:r>
            <a:endParaRPr lang="en-US" altLang="zh-CN" sz="2000"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endParaRPr lang="en-US" altLang="zh-CN" sz="2000"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759744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17" name="组合 16">
            <a:extLst/>
          </p:cNvPr>
          <p:cNvGrpSpPr/>
          <p:nvPr/>
        </p:nvGrpSpPr>
        <p:grpSpPr>
          <a:xfrm>
            <a:off x="4866703" y="715553"/>
            <a:ext cx="7320137" cy="1011161"/>
            <a:chOff x="8112223" y="355398"/>
            <a:chExt cx="4194115" cy="1011161"/>
          </a:xfrm>
          <a:effectLst>
            <a:outerShdw blurRad="50800" dist="38100" dir="5400000" algn="t" rotWithShape="0">
              <a:prstClr val="black">
                <a:alpha val="40000"/>
              </a:prstClr>
            </a:outerShdw>
          </a:effectLst>
        </p:grpSpPr>
        <p:sp>
          <p:nvSpPr>
            <p:cNvPr id="4"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sp>
          <p:nvSpPr>
            <p:cNvPr id="7" name="文本框 14">
              <a:extLst/>
            </p:cNvPr>
            <p:cNvSpPr txBox="1">
              <a:spLocks noChangeArrowheads="1"/>
            </p:cNvSpPr>
            <p:nvPr/>
          </p:nvSpPr>
          <p:spPr bwMode="auto">
            <a:xfrm>
              <a:off x="8410186" y="355398"/>
              <a:ext cx="3506879" cy="825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3600" b="1">
                  <a:solidFill>
                    <a:schemeClr val="accent6">
                      <a:lumMod val="50000"/>
                    </a:schemeClr>
                  </a:solidFill>
                  <a:effectLst>
                    <a:outerShdw blurRad="38100" dist="38100" dir="2700000" algn="tl">
                      <a:srgbClr val="000000">
                        <a:alpha val="43137"/>
                      </a:srgbClr>
                    </a:outerShdw>
                  </a:effectLst>
                  <a:latin typeface="+mj-ea"/>
                  <a:ea typeface="+mj-ea"/>
                  <a:cs typeface="+mn-ea"/>
                  <a:sym typeface="+mn-lt"/>
                </a:rPr>
                <a:t>明白尿毒症 </a:t>
              </a:r>
              <a:r>
                <a:rPr lang="en-US" altLang="zh-CN" sz="1200" b="1">
                  <a:solidFill>
                    <a:schemeClr val="accent6">
                      <a:lumMod val="50000"/>
                    </a:schemeClr>
                  </a:solidFill>
                  <a:effectLst>
                    <a:outerShdw blurRad="38100" dist="38100" dir="2700000" algn="tl">
                      <a:srgbClr val="000000">
                        <a:alpha val="43137"/>
                      </a:srgbClr>
                    </a:outerShdw>
                  </a:effectLst>
                  <a:latin typeface="+mj-ea"/>
                  <a:ea typeface="+mj-ea"/>
                  <a:cs typeface="+mn-ea"/>
                  <a:sym typeface="+mn-lt"/>
                </a:rPr>
                <a:t>Understanding Uremia</a:t>
              </a:r>
              <a:endParaRPr lang="en-US" altLang="zh-CN" sz="1200" b="1">
                <a:solidFill>
                  <a:schemeClr val="accent6">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grpSp>
      <p:sp>
        <p:nvSpPr>
          <p:cNvPr id="10" name="流程图: 过程 9">
            <a:extLst/>
          </p:cNvPr>
          <p:cNvSpPr/>
          <p:nvPr/>
        </p:nvSpPr>
        <p:spPr bwMode="auto">
          <a:xfrm>
            <a:off x="833722" y="1875107"/>
            <a:ext cx="10596563" cy="3786142"/>
          </a:xfrm>
          <a:prstGeom prst="flowChartProcess">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numCol="3" anchor="ctr"/>
          <a:lstStyle/>
          <a:p>
            <a:pPr eaLnBrk="1" fontAlgn="auto" hangingPunct="1">
              <a:spcBef>
                <a:spcPts val="0"/>
              </a:spcBef>
              <a:spcAft>
                <a:spcPts val="0"/>
              </a:spcAft>
              <a:defRPr/>
            </a:pPr>
            <a:endParaRPr lang="zh-CN" altLang="en-US" kern="0">
              <a:solidFill>
                <a:sysClr val="windowText" lastClr="000000"/>
              </a:solidFill>
              <a:cs typeface="+mn-ea"/>
              <a:sym typeface="+mn-lt"/>
            </a:endParaRPr>
          </a:p>
        </p:txBody>
      </p:sp>
      <p:sp>
        <p:nvSpPr>
          <p:cNvPr id="5" name="文本框 4"/>
          <p:cNvSpPr txBox="1"/>
          <p:nvPr/>
        </p:nvSpPr>
        <p:spPr>
          <a:xfrm>
            <a:off x="1127448" y="2060848"/>
            <a:ext cx="10009112" cy="3077766"/>
          </a:xfrm>
          <a:prstGeom prst="rect">
            <a:avLst/>
          </a:prstGeom>
          <a:noFill/>
        </p:spPr>
        <p:txBody>
          <a:bodyPr wrap="square" rtlCol="0">
            <a:spAutoFit/>
          </a:bodyPr>
          <a:lstStyle/>
          <a:p>
            <a:endParaRPr lang="en-US" altLang="zh-CN" sz="2400"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u"/>
            </a:pPr>
            <a:r>
              <a:rPr lang="zh-CN" altLang="en-US" sz="2800" b="1">
                <a:solidFill>
                  <a:srgbClr val="FFCC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吃蛋白质会加重尿毒症</a:t>
            </a:r>
            <a:r>
              <a:rPr lang="zh-CN" altLang="en-US" sz="2400" b="1">
                <a:solidFill>
                  <a:srgbClr val="FFCC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endParaRPr lang="en-US" altLang="zh-CN" sz="2400" b="1">
              <a:solidFill>
                <a:srgbClr val="FFCC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endParaRPr lang="en-US" altLang="zh-CN" sz="2400" b="1">
              <a:solidFill>
                <a:srgbClr val="FFCC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r>
              <a:rPr lang="zh-CN" altLang="en-US" sz="2000"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答：一样是亦对亦错。人类医学界对尿素氮毒性的争议在</a:t>
            </a:r>
            <a:r>
              <a:rPr lang="en-US" altLang="zh-CN" sz="2000"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2017</a:t>
            </a:r>
            <a:r>
              <a:rPr lang="zh-CN" altLang="en-US" sz="2000"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后再起波澜，原先认知中的低毒、无毒观点受到挑战。但无法否认，至今在案的</a:t>
            </a:r>
            <a:r>
              <a:rPr lang="en-US" altLang="zh-CN" sz="2000"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130</a:t>
            </a:r>
            <a:r>
              <a:rPr lang="zh-CN" altLang="en-US" sz="2000"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种尿毒症毒素中，蛋白质代谢的产物仅是一部份罢了。低蛋白饮食可以减少体内含氮代谢物，但同时也造就营养不良，降低白蛋白，增加了蛋白结合毒素的浓度，增加炎症分子的产生。</a:t>
            </a:r>
            <a:r>
              <a:rPr lang="zh-CN" altLang="en-US" sz="2000" b="1">
                <a:solidFill>
                  <a:srgbClr val="FF2929"/>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换句话说，迷信低蛋白，以营养不良为代价治疗肾病有搬起石头砸自己脚的可能。</a:t>
            </a:r>
            <a:endParaRPr lang="en-US" altLang="zh-CN" sz="2000" b="1">
              <a:solidFill>
                <a:srgbClr val="FF2929"/>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endParaRPr lang="en-US" altLang="zh-CN"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084264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0" name="箭头: 五边形 6">
            <a:extLst/>
          </p:cNvPr>
          <p:cNvSpPr/>
          <p:nvPr/>
        </p:nvSpPr>
        <p:spPr>
          <a:xfrm rot="10800000" flipH="1">
            <a:off x="0" y="404813"/>
            <a:ext cx="8184232" cy="1344612"/>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grpSp>
        <p:nvGrpSpPr>
          <p:cNvPr id="30724" name="组合 22"/>
          <p:cNvGrpSpPr>
            <a:grpSpLocks/>
          </p:cNvGrpSpPr>
          <p:nvPr/>
        </p:nvGrpSpPr>
        <p:grpSpPr bwMode="auto">
          <a:xfrm>
            <a:off x="196850" y="404813"/>
            <a:ext cx="8132500" cy="1120775"/>
            <a:chOff x="-101400" y="2876417"/>
            <a:chExt cx="7197099" cy="1120760"/>
          </a:xfrm>
        </p:grpSpPr>
        <p:sp>
          <p:nvSpPr>
            <p:cNvPr id="20494" name="文本框 13">
              <a:extLst/>
            </p:cNvPr>
            <p:cNvSpPr txBox="1">
              <a:spLocks noChangeArrowheads="1"/>
            </p:cNvSpPr>
            <p:nvPr/>
          </p:nvSpPr>
          <p:spPr bwMode="auto">
            <a:xfrm>
              <a:off x="-101400" y="2876417"/>
              <a:ext cx="1343136" cy="825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600" b="1">
                  <a:solidFill>
                    <a:srgbClr val="010101"/>
                  </a:solidFill>
                  <a:latin typeface="+mn-lt"/>
                  <a:ea typeface="+mn-ea"/>
                  <a:cs typeface="+mn-ea"/>
                  <a:sym typeface="+mn-lt"/>
                </a:rPr>
                <a:t>PART</a:t>
              </a:r>
            </a:p>
          </p:txBody>
        </p:sp>
        <p:sp>
          <p:nvSpPr>
            <p:cNvPr id="20495" name="文本框 14">
              <a:extLst/>
            </p:cNvPr>
            <p:cNvSpPr txBox="1">
              <a:spLocks noChangeArrowheads="1"/>
            </p:cNvSpPr>
            <p:nvPr/>
          </p:nvSpPr>
          <p:spPr bwMode="auto">
            <a:xfrm>
              <a:off x="2175618" y="3107000"/>
              <a:ext cx="4920081" cy="830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3200" b="1">
                  <a:solidFill>
                    <a:schemeClr val="tx2">
                      <a:lumMod val="75000"/>
                    </a:schemeClr>
                  </a:solidFill>
                  <a:latin typeface="微软雅黑" panose="020B0503020204020204" pitchFamily="34" charset="-122"/>
                  <a:ea typeface="微软雅黑" panose="020B0503020204020204" pitchFamily="34" charset="-122"/>
                  <a:cs typeface="+mn-ea"/>
                  <a:sym typeface="+mn-lt"/>
                </a:rPr>
                <a:t>这些检测更关键，要复查！</a:t>
              </a:r>
              <a:endParaRPr lang="en-US" altLang="zh-CN" sz="3200" b="1">
                <a:solidFill>
                  <a:schemeClr val="tx2">
                    <a:lumMod val="75000"/>
                  </a:schemeClr>
                </a:solidFill>
                <a:latin typeface="微软雅黑" panose="020B0503020204020204" pitchFamily="34" charset="-122"/>
                <a:ea typeface="微软雅黑" panose="020B0503020204020204" pitchFamily="34" charset="-122"/>
                <a:cs typeface="+mn-ea"/>
                <a:sym typeface="+mn-lt"/>
              </a:endParaRPr>
            </a:p>
          </p:txBody>
        </p:sp>
        <p:cxnSp>
          <p:nvCxnSpPr>
            <p:cNvPr id="24" name="直接连接符 23">
              <a:extLst/>
            </p:cNvPr>
            <p:cNvCxnSpPr>
              <a:cxnSpLocks/>
            </p:cNvCxnSpPr>
            <p:nvPr/>
          </p:nvCxnSpPr>
          <p:spPr>
            <a:xfrm flipH="1">
              <a:off x="489901" y="3171688"/>
              <a:ext cx="1074241" cy="722302"/>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0497" name="矩形 20">
              <a:extLst/>
            </p:cNvPr>
            <p:cNvSpPr>
              <a:spLocks noChangeArrowheads="1"/>
            </p:cNvSpPr>
            <p:nvPr/>
          </p:nvSpPr>
          <p:spPr bwMode="auto">
            <a:xfrm>
              <a:off x="618328" y="3473309"/>
              <a:ext cx="1577249" cy="523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lvl="1">
                <a:lnSpc>
                  <a:spcPct val="100000"/>
                </a:lnSpc>
                <a:spcBef>
                  <a:spcPct val="0"/>
                </a:spcBef>
                <a:buFontTx/>
                <a:buNone/>
                <a:defRPr/>
              </a:pPr>
              <a:r>
                <a:rPr lang="en-US" altLang="zh-CN" sz="2800" b="1">
                  <a:solidFill>
                    <a:srgbClr val="010101"/>
                  </a:solidFill>
                  <a:latin typeface="+mn-lt"/>
                  <a:ea typeface="+mn-ea"/>
                  <a:cs typeface="+mn-ea"/>
                  <a:sym typeface="+mn-lt"/>
                </a:rPr>
                <a:t>TWO</a:t>
              </a:r>
              <a:endParaRPr lang="zh-CN" altLang="en-US" sz="1400">
                <a:latin typeface="+mn-lt"/>
                <a:ea typeface="+mn-ea"/>
                <a:cs typeface="+mn-ea"/>
                <a:sym typeface="+mn-lt"/>
              </a:endParaRPr>
            </a:p>
          </p:txBody>
        </p:sp>
      </p:grpSp>
      <p:sp>
        <p:nvSpPr>
          <p:cNvPr id="45" name="矩形 44">
            <a:extLst/>
          </p:cNvPr>
          <p:cNvSpPr/>
          <p:nvPr/>
        </p:nvSpPr>
        <p:spPr>
          <a:xfrm>
            <a:off x="283523" y="1929206"/>
            <a:ext cx="2643195" cy="46714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sp>
        <p:nvSpPr>
          <p:cNvPr id="15" name="矩形 14">
            <a:extLst/>
          </p:cNvPr>
          <p:cNvSpPr/>
          <p:nvPr/>
        </p:nvSpPr>
        <p:spPr>
          <a:xfrm>
            <a:off x="3108919" y="1938491"/>
            <a:ext cx="2745445" cy="46714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sp>
        <p:nvSpPr>
          <p:cNvPr id="2" name="文本框 1"/>
          <p:cNvSpPr txBox="1"/>
          <p:nvPr/>
        </p:nvSpPr>
        <p:spPr>
          <a:xfrm>
            <a:off x="3944519" y="2024292"/>
            <a:ext cx="999353" cy="523220"/>
          </a:xfrm>
          <a:prstGeom prst="rect">
            <a:avLst/>
          </a:prstGeom>
          <a:noFill/>
        </p:spPr>
        <p:txBody>
          <a:bodyPr wrap="square" rtlCol="0">
            <a:spAutoFit/>
          </a:bodyPr>
          <a:lstStyle/>
          <a:p>
            <a:r>
              <a:rPr lang="en-US" altLang="zh-CN" sz="2800" b="1">
                <a:solidFill>
                  <a:schemeClr val="tx1">
                    <a:lumMod val="75000"/>
                    <a:lumOff val="25000"/>
                  </a:schemeClr>
                </a:solidFill>
                <a:effectLst>
                  <a:outerShdw blurRad="38100" dist="38100" dir="2700000" algn="tl">
                    <a:srgbClr val="000000">
                      <a:alpha val="43137"/>
                    </a:srgbClr>
                  </a:outerShdw>
                </a:effectLst>
                <a:latin typeface="+mj-ea"/>
                <a:ea typeface="+mj-ea"/>
              </a:rPr>
              <a:t>UPC</a:t>
            </a:r>
            <a:endParaRPr lang="zh-CN" altLang="en-US" b="1">
              <a:solidFill>
                <a:schemeClr val="tx1">
                  <a:lumMod val="75000"/>
                  <a:lumOff val="25000"/>
                </a:schemeClr>
              </a:solidFill>
              <a:effectLst>
                <a:outerShdw blurRad="38100" dist="38100" dir="2700000" algn="tl">
                  <a:srgbClr val="000000">
                    <a:alpha val="43137"/>
                  </a:srgbClr>
                </a:outerShdw>
              </a:effectLst>
              <a:latin typeface="+mj-ea"/>
              <a:ea typeface="+mj-ea"/>
            </a:endParaRPr>
          </a:p>
        </p:txBody>
      </p:sp>
      <p:sp>
        <p:nvSpPr>
          <p:cNvPr id="4" name="文本框 3"/>
          <p:cNvSpPr txBox="1"/>
          <p:nvPr/>
        </p:nvSpPr>
        <p:spPr>
          <a:xfrm>
            <a:off x="3257151" y="2607034"/>
            <a:ext cx="3546647" cy="584775"/>
          </a:xfrm>
          <a:prstGeom prst="rect">
            <a:avLst/>
          </a:prstGeom>
          <a:noFill/>
        </p:spPr>
        <p:txBody>
          <a:bodyPr wrap="square" rtlCol="0">
            <a:spAutoFit/>
          </a:bodyPr>
          <a:lstStyle/>
          <a:p>
            <a:pPr marL="0" lvl="1"/>
            <a:r>
              <a:rPr lang="zh-CN" altLang="en-US" sz="1400" b="1">
                <a:solidFill>
                  <a:schemeClr val="tx1">
                    <a:lumMod val="75000"/>
                    <a:lumOff val="25000"/>
                  </a:schemeClr>
                </a:solidFill>
                <a:effectLst>
                  <a:outerShdw blurRad="38100" dist="38100" dir="2700000" algn="tl">
                    <a:srgbClr val="000000">
                      <a:alpha val="43137"/>
                    </a:srgbClr>
                  </a:outerShdw>
                </a:effectLst>
                <a:latin typeface="+mj-ea"/>
                <a:ea typeface="+mj-ea"/>
              </a:rPr>
              <a:t>蛋白尿会加剧肾机能恶化速度</a:t>
            </a:r>
            <a:endParaRPr lang="en-US" altLang="zh-CN" sz="1400" b="1">
              <a:solidFill>
                <a:schemeClr val="tx1">
                  <a:lumMod val="75000"/>
                  <a:lumOff val="25000"/>
                </a:schemeClr>
              </a:solidFill>
              <a:effectLst>
                <a:outerShdw blurRad="38100" dist="38100" dir="2700000" algn="tl">
                  <a:srgbClr val="000000">
                    <a:alpha val="43137"/>
                  </a:srgbClr>
                </a:outerShdw>
              </a:effectLst>
              <a:latin typeface="+mj-ea"/>
              <a:ea typeface="+mj-ea"/>
            </a:endParaRPr>
          </a:p>
          <a:p>
            <a:endParaRPr lang="zh-CN" altLang="en-US"/>
          </a:p>
        </p:txBody>
      </p:sp>
      <p:sp>
        <p:nvSpPr>
          <p:cNvPr id="5" name="文本框 4"/>
          <p:cNvSpPr txBox="1"/>
          <p:nvPr/>
        </p:nvSpPr>
        <p:spPr>
          <a:xfrm>
            <a:off x="8863103" y="2001296"/>
            <a:ext cx="3096344" cy="800219"/>
          </a:xfrm>
          <a:prstGeom prst="rect">
            <a:avLst/>
          </a:prstGeom>
          <a:noFill/>
        </p:spPr>
        <p:txBody>
          <a:bodyPr wrap="square" rtlCol="0">
            <a:spAutoFit/>
          </a:bodyPr>
          <a:lstStyle/>
          <a:p>
            <a:pPr marL="0" lvl="1"/>
            <a:r>
              <a:rPr lang="zh-CN" altLang="en-US" sz="2800" b="1">
                <a:solidFill>
                  <a:schemeClr val="tx1">
                    <a:lumMod val="75000"/>
                    <a:lumOff val="25000"/>
                  </a:schemeClr>
                </a:solidFill>
                <a:effectLst>
                  <a:outerShdw blurRad="38100" dist="38100" dir="2700000" algn="tl">
                    <a:srgbClr val="000000">
                      <a:alpha val="43137"/>
                    </a:srgbClr>
                  </a:outerShdw>
                </a:effectLst>
                <a:latin typeface="+mj-ea"/>
                <a:ea typeface="+mj-ea"/>
              </a:rPr>
              <a:t>血钾 （</a:t>
            </a:r>
            <a:r>
              <a:rPr lang="en-US" altLang="zh-CN" sz="2800" b="1">
                <a:solidFill>
                  <a:schemeClr val="tx1">
                    <a:lumMod val="75000"/>
                    <a:lumOff val="25000"/>
                  </a:schemeClr>
                </a:solidFill>
                <a:effectLst>
                  <a:outerShdw blurRad="38100" dist="38100" dir="2700000" algn="tl">
                    <a:srgbClr val="000000">
                      <a:alpha val="43137"/>
                    </a:srgbClr>
                  </a:outerShdw>
                </a:effectLst>
                <a:latin typeface="+mj-ea"/>
                <a:ea typeface="+mj-ea"/>
              </a:rPr>
              <a:t>K</a:t>
            </a:r>
            <a:r>
              <a:rPr lang="zh-CN" altLang="en-US" sz="2800" b="1">
                <a:solidFill>
                  <a:schemeClr val="tx1">
                    <a:lumMod val="75000"/>
                    <a:lumOff val="25000"/>
                  </a:schemeClr>
                </a:solidFill>
                <a:effectLst>
                  <a:outerShdw blurRad="38100" dist="38100" dir="2700000" algn="tl">
                    <a:srgbClr val="000000">
                      <a:alpha val="43137"/>
                    </a:srgbClr>
                  </a:outerShdw>
                </a:effectLst>
                <a:latin typeface="+mj-ea"/>
                <a:ea typeface="+mj-ea"/>
              </a:rPr>
              <a:t>）</a:t>
            </a:r>
            <a:endParaRPr lang="en-US" altLang="zh-CN" sz="2800" b="1">
              <a:solidFill>
                <a:schemeClr val="tx1">
                  <a:lumMod val="75000"/>
                  <a:lumOff val="25000"/>
                </a:schemeClr>
              </a:solidFill>
              <a:effectLst>
                <a:outerShdw blurRad="38100" dist="38100" dir="2700000" algn="tl">
                  <a:srgbClr val="000000">
                    <a:alpha val="43137"/>
                  </a:srgbClr>
                </a:outerShdw>
              </a:effectLst>
              <a:latin typeface="+mj-ea"/>
              <a:ea typeface="+mj-ea"/>
            </a:endParaRPr>
          </a:p>
          <a:p>
            <a:endParaRPr lang="zh-CN" altLang="en-US"/>
          </a:p>
        </p:txBody>
      </p:sp>
      <p:sp>
        <p:nvSpPr>
          <p:cNvPr id="9" name="文本框 8"/>
          <p:cNvSpPr txBox="1"/>
          <p:nvPr/>
        </p:nvSpPr>
        <p:spPr>
          <a:xfrm>
            <a:off x="637456" y="3572511"/>
            <a:ext cx="2664296" cy="646331"/>
          </a:xfrm>
          <a:prstGeom prst="rect">
            <a:avLst/>
          </a:prstGeom>
          <a:noFill/>
        </p:spPr>
        <p:txBody>
          <a:bodyPr wrap="square" rtlCol="0">
            <a:spAutoFit/>
          </a:bodyPr>
          <a:lstStyle/>
          <a:p>
            <a:r>
              <a:rPr lang="zh-CN" altLang="en-US" b="1">
                <a:solidFill>
                  <a:srgbClr val="C00000"/>
                </a:solidFill>
                <a:effectLst>
                  <a:outerShdw blurRad="38100" dist="38100" dir="2700000" algn="tl">
                    <a:srgbClr val="000000">
                      <a:alpha val="43137"/>
                    </a:srgbClr>
                  </a:outerShdw>
                </a:effectLst>
                <a:latin typeface="+mn-ea"/>
                <a:ea typeface="+mn-ea"/>
              </a:rPr>
              <a:t>默认正常范围</a:t>
            </a:r>
            <a:endParaRPr lang="en-US" altLang="zh-CN" b="1">
              <a:solidFill>
                <a:srgbClr val="C00000"/>
              </a:solidFill>
              <a:effectLst>
                <a:outerShdw blurRad="38100" dist="38100" dir="2700000" algn="tl">
                  <a:srgbClr val="000000">
                    <a:alpha val="43137"/>
                  </a:srgbClr>
                </a:outerShdw>
              </a:effectLst>
              <a:latin typeface="+mn-ea"/>
              <a:ea typeface="+mn-ea"/>
            </a:endParaRPr>
          </a:p>
          <a:p>
            <a:r>
              <a:rPr lang="en-US" altLang="zh-CN"/>
              <a:t>1.0-2.42mmol/L</a:t>
            </a:r>
            <a:endParaRPr lang="zh-CN" altLang="en-US"/>
          </a:p>
        </p:txBody>
      </p:sp>
      <p:sp>
        <p:nvSpPr>
          <p:cNvPr id="10" name="文本框 9"/>
          <p:cNvSpPr txBox="1"/>
          <p:nvPr/>
        </p:nvSpPr>
        <p:spPr>
          <a:xfrm>
            <a:off x="605142" y="4434446"/>
            <a:ext cx="2869279" cy="1754326"/>
          </a:xfrm>
          <a:prstGeom prst="rect">
            <a:avLst/>
          </a:prstGeom>
          <a:noFill/>
        </p:spPr>
        <p:txBody>
          <a:bodyPr wrap="square" rtlCol="0">
            <a:spAutoFit/>
          </a:bodyPr>
          <a:lstStyle/>
          <a:p>
            <a:pPr eaLnBrk="1" fontAlgn="t" hangingPunct="1"/>
            <a:r>
              <a:rPr lang="zh-CN" altLang="en-US" b="1">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肾病猫“正常范围”</a:t>
            </a:r>
            <a:endParaRPr lang="en-US" altLang="zh-CN" b="1">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eaLnBrk="1" fontAlgn="t" hangingPunct="1"/>
            <a:r>
              <a:rPr lang="zh-CN" altLang="zh-CN">
                <a:latin typeface="+mj-ea"/>
                <a:ea typeface="+mj-ea"/>
              </a:rPr>
              <a:t>二阶肾病</a:t>
            </a:r>
            <a:r>
              <a:rPr lang="en-US" altLang="zh-CN">
                <a:latin typeface="+mj-ea"/>
                <a:ea typeface="+mj-ea"/>
              </a:rPr>
              <a:t> </a:t>
            </a:r>
            <a:r>
              <a:rPr lang="zh-CN" altLang="en-US">
                <a:latin typeface="+mj-ea"/>
                <a:ea typeface="+mj-ea"/>
              </a:rPr>
              <a:t>≤</a:t>
            </a:r>
            <a:r>
              <a:rPr lang="en-US" altLang="zh-CN">
                <a:latin typeface="+mj-ea"/>
                <a:ea typeface="+mj-ea"/>
              </a:rPr>
              <a:t>1.45 </a:t>
            </a:r>
            <a:endParaRPr lang="zh-CN" altLang="zh-CN">
              <a:latin typeface="+mj-ea"/>
              <a:ea typeface="+mj-ea"/>
            </a:endParaRPr>
          </a:p>
          <a:p>
            <a:pPr eaLnBrk="1" fontAlgn="auto" hangingPunct="1"/>
            <a:r>
              <a:rPr lang="zh-CN" altLang="zh-CN">
                <a:latin typeface="+mj-ea"/>
                <a:ea typeface="+mj-ea"/>
              </a:rPr>
              <a:t>三阶肾病</a:t>
            </a:r>
            <a:r>
              <a:rPr lang="en-US" altLang="zh-CN">
                <a:latin typeface="+mj-ea"/>
                <a:ea typeface="+mj-ea"/>
              </a:rPr>
              <a:t> </a:t>
            </a:r>
            <a:r>
              <a:rPr lang="zh-CN" altLang="en-US">
                <a:latin typeface="+mj-ea"/>
                <a:ea typeface="+mj-ea"/>
              </a:rPr>
              <a:t>≤ </a:t>
            </a:r>
            <a:r>
              <a:rPr lang="en-US" altLang="zh-CN">
                <a:latin typeface="+mj-ea"/>
                <a:ea typeface="+mj-ea"/>
              </a:rPr>
              <a:t>1.61</a:t>
            </a:r>
            <a:endParaRPr lang="zh-CN" altLang="zh-CN">
              <a:latin typeface="+mj-ea"/>
              <a:ea typeface="+mj-ea"/>
            </a:endParaRPr>
          </a:p>
          <a:p>
            <a:pPr eaLnBrk="1" fontAlgn="auto" hangingPunct="1"/>
            <a:r>
              <a:rPr lang="zh-CN" altLang="zh-CN">
                <a:latin typeface="+mj-ea"/>
                <a:ea typeface="+mj-ea"/>
              </a:rPr>
              <a:t>四阶肾病</a:t>
            </a:r>
            <a:r>
              <a:rPr lang="en-US" altLang="zh-CN">
                <a:latin typeface="+mj-ea"/>
                <a:ea typeface="+mj-ea"/>
              </a:rPr>
              <a:t> </a:t>
            </a:r>
            <a:r>
              <a:rPr lang="zh-CN" altLang="en-US">
                <a:latin typeface="+mj-ea"/>
                <a:ea typeface="+mj-ea"/>
              </a:rPr>
              <a:t>≤ </a:t>
            </a:r>
            <a:r>
              <a:rPr lang="en-US" altLang="zh-CN">
                <a:latin typeface="+mj-ea"/>
                <a:ea typeface="+mj-ea"/>
              </a:rPr>
              <a:t>1.94</a:t>
            </a:r>
            <a:endParaRPr lang="zh-CN" altLang="zh-CN">
              <a:latin typeface="+mj-ea"/>
              <a:ea typeface="+mj-ea"/>
            </a:endParaRPr>
          </a:p>
          <a:p>
            <a:endParaRPr lang="en-US" altLang="zh-CN"/>
          </a:p>
          <a:p>
            <a:endParaRPr lang="en-US" altLang="zh-CN"/>
          </a:p>
        </p:txBody>
      </p:sp>
      <p:sp>
        <p:nvSpPr>
          <p:cNvPr id="11" name="文本框 10"/>
          <p:cNvSpPr txBox="1"/>
          <p:nvPr/>
        </p:nvSpPr>
        <p:spPr>
          <a:xfrm>
            <a:off x="421606" y="2115494"/>
            <a:ext cx="2370758" cy="461665"/>
          </a:xfrm>
          <a:prstGeom prst="rect">
            <a:avLst/>
          </a:prstGeom>
          <a:noFill/>
        </p:spPr>
        <p:txBody>
          <a:bodyPr wrap="square" rtlCol="0">
            <a:spAutoFit/>
          </a:bodyPr>
          <a:lstStyle/>
          <a:p>
            <a:r>
              <a:rPr lang="zh-CN" altLang="en-US" sz="2400" b="1">
                <a:solidFill>
                  <a:schemeClr val="tx2">
                    <a:lumMod val="75000"/>
                  </a:schemeClr>
                </a:solidFill>
                <a:latin typeface="+mj-ea"/>
                <a:ea typeface="+mj-ea"/>
              </a:rPr>
              <a:t>血磷（</a:t>
            </a:r>
            <a:r>
              <a:rPr lang="en-US" altLang="zh-CN" sz="2400" b="1">
                <a:solidFill>
                  <a:schemeClr val="tx2">
                    <a:lumMod val="75000"/>
                  </a:schemeClr>
                </a:solidFill>
                <a:effectLst>
                  <a:outerShdw blurRad="38100" dist="38100" dir="2700000" algn="tl">
                    <a:srgbClr val="000000">
                      <a:alpha val="43137"/>
                    </a:srgbClr>
                  </a:outerShdw>
                </a:effectLst>
                <a:latin typeface="+mj-ea"/>
                <a:ea typeface="+mj-ea"/>
              </a:rPr>
              <a:t>PHOS</a:t>
            </a:r>
            <a:r>
              <a:rPr lang="zh-CN" altLang="en-US" sz="2400" b="1">
                <a:solidFill>
                  <a:schemeClr val="tx2">
                    <a:lumMod val="75000"/>
                  </a:schemeClr>
                </a:solidFill>
                <a:latin typeface="+mj-ea"/>
                <a:ea typeface="+mj-ea"/>
              </a:rPr>
              <a:t>）</a:t>
            </a:r>
          </a:p>
        </p:txBody>
      </p:sp>
      <p:sp>
        <p:nvSpPr>
          <p:cNvPr id="12" name="文本框 11"/>
          <p:cNvSpPr txBox="1"/>
          <p:nvPr/>
        </p:nvSpPr>
        <p:spPr>
          <a:xfrm>
            <a:off x="-72539" y="2606149"/>
            <a:ext cx="3284892" cy="307777"/>
          </a:xfrm>
          <a:prstGeom prst="rect">
            <a:avLst/>
          </a:prstGeom>
          <a:noFill/>
        </p:spPr>
        <p:txBody>
          <a:bodyPr wrap="square" rtlCol="0">
            <a:spAutoFit/>
          </a:bodyPr>
          <a:lstStyle/>
          <a:p>
            <a:pPr lvl="1"/>
            <a:r>
              <a:rPr lang="zh-CN" altLang="en-US" sz="1400" b="1">
                <a:solidFill>
                  <a:schemeClr val="tx1">
                    <a:lumMod val="75000"/>
                    <a:lumOff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肾病治疗头号手段是限磷</a:t>
            </a:r>
            <a:endParaRPr lang="en-US" altLang="zh-CN" sz="1400" b="1">
              <a:solidFill>
                <a:schemeClr val="tx1">
                  <a:lumMod val="75000"/>
                  <a:lumOff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7" name="矩形 26">
            <a:extLst/>
          </p:cNvPr>
          <p:cNvSpPr/>
          <p:nvPr/>
        </p:nvSpPr>
        <p:spPr>
          <a:xfrm>
            <a:off x="8955943" y="1929205"/>
            <a:ext cx="3141011" cy="46714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sp>
        <p:nvSpPr>
          <p:cNvPr id="26" name="矩形 25">
            <a:extLst/>
          </p:cNvPr>
          <p:cNvSpPr/>
          <p:nvPr/>
        </p:nvSpPr>
        <p:spPr>
          <a:xfrm>
            <a:off x="6064239" y="1929205"/>
            <a:ext cx="2737177" cy="46714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sp>
        <p:nvSpPr>
          <p:cNvPr id="17" name="文本框 16"/>
          <p:cNvSpPr txBox="1"/>
          <p:nvPr/>
        </p:nvSpPr>
        <p:spPr>
          <a:xfrm>
            <a:off x="3474421" y="3010774"/>
            <a:ext cx="1939547" cy="1000274"/>
          </a:xfrm>
          <a:prstGeom prst="rect">
            <a:avLst/>
          </a:prstGeom>
          <a:noFill/>
        </p:spPr>
        <p:txBody>
          <a:bodyPr wrap="square" rtlCol="0">
            <a:spAutoFit/>
          </a:bodyPr>
          <a:lstStyle/>
          <a:p>
            <a:pPr algn="ctr"/>
            <a:r>
              <a:rPr lang="zh-CN" altLang="en-US" sz="1600" b="1">
                <a:solidFill>
                  <a:srgbClr val="C00000"/>
                </a:solidFill>
                <a:effectLst>
                  <a:outerShdw blurRad="38100" dist="38100" dir="2700000" algn="tl">
                    <a:srgbClr val="000000">
                      <a:alpha val="43137"/>
                    </a:srgbClr>
                  </a:outerShdw>
                </a:effectLst>
                <a:latin typeface="+mj-ea"/>
                <a:ea typeface="+mj-ea"/>
              </a:rPr>
              <a:t>“</a:t>
            </a:r>
            <a:r>
              <a:rPr lang="da-DK" altLang="zh-CN" sz="1600" b="1">
                <a:solidFill>
                  <a:srgbClr val="C00000"/>
                </a:solidFill>
                <a:effectLst>
                  <a:outerShdw blurRad="38100" dist="38100" dir="2700000" algn="tl">
                    <a:srgbClr val="000000">
                      <a:alpha val="43137"/>
                    </a:srgbClr>
                  </a:outerShdw>
                </a:effectLst>
                <a:latin typeface="+mj-ea"/>
                <a:ea typeface="+mj-ea"/>
              </a:rPr>
              <a:t>UPC</a:t>
            </a:r>
            <a:r>
              <a:rPr lang="zh-CN" altLang="en-US" sz="1600" b="1">
                <a:solidFill>
                  <a:srgbClr val="C00000"/>
                </a:solidFill>
                <a:effectLst>
                  <a:outerShdw blurRad="38100" dist="38100" dir="2700000" algn="tl">
                    <a:srgbClr val="000000">
                      <a:alpha val="43137"/>
                    </a:srgbClr>
                  </a:outerShdw>
                </a:effectLst>
                <a:latin typeface="+mj-ea"/>
                <a:ea typeface="+mj-ea"/>
              </a:rPr>
              <a:t>大于</a:t>
            </a:r>
            <a:r>
              <a:rPr lang="en-US" altLang="zh-CN" sz="1600" b="1">
                <a:solidFill>
                  <a:srgbClr val="C00000"/>
                </a:solidFill>
                <a:effectLst>
                  <a:outerShdw blurRad="38100" dist="38100" dir="2700000" algn="tl">
                    <a:srgbClr val="000000">
                      <a:alpha val="43137"/>
                    </a:srgbClr>
                  </a:outerShdw>
                </a:effectLst>
                <a:latin typeface="+mj-ea"/>
                <a:ea typeface="+mj-ea"/>
              </a:rPr>
              <a:t>0.5</a:t>
            </a:r>
            <a:r>
              <a:rPr lang="zh-CN" altLang="en-US" sz="1600" b="1">
                <a:solidFill>
                  <a:srgbClr val="C00000"/>
                </a:solidFill>
                <a:effectLst>
                  <a:outerShdw blurRad="38100" dist="38100" dir="2700000" algn="tl">
                    <a:srgbClr val="000000">
                      <a:alpha val="43137"/>
                    </a:srgbClr>
                  </a:outerShdw>
                </a:effectLst>
                <a:latin typeface="+mj-ea"/>
                <a:ea typeface="+mj-ea"/>
              </a:rPr>
              <a:t>的猫存活时间只有其它猫的三分之一。”</a:t>
            </a:r>
            <a:endParaRPr lang="da-DK" altLang="zh-CN" sz="1600" b="1">
              <a:solidFill>
                <a:srgbClr val="C00000"/>
              </a:solidFill>
              <a:effectLst>
                <a:outerShdw blurRad="38100" dist="38100" dir="2700000" algn="tl">
                  <a:srgbClr val="000000">
                    <a:alpha val="43137"/>
                  </a:srgbClr>
                </a:outerShdw>
              </a:effectLst>
              <a:latin typeface="+mj-ea"/>
              <a:ea typeface="+mj-ea"/>
            </a:endParaRPr>
          </a:p>
          <a:p>
            <a:r>
              <a:rPr lang="da-DK" altLang="zh-CN" sz="1100">
                <a:latin typeface="+mj-ea"/>
                <a:ea typeface="+mj-ea"/>
              </a:rPr>
              <a:t>  </a:t>
            </a:r>
            <a:r>
              <a:rPr lang="zh-CN" altLang="en-US" sz="1100">
                <a:latin typeface="+mj-ea"/>
                <a:ea typeface="+mj-ea"/>
              </a:rPr>
              <a:t>（</a:t>
            </a:r>
            <a:r>
              <a:rPr lang="da-DK" altLang="zh-CN" sz="1100">
                <a:latin typeface="+mj-ea"/>
                <a:ea typeface="+mj-ea"/>
              </a:rPr>
              <a:t>Syme HM et al. 2006</a:t>
            </a:r>
            <a:r>
              <a:rPr lang="zh-CN" altLang="en-US" sz="1100">
                <a:latin typeface="+mj-ea"/>
                <a:ea typeface="+mj-ea"/>
              </a:rPr>
              <a:t>）</a:t>
            </a:r>
          </a:p>
        </p:txBody>
      </p:sp>
      <p:graphicFrame>
        <p:nvGraphicFramePr>
          <p:cNvPr id="18" name="表格 17"/>
          <p:cNvGraphicFramePr>
            <a:graphicFrameLocks noGrp="1"/>
          </p:cNvGraphicFramePr>
          <p:nvPr>
            <p:extLst>
              <p:ext uri="{D42A27DB-BD31-4B8C-83A1-F6EECF244321}">
                <p14:modId xmlns:p14="http://schemas.microsoft.com/office/powerpoint/2010/main" val="729226065"/>
              </p:ext>
            </p:extLst>
          </p:nvPr>
        </p:nvGraphicFramePr>
        <p:xfrm>
          <a:off x="3281915" y="4194774"/>
          <a:ext cx="2379592" cy="1112520"/>
        </p:xfrm>
        <a:graphic>
          <a:graphicData uri="http://schemas.openxmlformats.org/drawingml/2006/table">
            <a:tbl>
              <a:tblPr firstRow="1" bandRow="1">
                <a:tableStyleId>{5C22544A-7EE6-4342-B048-85BDC9FD1C3A}</a:tableStyleId>
              </a:tblPr>
              <a:tblGrid>
                <a:gridCol w="1189796">
                  <a:extLst>
                    <a:ext uri="{9D8B030D-6E8A-4147-A177-3AD203B41FA5}">
                      <a16:colId xmlns:a16="http://schemas.microsoft.com/office/drawing/2014/main" val="709561913"/>
                    </a:ext>
                  </a:extLst>
                </a:gridCol>
                <a:gridCol w="1189796">
                  <a:extLst>
                    <a:ext uri="{9D8B030D-6E8A-4147-A177-3AD203B41FA5}">
                      <a16:colId xmlns:a16="http://schemas.microsoft.com/office/drawing/2014/main" val="1624458649"/>
                    </a:ext>
                  </a:extLst>
                </a:gridCol>
              </a:tblGrid>
              <a:tr h="370840">
                <a:tc>
                  <a:txBody>
                    <a:bodyPr/>
                    <a:lstStyle/>
                    <a:p>
                      <a:r>
                        <a:rPr lang="en-US" altLang="zh-CN"/>
                        <a:t>UPC</a:t>
                      </a:r>
                      <a:endParaRPr lang="zh-CN" altLang="en-US"/>
                    </a:p>
                  </a:txBody>
                  <a:tcPr/>
                </a:tc>
                <a:tc>
                  <a:txBody>
                    <a:bodyPr/>
                    <a:lstStyle/>
                    <a:p>
                      <a:r>
                        <a:rPr lang="zh-CN" altLang="en-US"/>
                        <a:t>状况</a:t>
                      </a:r>
                    </a:p>
                  </a:txBody>
                  <a:tcPr/>
                </a:tc>
                <a:extLst>
                  <a:ext uri="{0D108BD9-81ED-4DB2-BD59-A6C34878D82A}">
                    <a16:rowId xmlns:a16="http://schemas.microsoft.com/office/drawing/2014/main" val="424678844"/>
                  </a:ext>
                </a:extLst>
              </a:tr>
              <a:tr h="370840">
                <a:tc>
                  <a:txBody>
                    <a:bodyPr/>
                    <a:lstStyle/>
                    <a:p>
                      <a:r>
                        <a:rPr lang="en-US" altLang="zh-CN"/>
                        <a:t>0.2-0.4</a:t>
                      </a:r>
                      <a:endParaRPr lang="zh-CN" altLang="en-US"/>
                    </a:p>
                  </a:txBody>
                  <a:tcPr/>
                </a:tc>
                <a:tc>
                  <a:txBody>
                    <a:bodyPr/>
                    <a:lstStyle/>
                    <a:p>
                      <a:r>
                        <a:rPr lang="zh-CN" altLang="en-US"/>
                        <a:t>灰色区域</a:t>
                      </a:r>
                    </a:p>
                  </a:txBody>
                  <a:tcPr/>
                </a:tc>
                <a:extLst>
                  <a:ext uri="{0D108BD9-81ED-4DB2-BD59-A6C34878D82A}">
                    <a16:rowId xmlns:a16="http://schemas.microsoft.com/office/drawing/2014/main" val="1346037505"/>
                  </a:ext>
                </a:extLst>
              </a:tr>
              <a:tr h="370840">
                <a:tc>
                  <a:txBody>
                    <a:bodyPr/>
                    <a:lstStyle/>
                    <a:p>
                      <a:r>
                        <a:rPr lang="zh-CN" altLang="en-US"/>
                        <a:t>＞</a:t>
                      </a:r>
                      <a:r>
                        <a:rPr lang="en-US" altLang="zh-CN"/>
                        <a:t>0.4</a:t>
                      </a:r>
                      <a:endParaRPr lang="zh-CN" altLang="en-US"/>
                    </a:p>
                  </a:txBody>
                  <a:tcPr/>
                </a:tc>
                <a:tc>
                  <a:txBody>
                    <a:bodyPr/>
                    <a:lstStyle/>
                    <a:p>
                      <a:r>
                        <a:rPr lang="zh-CN" altLang="en-US"/>
                        <a:t>蛋白尿</a:t>
                      </a:r>
                    </a:p>
                  </a:txBody>
                  <a:tcPr/>
                </a:tc>
                <a:extLst>
                  <a:ext uri="{0D108BD9-81ED-4DB2-BD59-A6C34878D82A}">
                    <a16:rowId xmlns:a16="http://schemas.microsoft.com/office/drawing/2014/main" val="545146203"/>
                  </a:ext>
                </a:extLst>
              </a:tr>
            </a:tbl>
          </a:graphicData>
        </a:graphic>
      </p:graphicFrame>
      <p:sp>
        <p:nvSpPr>
          <p:cNvPr id="30" name="文本框 29"/>
          <p:cNvSpPr txBox="1"/>
          <p:nvPr/>
        </p:nvSpPr>
        <p:spPr>
          <a:xfrm>
            <a:off x="6611740" y="2085847"/>
            <a:ext cx="2370758" cy="461665"/>
          </a:xfrm>
          <a:prstGeom prst="rect">
            <a:avLst/>
          </a:prstGeom>
          <a:noFill/>
        </p:spPr>
        <p:txBody>
          <a:bodyPr wrap="square" rtlCol="0">
            <a:spAutoFit/>
          </a:bodyPr>
          <a:lstStyle/>
          <a:p>
            <a:r>
              <a:rPr lang="zh-CN" altLang="en-US" sz="2400" b="1">
                <a:solidFill>
                  <a:schemeClr val="tx2">
                    <a:lumMod val="75000"/>
                  </a:schemeClr>
                </a:solidFill>
                <a:latin typeface="+mj-ea"/>
                <a:ea typeface="+mj-ea"/>
              </a:rPr>
              <a:t>血钾（</a:t>
            </a:r>
            <a:r>
              <a:rPr lang="en-US" altLang="zh-CN" sz="2400" b="1">
                <a:solidFill>
                  <a:schemeClr val="tx2">
                    <a:lumMod val="75000"/>
                  </a:schemeClr>
                </a:solidFill>
                <a:effectLst>
                  <a:outerShdw blurRad="38100" dist="38100" dir="2700000" algn="tl">
                    <a:srgbClr val="000000">
                      <a:alpha val="43137"/>
                    </a:srgbClr>
                  </a:outerShdw>
                </a:effectLst>
                <a:latin typeface="+mj-ea"/>
                <a:ea typeface="+mj-ea"/>
              </a:rPr>
              <a:t>K</a:t>
            </a:r>
            <a:r>
              <a:rPr lang="zh-CN" altLang="en-US" sz="2400" b="1">
                <a:solidFill>
                  <a:schemeClr val="tx2">
                    <a:lumMod val="75000"/>
                  </a:schemeClr>
                </a:solidFill>
                <a:latin typeface="+mj-ea"/>
                <a:ea typeface="+mj-ea"/>
              </a:rPr>
              <a:t>）</a:t>
            </a:r>
          </a:p>
        </p:txBody>
      </p:sp>
      <p:sp>
        <p:nvSpPr>
          <p:cNvPr id="32" name="文本框 31"/>
          <p:cNvSpPr txBox="1"/>
          <p:nvPr/>
        </p:nvSpPr>
        <p:spPr>
          <a:xfrm>
            <a:off x="6386265" y="2527288"/>
            <a:ext cx="2012442" cy="738664"/>
          </a:xfrm>
          <a:prstGeom prst="rect">
            <a:avLst/>
          </a:prstGeom>
          <a:noFill/>
        </p:spPr>
        <p:txBody>
          <a:bodyPr wrap="square" rtlCol="0">
            <a:spAutoFit/>
          </a:bodyPr>
          <a:lstStyle/>
          <a:p>
            <a:pPr marL="0" lvl="1"/>
            <a:r>
              <a:rPr lang="en-US" altLang="zh-CN" sz="1400" b="1">
                <a:solidFill>
                  <a:schemeClr val="tx1">
                    <a:lumMod val="75000"/>
                    <a:lumOff val="25000"/>
                  </a:schemeClr>
                </a:solidFill>
                <a:effectLst>
                  <a:outerShdw blurRad="38100" dist="38100" dir="2700000" algn="tl">
                    <a:srgbClr val="000000">
                      <a:alpha val="43137"/>
                    </a:srgbClr>
                  </a:outerShdw>
                </a:effectLst>
                <a:latin typeface="+mj-ea"/>
                <a:ea typeface="+mj-ea"/>
              </a:rPr>
              <a:t>30%</a:t>
            </a:r>
            <a:r>
              <a:rPr lang="zh-CN" altLang="en-US" sz="1400" b="1">
                <a:solidFill>
                  <a:schemeClr val="tx1">
                    <a:lumMod val="75000"/>
                    <a:lumOff val="25000"/>
                  </a:schemeClr>
                </a:solidFill>
                <a:effectLst>
                  <a:outerShdw blurRad="38100" dist="38100" dir="2700000" algn="tl">
                    <a:srgbClr val="000000">
                      <a:alpha val="43137"/>
                    </a:srgbClr>
                  </a:outerShdw>
                </a:effectLst>
                <a:latin typeface="+mj-ea"/>
                <a:ea typeface="+mj-ea"/>
              </a:rPr>
              <a:t>肾病猫实际血钾不足。会引发蛋白尿与肾机能恶化</a:t>
            </a:r>
            <a:endParaRPr lang="zh-CN" altLang="en-US"/>
          </a:p>
        </p:txBody>
      </p:sp>
      <p:sp>
        <p:nvSpPr>
          <p:cNvPr id="34" name="文本框 33"/>
          <p:cNvSpPr txBox="1"/>
          <p:nvPr/>
        </p:nvSpPr>
        <p:spPr>
          <a:xfrm>
            <a:off x="6537312" y="3460798"/>
            <a:ext cx="2664296" cy="646331"/>
          </a:xfrm>
          <a:prstGeom prst="rect">
            <a:avLst/>
          </a:prstGeom>
          <a:noFill/>
        </p:spPr>
        <p:txBody>
          <a:bodyPr wrap="square" rtlCol="0">
            <a:spAutoFit/>
          </a:bodyPr>
          <a:lstStyle/>
          <a:p>
            <a:r>
              <a:rPr lang="zh-CN" altLang="en-US" b="1">
                <a:solidFill>
                  <a:srgbClr val="C00000"/>
                </a:solidFill>
                <a:effectLst>
                  <a:outerShdw blurRad="38100" dist="38100" dir="2700000" algn="tl">
                    <a:srgbClr val="000000">
                      <a:alpha val="43137"/>
                    </a:srgbClr>
                  </a:outerShdw>
                </a:effectLst>
                <a:latin typeface="+mn-ea"/>
                <a:ea typeface="+mn-ea"/>
              </a:rPr>
              <a:t>默认正常范围</a:t>
            </a:r>
            <a:endParaRPr lang="en-US" altLang="zh-CN" b="1">
              <a:solidFill>
                <a:srgbClr val="C00000"/>
              </a:solidFill>
              <a:effectLst>
                <a:outerShdw blurRad="38100" dist="38100" dir="2700000" algn="tl">
                  <a:srgbClr val="000000">
                    <a:alpha val="43137"/>
                  </a:srgbClr>
                </a:outerShdw>
              </a:effectLst>
              <a:latin typeface="+mn-ea"/>
              <a:ea typeface="+mn-ea"/>
            </a:endParaRPr>
          </a:p>
          <a:p>
            <a:r>
              <a:rPr lang="en-US" altLang="zh-CN"/>
              <a:t>3.5-5.8mmol/L</a:t>
            </a:r>
            <a:endParaRPr lang="zh-CN" altLang="en-US"/>
          </a:p>
        </p:txBody>
      </p:sp>
      <p:sp>
        <p:nvSpPr>
          <p:cNvPr id="36" name="文本框 35"/>
          <p:cNvSpPr txBox="1"/>
          <p:nvPr/>
        </p:nvSpPr>
        <p:spPr>
          <a:xfrm>
            <a:off x="6434820" y="4471658"/>
            <a:ext cx="2869279" cy="923330"/>
          </a:xfrm>
          <a:prstGeom prst="rect">
            <a:avLst/>
          </a:prstGeom>
          <a:noFill/>
        </p:spPr>
        <p:txBody>
          <a:bodyPr wrap="square" rtlCol="0">
            <a:spAutoFit/>
          </a:bodyPr>
          <a:lstStyle/>
          <a:p>
            <a:pPr eaLnBrk="1" fontAlgn="t" hangingPunct="1"/>
            <a:r>
              <a:rPr lang="zh-CN" altLang="en-US" b="1">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肾病猫“正常范围”</a:t>
            </a:r>
            <a:endParaRPr lang="en-US" altLang="zh-CN" b="1">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eaLnBrk="1" fontAlgn="t" hangingPunct="1"/>
            <a:r>
              <a:rPr lang="en-US" altLang="zh-CN">
                <a:latin typeface="+mj-ea"/>
                <a:ea typeface="+mj-ea"/>
              </a:rPr>
              <a:t> </a:t>
            </a:r>
            <a:r>
              <a:rPr lang="zh-CN" altLang="en-US">
                <a:latin typeface="+mj-ea"/>
                <a:ea typeface="+mj-ea"/>
              </a:rPr>
              <a:t>≥</a:t>
            </a:r>
            <a:r>
              <a:rPr lang="en-US" altLang="zh-CN">
                <a:latin typeface="+mj-ea"/>
                <a:ea typeface="+mj-ea"/>
              </a:rPr>
              <a:t>4.0mmol/L</a:t>
            </a:r>
            <a:endParaRPr lang="en-US" altLang="zh-CN"/>
          </a:p>
          <a:p>
            <a:endParaRPr lang="en-US" altLang="zh-CN"/>
          </a:p>
        </p:txBody>
      </p:sp>
      <p:sp>
        <p:nvSpPr>
          <p:cNvPr id="37" name="文本框 36"/>
          <p:cNvSpPr txBox="1"/>
          <p:nvPr/>
        </p:nvSpPr>
        <p:spPr>
          <a:xfrm>
            <a:off x="9971296" y="2016200"/>
            <a:ext cx="999353" cy="523220"/>
          </a:xfrm>
          <a:prstGeom prst="rect">
            <a:avLst/>
          </a:prstGeom>
          <a:noFill/>
        </p:spPr>
        <p:txBody>
          <a:bodyPr wrap="square" rtlCol="0">
            <a:spAutoFit/>
          </a:bodyPr>
          <a:lstStyle/>
          <a:p>
            <a:r>
              <a:rPr lang="zh-CN" altLang="en-US" sz="2800" b="1">
                <a:solidFill>
                  <a:schemeClr val="tx1">
                    <a:lumMod val="75000"/>
                    <a:lumOff val="25000"/>
                  </a:schemeClr>
                </a:solidFill>
                <a:effectLst>
                  <a:outerShdw blurRad="38100" dist="38100" dir="2700000" algn="tl">
                    <a:srgbClr val="000000">
                      <a:alpha val="43137"/>
                    </a:srgbClr>
                  </a:outerShdw>
                </a:effectLst>
                <a:latin typeface="+mj-ea"/>
                <a:ea typeface="+mj-ea"/>
              </a:rPr>
              <a:t>血压</a:t>
            </a:r>
            <a:endParaRPr lang="zh-CN" altLang="en-US" b="1">
              <a:solidFill>
                <a:schemeClr val="tx1">
                  <a:lumMod val="75000"/>
                  <a:lumOff val="25000"/>
                </a:schemeClr>
              </a:solidFill>
              <a:effectLst>
                <a:outerShdw blurRad="38100" dist="38100" dir="2700000" algn="tl">
                  <a:srgbClr val="000000">
                    <a:alpha val="43137"/>
                  </a:srgbClr>
                </a:outerShdw>
              </a:effectLst>
              <a:latin typeface="+mj-ea"/>
              <a:ea typeface="+mj-ea"/>
            </a:endParaRPr>
          </a:p>
        </p:txBody>
      </p:sp>
      <p:sp>
        <p:nvSpPr>
          <p:cNvPr id="40" name="文本框 39"/>
          <p:cNvSpPr txBox="1"/>
          <p:nvPr/>
        </p:nvSpPr>
        <p:spPr>
          <a:xfrm>
            <a:off x="9413087" y="2554324"/>
            <a:ext cx="2247874" cy="907941"/>
          </a:xfrm>
          <a:prstGeom prst="rect">
            <a:avLst/>
          </a:prstGeom>
          <a:noFill/>
        </p:spPr>
        <p:txBody>
          <a:bodyPr wrap="square" rtlCol="0">
            <a:spAutoFit/>
          </a:bodyPr>
          <a:lstStyle/>
          <a:p>
            <a:pPr marL="0" lvl="1"/>
            <a:r>
              <a:rPr lang="en-US" altLang="zh-CN" sz="1400" b="1">
                <a:solidFill>
                  <a:schemeClr val="tx1">
                    <a:lumMod val="75000"/>
                    <a:lumOff val="25000"/>
                  </a:schemeClr>
                </a:solidFill>
                <a:effectLst>
                  <a:outerShdw blurRad="38100" dist="38100" dir="2700000" algn="tl">
                    <a:srgbClr val="000000">
                      <a:alpha val="43137"/>
                    </a:srgbClr>
                  </a:outerShdw>
                </a:effectLst>
                <a:latin typeface="+mj-ea"/>
                <a:ea typeface="+mj-ea"/>
              </a:rPr>
              <a:t>20%</a:t>
            </a:r>
            <a:r>
              <a:rPr lang="zh-CN" altLang="en-US" sz="1400" b="1">
                <a:solidFill>
                  <a:schemeClr val="tx1">
                    <a:lumMod val="75000"/>
                    <a:lumOff val="25000"/>
                  </a:schemeClr>
                </a:solidFill>
                <a:effectLst>
                  <a:outerShdw blurRad="38100" dist="38100" dir="2700000" algn="tl">
                    <a:srgbClr val="000000">
                      <a:alpha val="43137"/>
                    </a:srgbClr>
                  </a:outerShdw>
                </a:effectLst>
                <a:latin typeface="+mj-ea"/>
                <a:ea typeface="+mj-ea"/>
              </a:rPr>
              <a:t>的肾病猫确诊时就有高血压，最终高达</a:t>
            </a:r>
            <a:r>
              <a:rPr lang="en-US" altLang="zh-CN" sz="1400" b="1">
                <a:solidFill>
                  <a:schemeClr val="tx1">
                    <a:lumMod val="75000"/>
                    <a:lumOff val="25000"/>
                  </a:schemeClr>
                </a:solidFill>
                <a:effectLst>
                  <a:outerShdw blurRad="38100" dist="38100" dir="2700000" algn="tl">
                    <a:srgbClr val="000000">
                      <a:alpha val="43137"/>
                    </a:srgbClr>
                  </a:outerShdw>
                </a:effectLst>
                <a:latin typeface="+mj-ea"/>
                <a:ea typeface="+mj-ea"/>
              </a:rPr>
              <a:t>65%</a:t>
            </a:r>
            <a:r>
              <a:rPr lang="zh-CN" altLang="en-US" sz="1400" b="1">
                <a:solidFill>
                  <a:schemeClr val="tx1">
                    <a:lumMod val="75000"/>
                    <a:lumOff val="25000"/>
                  </a:schemeClr>
                </a:solidFill>
                <a:effectLst>
                  <a:outerShdw blurRad="38100" dist="38100" dir="2700000" algn="tl">
                    <a:srgbClr val="000000">
                      <a:alpha val="43137"/>
                    </a:srgbClr>
                  </a:outerShdw>
                </a:effectLst>
                <a:latin typeface="+mj-ea"/>
                <a:ea typeface="+mj-ea"/>
              </a:rPr>
              <a:t>会高血压。</a:t>
            </a:r>
            <a:r>
              <a:rPr lang="zh-CN" altLang="en-US" sz="1100">
                <a:solidFill>
                  <a:schemeClr val="tx1">
                    <a:lumMod val="75000"/>
                    <a:lumOff val="25000"/>
                  </a:schemeClr>
                </a:solidFill>
                <a:effectLst>
                  <a:outerShdw blurRad="38100" dist="38100" dir="2700000" algn="tl">
                    <a:srgbClr val="000000">
                      <a:alpha val="43137"/>
                    </a:srgbClr>
                  </a:outerShdw>
                </a:effectLst>
                <a:latin typeface="+mj-ea"/>
                <a:ea typeface="+mj-ea"/>
              </a:rPr>
              <a:t>（</a:t>
            </a:r>
            <a:r>
              <a:rPr lang="en-US" altLang="zh-CN" sz="1100">
                <a:solidFill>
                  <a:schemeClr val="tx1">
                    <a:lumMod val="75000"/>
                    <a:lumOff val="25000"/>
                  </a:schemeClr>
                </a:solidFill>
                <a:effectLst>
                  <a:outerShdw blurRad="38100" dist="38100" dir="2700000" algn="tl">
                    <a:srgbClr val="000000">
                      <a:alpha val="43137"/>
                    </a:srgbClr>
                  </a:outerShdw>
                </a:effectLst>
                <a:latin typeface="+mj-ea"/>
                <a:ea typeface="+mj-ea"/>
              </a:rPr>
              <a:t>Bijsmans ES et al. 2015)</a:t>
            </a:r>
            <a:endParaRPr lang="zh-CN" altLang="en-US" sz="1100"/>
          </a:p>
        </p:txBody>
      </p:sp>
      <p:sp>
        <p:nvSpPr>
          <p:cNvPr id="41" name="文本框 40"/>
          <p:cNvSpPr txBox="1"/>
          <p:nvPr/>
        </p:nvSpPr>
        <p:spPr>
          <a:xfrm>
            <a:off x="9099902" y="5836461"/>
            <a:ext cx="2874244" cy="523220"/>
          </a:xfrm>
          <a:prstGeom prst="rect">
            <a:avLst/>
          </a:prstGeom>
          <a:noFill/>
        </p:spPr>
        <p:txBody>
          <a:bodyPr wrap="square" rtlCol="0">
            <a:spAutoFit/>
          </a:bodyPr>
          <a:lstStyle/>
          <a:p>
            <a:pPr marL="0" lvl="1"/>
            <a:r>
              <a:rPr lang="zh-CN" altLang="en-US" sz="1400" b="1">
                <a:solidFill>
                  <a:srgbClr val="C00000"/>
                </a:solidFill>
                <a:effectLst>
                  <a:outerShdw blurRad="38100" dist="38100" dir="2700000" algn="tl">
                    <a:srgbClr val="000000">
                      <a:alpha val="43137"/>
                    </a:srgbClr>
                  </a:outerShdw>
                </a:effectLst>
                <a:latin typeface="+mj-ea"/>
                <a:ea typeface="+mj-ea"/>
              </a:rPr>
              <a:t>高血压需要尽快处理，不然会对全身器官造成永久损伤，包括肾脏！</a:t>
            </a:r>
            <a:endParaRPr lang="zh-CN" altLang="en-US">
              <a:solidFill>
                <a:srgbClr val="C00000"/>
              </a:solidFill>
            </a:endParaRPr>
          </a:p>
        </p:txBody>
      </p:sp>
      <p:graphicFrame>
        <p:nvGraphicFramePr>
          <p:cNvPr id="22" name="表格 21"/>
          <p:cNvGraphicFramePr>
            <a:graphicFrameLocks noGrp="1"/>
          </p:cNvGraphicFramePr>
          <p:nvPr>
            <p:extLst>
              <p:ext uri="{D42A27DB-BD31-4B8C-83A1-F6EECF244321}">
                <p14:modId xmlns:p14="http://schemas.microsoft.com/office/powerpoint/2010/main" val="2543248967"/>
              </p:ext>
            </p:extLst>
          </p:nvPr>
        </p:nvGraphicFramePr>
        <p:xfrm>
          <a:off x="8977095" y="3568975"/>
          <a:ext cx="3119859" cy="2072640"/>
        </p:xfrm>
        <a:graphic>
          <a:graphicData uri="http://schemas.openxmlformats.org/drawingml/2006/table">
            <a:tbl>
              <a:tblPr firstRow="1" bandRow="1">
                <a:tableStyleId>{5C22544A-7EE6-4342-B048-85BDC9FD1C3A}</a:tableStyleId>
              </a:tblPr>
              <a:tblGrid>
                <a:gridCol w="1039953">
                  <a:extLst>
                    <a:ext uri="{9D8B030D-6E8A-4147-A177-3AD203B41FA5}">
                      <a16:colId xmlns:a16="http://schemas.microsoft.com/office/drawing/2014/main" val="856528177"/>
                    </a:ext>
                  </a:extLst>
                </a:gridCol>
                <a:gridCol w="1039953">
                  <a:extLst>
                    <a:ext uri="{9D8B030D-6E8A-4147-A177-3AD203B41FA5}">
                      <a16:colId xmlns:a16="http://schemas.microsoft.com/office/drawing/2014/main" val="2892365247"/>
                    </a:ext>
                  </a:extLst>
                </a:gridCol>
                <a:gridCol w="1039953">
                  <a:extLst>
                    <a:ext uri="{9D8B030D-6E8A-4147-A177-3AD203B41FA5}">
                      <a16:colId xmlns:a16="http://schemas.microsoft.com/office/drawing/2014/main" val="815779866"/>
                    </a:ext>
                  </a:extLst>
                </a:gridCol>
              </a:tblGrid>
              <a:tr h="370840">
                <a:tc>
                  <a:txBody>
                    <a:bodyPr/>
                    <a:lstStyle/>
                    <a:p>
                      <a:pPr algn="ctr"/>
                      <a:r>
                        <a:rPr lang="zh-CN" altLang="en-US">
                          <a:effectLst>
                            <a:outerShdw blurRad="38100" dist="38100" dir="2700000" algn="tl">
                              <a:srgbClr val="000000">
                                <a:alpha val="43137"/>
                              </a:srgbClr>
                            </a:outerShdw>
                          </a:effectLst>
                        </a:rPr>
                        <a:t>收缩压</a:t>
                      </a:r>
                      <a:r>
                        <a:rPr lang="zh-CN" altLang="en-US" sz="900">
                          <a:effectLst>
                            <a:outerShdw blurRad="38100" dist="38100" dir="2700000" algn="tl">
                              <a:srgbClr val="000000">
                                <a:alpha val="43137"/>
                              </a:srgbClr>
                            </a:outerShdw>
                          </a:effectLst>
                        </a:rPr>
                        <a:t>（</a:t>
                      </a:r>
                      <a:r>
                        <a:rPr lang="en-US" altLang="zh-CN" sz="900">
                          <a:effectLst>
                            <a:outerShdw blurRad="38100" dist="38100" dir="2700000" algn="tl">
                              <a:srgbClr val="000000">
                                <a:alpha val="43137"/>
                              </a:srgbClr>
                            </a:outerShdw>
                          </a:effectLst>
                        </a:rPr>
                        <a:t>mmHg</a:t>
                      </a:r>
                      <a:r>
                        <a:rPr lang="zh-CN" altLang="en-US" sz="900">
                          <a:effectLst>
                            <a:outerShdw blurRad="38100" dist="38100" dir="2700000" algn="tl">
                              <a:srgbClr val="000000">
                                <a:alpha val="43137"/>
                              </a:srgbClr>
                            </a:outerShdw>
                          </a:effectLst>
                        </a:rPr>
                        <a:t>）</a:t>
                      </a:r>
                    </a:p>
                  </a:txBody>
                  <a:tcPr/>
                </a:tc>
                <a:tc>
                  <a:txBody>
                    <a:bodyPr/>
                    <a:lstStyle/>
                    <a:p>
                      <a:pPr algn="ctr"/>
                      <a:r>
                        <a:rPr lang="zh-CN" altLang="en-US">
                          <a:effectLst>
                            <a:outerShdw blurRad="38100" dist="38100" dir="2700000" algn="tl">
                              <a:srgbClr val="000000">
                                <a:alpha val="43137"/>
                              </a:srgbClr>
                            </a:outerShdw>
                          </a:effectLst>
                        </a:rPr>
                        <a:t>状态</a:t>
                      </a:r>
                    </a:p>
                  </a:txBody>
                  <a:tcPr/>
                </a:tc>
                <a:tc>
                  <a:txBody>
                    <a:bodyPr/>
                    <a:lstStyle/>
                    <a:p>
                      <a:pPr algn="ctr"/>
                      <a:r>
                        <a:rPr lang="zh-CN" altLang="en-US">
                          <a:effectLst>
                            <a:outerShdw blurRad="38100" dist="38100" dir="2700000" algn="tl">
                              <a:srgbClr val="000000">
                                <a:alpha val="43137"/>
                              </a:srgbClr>
                            </a:outerShdw>
                          </a:effectLst>
                        </a:rPr>
                        <a:t>治疗？</a:t>
                      </a:r>
                    </a:p>
                  </a:txBody>
                  <a:tcPr/>
                </a:tc>
                <a:extLst>
                  <a:ext uri="{0D108BD9-81ED-4DB2-BD59-A6C34878D82A}">
                    <a16:rowId xmlns:a16="http://schemas.microsoft.com/office/drawing/2014/main" val="1558947613"/>
                  </a:ext>
                </a:extLst>
              </a:tr>
              <a:tr h="370840">
                <a:tc>
                  <a:txBody>
                    <a:bodyPr/>
                    <a:lstStyle/>
                    <a:p>
                      <a:pPr algn="ctr"/>
                      <a:r>
                        <a:rPr lang="zh-CN" altLang="en-US" sz="1600" b="1">
                          <a:effectLst>
                            <a:outerShdw blurRad="38100" dist="38100" dir="2700000" algn="tl">
                              <a:srgbClr val="000000">
                                <a:alpha val="43137"/>
                              </a:srgbClr>
                            </a:outerShdw>
                          </a:effectLst>
                        </a:rPr>
                        <a:t>＜</a:t>
                      </a:r>
                      <a:r>
                        <a:rPr lang="en-US" altLang="zh-CN" sz="1600" b="1">
                          <a:effectLst>
                            <a:outerShdw blurRad="38100" dist="38100" dir="2700000" algn="tl">
                              <a:srgbClr val="000000">
                                <a:alpha val="43137"/>
                              </a:srgbClr>
                            </a:outerShdw>
                          </a:effectLst>
                        </a:rPr>
                        <a:t>150</a:t>
                      </a:r>
                      <a:endParaRPr lang="zh-CN" altLang="en-US" sz="1600" b="1">
                        <a:effectLst>
                          <a:outerShdw blurRad="38100" dist="38100" dir="2700000" algn="tl">
                            <a:srgbClr val="000000">
                              <a:alpha val="43137"/>
                            </a:srgbClr>
                          </a:outerShdw>
                        </a:effectLst>
                      </a:endParaRPr>
                    </a:p>
                  </a:txBody>
                  <a:tcPr/>
                </a:tc>
                <a:tc>
                  <a:txBody>
                    <a:bodyPr/>
                    <a:lstStyle/>
                    <a:p>
                      <a:r>
                        <a:rPr lang="zh-CN" altLang="en-US" sz="1200" b="1">
                          <a:solidFill>
                            <a:schemeClr val="bg2">
                              <a:lumMod val="10000"/>
                            </a:schemeClr>
                          </a:solidFill>
                          <a:effectLst>
                            <a:outerShdw blurRad="38100" dist="38100" dir="2700000" algn="tl">
                              <a:srgbClr val="000000">
                                <a:alpha val="43137"/>
                              </a:srgbClr>
                            </a:outerShdw>
                          </a:effectLst>
                        </a:rPr>
                        <a:t>安全</a:t>
                      </a:r>
                    </a:p>
                  </a:txBody>
                  <a:tcPr/>
                </a:tc>
                <a:tc>
                  <a:txBody>
                    <a:bodyPr/>
                    <a:lstStyle/>
                    <a:p>
                      <a:r>
                        <a:rPr lang="zh-CN" altLang="en-US" sz="1200" b="1">
                          <a:solidFill>
                            <a:schemeClr val="bg2">
                              <a:lumMod val="10000"/>
                            </a:schemeClr>
                          </a:solidFill>
                          <a:effectLst>
                            <a:outerShdw blurRad="38100" dist="38100" dir="2700000" algn="tl">
                              <a:srgbClr val="000000">
                                <a:alpha val="43137"/>
                              </a:srgbClr>
                            </a:outerShdw>
                          </a:effectLst>
                        </a:rPr>
                        <a:t>通常无需</a:t>
                      </a:r>
                    </a:p>
                  </a:txBody>
                  <a:tcPr/>
                </a:tc>
                <a:extLst>
                  <a:ext uri="{0D108BD9-81ED-4DB2-BD59-A6C34878D82A}">
                    <a16:rowId xmlns:a16="http://schemas.microsoft.com/office/drawing/2014/main" val="1952215291"/>
                  </a:ext>
                </a:extLst>
              </a:tr>
              <a:tr h="370840">
                <a:tc>
                  <a:txBody>
                    <a:bodyPr/>
                    <a:lstStyle/>
                    <a:p>
                      <a:pPr algn="ctr"/>
                      <a:r>
                        <a:rPr lang="en-US" altLang="zh-CN" sz="1600" b="1">
                          <a:effectLst>
                            <a:outerShdw blurRad="38100" dist="38100" dir="2700000" algn="tl">
                              <a:srgbClr val="000000">
                                <a:alpha val="43137"/>
                              </a:srgbClr>
                            </a:outerShdw>
                          </a:effectLst>
                        </a:rPr>
                        <a:t>150-159</a:t>
                      </a:r>
                      <a:endParaRPr lang="zh-CN" altLang="en-US" sz="1600" b="1">
                        <a:effectLst>
                          <a:outerShdw blurRad="38100" dist="38100" dir="2700000" algn="tl">
                            <a:srgbClr val="000000">
                              <a:alpha val="43137"/>
                            </a:srgbClr>
                          </a:outerShdw>
                        </a:effectLst>
                      </a:endParaRPr>
                    </a:p>
                  </a:txBody>
                  <a:tcPr/>
                </a:tc>
                <a:tc>
                  <a:txBody>
                    <a:bodyPr/>
                    <a:lstStyle/>
                    <a:p>
                      <a:r>
                        <a:rPr lang="zh-CN" altLang="en-US" sz="1200" b="1">
                          <a:solidFill>
                            <a:schemeClr val="bg2">
                              <a:lumMod val="10000"/>
                            </a:schemeClr>
                          </a:solidFill>
                          <a:effectLst>
                            <a:outerShdw blurRad="38100" dist="38100" dir="2700000" algn="tl">
                              <a:srgbClr val="000000">
                                <a:alpha val="43137"/>
                              </a:srgbClr>
                            </a:outerShdw>
                          </a:effectLst>
                        </a:rPr>
                        <a:t>灰色区域</a:t>
                      </a:r>
                    </a:p>
                  </a:txBody>
                  <a:tcPr/>
                </a:tc>
                <a:tc>
                  <a:txBody>
                    <a:bodyPr/>
                    <a:lstStyle/>
                    <a:p>
                      <a:r>
                        <a:rPr lang="zh-CN" altLang="en-US" sz="1200" b="1">
                          <a:solidFill>
                            <a:schemeClr val="bg2">
                              <a:lumMod val="10000"/>
                            </a:schemeClr>
                          </a:solidFill>
                          <a:effectLst>
                            <a:outerShdw blurRad="38100" dist="38100" dir="2700000" algn="tl">
                              <a:srgbClr val="000000">
                                <a:alpha val="43137"/>
                              </a:srgbClr>
                            </a:outerShdw>
                          </a:effectLst>
                        </a:rPr>
                        <a:t>视症状而定</a:t>
                      </a:r>
                    </a:p>
                  </a:txBody>
                  <a:tcPr/>
                </a:tc>
                <a:extLst>
                  <a:ext uri="{0D108BD9-81ED-4DB2-BD59-A6C34878D82A}">
                    <a16:rowId xmlns:a16="http://schemas.microsoft.com/office/drawing/2014/main" val="2536390306"/>
                  </a:ext>
                </a:extLst>
              </a:tr>
              <a:tr h="370840">
                <a:tc>
                  <a:txBody>
                    <a:bodyPr/>
                    <a:lstStyle/>
                    <a:p>
                      <a:pPr algn="ctr"/>
                      <a:r>
                        <a:rPr lang="en-US" altLang="zh-CN" sz="1600" b="1">
                          <a:effectLst>
                            <a:outerShdw blurRad="38100" dist="38100" dir="2700000" algn="tl">
                              <a:srgbClr val="000000">
                                <a:alpha val="43137"/>
                              </a:srgbClr>
                            </a:outerShdw>
                          </a:effectLst>
                        </a:rPr>
                        <a:t>160-179</a:t>
                      </a:r>
                      <a:endParaRPr lang="zh-CN" altLang="en-US" sz="1600" b="1">
                        <a:effectLst>
                          <a:outerShdw blurRad="38100" dist="38100" dir="2700000" algn="tl">
                            <a:srgbClr val="000000">
                              <a:alpha val="43137"/>
                            </a:srgbClr>
                          </a:outerShdw>
                        </a:effectLst>
                      </a:endParaRPr>
                    </a:p>
                  </a:txBody>
                  <a:tcPr/>
                </a:tc>
                <a:tc>
                  <a:txBody>
                    <a:bodyPr/>
                    <a:lstStyle/>
                    <a:p>
                      <a:r>
                        <a:rPr lang="zh-CN" altLang="en-US" sz="1200" b="1">
                          <a:solidFill>
                            <a:schemeClr val="bg2">
                              <a:lumMod val="10000"/>
                            </a:schemeClr>
                          </a:solidFill>
                          <a:effectLst>
                            <a:outerShdw blurRad="38100" dist="38100" dir="2700000" algn="tl">
                              <a:srgbClr val="000000">
                                <a:alpha val="43137"/>
                              </a:srgbClr>
                            </a:outerShdw>
                          </a:effectLst>
                        </a:rPr>
                        <a:t>高血压</a:t>
                      </a:r>
                    </a:p>
                  </a:txBody>
                  <a:tcPr/>
                </a:tc>
                <a:tc>
                  <a:txBody>
                    <a:bodyPr/>
                    <a:lstStyle/>
                    <a:p>
                      <a:r>
                        <a:rPr lang="zh-CN" altLang="en-US" sz="1200" b="1">
                          <a:solidFill>
                            <a:schemeClr val="bg2">
                              <a:lumMod val="10000"/>
                            </a:schemeClr>
                          </a:solidFill>
                          <a:effectLst>
                            <a:outerShdw blurRad="38100" dist="38100" dir="2700000" algn="tl">
                              <a:srgbClr val="000000">
                                <a:alpha val="43137"/>
                              </a:srgbClr>
                            </a:outerShdw>
                          </a:effectLst>
                        </a:rPr>
                        <a:t>复查后治疗</a:t>
                      </a:r>
                    </a:p>
                  </a:txBody>
                  <a:tcPr/>
                </a:tc>
                <a:extLst>
                  <a:ext uri="{0D108BD9-81ED-4DB2-BD59-A6C34878D82A}">
                    <a16:rowId xmlns:a16="http://schemas.microsoft.com/office/drawing/2014/main" val="2001121565"/>
                  </a:ext>
                </a:extLst>
              </a:tr>
              <a:tr h="370840">
                <a:tc>
                  <a:txBody>
                    <a:bodyPr/>
                    <a:lstStyle/>
                    <a:p>
                      <a:pPr algn="ctr"/>
                      <a:r>
                        <a:rPr lang="zh-CN" altLang="en-US" sz="1600" b="1">
                          <a:effectLst>
                            <a:outerShdw blurRad="38100" dist="38100" dir="2700000" algn="tl">
                              <a:srgbClr val="000000">
                                <a:alpha val="43137"/>
                              </a:srgbClr>
                            </a:outerShdw>
                          </a:effectLst>
                        </a:rPr>
                        <a:t>＞</a:t>
                      </a:r>
                      <a:r>
                        <a:rPr lang="en-US" altLang="zh-CN" sz="1600" b="1">
                          <a:effectLst>
                            <a:outerShdw blurRad="38100" dist="38100" dir="2700000" algn="tl">
                              <a:srgbClr val="000000">
                                <a:alpha val="43137"/>
                              </a:srgbClr>
                            </a:outerShdw>
                          </a:effectLst>
                        </a:rPr>
                        <a:t>180</a:t>
                      </a:r>
                      <a:endParaRPr lang="zh-CN" altLang="en-US" sz="1600" b="1">
                        <a:effectLst>
                          <a:outerShdw blurRad="38100" dist="38100" dir="2700000" algn="tl">
                            <a:srgbClr val="000000">
                              <a:alpha val="43137"/>
                            </a:srgbClr>
                          </a:outerShdw>
                        </a:effectLst>
                      </a:endParaRPr>
                    </a:p>
                  </a:txBody>
                  <a:tcPr/>
                </a:tc>
                <a:tc>
                  <a:txBody>
                    <a:bodyPr/>
                    <a:lstStyle/>
                    <a:p>
                      <a:r>
                        <a:rPr lang="zh-CN" altLang="en-US" sz="1200" b="1">
                          <a:solidFill>
                            <a:schemeClr val="bg2">
                              <a:lumMod val="10000"/>
                            </a:schemeClr>
                          </a:solidFill>
                          <a:effectLst>
                            <a:outerShdw blurRad="38100" dist="38100" dir="2700000" algn="tl">
                              <a:srgbClr val="000000">
                                <a:alpha val="43137"/>
                              </a:srgbClr>
                            </a:outerShdw>
                          </a:effectLst>
                        </a:rPr>
                        <a:t>严重高血压</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1">
                          <a:solidFill>
                            <a:schemeClr val="bg2">
                              <a:lumMod val="10000"/>
                            </a:schemeClr>
                          </a:solidFill>
                          <a:effectLst>
                            <a:outerShdw blurRad="38100" dist="38100" dir="2700000" algn="tl">
                              <a:srgbClr val="000000">
                                <a:alpha val="43137"/>
                              </a:srgbClr>
                            </a:outerShdw>
                          </a:effectLst>
                        </a:rPr>
                        <a:t>治疗</a:t>
                      </a:r>
                    </a:p>
                    <a:p>
                      <a:endParaRPr lang="zh-CN" altLang="en-US" sz="1200" b="1">
                        <a:solidFill>
                          <a:schemeClr val="bg2">
                            <a:lumMod val="10000"/>
                          </a:schemeClr>
                        </a:solidFill>
                        <a:effectLst>
                          <a:outerShdw blurRad="38100" dist="38100" dir="2700000" algn="tl">
                            <a:srgbClr val="000000">
                              <a:alpha val="43137"/>
                            </a:srgbClr>
                          </a:outerShdw>
                        </a:effectLst>
                      </a:endParaRPr>
                    </a:p>
                  </a:txBody>
                  <a:tcPr/>
                </a:tc>
                <a:extLst>
                  <a:ext uri="{0D108BD9-81ED-4DB2-BD59-A6C34878D82A}">
                    <a16:rowId xmlns:a16="http://schemas.microsoft.com/office/drawing/2014/main" val="330339960"/>
                  </a:ext>
                </a:extLst>
              </a:tr>
            </a:tbl>
          </a:graphicData>
        </a:graphic>
      </p:graphicFrame>
    </p:spTree>
    <p:extLst>
      <p:ext uri="{BB962C8B-B14F-4D97-AF65-F5344CB8AC3E}">
        <p14:creationId xmlns:p14="http://schemas.microsoft.com/office/powerpoint/2010/main" val="15697720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17" name="组合 16">
            <a:extLst/>
          </p:cNvPr>
          <p:cNvGrpSpPr/>
          <p:nvPr/>
        </p:nvGrpSpPr>
        <p:grpSpPr>
          <a:xfrm>
            <a:off x="4866703" y="715553"/>
            <a:ext cx="7320137" cy="1011161"/>
            <a:chOff x="8112223" y="355398"/>
            <a:chExt cx="4194115" cy="1011161"/>
          </a:xfrm>
          <a:effectLst>
            <a:outerShdw blurRad="50800" dist="38100" dir="5400000" algn="t" rotWithShape="0">
              <a:prstClr val="black">
                <a:alpha val="40000"/>
              </a:prstClr>
            </a:outerShdw>
          </a:effectLst>
        </p:grpSpPr>
        <p:sp>
          <p:nvSpPr>
            <p:cNvPr id="4"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sp>
          <p:nvSpPr>
            <p:cNvPr id="7" name="文本框 14">
              <a:extLst/>
            </p:cNvPr>
            <p:cNvSpPr txBox="1">
              <a:spLocks noChangeArrowheads="1"/>
            </p:cNvSpPr>
            <p:nvPr/>
          </p:nvSpPr>
          <p:spPr bwMode="auto">
            <a:xfrm>
              <a:off x="8410186" y="355398"/>
              <a:ext cx="3506879" cy="825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3600" b="1">
                  <a:solidFill>
                    <a:schemeClr val="bg1"/>
                  </a:solidFill>
                  <a:effectLst>
                    <a:outerShdw blurRad="38100" dist="38100" dir="2700000" algn="tl">
                      <a:srgbClr val="000000">
                        <a:alpha val="43137"/>
                      </a:srgbClr>
                    </a:outerShdw>
                  </a:effectLst>
                  <a:latin typeface="+mj-ea"/>
                  <a:ea typeface="+mj-ea"/>
                  <a:cs typeface="+mn-ea"/>
                  <a:sym typeface="+mn-lt"/>
                </a:rPr>
                <a:t>公众号留言提问：</a:t>
              </a:r>
              <a:endPar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grpSp>
      <p:sp>
        <p:nvSpPr>
          <p:cNvPr id="10" name="流程图: 过程 9">
            <a:extLst/>
          </p:cNvPr>
          <p:cNvSpPr/>
          <p:nvPr/>
        </p:nvSpPr>
        <p:spPr bwMode="auto">
          <a:xfrm>
            <a:off x="833722" y="1875107"/>
            <a:ext cx="10596563" cy="3786142"/>
          </a:xfrm>
          <a:prstGeom prst="flowChartProcess">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numCol="3" anchor="ctr"/>
          <a:lstStyle/>
          <a:p>
            <a:pPr eaLnBrk="1" fontAlgn="auto" hangingPunct="1">
              <a:spcBef>
                <a:spcPts val="0"/>
              </a:spcBef>
              <a:spcAft>
                <a:spcPts val="0"/>
              </a:spcAft>
              <a:defRPr/>
            </a:pPr>
            <a:endParaRPr lang="zh-CN" altLang="en-US" kern="0">
              <a:solidFill>
                <a:sysClr val="windowText" lastClr="000000"/>
              </a:solidFill>
              <a:cs typeface="+mn-ea"/>
              <a:sym typeface="+mn-lt"/>
            </a:endParaRPr>
          </a:p>
        </p:txBody>
      </p:sp>
      <p:sp>
        <p:nvSpPr>
          <p:cNvPr id="5" name="文本框 4"/>
          <p:cNvSpPr txBox="1"/>
          <p:nvPr/>
        </p:nvSpPr>
        <p:spPr>
          <a:xfrm>
            <a:off x="1127448" y="2060848"/>
            <a:ext cx="10009112" cy="3077766"/>
          </a:xfrm>
          <a:prstGeom prst="rect">
            <a:avLst/>
          </a:prstGeom>
          <a:noFill/>
        </p:spPr>
        <p:txBody>
          <a:bodyPr wrap="square" rtlCol="0">
            <a:spAutoFit/>
          </a:bodyPr>
          <a:lstStyle/>
          <a:p>
            <a:endParaRPr lang="en-US" altLang="zh-CN" sz="2400"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u"/>
            </a:pPr>
            <a:r>
              <a:rPr lang="zh-CN" altLang="en-US" sz="2800" b="1">
                <a:solidFill>
                  <a:srgbClr val="FFCC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吃蛋白质会加重尿毒症</a:t>
            </a:r>
            <a:r>
              <a:rPr lang="zh-CN" altLang="en-US" sz="2400" b="1">
                <a:solidFill>
                  <a:srgbClr val="FFCC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endParaRPr lang="en-US" altLang="zh-CN" sz="2400" b="1">
              <a:solidFill>
                <a:srgbClr val="FFCC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endParaRPr lang="en-US" altLang="zh-CN" sz="2400" b="1">
              <a:solidFill>
                <a:srgbClr val="FFCC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r>
              <a:rPr lang="zh-CN" altLang="en-US" sz="2000"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答：一样是亦对亦错。人类医学界对尿素氮毒性的争议在</a:t>
            </a:r>
            <a:r>
              <a:rPr lang="en-US" altLang="zh-CN" sz="2000"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2017</a:t>
            </a:r>
            <a:r>
              <a:rPr lang="zh-CN" altLang="en-US" sz="2000"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后再起波澜，原先认知中的低毒性观点受到挑战。但无法否认，至今在案的</a:t>
            </a:r>
            <a:r>
              <a:rPr lang="en-US" altLang="zh-CN" sz="2000"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130</a:t>
            </a:r>
            <a:r>
              <a:rPr lang="zh-CN" altLang="en-US" sz="2000"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种尿毒症毒素中，蛋白质代谢的产物仅是一部份罢了。尿毒症是这一百余种毒素的共同作用，是低白蛋白、炎症反应、蛋白结合毒素增加及非营养性毒素产生共同造就的。</a:t>
            </a:r>
            <a:r>
              <a:rPr lang="zh-CN" altLang="en-US" sz="2000" b="1">
                <a:solidFill>
                  <a:srgbClr val="FF2929"/>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换句话说，迷信低蛋白，以营养不良为代价治疗肾病有搬起石头砸自己脚的可能。</a:t>
            </a:r>
            <a:endParaRPr lang="en-US" altLang="zh-CN" sz="2000" b="1">
              <a:solidFill>
                <a:srgbClr val="FF2929"/>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endParaRPr lang="en-US" altLang="zh-CN"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031124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17" name="组合 16">
            <a:extLst/>
          </p:cNvPr>
          <p:cNvGrpSpPr/>
          <p:nvPr/>
        </p:nvGrpSpPr>
        <p:grpSpPr>
          <a:xfrm>
            <a:off x="4866703" y="715553"/>
            <a:ext cx="7320137" cy="1011161"/>
            <a:chOff x="8112223" y="355398"/>
            <a:chExt cx="4194115" cy="1011161"/>
          </a:xfrm>
          <a:effectLst>
            <a:outerShdw blurRad="50800" dist="38100" dir="5400000" algn="t" rotWithShape="0">
              <a:prstClr val="black">
                <a:alpha val="40000"/>
              </a:prstClr>
            </a:outerShdw>
          </a:effectLst>
        </p:grpSpPr>
        <p:sp>
          <p:nvSpPr>
            <p:cNvPr id="4"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sp>
          <p:nvSpPr>
            <p:cNvPr id="7" name="文本框 14">
              <a:extLst/>
            </p:cNvPr>
            <p:cNvSpPr txBox="1">
              <a:spLocks noChangeArrowheads="1"/>
            </p:cNvSpPr>
            <p:nvPr/>
          </p:nvSpPr>
          <p:spPr bwMode="auto">
            <a:xfrm>
              <a:off x="8410186" y="355398"/>
              <a:ext cx="3506879" cy="825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3600" b="1">
                  <a:solidFill>
                    <a:schemeClr val="bg1"/>
                  </a:solidFill>
                  <a:effectLst>
                    <a:outerShdw blurRad="38100" dist="38100" dir="2700000" algn="tl">
                      <a:srgbClr val="000000">
                        <a:alpha val="43137"/>
                      </a:srgbClr>
                    </a:outerShdw>
                  </a:effectLst>
                  <a:latin typeface="+mj-ea"/>
                  <a:ea typeface="+mj-ea"/>
                  <a:cs typeface="+mn-ea"/>
                  <a:sym typeface="+mn-lt"/>
                </a:rPr>
                <a:t>公众号留言提问：</a:t>
              </a:r>
              <a:endPar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grpSp>
      <p:sp>
        <p:nvSpPr>
          <p:cNvPr id="10" name="流程图: 过程 9">
            <a:extLst/>
          </p:cNvPr>
          <p:cNvSpPr/>
          <p:nvPr/>
        </p:nvSpPr>
        <p:spPr bwMode="auto">
          <a:xfrm>
            <a:off x="833722" y="1875107"/>
            <a:ext cx="10596563" cy="3786142"/>
          </a:xfrm>
          <a:prstGeom prst="flowChartProcess">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numCol="3" anchor="ctr"/>
          <a:lstStyle/>
          <a:p>
            <a:pPr eaLnBrk="1" fontAlgn="auto" hangingPunct="1">
              <a:spcBef>
                <a:spcPts val="0"/>
              </a:spcBef>
              <a:spcAft>
                <a:spcPts val="0"/>
              </a:spcAft>
              <a:defRPr/>
            </a:pPr>
            <a:endParaRPr lang="zh-CN" altLang="en-US" kern="0">
              <a:solidFill>
                <a:sysClr val="windowText" lastClr="000000"/>
              </a:solidFill>
              <a:cs typeface="+mn-ea"/>
              <a:sym typeface="+mn-lt"/>
            </a:endParaRPr>
          </a:p>
        </p:txBody>
      </p:sp>
      <p:sp>
        <p:nvSpPr>
          <p:cNvPr id="5" name="文本框 4"/>
          <p:cNvSpPr txBox="1"/>
          <p:nvPr/>
        </p:nvSpPr>
        <p:spPr>
          <a:xfrm>
            <a:off x="1127448" y="2060848"/>
            <a:ext cx="10009112" cy="3077766"/>
          </a:xfrm>
          <a:prstGeom prst="rect">
            <a:avLst/>
          </a:prstGeom>
          <a:noFill/>
        </p:spPr>
        <p:txBody>
          <a:bodyPr wrap="square" rtlCol="0">
            <a:spAutoFit/>
          </a:bodyPr>
          <a:lstStyle/>
          <a:p>
            <a:endParaRPr lang="en-US" altLang="zh-CN" sz="2400"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u"/>
            </a:pPr>
            <a:r>
              <a:rPr lang="zh-CN" altLang="en-US" sz="2800" b="1">
                <a:solidFill>
                  <a:srgbClr val="FFCC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吃蛋白质会加重尿毒症</a:t>
            </a:r>
            <a:r>
              <a:rPr lang="zh-CN" altLang="en-US" sz="2400" b="1">
                <a:solidFill>
                  <a:srgbClr val="FFCC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endParaRPr lang="en-US" altLang="zh-CN" sz="2400" b="1">
              <a:solidFill>
                <a:srgbClr val="FFCC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endParaRPr lang="en-US" altLang="zh-CN" sz="2400" b="1">
              <a:solidFill>
                <a:srgbClr val="FFCC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r>
              <a:rPr lang="zh-CN" altLang="en-US" sz="2000"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答：一样是亦对亦错。人类医学界对尿素氮毒性的争议在</a:t>
            </a:r>
            <a:r>
              <a:rPr lang="en-US" altLang="zh-CN" sz="2000"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2017</a:t>
            </a:r>
            <a:r>
              <a:rPr lang="zh-CN" altLang="en-US" sz="2000"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后再起波澜，原先认知中的低毒性观点受到挑战。但无法否认，至今在案的</a:t>
            </a:r>
            <a:r>
              <a:rPr lang="en-US" altLang="zh-CN" sz="2000"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130</a:t>
            </a:r>
            <a:r>
              <a:rPr lang="zh-CN" altLang="en-US" sz="2000"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种尿毒症毒素中，蛋白质代谢的产物仅是一部份罢了。尿毒症是这一百余种毒素的共同作用，是低白蛋白、炎症反应、蛋白结合毒素增加及非营养性毒素产生共同造就的。</a:t>
            </a:r>
            <a:r>
              <a:rPr lang="zh-CN" altLang="en-US" sz="2000" b="1">
                <a:solidFill>
                  <a:srgbClr val="FF2929"/>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换句话说，迷信低蛋白，以营养不良为代价治疗肾病有搬起石头砸自己脚的可能。</a:t>
            </a:r>
            <a:endParaRPr lang="en-US" altLang="zh-CN" sz="2000" b="1">
              <a:solidFill>
                <a:srgbClr val="FF2929"/>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endParaRPr lang="en-US" altLang="zh-CN"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417684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17" name="组合 16">
            <a:extLst/>
          </p:cNvPr>
          <p:cNvGrpSpPr/>
          <p:nvPr/>
        </p:nvGrpSpPr>
        <p:grpSpPr>
          <a:xfrm>
            <a:off x="4871863" y="330679"/>
            <a:ext cx="7320137" cy="1035880"/>
            <a:chOff x="8112223" y="330679"/>
            <a:chExt cx="4194115" cy="1035880"/>
          </a:xfrm>
          <a:effectLst>
            <a:outerShdw blurRad="50800" dist="38100" dir="5400000" algn="t" rotWithShape="0">
              <a:prstClr val="black">
                <a:alpha val="40000"/>
              </a:prstClr>
            </a:outerShdw>
          </a:effectLst>
        </p:grpSpPr>
        <p:sp>
          <p:nvSpPr>
            <p:cNvPr id="4"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5" name="组合 22">
              <a:extLst/>
            </p:cNvPr>
            <p:cNvGrpSpPr>
              <a:grpSpLocks/>
            </p:cNvGrpSpPr>
            <p:nvPr/>
          </p:nvGrpSpPr>
          <p:grpSpPr bwMode="auto">
            <a:xfrm>
              <a:off x="8281096" y="330679"/>
              <a:ext cx="3829412" cy="985057"/>
              <a:chOff x="-461843" y="2729730"/>
              <a:chExt cx="4510539" cy="1377462"/>
            </a:xfrm>
          </p:grpSpPr>
          <p:sp>
            <p:nvSpPr>
              <p:cNvPr id="6"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7" name="文本框 14">
                <a:extLst/>
              </p:cNvPr>
              <p:cNvSpPr txBox="1">
                <a:spLocks noChangeArrowheads="1"/>
              </p:cNvSpPr>
              <p:nvPr/>
            </p:nvSpPr>
            <p:spPr bwMode="auto">
              <a:xfrm>
                <a:off x="1185870" y="3043997"/>
                <a:ext cx="2862826" cy="903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latin typeface="+mn-lt"/>
                    <a:ea typeface="+mn-ea"/>
                    <a:cs typeface="+mn-ea"/>
                    <a:sym typeface="+mn-lt"/>
                  </a:rPr>
                  <a:t>第二部份结束</a:t>
                </a:r>
                <a:endParaRPr lang="en-US" altLang="zh-CN" sz="2400" b="1">
                  <a:solidFill>
                    <a:srgbClr val="010101"/>
                  </a:solidFill>
                  <a:latin typeface="+mn-lt"/>
                  <a:ea typeface="+mn-ea"/>
                  <a:cs typeface="+mn-ea"/>
                  <a:sym typeface="+mn-lt"/>
                </a:endParaRPr>
              </a:p>
            </p:txBody>
          </p:sp>
          <p:cxnSp>
            <p:nvCxnSpPr>
              <p:cNvPr id="8" name="直接连接符 7">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9" name="矩形 20">
                <a:extLst/>
              </p:cNvPr>
              <p:cNvSpPr>
                <a:spLocks noChangeArrowheads="1"/>
              </p:cNvSpPr>
              <p:nvPr/>
            </p:nvSpPr>
            <p:spPr bwMode="auto">
              <a:xfrm>
                <a:off x="506334" y="3461619"/>
                <a:ext cx="608195"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latin typeface="+mn-lt"/>
                    <a:ea typeface="+mn-ea"/>
                    <a:cs typeface="+mn-ea"/>
                    <a:sym typeface="+mn-lt"/>
                  </a:rPr>
                  <a:t>TWO</a:t>
                </a:r>
                <a:endParaRPr lang="zh-CN" altLang="en-US" sz="2400" b="1">
                  <a:latin typeface="+mn-lt"/>
                  <a:ea typeface="+mn-ea"/>
                  <a:cs typeface="+mn-ea"/>
                  <a:sym typeface="+mn-lt"/>
                </a:endParaRPr>
              </a:p>
            </p:txBody>
          </p:sp>
        </p:grpSp>
      </p:grpSp>
      <p:sp>
        <p:nvSpPr>
          <p:cNvPr id="14" name="文本框 66">
            <a:extLst/>
          </p:cNvPr>
          <p:cNvSpPr txBox="1">
            <a:spLocks noChangeArrowheads="1"/>
          </p:cNvSpPr>
          <p:nvPr/>
        </p:nvSpPr>
        <p:spPr bwMode="auto">
          <a:xfrm>
            <a:off x="6751638" y="4005263"/>
            <a:ext cx="44935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spcBef>
                <a:spcPts val="0"/>
              </a:spcBef>
              <a:spcAft>
                <a:spcPts val="0"/>
              </a:spcAft>
              <a:defRPr/>
            </a:pPr>
            <a:r>
              <a:rPr lang="zh-CN" altLang="en-US" sz="2400" b="1" kern="0">
                <a:solidFill>
                  <a:schemeClr val="tx1">
                    <a:lumMod val="95000"/>
                    <a:lumOff val="5000"/>
                  </a:schemeClr>
                </a:solidFill>
                <a:latin typeface="微软雅黑" panose="020B0503020204020204" pitchFamily="34" charset="-122"/>
                <a:ea typeface="微软雅黑" panose="020B0503020204020204" pitchFamily="34" charset="-122"/>
                <a:cs typeface="+mn-ea"/>
                <a:sym typeface="+mn-lt"/>
              </a:rPr>
              <a:t>猫慢性肾病确诊后该怎么复查？</a:t>
            </a:r>
          </a:p>
        </p:txBody>
      </p:sp>
      <p:sp>
        <p:nvSpPr>
          <p:cNvPr id="18" name="文本框 66">
            <a:extLst/>
          </p:cNvPr>
          <p:cNvSpPr txBox="1">
            <a:spLocks noChangeArrowheads="1"/>
          </p:cNvSpPr>
          <p:nvPr/>
        </p:nvSpPr>
        <p:spPr bwMode="auto">
          <a:xfrm>
            <a:off x="6748463" y="1793875"/>
            <a:ext cx="42576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spcBef>
                <a:spcPts val="0"/>
              </a:spcBef>
              <a:spcAft>
                <a:spcPts val="0"/>
              </a:spcAft>
              <a:defRPr/>
            </a:pPr>
            <a:r>
              <a:rPr lang="zh-CN" altLang="en-US" sz="2400" b="1" kern="0">
                <a:solidFill>
                  <a:schemeClr val="tx1">
                    <a:lumMod val="95000"/>
                    <a:lumOff val="5000"/>
                  </a:schemeClr>
                </a:solidFill>
                <a:latin typeface="+mn-lt"/>
                <a:ea typeface="+mn-ea"/>
                <a:cs typeface="+mn-ea"/>
                <a:sym typeface="+mn-lt"/>
              </a:rPr>
              <a:t>猫慢性肾病怎么诊断？</a:t>
            </a:r>
          </a:p>
        </p:txBody>
      </p:sp>
      <p:sp>
        <p:nvSpPr>
          <p:cNvPr id="19" name="矩形 18">
            <a:extLst/>
          </p:cNvPr>
          <p:cNvSpPr/>
          <p:nvPr/>
        </p:nvSpPr>
        <p:spPr bwMode="auto">
          <a:xfrm>
            <a:off x="6748463" y="2254250"/>
            <a:ext cx="4498975" cy="1323439"/>
          </a:xfrm>
          <a:prstGeom prst="rect">
            <a:avLst/>
          </a:prstGeom>
        </p:spPr>
        <p:txBody>
          <a:bodyPr>
            <a:spAutoFit/>
          </a:bodyPr>
          <a:lstStyle/>
          <a:p>
            <a:pPr eaLnBrk="1" fontAlgn="auto" hangingPunct="1">
              <a:spcBef>
                <a:spcPts val="0"/>
              </a:spcBef>
              <a:spcAft>
                <a:spcPts val="0"/>
              </a:spcAft>
              <a:defRPr/>
            </a:pPr>
            <a:r>
              <a:rPr lang="zh-CN" altLang="en-US" sz="1600" kern="0">
                <a:solidFill>
                  <a:schemeClr val="tx1">
                    <a:lumMod val="95000"/>
                    <a:lumOff val="5000"/>
                  </a:schemeClr>
                </a:solidFill>
                <a:latin typeface="+mn-ea"/>
                <a:ea typeface="+mn-ea"/>
                <a:cs typeface="+mn-ea"/>
                <a:sym typeface="+mn-lt"/>
              </a:rPr>
              <a:t>凭借单项检查结果一锤定音的肾病诊断并不存在，各类指标，无论是用了几十年的，还是这几年大力市场推广的都有自身的局限；猫的临床症状、尿检与血检结果尽量做全，方可给予我们准确的全貌；多次检查亦难以避免。</a:t>
            </a:r>
          </a:p>
        </p:txBody>
      </p:sp>
      <p:sp>
        <p:nvSpPr>
          <p:cNvPr id="26630" name="文本框 1"/>
          <p:cNvSpPr txBox="1">
            <a:spLocks noChangeArrowheads="1"/>
          </p:cNvSpPr>
          <p:nvPr/>
        </p:nvSpPr>
        <p:spPr bwMode="auto">
          <a:xfrm>
            <a:off x="6748463" y="4467225"/>
            <a:ext cx="4822825"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600">
                <a:latin typeface="微软雅黑" panose="020B0503020204020204" pitchFamily="34" charset="-122"/>
                <a:ea typeface="微软雅黑" panose="020B0503020204020204" pitchFamily="34" charset="-122"/>
              </a:rPr>
              <a:t>迷恋肌酐、尿素氮指标，一心关注这俩数值的波动却不顾病患身体、生活状态与其它临床指标的非常普遍，必须停止！</a:t>
            </a:r>
            <a:endParaRPr lang="en-US" altLang="zh-CN" sz="1600">
              <a:latin typeface="微软雅黑" panose="020B0503020204020204" pitchFamily="34" charset="-122"/>
              <a:ea typeface="微软雅黑" panose="020B0503020204020204" pitchFamily="34" charset="-122"/>
            </a:endParaRPr>
          </a:p>
          <a:p>
            <a:r>
              <a:rPr lang="zh-CN" altLang="en-US" sz="1600">
                <a:latin typeface="微软雅黑" panose="020B0503020204020204" pitchFamily="34" charset="-122"/>
                <a:ea typeface="微软雅黑" panose="020B0503020204020204" pitchFamily="34" charset="-122"/>
              </a:rPr>
              <a:t>相比过度诠释这两个标志物，更需要多关注能</a:t>
            </a:r>
            <a:r>
              <a:rPr lang="zh-CN" altLang="en-US" sz="1600" b="1">
                <a:latin typeface="微软雅黑" panose="020B0503020204020204" pitchFamily="34" charset="-122"/>
                <a:ea typeface="微软雅黑" panose="020B0503020204020204" pitchFamily="34" charset="-122"/>
              </a:rPr>
              <a:t>实际影响病情发展</a:t>
            </a:r>
            <a:r>
              <a:rPr lang="zh-CN" altLang="en-US" sz="1600">
                <a:latin typeface="微软雅黑" panose="020B0503020204020204" pitchFamily="34" charset="-122"/>
                <a:ea typeface="微软雅黑" panose="020B0503020204020204" pitchFamily="34" charset="-122"/>
              </a:rPr>
              <a:t>的血磷、血钾、血液</a:t>
            </a:r>
            <a:r>
              <a:rPr lang="en-US" altLang="zh-CN" sz="1600">
                <a:latin typeface="微软雅黑" panose="020B0503020204020204" pitchFamily="34" charset="-122"/>
                <a:ea typeface="微软雅黑" panose="020B0503020204020204" pitchFamily="34" charset="-122"/>
              </a:rPr>
              <a:t>PH</a:t>
            </a:r>
            <a:r>
              <a:rPr lang="zh-CN" altLang="en-US" sz="1600">
                <a:latin typeface="微软雅黑" panose="020B0503020204020204" pitchFamily="34" charset="-122"/>
                <a:ea typeface="微软雅黑" panose="020B0503020204020204" pitchFamily="34" charset="-122"/>
              </a:rPr>
              <a:t>、血压、水合状态，以及猫咪本身的体型与肌肉存量。</a:t>
            </a:r>
          </a:p>
        </p:txBody>
      </p:sp>
    </p:spTree>
    <p:extLst>
      <p:ext uri="{BB962C8B-B14F-4D97-AF65-F5344CB8AC3E}">
        <p14:creationId xmlns:p14="http://schemas.microsoft.com/office/powerpoint/2010/main" val="10262392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17" name="组合 16">
            <a:extLst/>
          </p:cNvPr>
          <p:cNvGrpSpPr/>
          <p:nvPr/>
        </p:nvGrpSpPr>
        <p:grpSpPr>
          <a:xfrm>
            <a:off x="4866703" y="715553"/>
            <a:ext cx="7320137" cy="1011161"/>
            <a:chOff x="8112223" y="355398"/>
            <a:chExt cx="4194115" cy="1011161"/>
          </a:xfrm>
          <a:effectLst>
            <a:outerShdw blurRad="50800" dist="38100" dir="5400000" algn="t" rotWithShape="0">
              <a:prstClr val="black">
                <a:alpha val="40000"/>
              </a:prstClr>
            </a:outerShdw>
          </a:effectLst>
        </p:grpSpPr>
        <p:sp>
          <p:nvSpPr>
            <p:cNvPr id="4"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sp>
          <p:nvSpPr>
            <p:cNvPr id="7" name="文本框 14">
              <a:extLst/>
            </p:cNvPr>
            <p:cNvSpPr txBox="1">
              <a:spLocks noChangeArrowheads="1"/>
            </p:cNvSpPr>
            <p:nvPr/>
          </p:nvSpPr>
          <p:spPr bwMode="auto">
            <a:xfrm>
              <a:off x="8410186" y="355398"/>
              <a:ext cx="3506879" cy="825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3600" b="1">
                  <a:solidFill>
                    <a:schemeClr val="bg1"/>
                  </a:solidFill>
                  <a:effectLst>
                    <a:outerShdw blurRad="38100" dist="38100" dir="2700000" algn="tl">
                      <a:srgbClr val="000000">
                        <a:alpha val="43137"/>
                      </a:srgbClr>
                    </a:outerShdw>
                  </a:effectLst>
                  <a:latin typeface="+mj-ea"/>
                  <a:ea typeface="+mj-ea"/>
                  <a:cs typeface="+mn-ea"/>
                  <a:sym typeface="+mn-lt"/>
                </a:rPr>
                <a:t>公众号留言提问：</a:t>
              </a:r>
              <a:endPar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grpSp>
      <p:sp>
        <p:nvSpPr>
          <p:cNvPr id="10" name="流程图: 过程 9">
            <a:extLst/>
          </p:cNvPr>
          <p:cNvSpPr/>
          <p:nvPr/>
        </p:nvSpPr>
        <p:spPr bwMode="auto">
          <a:xfrm>
            <a:off x="833722" y="1875107"/>
            <a:ext cx="10596563" cy="3786142"/>
          </a:xfrm>
          <a:prstGeom prst="flowChartProcess">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numCol="3" anchor="ctr"/>
          <a:lstStyle/>
          <a:p>
            <a:pPr eaLnBrk="1" fontAlgn="auto" hangingPunct="1">
              <a:spcBef>
                <a:spcPts val="0"/>
              </a:spcBef>
              <a:spcAft>
                <a:spcPts val="0"/>
              </a:spcAft>
              <a:defRPr/>
            </a:pPr>
            <a:endParaRPr lang="zh-CN" altLang="en-US" kern="0">
              <a:solidFill>
                <a:sysClr val="windowText" lastClr="000000"/>
              </a:solidFill>
              <a:cs typeface="+mn-ea"/>
              <a:sym typeface="+mn-lt"/>
            </a:endParaRPr>
          </a:p>
        </p:txBody>
      </p:sp>
      <p:sp>
        <p:nvSpPr>
          <p:cNvPr id="5" name="文本框 4"/>
          <p:cNvSpPr txBox="1"/>
          <p:nvPr/>
        </p:nvSpPr>
        <p:spPr>
          <a:xfrm>
            <a:off x="2713091" y="1540972"/>
            <a:ext cx="8495477" cy="2585323"/>
          </a:xfrm>
          <a:prstGeom prst="rect">
            <a:avLst/>
          </a:prstGeom>
          <a:noFill/>
        </p:spPr>
        <p:txBody>
          <a:bodyPr wrap="square" rtlCol="0">
            <a:spAutoFit/>
          </a:bodyPr>
          <a:lstStyle/>
          <a:p>
            <a:endParaRPr lang="en-US" altLang="zh-CN" sz="2400"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r>
              <a:rPr lang="zh-CN" altLang="en-US" sz="2000" b="1">
                <a:solidFill>
                  <a:schemeClr val="bg1"/>
                </a:solidFill>
                <a:effectLst>
                  <a:outerShdw blurRad="38100" dist="38100" dir="2700000" algn="tl">
                    <a:srgbClr val="000000">
                      <a:alpha val="43137"/>
                    </a:srgbClr>
                  </a:outerShdw>
                </a:effectLst>
                <a:latin typeface="+mj-ea"/>
                <a:ea typeface="+mj-ea"/>
              </a:rPr>
              <a:t>张薇</a:t>
            </a:r>
            <a:r>
              <a:rPr lang="zh-CN" altLang="en-US" sz="2000">
                <a:solidFill>
                  <a:schemeClr val="bg1"/>
                </a:solidFill>
              </a:rPr>
              <a:t>：</a:t>
            </a:r>
            <a:r>
              <a:rPr lang="zh-CN" altLang="en-US" sz="2000">
                <a:solidFill>
                  <a:schemeClr val="bg1">
                    <a:lumMod val="95000"/>
                  </a:schemeClr>
                </a:solidFill>
                <a:effectLst>
                  <a:outerShdw blurRad="38100" dist="38100" dir="2700000" algn="tl">
                    <a:srgbClr val="000000">
                      <a:alpha val="43137"/>
                    </a:srgbClr>
                  </a:outerShdw>
                </a:effectLst>
                <a:latin typeface="+mj-ea"/>
                <a:ea typeface="+mj-ea"/>
              </a:rPr>
              <a:t>我的猫</a:t>
            </a:r>
            <a:r>
              <a:rPr lang="en-US" altLang="zh-CN" sz="2000">
                <a:solidFill>
                  <a:schemeClr val="bg1">
                    <a:lumMod val="95000"/>
                  </a:schemeClr>
                </a:solidFill>
                <a:effectLst>
                  <a:outerShdw blurRad="38100" dist="38100" dir="2700000" algn="tl">
                    <a:srgbClr val="000000">
                      <a:alpha val="43137"/>
                    </a:srgbClr>
                  </a:outerShdw>
                </a:effectLst>
                <a:latin typeface="+mj-ea"/>
                <a:ea typeface="+mj-ea"/>
              </a:rPr>
              <a:t>16</a:t>
            </a:r>
            <a:r>
              <a:rPr lang="zh-CN" altLang="en-US" sz="2000">
                <a:solidFill>
                  <a:schemeClr val="bg1">
                    <a:lumMod val="95000"/>
                  </a:schemeClr>
                </a:solidFill>
                <a:effectLst>
                  <a:outerShdw blurRad="38100" dist="38100" dir="2700000" algn="tl">
                    <a:srgbClr val="000000">
                      <a:alpha val="43137"/>
                    </a:srgbClr>
                  </a:outerShdw>
                </a:effectLst>
                <a:latin typeface="+mj-ea"/>
                <a:ea typeface="+mj-ea"/>
              </a:rPr>
              <a:t>岁，肾衰，肌肝</a:t>
            </a:r>
            <a:r>
              <a:rPr lang="en-US" altLang="zh-CN" sz="2000">
                <a:solidFill>
                  <a:schemeClr val="bg1">
                    <a:lumMod val="95000"/>
                  </a:schemeClr>
                </a:solidFill>
                <a:effectLst>
                  <a:outerShdw blurRad="38100" dist="38100" dir="2700000" algn="tl">
                    <a:srgbClr val="000000">
                      <a:alpha val="43137"/>
                    </a:srgbClr>
                  </a:outerShdw>
                </a:effectLst>
                <a:latin typeface="+mj-ea"/>
                <a:ea typeface="+mj-ea"/>
              </a:rPr>
              <a:t>274 ,</a:t>
            </a:r>
            <a:r>
              <a:rPr lang="zh-CN" altLang="en-US" sz="2000">
                <a:solidFill>
                  <a:schemeClr val="bg1">
                    <a:lumMod val="95000"/>
                  </a:schemeClr>
                </a:solidFill>
                <a:effectLst>
                  <a:outerShdw blurRad="38100" dist="38100" dir="2700000" algn="tl">
                    <a:srgbClr val="000000">
                      <a:alpha val="43137"/>
                    </a:srgbClr>
                  </a:outerShdw>
                </a:effectLst>
                <a:latin typeface="+mj-ea"/>
                <a:ea typeface="+mj-ea"/>
              </a:rPr>
              <a:t>尿氮</a:t>
            </a:r>
            <a:r>
              <a:rPr lang="en-US" altLang="zh-CN" sz="2000">
                <a:solidFill>
                  <a:schemeClr val="bg1">
                    <a:lumMod val="95000"/>
                  </a:schemeClr>
                </a:solidFill>
                <a:effectLst>
                  <a:outerShdw blurRad="38100" dist="38100" dir="2700000" algn="tl">
                    <a:srgbClr val="000000">
                      <a:alpha val="43137"/>
                    </a:srgbClr>
                  </a:outerShdw>
                </a:effectLst>
                <a:latin typeface="+mj-ea"/>
                <a:ea typeface="+mj-ea"/>
              </a:rPr>
              <a:t>21.6, </a:t>
            </a:r>
            <a:r>
              <a:rPr lang="zh-CN" altLang="en-US" sz="2000">
                <a:solidFill>
                  <a:schemeClr val="bg1">
                    <a:lumMod val="95000"/>
                  </a:schemeClr>
                </a:solidFill>
                <a:effectLst>
                  <a:outerShdw blurRad="38100" dist="38100" dir="2700000" algn="tl">
                    <a:srgbClr val="000000">
                      <a:alpha val="43137"/>
                    </a:srgbClr>
                  </a:outerShdw>
                </a:effectLst>
                <a:latin typeface="+mj-ea"/>
                <a:ea typeface="+mj-ea"/>
              </a:rPr>
              <a:t>磷离子</a:t>
            </a:r>
            <a:r>
              <a:rPr lang="en-US" altLang="zh-CN" sz="2000">
                <a:solidFill>
                  <a:schemeClr val="bg1">
                    <a:lumMod val="95000"/>
                  </a:schemeClr>
                </a:solidFill>
                <a:effectLst>
                  <a:outerShdw blurRad="38100" dist="38100" dir="2700000" algn="tl">
                    <a:srgbClr val="000000">
                      <a:alpha val="43137"/>
                    </a:srgbClr>
                  </a:outerShdw>
                </a:effectLst>
                <a:latin typeface="+mj-ea"/>
                <a:ea typeface="+mj-ea"/>
              </a:rPr>
              <a:t>1.48,</a:t>
            </a:r>
            <a:r>
              <a:rPr lang="zh-CN" altLang="en-US" sz="2000">
                <a:solidFill>
                  <a:schemeClr val="bg1">
                    <a:lumMod val="95000"/>
                  </a:schemeClr>
                </a:solidFill>
                <a:effectLst>
                  <a:outerShdw blurRad="38100" dist="38100" dir="2700000" algn="tl">
                    <a:srgbClr val="000000">
                      <a:alpha val="43137"/>
                    </a:srgbClr>
                  </a:outerShdw>
                </a:effectLst>
                <a:latin typeface="+mj-ea"/>
                <a:ea typeface="+mj-ea"/>
              </a:rPr>
              <a:t>一周补</a:t>
            </a:r>
            <a:r>
              <a:rPr lang="en-US" altLang="zh-CN" sz="2000">
                <a:solidFill>
                  <a:schemeClr val="bg1">
                    <a:lumMod val="95000"/>
                  </a:schemeClr>
                </a:solidFill>
                <a:effectLst>
                  <a:outerShdw blurRad="38100" dist="38100" dir="2700000" algn="tl">
                    <a:srgbClr val="000000">
                      <a:alpha val="43137"/>
                    </a:srgbClr>
                  </a:outerShdw>
                </a:effectLst>
                <a:latin typeface="+mj-ea"/>
                <a:ea typeface="+mj-ea"/>
              </a:rPr>
              <a:t>2</a:t>
            </a:r>
            <a:r>
              <a:rPr lang="zh-CN" altLang="en-US" sz="2000">
                <a:solidFill>
                  <a:schemeClr val="bg1">
                    <a:lumMod val="95000"/>
                  </a:schemeClr>
                </a:solidFill>
                <a:effectLst>
                  <a:outerShdw blurRad="38100" dist="38100" dir="2700000" algn="tl">
                    <a:srgbClr val="000000">
                      <a:alpha val="43137"/>
                    </a:srgbClr>
                  </a:outerShdw>
                </a:effectLst>
                <a:latin typeface="+mj-ea"/>
                <a:ea typeface="+mj-ea"/>
              </a:rPr>
              <a:t>次液，补的是生理盐水，体重</a:t>
            </a:r>
            <a:r>
              <a:rPr lang="en-US" altLang="zh-CN" sz="2000">
                <a:solidFill>
                  <a:schemeClr val="bg1">
                    <a:lumMod val="95000"/>
                  </a:schemeClr>
                </a:solidFill>
                <a:effectLst>
                  <a:outerShdw blurRad="38100" dist="38100" dir="2700000" algn="tl">
                    <a:srgbClr val="000000">
                      <a:alpha val="43137"/>
                    </a:srgbClr>
                  </a:outerShdw>
                </a:effectLst>
                <a:latin typeface="+mj-ea"/>
                <a:ea typeface="+mj-ea"/>
              </a:rPr>
              <a:t>1..95</a:t>
            </a:r>
            <a:r>
              <a:rPr lang="zh-CN" altLang="en-US" sz="2000">
                <a:solidFill>
                  <a:schemeClr val="bg1">
                    <a:lumMod val="95000"/>
                  </a:schemeClr>
                </a:solidFill>
                <a:effectLst>
                  <a:outerShdw blurRad="38100" dist="38100" dir="2700000" algn="tl">
                    <a:srgbClr val="000000">
                      <a:alpha val="43137"/>
                    </a:srgbClr>
                  </a:outerShdw>
                </a:effectLst>
                <a:latin typeface="+mj-ea"/>
                <a:ea typeface="+mj-ea"/>
              </a:rPr>
              <a:t>公斤，一次补液</a:t>
            </a:r>
            <a:r>
              <a:rPr lang="en-US" altLang="zh-CN" sz="2000">
                <a:solidFill>
                  <a:schemeClr val="bg1">
                    <a:lumMod val="95000"/>
                  </a:schemeClr>
                </a:solidFill>
                <a:effectLst>
                  <a:outerShdw blurRad="38100" dist="38100" dir="2700000" algn="tl">
                    <a:srgbClr val="000000">
                      <a:alpha val="43137"/>
                    </a:srgbClr>
                  </a:outerShdw>
                </a:effectLst>
                <a:latin typeface="+mj-ea"/>
                <a:ea typeface="+mj-ea"/>
              </a:rPr>
              <a:t>80</a:t>
            </a:r>
            <a:r>
              <a:rPr lang="zh-CN" altLang="en-US" sz="2000">
                <a:solidFill>
                  <a:schemeClr val="bg1">
                    <a:lumMod val="95000"/>
                  </a:schemeClr>
                </a:solidFill>
                <a:effectLst>
                  <a:outerShdw blurRad="38100" dist="38100" dir="2700000" algn="tl">
                    <a:srgbClr val="000000">
                      <a:alpha val="43137"/>
                    </a:srgbClr>
                  </a:outerShdw>
                </a:effectLst>
                <a:latin typeface="+mj-ea"/>
                <a:ea typeface="+mj-ea"/>
              </a:rPr>
              <a:t>毫升，大夫说乳酸林格会增加肝脏负，它没有酸中毒所以不需要用这个，同时吃肾衰停，一天两次，一次一粒，然后吃皇家肾处方粮，大夫不让喂鸡肉了，大夫说吃肉只能加速它的死亡速度，美罐也不行，只吃皇家肾处方粮，真的是这样吗？？不吃怎么办</a:t>
            </a:r>
            <a:r>
              <a:rPr lang="en-US" altLang="zh-CN" sz="2000">
                <a:solidFill>
                  <a:schemeClr val="bg1">
                    <a:lumMod val="95000"/>
                  </a:schemeClr>
                </a:solidFill>
                <a:effectLst>
                  <a:outerShdw blurRad="38100" dist="38100" dir="2700000" algn="tl">
                    <a:srgbClr val="000000">
                      <a:alpha val="43137"/>
                    </a:srgbClr>
                  </a:outerShdw>
                </a:effectLst>
                <a:latin typeface="+mj-ea"/>
                <a:ea typeface="+mj-ea"/>
              </a:rPr>
              <a:t>? </a:t>
            </a:r>
            <a:r>
              <a:rPr lang="zh-CN" altLang="en-US" sz="2000">
                <a:solidFill>
                  <a:schemeClr val="bg1">
                    <a:lumMod val="95000"/>
                  </a:schemeClr>
                </a:solidFill>
                <a:effectLst>
                  <a:outerShdw blurRad="38100" dist="38100" dir="2700000" algn="tl">
                    <a:srgbClr val="000000">
                      <a:alpha val="43137"/>
                    </a:srgbClr>
                  </a:outerShdw>
                </a:effectLst>
                <a:latin typeface="+mj-ea"/>
                <a:ea typeface="+mj-ea"/>
              </a:rPr>
              <a:t>我怎么觉得肾衰吃干粮反而加速恶化呢！</a:t>
            </a:r>
            <a:endParaRPr lang="en-US" altLang="zh-CN" sz="2000" b="1">
              <a:solidFill>
                <a:schemeClr val="bg1">
                  <a:lumMod val="95000"/>
                </a:schemeClr>
              </a:solidFill>
              <a:effectLst>
                <a:outerShdw blurRad="38100" dist="38100" dir="2700000" algn="tl">
                  <a:srgbClr val="000000">
                    <a:alpha val="43137"/>
                  </a:srgbClr>
                </a:outerShdw>
              </a:effectLst>
              <a:latin typeface="+mj-ea"/>
              <a:ea typeface="+mj-ea"/>
            </a:endParaRPr>
          </a:p>
          <a:p>
            <a:endParaRPr lang="en-US" altLang="zh-CN"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0275" y="1941730"/>
            <a:ext cx="1772816" cy="1772816"/>
          </a:xfrm>
          <a:prstGeom prst="rect">
            <a:avLst/>
          </a:prstGeom>
        </p:spPr>
      </p:pic>
      <p:pic>
        <p:nvPicPr>
          <p:cNvPr id="101377" name="Picture 1" descr="1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57300" cy="1257300"/>
          </a:xfrm>
          <a:prstGeom prst="rect">
            <a:avLst/>
          </a:prstGeom>
          <a:noFill/>
          <a:extLst>
            <a:ext uri="{909E8E84-426E-40DD-AFC4-6F175D3DCCD1}">
              <a14:hiddenFill xmlns:a14="http://schemas.microsoft.com/office/drawing/2010/main">
                <a:solidFill>
                  <a:srgbClr val="FFFFFF"/>
                </a:solidFill>
              </a14:hiddenFill>
            </a:ext>
          </a:extLst>
        </p:spPr>
      </p:pic>
      <p:pic>
        <p:nvPicPr>
          <p:cNvPr id="101379" name="Picture 3" descr="1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57300" cy="1257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86549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17" name="组合 16">
            <a:extLst/>
          </p:cNvPr>
          <p:cNvGrpSpPr/>
          <p:nvPr/>
        </p:nvGrpSpPr>
        <p:grpSpPr>
          <a:xfrm>
            <a:off x="4866703" y="715553"/>
            <a:ext cx="7320137" cy="1011161"/>
            <a:chOff x="8112223" y="355398"/>
            <a:chExt cx="4194115" cy="1011161"/>
          </a:xfrm>
          <a:effectLst>
            <a:outerShdw blurRad="50800" dist="38100" dir="5400000" algn="t" rotWithShape="0">
              <a:prstClr val="black">
                <a:alpha val="40000"/>
              </a:prstClr>
            </a:outerShdw>
          </a:effectLst>
        </p:grpSpPr>
        <p:sp>
          <p:nvSpPr>
            <p:cNvPr id="4"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sp>
          <p:nvSpPr>
            <p:cNvPr id="7" name="文本框 14">
              <a:extLst/>
            </p:cNvPr>
            <p:cNvSpPr txBox="1">
              <a:spLocks noChangeArrowheads="1"/>
            </p:cNvSpPr>
            <p:nvPr/>
          </p:nvSpPr>
          <p:spPr bwMode="auto">
            <a:xfrm>
              <a:off x="8410186" y="355398"/>
              <a:ext cx="3506879" cy="825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3600" b="1">
                  <a:solidFill>
                    <a:schemeClr val="bg1"/>
                  </a:solidFill>
                  <a:effectLst>
                    <a:outerShdw blurRad="38100" dist="38100" dir="2700000" algn="tl">
                      <a:srgbClr val="000000">
                        <a:alpha val="43137"/>
                      </a:srgbClr>
                    </a:outerShdw>
                  </a:effectLst>
                  <a:latin typeface="+mj-ea"/>
                  <a:ea typeface="+mj-ea"/>
                  <a:cs typeface="+mn-ea"/>
                  <a:sym typeface="+mn-lt"/>
                </a:rPr>
                <a:t>公众号留言提问：</a:t>
              </a:r>
              <a:endPar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grpSp>
      <p:sp>
        <p:nvSpPr>
          <p:cNvPr id="10" name="流程图: 过程 9">
            <a:extLst/>
          </p:cNvPr>
          <p:cNvSpPr/>
          <p:nvPr/>
        </p:nvSpPr>
        <p:spPr bwMode="auto">
          <a:xfrm>
            <a:off x="833722" y="1875106"/>
            <a:ext cx="10596563" cy="4506221"/>
          </a:xfrm>
          <a:prstGeom prst="flowChartProcess">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numCol="3" anchor="ctr"/>
          <a:lstStyle/>
          <a:p>
            <a:endParaRPr lang="zh-CN" altLang="en-US"/>
          </a:p>
        </p:txBody>
      </p:sp>
      <p:sp>
        <p:nvSpPr>
          <p:cNvPr id="5" name="文本框 4"/>
          <p:cNvSpPr txBox="1"/>
          <p:nvPr/>
        </p:nvSpPr>
        <p:spPr>
          <a:xfrm>
            <a:off x="983432" y="1619281"/>
            <a:ext cx="10225136" cy="1384995"/>
          </a:xfrm>
          <a:prstGeom prst="rect">
            <a:avLst/>
          </a:prstGeom>
          <a:noFill/>
        </p:spPr>
        <p:txBody>
          <a:bodyPr wrap="square" rtlCol="0">
            <a:spAutoFit/>
          </a:bodyPr>
          <a:lstStyle/>
          <a:p>
            <a:endParaRPr lang="en-US" altLang="zh-CN" sz="2400" b="1">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r>
              <a:rPr lang="zh-CN" altLang="en-US" sz="2000" b="1">
                <a:solidFill>
                  <a:schemeClr val="bg1"/>
                </a:solidFill>
                <a:effectLst>
                  <a:outerShdw blurRad="38100" dist="38100" dir="2700000" algn="tl">
                    <a:srgbClr val="000000">
                      <a:alpha val="43137"/>
                    </a:srgbClr>
                  </a:outerShdw>
                </a:effectLst>
                <a:latin typeface="+mj-ea"/>
                <a:ea typeface="+mj-ea"/>
              </a:rPr>
              <a:t>喵喵🐱</a:t>
            </a:r>
            <a:r>
              <a:rPr lang="zh-CN" altLang="en-US" sz="2000">
                <a:solidFill>
                  <a:schemeClr val="bg1"/>
                </a:solidFill>
                <a:effectLst>
                  <a:outerShdw blurRad="38100" dist="38100" dir="2700000" algn="tl">
                    <a:srgbClr val="000000">
                      <a:alpha val="43137"/>
                    </a:srgbClr>
                  </a:outerShdw>
                </a:effectLst>
                <a:latin typeface="+mj-ea"/>
                <a:ea typeface="+mj-ea"/>
              </a:rPr>
              <a:t>：您好。我家</a:t>
            </a:r>
            <a:r>
              <a:rPr lang="en-US" altLang="zh-CN" sz="2000">
                <a:solidFill>
                  <a:schemeClr val="bg1"/>
                </a:solidFill>
                <a:effectLst>
                  <a:outerShdw blurRad="38100" dist="38100" dir="2700000" algn="tl">
                    <a:srgbClr val="000000">
                      <a:alpha val="43137"/>
                    </a:srgbClr>
                  </a:outerShdw>
                </a:effectLst>
                <a:latin typeface="+mj-ea"/>
                <a:ea typeface="+mj-ea"/>
              </a:rPr>
              <a:t>13</a:t>
            </a:r>
            <a:r>
              <a:rPr lang="zh-CN" altLang="en-US" sz="2000">
                <a:solidFill>
                  <a:schemeClr val="bg1"/>
                </a:solidFill>
                <a:effectLst>
                  <a:outerShdw blurRad="38100" dist="38100" dir="2700000" algn="tl">
                    <a:srgbClr val="000000">
                      <a:alpha val="43137"/>
                    </a:srgbClr>
                  </a:outerShdw>
                </a:effectLst>
                <a:latin typeface="+mj-ea"/>
                <a:ea typeface="+mj-ea"/>
              </a:rPr>
              <a:t>岁猫最近检查</a:t>
            </a:r>
            <a:r>
              <a:rPr lang="en-US" altLang="zh-CN" sz="2000">
                <a:solidFill>
                  <a:schemeClr val="bg1"/>
                </a:solidFill>
                <a:effectLst>
                  <a:outerShdw blurRad="38100" dist="38100" dir="2700000" algn="tl">
                    <a:srgbClr val="000000">
                      <a:alpha val="43137"/>
                    </a:srgbClr>
                  </a:outerShdw>
                </a:effectLst>
                <a:latin typeface="+mj-ea"/>
                <a:ea typeface="+mj-ea"/>
              </a:rPr>
              <a:t>sdma</a:t>
            </a:r>
            <a:r>
              <a:rPr lang="zh-CN" altLang="en-US" sz="2000">
                <a:solidFill>
                  <a:schemeClr val="bg1"/>
                </a:solidFill>
                <a:effectLst>
                  <a:outerShdw blurRad="38100" dist="38100" dir="2700000" algn="tl">
                    <a:srgbClr val="000000">
                      <a:alpha val="43137"/>
                    </a:srgbClr>
                  </a:outerShdw>
                </a:effectLst>
                <a:latin typeface="+mj-ea"/>
                <a:ea typeface="+mj-ea"/>
              </a:rPr>
              <a:t>是</a:t>
            </a:r>
            <a:r>
              <a:rPr lang="en-US" altLang="zh-CN" sz="2000">
                <a:solidFill>
                  <a:schemeClr val="bg1"/>
                </a:solidFill>
                <a:effectLst>
                  <a:outerShdw blurRad="38100" dist="38100" dir="2700000" algn="tl">
                    <a:srgbClr val="000000">
                      <a:alpha val="43137"/>
                    </a:srgbClr>
                  </a:outerShdw>
                </a:effectLst>
                <a:latin typeface="+mj-ea"/>
                <a:ea typeface="+mj-ea"/>
              </a:rPr>
              <a:t>17</a:t>
            </a:r>
            <a:r>
              <a:rPr lang="zh-CN" altLang="en-US" sz="2000">
                <a:solidFill>
                  <a:schemeClr val="bg1"/>
                </a:solidFill>
                <a:effectLst>
                  <a:outerShdw blurRad="38100" dist="38100" dir="2700000" algn="tl">
                    <a:srgbClr val="000000">
                      <a:alpha val="43137"/>
                    </a:srgbClr>
                  </a:outerShdw>
                </a:effectLst>
                <a:latin typeface="+mj-ea"/>
                <a:ea typeface="+mj-ea"/>
              </a:rPr>
              <a:t>，拍片见双肾有萎缩，肌酐</a:t>
            </a:r>
            <a:r>
              <a:rPr lang="en-US" altLang="zh-CN" sz="2000">
                <a:solidFill>
                  <a:schemeClr val="bg1"/>
                </a:solidFill>
                <a:effectLst>
                  <a:outerShdw blurRad="38100" dist="38100" dir="2700000" algn="tl">
                    <a:srgbClr val="000000">
                      <a:alpha val="43137"/>
                    </a:srgbClr>
                  </a:outerShdw>
                </a:effectLst>
                <a:latin typeface="+mj-ea"/>
                <a:ea typeface="+mj-ea"/>
              </a:rPr>
              <a:t>1.6</a:t>
            </a:r>
            <a:r>
              <a:rPr lang="zh-CN" altLang="en-US" sz="2000">
                <a:solidFill>
                  <a:schemeClr val="bg1"/>
                </a:solidFill>
                <a:effectLst>
                  <a:outerShdw blurRad="38100" dist="38100" dir="2700000" algn="tl">
                    <a:srgbClr val="000000">
                      <a:alpha val="43137"/>
                    </a:srgbClr>
                  </a:outerShdw>
                </a:effectLst>
                <a:latin typeface="+mj-ea"/>
                <a:ea typeface="+mj-ea"/>
              </a:rPr>
              <a:t>。因为之前胰腺炎灌饭吃的希尔斯</a:t>
            </a:r>
            <a:r>
              <a:rPr lang="en-US" altLang="zh-CN" sz="2000">
                <a:solidFill>
                  <a:schemeClr val="bg1"/>
                </a:solidFill>
                <a:effectLst>
                  <a:outerShdw blurRad="38100" dist="38100" dir="2700000" algn="tl">
                    <a:srgbClr val="000000">
                      <a:alpha val="43137"/>
                    </a:srgbClr>
                  </a:outerShdw>
                </a:effectLst>
                <a:latin typeface="+mj-ea"/>
                <a:ea typeface="+mj-ea"/>
              </a:rPr>
              <a:t>id</a:t>
            </a:r>
            <a:r>
              <a:rPr lang="zh-CN" altLang="en-US" sz="2000">
                <a:solidFill>
                  <a:schemeClr val="bg1"/>
                </a:solidFill>
                <a:effectLst>
                  <a:outerShdw blurRad="38100" dist="38100" dir="2700000" algn="tl">
                    <a:srgbClr val="000000">
                      <a:alpha val="43137"/>
                    </a:srgbClr>
                  </a:outerShdw>
                </a:effectLst>
                <a:latin typeface="+mj-ea"/>
                <a:ea typeface="+mj-ea"/>
              </a:rPr>
              <a:t>，结果现在他恢复自主进食后除了</a:t>
            </a:r>
            <a:r>
              <a:rPr lang="en-US" altLang="zh-CN" sz="2000">
                <a:solidFill>
                  <a:schemeClr val="bg1"/>
                </a:solidFill>
                <a:effectLst>
                  <a:outerShdw blurRad="38100" dist="38100" dir="2700000" algn="tl">
                    <a:srgbClr val="000000">
                      <a:alpha val="43137"/>
                    </a:srgbClr>
                  </a:outerShdw>
                </a:effectLst>
                <a:latin typeface="+mj-ea"/>
                <a:ea typeface="+mj-ea"/>
              </a:rPr>
              <a:t>id</a:t>
            </a:r>
            <a:r>
              <a:rPr lang="zh-CN" altLang="en-US" sz="2000">
                <a:solidFill>
                  <a:schemeClr val="bg1"/>
                </a:solidFill>
                <a:effectLst>
                  <a:outerShdw blurRad="38100" dist="38100" dir="2700000" algn="tl">
                    <a:srgbClr val="000000">
                      <a:alpha val="43137"/>
                    </a:srgbClr>
                  </a:outerShdw>
                </a:effectLst>
                <a:latin typeface="+mj-ea"/>
                <a:ea typeface="+mj-ea"/>
              </a:rPr>
              <a:t>罐头和</a:t>
            </a:r>
            <a:r>
              <a:rPr lang="en-US" altLang="zh-CN" sz="2000">
                <a:solidFill>
                  <a:schemeClr val="bg1"/>
                </a:solidFill>
                <a:effectLst>
                  <a:outerShdw blurRad="38100" dist="38100" dir="2700000" algn="tl">
                    <a:srgbClr val="000000">
                      <a:alpha val="43137"/>
                    </a:srgbClr>
                  </a:outerShdw>
                </a:effectLst>
                <a:latin typeface="+mj-ea"/>
                <a:ea typeface="+mj-ea"/>
              </a:rPr>
              <a:t>id</a:t>
            </a:r>
            <a:r>
              <a:rPr lang="zh-CN" altLang="en-US" sz="2000">
                <a:solidFill>
                  <a:schemeClr val="bg1"/>
                </a:solidFill>
                <a:effectLst>
                  <a:outerShdw blurRad="38100" dist="38100" dir="2700000" algn="tl">
                    <a:srgbClr val="000000">
                      <a:alpha val="43137"/>
                    </a:srgbClr>
                  </a:outerShdw>
                </a:effectLst>
                <a:latin typeface="+mj-ea"/>
                <a:ea typeface="+mj-ea"/>
              </a:rPr>
              <a:t>粮之外别的任何东西都不肯吃！宁愿一直饿着也一口不吃别的。请问能怎么办呢？他这样一直吃</a:t>
            </a:r>
            <a:r>
              <a:rPr lang="en-US" altLang="zh-CN" sz="2000">
                <a:solidFill>
                  <a:schemeClr val="bg1"/>
                </a:solidFill>
                <a:effectLst>
                  <a:outerShdw blurRad="38100" dist="38100" dir="2700000" algn="tl">
                    <a:srgbClr val="000000">
                      <a:alpha val="43137"/>
                    </a:srgbClr>
                  </a:outerShdw>
                </a:effectLst>
                <a:latin typeface="+mj-ea"/>
                <a:ea typeface="+mj-ea"/>
              </a:rPr>
              <a:t>id</a:t>
            </a:r>
            <a:r>
              <a:rPr lang="zh-CN" altLang="en-US" sz="2000">
                <a:solidFill>
                  <a:schemeClr val="bg1"/>
                </a:solidFill>
                <a:effectLst>
                  <a:outerShdw blurRad="38100" dist="38100" dir="2700000" algn="tl">
                    <a:srgbClr val="000000">
                      <a:alpha val="43137"/>
                    </a:srgbClr>
                  </a:outerShdw>
                </a:effectLst>
                <a:latin typeface="+mj-ea"/>
                <a:ea typeface="+mj-ea"/>
              </a:rPr>
              <a:t>行吗？</a:t>
            </a:r>
            <a:endParaRPr lang="en-US" altLang="zh-CN" b="1">
              <a:solidFill>
                <a:schemeClr val="bg1"/>
              </a:solidFill>
              <a:effectLst>
                <a:outerShdw blurRad="38100" dist="38100" dir="2700000" algn="tl">
                  <a:srgbClr val="000000">
                    <a:alpha val="43137"/>
                  </a:srgbClr>
                </a:outerShdw>
              </a:effectLst>
              <a:latin typeface="+mj-ea"/>
              <a:ea typeface="+mj-ea"/>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9011" y="3542406"/>
            <a:ext cx="3981450" cy="2714625"/>
          </a:xfrm>
          <a:prstGeom prst="rect">
            <a:avLst/>
          </a:prstGeom>
        </p:spPr>
      </p:pic>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43022" y="3912047"/>
            <a:ext cx="847725" cy="2291888"/>
          </a:xfrm>
          <a:prstGeom prst="rect">
            <a:avLst/>
          </a:prstGeom>
        </p:spPr>
      </p:pic>
      <p:sp>
        <p:nvSpPr>
          <p:cNvPr id="9" name="文本框 8"/>
          <p:cNvSpPr txBox="1"/>
          <p:nvPr/>
        </p:nvSpPr>
        <p:spPr>
          <a:xfrm>
            <a:off x="3071664" y="3145353"/>
            <a:ext cx="1728192" cy="369332"/>
          </a:xfrm>
          <a:prstGeom prst="rect">
            <a:avLst/>
          </a:prstGeom>
          <a:noFill/>
        </p:spPr>
        <p:txBody>
          <a:bodyPr wrap="square" rtlCol="0">
            <a:spAutoFit/>
          </a:bodyPr>
          <a:lstStyle/>
          <a:p>
            <a:r>
              <a:rPr lang="en-US" altLang="zh-CN" b="1">
                <a:solidFill>
                  <a:srgbClr val="FFCC00"/>
                </a:solidFill>
              </a:rPr>
              <a:t>Hills i/d </a:t>
            </a:r>
            <a:r>
              <a:rPr lang="zh-CN" altLang="en-US" b="1">
                <a:solidFill>
                  <a:srgbClr val="FFCC00"/>
                </a:solidFill>
              </a:rPr>
              <a:t>罐头</a:t>
            </a:r>
          </a:p>
        </p:txBody>
      </p:sp>
      <p:sp>
        <p:nvSpPr>
          <p:cNvPr id="11" name="文本框 10"/>
          <p:cNvSpPr txBox="1"/>
          <p:nvPr/>
        </p:nvSpPr>
        <p:spPr>
          <a:xfrm>
            <a:off x="5600883" y="3191520"/>
            <a:ext cx="1132001" cy="646331"/>
          </a:xfrm>
          <a:prstGeom prst="rect">
            <a:avLst/>
          </a:prstGeom>
          <a:noFill/>
        </p:spPr>
        <p:txBody>
          <a:bodyPr wrap="square" rtlCol="0">
            <a:spAutoFit/>
          </a:bodyPr>
          <a:lstStyle/>
          <a:p>
            <a:r>
              <a:rPr lang="en-US" altLang="zh-CN" b="1">
                <a:solidFill>
                  <a:srgbClr val="FFCC00"/>
                </a:solidFill>
              </a:rPr>
              <a:t>Hills k/d</a:t>
            </a:r>
            <a:endParaRPr lang="zh-CN" altLang="en-US" b="1">
              <a:solidFill>
                <a:srgbClr val="FFCC00"/>
              </a:solidFill>
            </a:endParaRPr>
          </a:p>
          <a:p>
            <a:endParaRPr lang="zh-CN" altLang="en-US">
              <a:solidFill>
                <a:srgbClr val="FFCC00"/>
              </a:solidFill>
            </a:endParaRPr>
          </a:p>
        </p:txBody>
      </p:sp>
      <p:sp>
        <p:nvSpPr>
          <p:cNvPr id="13" name="文本框 12"/>
          <p:cNvSpPr txBox="1"/>
          <p:nvPr/>
        </p:nvSpPr>
        <p:spPr>
          <a:xfrm>
            <a:off x="980217" y="3922294"/>
            <a:ext cx="1152128" cy="338554"/>
          </a:xfrm>
          <a:prstGeom prst="rect">
            <a:avLst/>
          </a:prstGeom>
          <a:noFill/>
        </p:spPr>
        <p:txBody>
          <a:bodyPr wrap="square" rtlCol="0">
            <a:spAutoFit/>
          </a:bodyPr>
          <a:lstStyle/>
          <a:p>
            <a:r>
              <a:rPr lang="zh-CN" altLang="en-US" sz="1600">
                <a:solidFill>
                  <a:srgbClr val="FFCC00"/>
                </a:solidFill>
                <a:latin typeface="微软雅黑" panose="020B0503020204020204" pitchFamily="34" charset="-122"/>
                <a:ea typeface="微软雅黑" panose="020B0503020204020204" pitchFamily="34" charset="-122"/>
              </a:rPr>
              <a:t>蛋白质</a:t>
            </a:r>
          </a:p>
        </p:txBody>
      </p:sp>
      <p:sp>
        <p:nvSpPr>
          <p:cNvPr id="15" name="文本框 14"/>
          <p:cNvSpPr txBox="1"/>
          <p:nvPr/>
        </p:nvSpPr>
        <p:spPr>
          <a:xfrm>
            <a:off x="1177865" y="4450177"/>
            <a:ext cx="1152128" cy="338554"/>
          </a:xfrm>
          <a:prstGeom prst="rect">
            <a:avLst/>
          </a:prstGeom>
          <a:noFill/>
        </p:spPr>
        <p:txBody>
          <a:bodyPr wrap="square" rtlCol="0">
            <a:spAutoFit/>
          </a:bodyPr>
          <a:lstStyle/>
          <a:p>
            <a:r>
              <a:rPr lang="zh-CN" altLang="en-US" sz="1600">
                <a:solidFill>
                  <a:srgbClr val="FFCC00"/>
                </a:solidFill>
                <a:latin typeface="微软雅黑" panose="020B0503020204020204" pitchFamily="34" charset="-122"/>
                <a:ea typeface="微软雅黑" panose="020B0503020204020204" pitchFamily="34" charset="-122"/>
              </a:rPr>
              <a:t>纤维</a:t>
            </a:r>
          </a:p>
        </p:txBody>
      </p:sp>
      <p:sp>
        <p:nvSpPr>
          <p:cNvPr id="16" name="文本框 15"/>
          <p:cNvSpPr txBox="1"/>
          <p:nvPr/>
        </p:nvSpPr>
        <p:spPr>
          <a:xfrm>
            <a:off x="1370176" y="5293799"/>
            <a:ext cx="1152128" cy="338554"/>
          </a:xfrm>
          <a:prstGeom prst="rect">
            <a:avLst/>
          </a:prstGeom>
          <a:noFill/>
        </p:spPr>
        <p:txBody>
          <a:bodyPr wrap="square" rtlCol="0">
            <a:spAutoFit/>
          </a:bodyPr>
          <a:lstStyle/>
          <a:p>
            <a:r>
              <a:rPr lang="zh-CN" altLang="en-US" sz="1600">
                <a:solidFill>
                  <a:srgbClr val="FFCC00"/>
                </a:solidFill>
                <a:latin typeface="微软雅黑" panose="020B0503020204020204" pitchFamily="34" charset="-122"/>
                <a:ea typeface="微软雅黑" panose="020B0503020204020204" pitchFamily="34" charset="-122"/>
              </a:rPr>
              <a:t>磷</a:t>
            </a:r>
          </a:p>
        </p:txBody>
      </p:sp>
      <p:sp>
        <p:nvSpPr>
          <p:cNvPr id="18" name="文本框 17"/>
          <p:cNvSpPr txBox="1"/>
          <p:nvPr/>
        </p:nvSpPr>
        <p:spPr>
          <a:xfrm>
            <a:off x="1363615" y="5558828"/>
            <a:ext cx="1152128" cy="338554"/>
          </a:xfrm>
          <a:prstGeom prst="rect">
            <a:avLst/>
          </a:prstGeom>
          <a:noFill/>
        </p:spPr>
        <p:txBody>
          <a:bodyPr wrap="square" rtlCol="0">
            <a:spAutoFit/>
          </a:bodyPr>
          <a:lstStyle/>
          <a:p>
            <a:r>
              <a:rPr lang="zh-CN" altLang="en-US" sz="1600">
                <a:solidFill>
                  <a:srgbClr val="FFCC00"/>
                </a:solidFill>
                <a:latin typeface="微软雅黑" panose="020B0503020204020204" pitchFamily="34" charset="-122"/>
                <a:ea typeface="微软雅黑" panose="020B0503020204020204" pitchFamily="34" charset="-122"/>
              </a:rPr>
              <a:t>钠</a:t>
            </a:r>
          </a:p>
        </p:txBody>
      </p:sp>
      <p:sp>
        <p:nvSpPr>
          <p:cNvPr id="19" name="文本框 18"/>
          <p:cNvSpPr txBox="1"/>
          <p:nvPr/>
        </p:nvSpPr>
        <p:spPr>
          <a:xfrm>
            <a:off x="1363615" y="5860846"/>
            <a:ext cx="1152128" cy="338554"/>
          </a:xfrm>
          <a:prstGeom prst="rect">
            <a:avLst/>
          </a:prstGeom>
          <a:noFill/>
        </p:spPr>
        <p:txBody>
          <a:bodyPr wrap="square" rtlCol="0">
            <a:spAutoFit/>
          </a:bodyPr>
          <a:lstStyle/>
          <a:p>
            <a:r>
              <a:rPr lang="zh-CN" altLang="en-US" sz="1600">
                <a:solidFill>
                  <a:srgbClr val="FFCC00"/>
                </a:solidFill>
                <a:latin typeface="微软雅黑" panose="020B0503020204020204" pitchFamily="34" charset="-122"/>
                <a:ea typeface="微软雅黑" panose="020B0503020204020204" pitchFamily="34" charset="-122"/>
              </a:rPr>
              <a:t>钾</a:t>
            </a:r>
          </a:p>
        </p:txBody>
      </p:sp>
      <p:pic>
        <p:nvPicPr>
          <p:cNvPr id="182274" name="Picture 1" descr="1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257300" cy="1257300"/>
          </a:xfrm>
          <a:prstGeom prst="rect">
            <a:avLst/>
          </a:prstGeom>
          <a:noFill/>
          <a:extLst>
            <a:ext uri="{909E8E84-426E-40DD-AFC4-6F175D3DCCD1}">
              <a14:hiddenFill xmlns:a14="http://schemas.microsoft.com/office/drawing/2010/main">
                <a:solidFill>
                  <a:srgbClr val="FFFFFF"/>
                </a:solidFill>
              </a14:hiddenFill>
            </a:ext>
          </a:extLst>
        </p:spPr>
      </p:pic>
      <p:pic>
        <p:nvPicPr>
          <p:cNvPr id="182275" name="Picture 3" descr="1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257300" cy="1257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38936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17" name="组合 16">
            <a:extLst/>
          </p:cNvPr>
          <p:cNvGrpSpPr/>
          <p:nvPr/>
        </p:nvGrpSpPr>
        <p:grpSpPr>
          <a:xfrm>
            <a:off x="4866703" y="715553"/>
            <a:ext cx="7320137" cy="1011161"/>
            <a:chOff x="8112223" y="355398"/>
            <a:chExt cx="4194115" cy="1011161"/>
          </a:xfrm>
          <a:effectLst>
            <a:outerShdw blurRad="50800" dist="38100" dir="5400000" algn="t" rotWithShape="0">
              <a:prstClr val="black">
                <a:alpha val="40000"/>
              </a:prstClr>
            </a:outerShdw>
          </a:effectLst>
        </p:grpSpPr>
        <p:sp>
          <p:nvSpPr>
            <p:cNvPr id="4"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sp>
          <p:nvSpPr>
            <p:cNvPr id="7" name="文本框 14">
              <a:extLst/>
            </p:cNvPr>
            <p:cNvSpPr txBox="1">
              <a:spLocks noChangeArrowheads="1"/>
            </p:cNvSpPr>
            <p:nvPr/>
          </p:nvSpPr>
          <p:spPr bwMode="auto">
            <a:xfrm>
              <a:off x="8410186" y="355398"/>
              <a:ext cx="3506879" cy="825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3600" b="1">
                  <a:solidFill>
                    <a:schemeClr val="bg1"/>
                  </a:solidFill>
                  <a:effectLst>
                    <a:outerShdw blurRad="38100" dist="38100" dir="2700000" algn="tl">
                      <a:srgbClr val="000000">
                        <a:alpha val="43137"/>
                      </a:srgbClr>
                    </a:outerShdw>
                  </a:effectLst>
                  <a:latin typeface="+mj-ea"/>
                  <a:ea typeface="+mj-ea"/>
                  <a:cs typeface="+mn-ea"/>
                  <a:sym typeface="+mn-lt"/>
                </a:rPr>
                <a:t>公众号留言提问：</a:t>
              </a:r>
              <a:endParaRPr lang="en-US" altLang="zh-CN" sz="12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grpSp>
      <p:sp>
        <p:nvSpPr>
          <p:cNvPr id="10" name="流程图: 过程 9">
            <a:extLst/>
          </p:cNvPr>
          <p:cNvSpPr/>
          <p:nvPr/>
        </p:nvSpPr>
        <p:spPr bwMode="auto">
          <a:xfrm>
            <a:off x="833722" y="1875107"/>
            <a:ext cx="10596563" cy="3786142"/>
          </a:xfrm>
          <a:prstGeom prst="flowChartProcess">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numCol="3" anchor="ctr"/>
          <a:lstStyle/>
          <a:p>
            <a:pPr eaLnBrk="1" fontAlgn="auto" hangingPunct="1">
              <a:spcBef>
                <a:spcPts val="0"/>
              </a:spcBef>
              <a:spcAft>
                <a:spcPts val="0"/>
              </a:spcAft>
              <a:defRPr/>
            </a:pPr>
            <a:endParaRPr lang="zh-CN" altLang="en-US" kern="0">
              <a:solidFill>
                <a:sysClr val="windowText" lastClr="000000"/>
              </a:solidFill>
              <a:cs typeface="+mn-ea"/>
              <a:sym typeface="+mn-lt"/>
            </a:endParaRPr>
          </a:p>
        </p:txBody>
      </p:sp>
      <p:sp>
        <p:nvSpPr>
          <p:cNvPr id="5" name="文本框 4"/>
          <p:cNvSpPr txBox="1"/>
          <p:nvPr/>
        </p:nvSpPr>
        <p:spPr>
          <a:xfrm>
            <a:off x="1139009" y="1743997"/>
            <a:ext cx="9421487" cy="1077218"/>
          </a:xfrm>
          <a:prstGeom prst="rect">
            <a:avLst/>
          </a:prstGeom>
          <a:noFill/>
        </p:spPr>
        <p:txBody>
          <a:bodyPr wrap="square" rtlCol="0">
            <a:spAutoFit/>
          </a:bodyPr>
          <a:lstStyle/>
          <a:p>
            <a:endParaRPr lang="en-US" altLang="zh-CN" sz="2400" b="1">
              <a:solidFill>
                <a:schemeClr val="bg1">
                  <a:lumMod val="95000"/>
                </a:schemeClr>
              </a:solidFill>
              <a:effectLst>
                <a:outerShdw blurRad="38100" dist="38100" dir="2700000" algn="tl">
                  <a:srgbClr val="000000">
                    <a:alpha val="43137"/>
                  </a:srgbClr>
                </a:outerShdw>
              </a:effectLst>
              <a:latin typeface="+mj-ea"/>
              <a:ea typeface="+mj-ea"/>
            </a:endParaRPr>
          </a:p>
          <a:p>
            <a:r>
              <a:rPr lang="en-US" altLang="zh-CN" sz="2000" b="1">
                <a:solidFill>
                  <a:schemeClr val="bg1">
                    <a:lumMod val="95000"/>
                  </a:schemeClr>
                </a:solidFill>
                <a:latin typeface="+mj-ea"/>
                <a:ea typeface="+mj-ea"/>
              </a:rPr>
              <a:t>*Stella</a:t>
            </a:r>
            <a:r>
              <a:rPr lang="zh-CN" altLang="en-US" sz="2000">
                <a:solidFill>
                  <a:schemeClr val="bg1">
                    <a:lumMod val="95000"/>
                  </a:schemeClr>
                </a:solidFill>
                <a:latin typeface="+mj-ea"/>
                <a:ea typeface="+mj-ea"/>
              </a:rPr>
              <a:t>：</a:t>
            </a:r>
            <a:r>
              <a:rPr lang="zh-TW" altLang="en-US" sz="2000">
                <a:solidFill>
                  <a:schemeClr val="bg1">
                    <a:lumMod val="95000"/>
                  </a:schemeClr>
                </a:solidFill>
                <a:latin typeface="+mj-ea"/>
                <a:ea typeface="+mj-ea"/>
              </a:rPr>
              <a:t>現在主流診治就是不停追</a:t>
            </a:r>
            <a:r>
              <a:rPr lang="en-US" altLang="zh-TW" sz="2000">
                <a:solidFill>
                  <a:schemeClr val="bg1">
                    <a:lumMod val="95000"/>
                  </a:schemeClr>
                </a:solidFill>
                <a:latin typeface="+mj-ea"/>
                <a:ea typeface="+mj-ea"/>
              </a:rPr>
              <a:t>crea</a:t>
            </a:r>
            <a:r>
              <a:rPr lang="zh-TW" altLang="en-US" sz="2000">
                <a:solidFill>
                  <a:schemeClr val="bg1">
                    <a:lumMod val="95000"/>
                  </a:schemeClr>
                </a:solidFill>
                <a:latin typeface="+mj-ea"/>
                <a:ea typeface="+mj-ea"/>
              </a:rPr>
              <a:t>跟</a:t>
            </a:r>
            <a:r>
              <a:rPr lang="en-US" altLang="zh-TW" sz="2000">
                <a:solidFill>
                  <a:schemeClr val="bg1">
                    <a:lumMod val="95000"/>
                  </a:schemeClr>
                </a:solidFill>
                <a:latin typeface="+mj-ea"/>
                <a:ea typeface="+mj-ea"/>
              </a:rPr>
              <a:t>bun</a:t>
            </a:r>
            <a:r>
              <a:rPr lang="zh-TW" altLang="en-US" sz="2000">
                <a:solidFill>
                  <a:schemeClr val="bg1">
                    <a:lumMod val="95000"/>
                  </a:schemeClr>
                </a:solidFill>
                <a:latin typeface="+mj-ea"/>
                <a:ea typeface="+mj-ea"/>
              </a:rPr>
              <a:t>的指標，如果這</a:t>
            </a:r>
            <a:r>
              <a:rPr lang="en-US" altLang="zh-TW" sz="2000">
                <a:solidFill>
                  <a:schemeClr val="bg1">
                    <a:lumMod val="95000"/>
                  </a:schemeClr>
                </a:solidFill>
                <a:latin typeface="+mj-ea"/>
                <a:ea typeface="+mj-ea"/>
              </a:rPr>
              <a:t>2</a:t>
            </a:r>
            <a:r>
              <a:rPr lang="zh-TW" altLang="en-US" sz="2000">
                <a:solidFill>
                  <a:schemeClr val="bg1">
                    <a:lumMod val="95000"/>
                  </a:schemeClr>
                </a:solidFill>
                <a:latin typeface="+mj-ea"/>
                <a:ea typeface="+mj-ea"/>
              </a:rPr>
              <a:t>個數字都能維持不錯，還從哪些方面觀察慢腎病有沒有惡化？</a:t>
            </a:r>
            <a:endParaRPr lang="en-US" altLang="zh-CN" b="1">
              <a:solidFill>
                <a:schemeClr val="bg1">
                  <a:lumMod val="95000"/>
                </a:schemeClr>
              </a:solidFill>
              <a:effectLst>
                <a:outerShdw blurRad="38100" dist="38100" dir="2700000" algn="tl">
                  <a:srgbClr val="000000">
                    <a:alpha val="43137"/>
                  </a:srgbClr>
                </a:outerShdw>
              </a:effectLst>
              <a:latin typeface="+mj-ea"/>
              <a:ea typeface="+mj-ea"/>
            </a:endParaRPr>
          </a:p>
        </p:txBody>
      </p:sp>
      <p:pic>
        <p:nvPicPr>
          <p:cNvPr id="181250" name="Picture 1" descr="1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57300" cy="1257300"/>
          </a:xfrm>
          <a:prstGeom prst="rect">
            <a:avLst/>
          </a:prstGeom>
          <a:noFill/>
          <a:extLst>
            <a:ext uri="{909E8E84-426E-40DD-AFC4-6F175D3DCCD1}">
              <a14:hiddenFill xmlns:a14="http://schemas.microsoft.com/office/drawing/2010/main">
                <a:solidFill>
                  <a:srgbClr val="FFFFFF"/>
                </a:solidFill>
              </a14:hiddenFill>
            </a:ext>
          </a:extLst>
        </p:spPr>
      </p:pic>
      <p:pic>
        <p:nvPicPr>
          <p:cNvPr id="181251" name="Picture 3" descr="1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57300" cy="1257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95200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6" name="箭头: 五边形 6">
            <a:extLst/>
          </p:cNvPr>
          <p:cNvSpPr/>
          <p:nvPr/>
        </p:nvSpPr>
        <p:spPr>
          <a:xfrm rot="10800000">
            <a:off x="4583113" y="2017713"/>
            <a:ext cx="7608887" cy="2822575"/>
          </a:xfrm>
          <a:prstGeom prst="homePlate">
            <a:avLst>
              <a:gd name="adj" fmla="val 32692"/>
            </a:avLst>
          </a:prstGeom>
          <a:solidFill>
            <a:srgbClr val="FFFF00">
              <a:alpha val="6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sp>
        <p:nvSpPr>
          <p:cNvPr id="7" name="箭头: 五边形 6">
            <a:extLst/>
          </p:cNvPr>
          <p:cNvSpPr/>
          <p:nvPr/>
        </p:nvSpPr>
        <p:spPr>
          <a:xfrm rot="10800000">
            <a:off x="5699125" y="2017713"/>
            <a:ext cx="6492875" cy="282257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sp>
        <p:nvSpPr>
          <p:cNvPr id="8" name="箭头: 五边形 6">
            <a:extLst/>
          </p:cNvPr>
          <p:cNvSpPr/>
          <p:nvPr/>
        </p:nvSpPr>
        <p:spPr>
          <a:xfrm rot="10800000">
            <a:off x="6858000" y="2017713"/>
            <a:ext cx="5334000" cy="2822575"/>
          </a:xfrm>
          <a:prstGeom prst="homePlate">
            <a:avLst>
              <a:gd name="adj" fmla="val 32692"/>
            </a:avLst>
          </a:prstGeom>
          <a:solidFill>
            <a:srgbClr val="FFFF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sp>
        <p:nvSpPr>
          <p:cNvPr id="31749" name="矩形 8">
            <a:extLst/>
          </p:cNvPr>
          <p:cNvSpPr>
            <a:spLocks noChangeArrowheads="1"/>
          </p:cNvSpPr>
          <p:nvPr/>
        </p:nvSpPr>
        <p:spPr bwMode="auto">
          <a:xfrm flipH="1">
            <a:off x="7208020" y="2853244"/>
            <a:ext cx="5172122"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defRPr/>
            </a:pPr>
            <a:r>
              <a:rPr lang="en-US" altLang="zh-CN" sz="6000">
                <a:latin typeface="+mn-lt"/>
                <a:ea typeface="+mn-ea"/>
                <a:cs typeface="+mn-ea"/>
                <a:sym typeface="+mn-lt"/>
              </a:rPr>
              <a:t>PART THREE </a:t>
            </a:r>
          </a:p>
        </p:txBody>
      </p:sp>
      <p:sp>
        <p:nvSpPr>
          <p:cNvPr id="31750" name="文本框 9">
            <a:extLst/>
          </p:cNvPr>
          <p:cNvSpPr txBox="1">
            <a:spLocks noChangeArrowheads="1"/>
          </p:cNvSpPr>
          <p:nvPr/>
        </p:nvSpPr>
        <p:spPr bwMode="auto">
          <a:xfrm flipH="1">
            <a:off x="7797800" y="3733609"/>
            <a:ext cx="4038600" cy="871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4000" b="1">
                <a:solidFill>
                  <a:srgbClr val="010101"/>
                </a:solidFill>
                <a:cs typeface="+mn-ea"/>
                <a:sym typeface="+mn-lt"/>
              </a:rPr>
              <a:t>猫</a:t>
            </a:r>
            <a:r>
              <a:rPr lang="zh-CN" altLang="en-US" b="1">
                <a:solidFill>
                  <a:srgbClr val="010101"/>
                </a:solidFill>
                <a:latin typeface="+mn-lt"/>
                <a:ea typeface="+mn-ea"/>
                <a:cs typeface="+mn-ea"/>
                <a:sym typeface="+mn-lt"/>
              </a:rPr>
              <a:t>慢性肾病的治疗</a:t>
            </a:r>
            <a:endParaRPr lang="en-US" altLang="zh-CN" b="1">
              <a:solidFill>
                <a:srgbClr val="010101"/>
              </a:solidFill>
              <a:latin typeface="+mn-lt"/>
              <a:ea typeface="+mn-ea"/>
              <a:cs typeface="+mn-ea"/>
              <a:sym typeface="+mn-lt"/>
            </a:endParaRPr>
          </a:p>
        </p:txBody>
      </p:sp>
      <p:cxnSp>
        <p:nvCxnSpPr>
          <p:cNvPr id="11" name="直接连接符 10">
            <a:extLst/>
          </p:cNvPr>
          <p:cNvCxnSpPr>
            <a:cxnSpLocks/>
          </p:cNvCxnSpPr>
          <p:nvPr/>
        </p:nvCxnSpPr>
        <p:spPr>
          <a:xfrm flipH="1">
            <a:off x="7751763" y="3765550"/>
            <a:ext cx="408463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7F5140BB-DA83-46E6-BAB7-6C6A0E88915D}"/>
              </a:ext>
            </a:extLst>
          </p:cNvPr>
          <p:cNvSpPr txBox="1"/>
          <p:nvPr/>
        </p:nvSpPr>
        <p:spPr>
          <a:xfrm>
            <a:off x="773026" y="188640"/>
            <a:ext cx="3538216" cy="7540526"/>
          </a:xfrm>
          <a:prstGeom prst="rect">
            <a:avLst/>
          </a:prstGeom>
          <a:noFill/>
        </p:spPr>
        <p:txBody>
          <a:bodyPr wrap="square" rtlCol="0">
            <a:spAutoFit/>
          </a:bodyPr>
          <a:lstStyle/>
          <a:p>
            <a:r>
              <a:rPr lang="zh-CN" altLang="en-US" sz="2400" b="1">
                <a:solidFill>
                  <a:schemeClr val="bg1"/>
                </a:solidFill>
                <a:latin typeface="+mj-ea"/>
                <a:ea typeface="+mj-ea"/>
              </a:rPr>
              <a:t>二期到三期</a:t>
            </a:r>
            <a:endParaRPr lang="en-US" altLang="zh-CN" sz="2400" b="1">
              <a:solidFill>
                <a:schemeClr val="bg1"/>
              </a:solidFill>
              <a:latin typeface="+mj-ea"/>
              <a:ea typeface="+mj-ea"/>
            </a:endParaRPr>
          </a:p>
          <a:p>
            <a:pPr marL="285750" indent="-285750">
              <a:buFont typeface="Wingdings" panose="05000000000000000000" pitchFamily="2" charset="2"/>
              <a:buChar char="l"/>
            </a:pPr>
            <a:r>
              <a:rPr lang="zh-CN" altLang="en-US" b="1">
                <a:solidFill>
                  <a:schemeClr val="bg1"/>
                </a:solidFill>
                <a:latin typeface="宋体" panose="02010600030101010101" pitchFamily="2" charset="-122"/>
              </a:rPr>
              <a:t>高血磷</a:t>
            </a:r>
            <a:endParaRPr lang="en-US" altLang="zh-CN" b="1">
              <a:solidFill>
                <a:schemeClr val="bg1"/>
              </a:solidFill>
              <a:latin typeface="宋体" panose="02010600030101010101" pitchFamily="2" charset="-122"/>
            </a:endParaRPr>
          </a:p>
          <a:p>
            <a:pPr marL="742950" lvl="1" indent="-285750">
              <a:buFont typeface="Arial" panose="020B0604020202020204" pitchFamily="34" charset="0"/>
              <a:buChar char="•"/>
            </a:pPr>
            <a:r>
              <a:rPr lang="zh-CN" altLang="en-US" b="1">
                <a:solidFill>
                  <a:schemeClr val="bg1"/>
                </a:solidFill>
                <a:latin typeface="宋体" panose="02010600030101010101" pitchFamily="2" charset="-122"/>
              </a:rPr>
              <a:t>低磷饮食与磷结合剂选择</a:t>
            </a:r>
            <a:endParaRPr lang="en-US" altLang="zh-CN" b="1">
              <a:solidFill>
                <a:schemeClr val="bg1"/>
              </a:solidFill>
              <a:latin typeface="宋体" panose="02010600030101010101" pitchFamily="2" charset="-122"/>
            </a:endParaRPr>
          </a:p>
          <a:p>
            <a:pPr marL="285750" indent="-285750">
              <a:buFont typeface="Wingdings" panose="05000000000000000000" pitchFamily="2" charset="2"/>
              <a:buChar char="l"/>
            </a:pPr>
            <a:r>
              <a:rPr lang="zh-CN" altLang="en-US" b="1">
                <a:solidFill>
                  <a:schemeClr val="bg1"/>
                </a:solidFill>
                <a:latin typeface="宋体" panose="02010600030101010101" pitchFamily="2" charset="-122"/>
              </a:rPr>
              <a:t>高血钙</a:t>
            </a:r>
            <a:endParaRPr lang="en-US" altLang="zh-CN" b="1">
              <a:solidFill>
                <a:schemeClr val="bg1"/>
              </a:solidFill>
              <a:latin typeface="宋体" panose="02010600030101010101" pitchFamily="2" charset="-122"/>
            </a:endParaRPr>
          </a:p>
          <a:p>
            <a:pPr marL="285750" indent="-285750">
              <a:buFont typeface="Wingdings" panose="05000000000000000000" pitchFamily="2" charset="2"/>
              <a:buChar char="l"/>
            </a:pPr>
            <a:r>
              <a:rPr lang="zh-CN" altLang="en-US" b="1">
                <a:solidFill>
                  <a:schemeClr val="bg1"/>
                </a:solidFill>
                <a:latin typeface="宋体" panose="02010600030101010101" pitchFamily="2" charset="-122"/>
              </a:rPr>
              <a:t>蛋白尿</a:t>
            </a:r>
            <a:endParaRPr lang="en-US" altLang="zh-CN" b="1">
              <a:solidFill>
                <a:schemeClr val="bg1"/>
              </a:solidFill>
              <a:latin typeface="宋体" panose="02010600030101010101" pitchFamily="2" charset="-122"/>
            </a:endParaRPr>
          </a:p>
          <a:p>
            <a:pPr marL="742950" lvl="1" indent="-285750">
              <a:buFont typeface="Arial" panose="020B0604020202020204" pitchFamily="34" charset="0"/>
              <a:buChar char="•"/>
            </a:pPr>
            <a:r>
              <a:rPr lang="zh-CN" altLang="en-US" b="1">
                <a:solidFill>
                  <a:schemeClr val="bg1"/>
                </a:solidFill>
                <a:latin typeface="宋体" panose="02010600030101010101" pitchFamily="2" charset="-122"/>
              </a:rPr>
              <a:t>如何家庭尿检</a:t>
            </a:r>
            <a:endParaRPr lang="en-US" altLang="zh-CN" b="1">
              <a:solidFill>
                <a:schemeClr val="bg1"/>
              </a:solidFill>
              <a:latin typeface="宋体" panose="02010600030101010101" pitchFamily="2" charset="-122"/>
            </a:endParaRPr>
          </a:p>
          <a:p>
            <a:pPr marL="285750" indent="-285750">
              <a:buFont typeface="Wingdings" panose="05000000000000000000" pitchFamily="2" charset="2"/>
              <a:buChar char="l"/>
            </a:pPr>
            <a:r>
              <a:rPr lang="zh-CN" altLang="en-US" b="1">
                <a:solidFill>
                  <a:schemeClr val="bg1"/>
                </a:solidFill>
                <a:latin typeface="宋体" panose="02010600030101010101" pitchFamily="2" charset="-122"/>
              </a:rPr>
              <a:t>高血压</a:t>
            </a:r>
            <a:endParaRPr lang="en-US" altLang="zh-CN" b="1">
              <a:solidFill>
                <a:schemeClr val="bg1"/>
              </a:solidFill>
              <a:latin typeface="宋体" panose="02010600030101010101" pitchFamily="2" charset="-122"/>
            </a:endParaRPr>
          </a:p>
          <a:p>
            <a:pPr marL="742950" lvl="1" indent="-285750">
              <a:buFont typeface="Arial" panose="020B0604020202020204" pitchFamily="34" charset="0"/>
              <a:buChar char="•"/>
            </a:pPr>
            <a:r>
              <a:rPr lang="zh-CN" altLang="en-US" b="1">
                <a:solidFill>
                  <a:schemeClr val="bg1"/>
                </a:solidFill>
                <a:latin typeface="宋体" panose="02010600030101010101" pitchFamily="2" charset="-122"/>
              </a:rPr>
              <a:t>高血压的表现</a:t>
            </a:r>
            <a:endParaRPr lang="en-US" altLang="zh-CN" b="1">
              <a:solidFill>
                <a:schemeClr val="bg1"/>
              </a:solidFill>
              <a:latin typeface="宋体" panose="02010600030101010101" pitchFamily="2" charset="-122"/>
            </a:endParaRPr>
          </a:p>
          <a:p>
            <a:pPr marL="285750" indent="-285750">
              <a:buFont typeface="Wingdings" panose="05000000000000000000" pitchFamily="2" charset="2"/>
              <a:buChar char="l"/>
            </a:pPr>
            <a:r>
              <a:rPr lang="zh-CN" altLang="en-US" b="1">
                <a:solidFill>
                  <a:schemeClr val="bg1"/>
                </a:solidFill>
                <a:latin typeface="宋体" panose="02010600030101010101" pitchFamily="2" charset="-122"/>
              </a:rPr>
              <a:t>低血钾治疗</a:t>
            </a:r>
            <a:endParaRPr lang="en-US" altLang="zh-CN" b="1">
              <a:solidFill>
                <a:schemeClr val="bg1"/>
              </a:solidFill>
              <a:latin typeface="宋体" panose="02010600030101010101" pitchFamily="2" charset="-122"/>
            </a:endParaRPr>
          </a:p>
          <a:p>
            <a:pPr marL="742950" lvl="1" indent="-285750">
              <a:buFont typeface="Arial" panose="020B0604020202020204" pitchFamily="34" charset="0"/>
              <a:buChar char="•"/>
            </a:pPr>
            <a:r>
              <a:rPr lang="zh-CN" altLang="en-US" b="1">
                <a:solidFill>
                  <a:schemeClr val="bg1"/>
                </a:solidFill>
                <a:latin typeface="宋体" panose="02010600030101010101" pitchFamily="2" charset="-122"/>
              </a:rPr>
              <a:t>低血钾的表现</a:t>
            </a:r>
            <a:endParaRPr lang="en-US" altLang="zh-CN" b="1">
              <a:solidFill>
                <a:schemeClr val="bg1"/>
              </a:solidFill>
              <a:latin typeface="宋体" panose="02010600030101010101" pitchFamily="2" charset="-122"/>
            </a:endParaRPr>
          </a:p>
          <a:p>
            <a:pPr marL="285750" indent="-285750">
              <a:buFont typeface="Wingdings" panose="05000000000000000000" pitchFamily="2" charset="2"/>
              <a:buChar char="l"/>
            </a:pPr>
            <a:r>
              <a:rPr lang="zh-CN" altLang="en-US" b="1">
                <a:solidFill>
                  <a:schemeClr val="bg1"/>
                </a:solidFill>
                <a:latin typeface="宋体" panose="02010600030101010101" pitchFamily="2" charset="-122"/>
              </a:rPr>
              <a:t>维生素</a:t>
            </a:r>
            <a:r>
              <a:rPr lang="en-US" altLang="zh-CN" b="1">
                <a:solidFill>
                  <a:schemeClr val="bg1"/>
                </a:solidFill>
                <a:latin typeface="宋体" panose="02010600030101010101" pitchFamily="2" charset="-122"/>
              </a:rPr>
              <a:t>B</a:t>
            </a:r>
            <a:r>
              <a:rPr lang="zh-CN" altLang="en-US" b="1">
                <a:solidFill>
                  <a:schemeClr val="bg1"/>
                </a:solidFill>
                <a:latin typeface="宋体" panose="02010600030101010101" pitchFamily="2" charset="-122"/>
              </a:rPr>
              <a:t>族补充</a:t>
            </a:r>
            <a:endParaRPr lang="en-US" altLang="zh-CN" b="1">
              <a:solidFill>
                <a:schemeClr val="bg1"/>
              </a:solidFill>
              <a:latin typeface="宋体" panose="02010600030101010101" pitchFamily="2" charset="-122"/>
            </a:endParaRPr>
          </a:p>
          <a:p>
            <a:pPr lvl="1"/>
            <a:endParaRPr lang="en-US" altLang="zh-CN" b="1">
              <a:solidFill>
                <a:schemeClr val="bg1"/>
              </a:solidFill>
              <a:latin typeface="宋体" panose="02010600030101010101" pitchFamily="2" charset="-122"/>
            </a:endParaRPr>
          </a:p>
          <a:p>
            <a:r>
              <a:rPr lang="zh-CN" altLang="en-US" sz="2400" b="1">
                <a:solidFill>
                  <a:schemeClr val="bg1"/>
                </a:solidFill>
                <a:latin typeface="+mj-ea"/>
                <a:ea typeface="+mj-ea"/>
              </a:rPr>
              <a:t>三期及四期</a:t>
            </a:r>
            <a:endParaRPr lang="en-US" altLang="zh-CN" sz="2400" b="1">
              <a:solidFill>
                <a:schemeClr val="bg1"/>
              </a:solidFill>
              <a:latin typeface="+mj-ea"/>
              <a:ea typeface="+mj-ea"/>
            </a:endParaRPr>
          </a:p>
          <a:p>
            <a:pPr marL="285750" indent="-285750">
              <a:buFont typeface="Wingdings" panose="05000000000000000000" pitchFamily="2" charset="2"/>
              <a:buChar char="l"/>
            </a:pPr>
            <a:r>
              <a:rPr lang="zh-CN" altLang="en-US" b="1">
                <a:solidFill>
                  <a:schemeClr val="bg1"/>
                </a:solidFill>
                <a:latin typeface="宋体" panose="02010600030101010101" pitchFamily="2" charset="-122"/>
              </a:rPr>
              <a:t>血液酸中毒</a:t>
            </a:r>
            <a:endParaRPr lang="en-US" altLang="zh-CN" b="1">
              <a:solidFill>
                <a:schemeClr val="bg1"/>
              </a:solidFill>
              <a:latin typeface="宋体" panose="02010600030101010101" pitchFamily="2" charset="-122"/>
            </a:endParaRPr>
          </a:p>
          <a:p>
            <a:pPr marL="342900" indent="-342900">
              <a:buFont typeface="Wingdings" panose="05000000000000000000" pitchFamily="2" charset="2"/>
              <a:buChar char="l"/>
            </a:pPr>
            <a:r>
              <a:rPr lang="zh-CN" altLang="en-US" b="1">
                <a:solidFill>
                  <a:schemeClr val="bg1"/>
                </a:solidFill>
                <a:latin typeface="宋体" panose="02010600030101010101" pitchFamily="2" charset="-122"/>
              </a:rPr>
              <a:t>口服毒素调节</a:t>
            </a:r>
            <a:endParaRPr lang="en-US" altLang="zh-CN" b="1">
              <a:solidFill>
                <a:schemeClr val="bg1"/>
              </a:solidFill>
              <a:latin typeface="宋体" panose="02010600030101010101" pitchFamily="2" charset="-122"/>
            </a:endParaRPr>
          </a:p>
          <a:p>
            <a:pPr marL="742950" lvl="1" indent="-285750">
              <a:buFont typeface="Arial" panose="020B0604020202020204" pitchFamily="34" charset="0"/>
              <a:buChar char="•"/>
            </a:pPr>
            <a:r>
              <a:rPr lang="zh-CN" altLang="en-US" b="1">
                <a:latin typeface="宋体" panose="02010600030101010101" pitchFamily="2" charset="-122"/>
              </a:rPr>
              <a:t>口服吸收剂</a:t>
            </a:r>
            <a:endParaRPr lang="en-US" altLang="zh-CN" b="1">
              <a:latin typeface="宋体" panose="02010600030101010101" pitchFamily="2" charset="-122"/>
            </a:endParaRPr>
          </a:p>
          <a:p>
            <a:pPr marL="742950" lvl="1" indent="-285750">
              <a:buFont typeface="Arial" panose="020B0604020202020204" pitchFamily="34" charset="0"/>
              <a:buChar char="•"/>
            </a:pPr>
            <a:r>
              <a:rPr lang="zh-CN" altLang="en-US" b="1">
                <a:latin typeface="宋体" panose="02010600030101010101" pitchFamily="2" charset="-122"/>
              </a:rPr>
              <a:t>“口服透析”</a:t>
            </a:r>
            <a:endParaRPr lang="en-US" altLang="zh-CN" b="1">
              <a:latin typeface="宋体" panose="02010600030101010101" pitchFamily="2" charset="-122"/>
            </a:endParaRPr>
          </a:p>
          <a:p>
            <a:pPr marL="285750" indent="-285750">
              <a:buFont typeface="Wingdings" panose="05000000000000000000" pitchFamily="2" charset="2"/>
              <a:buChar char="l"/>
            </a:pPr>
            <a:r>
              <a:rPr lang="zh-CN" altLang="en-US" b="1">
                <a:solidFill>
                  <a:schemeClr val="tx1">
                    <a:lumMod val="95000"/>
                    <a:lumOff val="5000"/>
                  </a:schemeClr>
                </a:solidFill>
                <a:latin typeface="宋体" panose="02010600030101010101" pitchFamily="2" charset="-122"/>
              </a:rPr>
              <a:t>贫血治疗</a:t>
            </a:r>
            <a:endParaRPr lang="en-US" altLang="zh-CN" b="1">
              <a:solidFill>
                <a:schemeClr val="tx1">
                  <a:lumMod val="95000"/>
                  <a:lumOff val="5000"/>
                </a:schemeClr>
              </a:solidFill>
              <a:latin typeface="宋体" panose="02010600030101010101" pitchFamily="2" charset="-122"/>
            </a:endParaRPr>
          </a:p>
          <a:p>
            <a:pPr marL="285750" indent="-285750">
              <a:buFont typeface="Wingdings" panose="05000000000000000000" pitchFamily="2" charset="2"/>
              <a:buChar char="l"/>
            </a:pPr>
            <a:r>
              <a:rPr lang="zh-CN" altLang="en-US" b="1">
                <a:solidFill>
                  <a:schemeClr val="tx1">
                    <a:lumMod val="95000"/>
                    <a:lumOff val="5000"/>
                  </a:schemeClr>
                </a:solidFill>
                <a:latin typeface="宋体" panose="02010600030101010101" pitchFamily="2" charset="-122"/>
              </a:rPr>
              <a:t>皮下补液</a:t>
            </a:r>
            <a:endParaRPr lang="en-US" altLang="zh-CN" b="1">
              <a:solidFill>
                <a:schemeClr val="tx1">
                  <a:lumMod val="95000"/>
                  <a:lumOff val="5000"/>
                </a:schemeClr>
              </a:solidFill>
              <a:latin typeface="宋体" panose="02010600030101010101" pitchFamily="2" charset="-122"/>
            </a:endParaRPr>
          </a:p>
          <a:p>
            <a:pPr marL="285750" indent="-285750">
              <a:buFont typeface="Wingdings" panose="05000000000000000000" pitchFamily="2" charset="2"/>
              <a:buChar char="l"/>
            </a:pPr>
            <a:r>
              <a:rPr lang="zh-CN" altLang="en-US" b="1">
                <a:solidFill>
                  <a:schemeClr val="tx1">
                    <a:lumMod val="95000"/>
                    <a:lumOff val="5000"/>
                  </a:schemeClr>
                </a:solidFill>
                <a:latin typeface="宋体" panose="02010600030101010101" pitchFamily="2" charset="-122"/>
              </a:rPr>
              <a:t>呕吐、吐酸水</a:t>
            </a:r>
            <a:endParaRPr lang="en-US" altLang="zh-CN" b="1">
              <a:solidFill>
                <a:schemeClr val="tx1">
                  <a:lumMod val="95000"/>
                  <a:lumOff val="5000"/>
                </a:schemeClr>
              </a:solidFill>
              <a:latin typeface="宋体" panose="02010600030101010101" pitchFamily="2" charset="-122"/>
            </a:endParaRPr>
          </a:p>
          <a:p>
            <a:pPr marL="285750" indent="-285750">
              <a:buFont typeface="Wingdings" panose="05000000000000000000" pitchFamily="2" charset="2"/>
              <a:buChar char="l"/>
            </a:pPr>
            <a:r>
              <a:rPr lang="zh-CN" altLang="en-US" b="1">
                <a:solidFill>
                  <a:schemeClr val="tx1">
                    <a:lumMod val="95000"/>
                    <a:lumOff val="5000"/>
                  </a:schemeClr>
                </a:solidFill>
                <a:latin typeface="宋体" panose="02010600030101010101" pitchFamily="2" charset="-122"/>
              </a:rPr>
              <a:t>便秘与腹泻</a:t>
            </a:r>
            <a:endParaRPr lang="en-US" altLang="zh-CN" b="1">
              <a:solidFill>
                <a:schemeClr val="tx1">
                  <a:lumMod val="95000"/>
                  <a:lumOff val="5000"/>
                </a:schemeClr>
              </a:solidFill>
              <a:latin typeface="宋体" panose="02010600030101010101" pitchFamily="2" charset="-122"/>
            </a:endParaRPr>
          </a:p>
          <a:p>
            <a:pPr marL="285750" indent="-285750">
              <a:buFont typeface="Wingdings" panose="05000000000000000000" pitchFamily="2" charset="2"/>
              <a:buChar char="l"/>
            </a:pPr>
            <a:r>
              <a:rPr lang="zh-CN" altLang="en-US" b="1">
                <a:solidFill>
                  <a:schemeClr val="tx1">
                    <a:lumMod val="95000"/>
                    <a:lumOff val="5000"/>
                  </a:schemeClr>
                </a:solidFill>
                <a:latin typeface="宋体" panose="02010600030101010101" pitchFamily="2" charset="-122"/>
              </a:rPr>
              <a:t>食欲问题</a:t>
            </a:r>
            <a:endParaRPr lang="en-US" altLang="zh-CN" b="1">
              <a:solidFill>
                <a:schemeClr val="tx1">
                  <a:lumMod val="95000"/>
                  <a:lumOff val="5000"/>
                </a:schemeClr>
              </a:solidFill>
              <a:latin typeface="宋体" panose="02010600030101010101" pitchFamily="2" charset="-122"/>
            </a:endParaRPr>
          </a:p>
          <a:p>
            <a:pPr marL="285750" indent="-285750">
              <a:buFont typeface="Wingdings" panose="05000000000000000000" pitchFamily="2" charset="2"/>
              <a:buChar char="l"/>
            </a:pPr>
            <a:r>
              <a:rPr lang="zh-CN" altLang="en-US" b="1">
                <a:solidFill>
                  <a:schemeClr val="tx1">
                    <a:lumMod val="95000"/>
                    <a:lumOff val="5000"/>
                  </a:schemeClr>
                </a:solidFill>
                <a:latin typeface="宋体" panose="02010600030101010101" pitchFamily="2" charset="-122"/>
              </a:rPr>
              <a:t>透析？不透析？</a:t>
            </a:r>
            <a:endParaRPr lang="en-US" altLang="zh-CN" b="1">
              <a:solidFill>
                <a:schemeClr val="tx1">
                  <a:lumMod val="95000"/>
                  <a:lumOff val="5000"/>
                </a:schemeClr>
              </a:solidFill>
              <a:latin typeface="宋体" panose="02010600030101010101" pitchFamily="2" charset="-122"/>
            </a:endParaRPr>
          </a:p>
          <a:p>
            <a:endParaRPr lang="en-US" altLang="zh-CN" sz="2000">
              <a:solidFill>
                <a:srgbClr val="FFFF00"/>
              </a:solidFill>
              <a:latin typeface="+mn-ea"/>
              <a:ea typeface="+mn-ea"/>
            </a:endParaRPr>
          </a:p>
          <a:p>
            <a:endParaRPr lang="zh-CN" altLang="en-US" sz="2000">
              <a:solidFill>
                <a:srgbClr val="FFFF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0" name="箭头: 五边形 6">
            <a:extLst/>
          </p:cNvPr>
          <p:cNvSpPr/>
          <p:nvPr/>
        </p:nvSpPr>
        <p:spPr>
          <a:xfrm rot="10800000" flipH="1">
            <a:off x="-19068" y="697673"/>
            <a:ext cx="6600055" cy="2190208"/>
          </a:xfrm>
          <a:prstGeom prst="homePlate">
            <a:avLst>
              <a:gd name="adj" fmla="val 32692"/>
            </a:avLst>
          </a:prstGeom>
          <a:solidFill>
            <a:srgbClr val="FFFF00">
              <a:alpha val="6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sp>
        <p:nvSpPr>
          <p:cNvPr id="11" name="箭头: 五边形 6">
            <a:extLst/>
          </p:cNvPr>
          <p:cNvSpPr/>
          <p:nvPr/>
        </p:nvSpPr>
        <p:spPr>
          <a:xfrm rot="10800000" flipH="1">
            <a:off x="25968" y="678870"/>
            <a:ext cx="6214048" cy="2209010"/>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sp>
        <p:nvSpPr>
          <p:cNvPr id="12" name="箭头: 五边形 6">
            <a:extLst/>
          </p:cNvPr>
          <p:cNvSpPr/>
          <p:nvPr/>
        </p:nvSpPr>
        <p:spPr>
          <a:xfrm rot="10800000" flipH="1">
            <a:off x="0" y="692696"/>
            <a:ext cx="5879976" cy="2209010"/>
          </a:xfrm>
          <a:prstGeom prst="homePlate">
            <a:avLst>
              <a:gd name="adj" fmla="val 32692"/>
            </a:avLst>
          </a:prstGeom>
          <a:solidFill>
            <a:srgbClr val="FFFF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sp>
        <p:nvSpPr>
          <p:cNvPr id="26" name="矩形 25">
            <a:extLst>
              <a:ext uri="{FF2B5EF4-FFF2-40B4-BE49-F238E27FC236}">
                <a16:creationId xmlns:a16="http://schemas.microsoft.com/office/drawing/2014/main" id="{9B7D2289-4309-40EE-8778-67ADA34E8E19}"/>
              </a:ext>
            </a:extLst>
          </p:cNvPr>
          <p:cNvSpPr/>
          <p:nvPr/>
        </p:nvSpPr>
        <p:spPr>
          <a:xfrm>
            <a:off x="767408" y="3503909"/>
            <a:ext cx="3497767" cy="1077218"/>
          </a:xfrm>
          <a:prstGeom prst="rect">
            <a:avLst/>
          </a:prstGeom>
        </p:spPr>
        <p:txBody>
          <a:bodyPr wrap="square">
            <a:spAutoFit/>
          </a:bodyPr>
          <a:lstStyle/>
          <a:p>
            <a:r>
              <a:rPr lang="zh-CN" altLang="en-US" sz="3200" b="1">
                <a:solidFill>
                  <a:schemeClr val="bg1"/>
                </a:solidFill>
                <a:effectLst>
                  <a:outerShdw blurRad="38100" dist="38100" dir="2700000" algn="tl">
                    <a:srgbClr val="000000">
                      <a:alpha val="43137"/>
                    </a:srgbClr>
                  </a:outerShdw>
                </a:effectLst>
                <a:latin typeface="+mj-ea"/>
                <a:ea typeface="+mj-ea"/>
                <a:cs typeface="+mn-ea"/>
                <a:sym typeface="+mn-lt"/>
              </a:rPr>
              <a:t>功能越多越玄，越可能是营销骗局。</a:t>
            </a:r>
            <a:endParaRPr lang="zh-CN" altLang="en-US" sz="3200">
              <a:latin typeface="+mj-ea"/>
              <a:ea typeface="+mj-ea"/>
            </a:endParaRPr>
          </a:p>
        </p:txBody>
      </p:sp>
      <p:sp>
        <p:nvSpPr>
          <p:cNvPr id="15" name="文本框 14">
            <a:extLst>
              <a:ext uri="{FF2B5EF4-FFF2-40B4-BE49-F238E27FC236}">
                <a16:creationId xmlns:a16="http://schemas.microsoft.com/office/drawing/2014/main" id="{4530EBF8-6CB0-491A-8643-204F227646A9}"/>
              </a:ext>
            </a:extLst>
          </p:cNvPr>
          <p:cNvSpPr txBox="1">
            <a:spLocks noChangeArrowheads="1"/>
          </p:cNvSpPr>
          <p:nvPr/>
        </p:nvSpPr>
        <p:spPr bwMode="auto">
          <a:xfrm>
            <a:off x="213336" y="1241376"/>
            <a:ext cx="5435600" cy="906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4000" b="1">
                <a:solidFill>
                  <a:schemeClr val="bg2">
                    <a:lumMod val="10000"/>
                  </a:schemeClr>
                </a:solidFill>
                <a:effectLst>
                  <a:outerShdw blurRad="38100" dist="38100" dir="2700000" algn="tl">
                    <a:srgbClr val="000000">
                      <a:alpha val="43137"/>
                    </a:srgbClr>
                  </a:outerShdw>
                </a:effectLst>
                <a:latin typeface="+mj-ea"/>
                <a:ea typeface="+mj-ea"/>
                <a:cs typeface="+mn-ea"/>
                <a:sym typeface="+mn-lt"/>
              </a:rPr>
              <a:t>1.</a:t>
            </a:r>
            <a:r>
              <a:rPr lang="zh-CN" altLang="en-US" sz="4000" b="1">
                <a:solidFill>
                  <a:schemeClr val="bg2">
                    <a:lumMod val="10000"/>
                  </a:schemeClr>
                </a:solidFill>
                <a:effectLst>
                  <a:outerShdw blurRad="38100" dist="38100" dir="2700000" algn="tl">
                    <a:srgbClr val="000000">
                      <a:alpha val="43137"/>
                    </a:srgbClr>
                  </a:outerShdw>
                </a:effectLst>
                <a:latin typeface="+mj-ea"/>
                <a:ea typeface="+mj-ea"/>
                <a:cs typeface="+mn-ea"/>
                <a:sym typeface="+mn-lt"/>
              </a:rPr>
              <a:t>猫慢性肾病没“神药”</a:t>
            </a:r>
            <a:endParaRPr lang="en-US" altLang="zh-CN" sz="4000" b="1">
              <a:solidFill>
                <a:schemeClr val="bg2">
                  <a:lumMod val="10000"/>
                </a:schemeClr>
              </a:solidFill>
              <a:effectLst>
                <a:outerShdw blurRad="38100" dist="38100" dir="2700000" algn="tl">
                  <a:srgbClr val="000000">
                    <a:alpha val="43137"/>
                  </a:srgbClr>
                </a:outerShdw>
              </a:effectLst>
              <a:latin typeface="+mj-ea"/>
              <a:ea typeface="+mj-ea"/>
              <a:cs typeface="+mn-ea"/>
              <a:sym typeface="+mn-lt"/>
            </a:endParaRPr>
          </a:p>
        </p:txBody>
      </p:sp>
      <p:sp>
        <p:nvSpPr>
          <p:cNvPr id="16" name="箭头: 五边形 6">
            <a:extLst>
              <a:ext uri="{FF2B5EF4-FFF2-40B4-BE49-F238E27FC236}">
                <a16:creationId xmlns:a16="http://schemas.microsoft.com/office/drawing/2014/main" id="{F6E43F45-E193-4F46-B9E9-1B2248EE3AF2}"/>
              </a:ext>
            </a:extLst>
          </p:cNvPr>
          <p:cNvSpPr/>
          <p:nvPr/>
        </p:nvSpPr>
        <p:spPr>
          <a:xfrm rot="10800000">
            <a:off x="4655839" y="4797151"/>
            <a:ext cx="7536159" cy="2020250"/>
          </a:xfrm>
          <a:prstGeom prst="homePlate">
            <a:avLst>
              <a:gd name="adj" fmla="val 32692"/>
            </a:avLst>
          </a:prstGeom>
          <a:solidFill>
            <a:srgbClr val="FFFF00">
              <a:alpha val="6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sp>
        <p:nvSpPr>
          <p:cNvPr id="17" name="箭头: 五边形 16">
            <a:extLst>
              <a:ext uri="{FF2B5EF4-FFF2-40B4-BE49-F238E27FC236}">
                <a16:creationId xmlns:a16="http://schemas.microsoft.com/office/drawing/2014/main" id="{93789D37-A7D4-4EC2-82E6-3425162E5EFB}"/>
              </a:ext>
            </a:extLst>
          </p:cNvPr>
          <p:cNvSpPr/>
          <p:nvPr/>
        </p:nvSpPr>
        <p:spPr>
          <a:xfrm rot="10800000">
            <a:off x="5087888" y="4797151"/>
            <a:ext cx="7104110" cy="2020250"/>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sp>
        <p:nvSpPr>
          <p:cNvPr id="20" name="箭头: 五边形 6">
            <a:extLst>
              <a:ext uri="{FF2B5EF4-FFF2-40B4-BE49-F238E27FC236}">
                <a16:creationId xmlns:a16="http://schemas.microsoft.com/office/drawing/2014/main" id="{72A3AE79-D58F-4AD6-84D7-454F221B5F7A}"/>
              </a:ext>
            </a:extLst>
          </p:cNvPr>
          <p:cNvSpPr/>
          <p:nvPr/>
        </p:nvSpPr>
        <p:spPr>
          <a:xfrm rot="10800000">
            <a:off x="5591944" y="4797151"/>
            <a:ext cx="6600055" cy="2020250"/>
          </a:xfrm>
          <a:prstGeom prst="homePlate">
            <a:avLst>
              <a:gd name="adj" fmla="val 32692"/>
            </a:avLst>
          </a:prstGeom>
          <a:solidFill>
            <a:srgbClr val="FFFF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sp>
        <p:nvSpPr>
          <p:cNvPr id="30" name="文本框 14">
            <a:extLst>
              <a:ext uri="{FF2B5EF4-FFF2-40B4-BE49-F238E27FC236}">
                <a16:creationId xmlns:a16="http://schemas.microsoft.com/office/drawing/2014/main" id="{A779894A-5BD3-47DD-A8F8-D1AD46E8E3E2}"/>
              </a:ext>
            </a:extLst>
          </p:cNvPr>
          <p:cNvSpPr txBox="1">
            <a:spLocks noChangeArrowheads="1"/>
          </p:cNvSpPr>
          <p:nvPr/>
        </p:nvSpPr>
        <p:spPr bwMode="auto">
          <a:xfrm>
            <a:off x="6096000" y="5229200"/>
            <a:ext cx="5955679" cy="906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4000" b="1">
                <a:solidFill>
                  <a:schemeClr val="bg2">
                    <a:lumMod val="10000"/>
                  </a:schemeClr>
                </a:solidFill>
                <a:effectLst>
                  <a:outerShdw blurRad="38100" dist="38100" dir="2700000" algn="tl">
                    <a:srgbClr val="000000">
                      <a:alpha val="43137"/>
                    </a:srgbClr>
                  </a:outerShdw>
                </a:effectLst>
                <a:latin typeface="+mj-ea"/>
                <a:ea typeface="+mj-ea"/>
                <a:cs typeface="+mn-ea"/>
                <a:sym typeface="+mn-lt"/>
              </a:rPr>
              <a:t>2.</a:t>
            </a:r>
            <a:r>
              <a:rPr lang="zh-CN" altLang="en-US" sz="4000" b="1">
                <a:solidFill>
                  <a:schemeClr val="bg2">
                    <a:lumMod val="10000"/>
                  </a:schemeClr>
                </a:solidFill>
                <a:effectLst>
                  <a:outerShdw blurRad="38100" dist="38100" dir="2700000" algn="tl">
                    <a:srgbClr val="000000">
                      <a:alpha val="43137"/>
                    </a:srgbClr>
                  </a:outerShdw>
                </a:effectLst>
                <a:latin typeface="+mj-ea"/>
                <a:ea typeface="+mj-ea"/>
                <a:cs typeface="+mn-ea"/>
                <a:sym typeface="+mn-lt"/>
              </a:rPr>
              <a:t>慢性肾病治疗长期过程</a:t>
            </a:r>
            <a:endParaRPr lang="en-US" altLang="zh-CN" sz="4000" b="1">
              <a:solidFill>
                <a:schemeClr val="bg2">
                  <a:lumMod val="10000"/>
                </a:schemeClr>
              </a:solidFill>
              <a:effectLst>
                <a:outerShdw blurRad="38100" dist="38100" dir="2700000" algn="tl">
                  <a:srgbClr val="000000">
                    <a:alpha val="43137"/>
                  </a:srgbClr>
                </a:outerShdw>
              </a:effectLst>
              <a:latin typeface="+mj-ea"/>
              <a:ea typeface="+mj-ea"/>
              <a:cs typeface="+mn-ea"/>
              <a:sym typeface="+mn-lt"/>
            </a:endParaRPr>
          </a:p>
        </p:txBody>
      </p:sp>
      <p:sp>
        <p:nvSpPr>
          <p:cNvPr id="31" name="矩形 30">
            <a:extLst>
              <a:ext uri="{FF2B5EF4-FFF2-40B4-BE49-F238E27FC236}">
                <a16:creationId xmlns:a16="http://schemas.microsoft.com/office/drawing/2014/main" id="{AB5B2283-5CDE-407F-8FC1-16ECF4B23E2F}"/>
              </a:ext>
            </a:extLst>
          </p:cNvPr>
          <p:cNvSpPr/>
          <p:nvPr/>
        </p:nvSpPr>
        <p:spPr>
          <a:xfrm>
            <a:off x="7176120" y="3503909"/>
            <a:ext cx="4108538" cy="1077218"/>
          </a:xfrm>
          <a:prstGeom prst="rect">
            <a:avLst/>
          </a:prstGeom>
        </p:spPr>
        <p:txBody>
          <a:bodyPr wrap="square">
            <a:spAutoFit/>
          </a:bodyPr>
          <a:lstStyle/>
          <a:p>
            <a:r>
              <a:rPr lang="zh-CN" altLang="en-US" sz="3200" b="1">
                <a:solidFill>
                  <a:schemeClr val="bg1"/>
                </a:solidFill>
                <a:effectLst>
                  <a:outerShdw blurRad="38100" dist="38100" dir="2700000" algn="tl">
                    <a:srgbClr val="000000">
                      <a:alpha val="43137"/>
                    </a:srgbClr>
                  </a:outerShdw>
                </a:effectLst>
                <a:latin typeface="+mj-ea"/>
                <a:ea typeface="+mj-ea"/>
                <a:cs typeface="+mn-ea"/>
                <a:sym typeface="+mn-lt"/>
              </a:rPr>
              <a:t>治疗并非一朝一夕，要与兽医密切合作。</a:t>
            </a:r>
            <a:endParaRPr lang="zh-CN" altLang="en-US" sz="3200">
              <a:latin typeface="+mj-ea"/>
              <a:ea typeface="+mj-ea"/>
            </a:endParaRPr>
          </a:p>
        </p:txBody>
      </p:sp>
    </p:spTree>
    <p:extLst>
      <p:ext uri="{BB962C8B-B14F-4D97-AF65-F5344CB8AC3E}">
        <p14:creationId xmlns:p14="http://schemas.microsoft.com/office/powerpoint/2010/main" val="546157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13" name="图片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06672" y="32767"/>
            <a:ext cx="9019367" cy="6858000"/>
          </a:xfrm>
          <a:prstGeom prst="rect">
            <a:avLst/>
          </a:prstGeom>
        </p:spPr>
      </p:pic>
      <p:grpSp>
        <p:nvGrpSpPr>
          <p:cNvPr id="17" name="组合 16">
            <a:extLst/>
          </p:cNvPr>
          <p:cNvGrpSpPr/>
          <p:nvPr/>
        </p:nvGrpSpPr>
        <p:grpSpPr>
          <a:xfrm>
            <a:off x="-111415" y="692696"/>
            <a:ext cx="7316369" cy="1035883"/>
            <a:chOff x="8112224" y="330675"/>
            <a:chExt cx="4626747" cy="1035883"/>
          </a:xfrm>
          <a:effectLst>
            <a:outerShdw blurRad="50800" dist="38100" dir="5400000" algn="t" rotWithShape="0">
              <a:prstClr val="black">
                <a:alpha val="40000"/>
              </a:prstClr>
            </a:outerShdw>
          </a:effectLst>
        </p:grpSpPr>
        <p:sp>
          <p:nvSpPr>
            <p:cNvPr id="4" name="箭头: 五边形 6">
              <a:extLst/>
            </p:cNvPr>
            <p:cNvSpPr/>
            <p:nvPr/>
          </p:nvSpPr>
          <p:spPr>
            <a:xfrm rot="10800000" flipH="1">
              <a:off x="8112224" y="404663"/>
              <a:ext cx="4608512"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5" name="组合 22">
              <a:extLst/>
            </p:cNvPr>
            <p:cNvGrpSpPr>
              <a:grpSpLocks/>
            </p:cNvGrpSpPr>
            <p:nvPr/>
          </p:nvGrpSpPr>
          <p:grpSpPr bwMode="auto">
            <a:xfrm>
              <a:off x="8281096" y="330675"/>
              <a:ext cx="4457875" cy="1003146"/>
              <a:chOff x="-461843" y="2729730"/>
              <a:chExt cx="5250785" cy="1402759"/>
            </a:xfrm>
          </p:grpSpPr>
          <p:sp>
            <p:nvSpPr>
              <p:cNvPr id="6" name="文本框 13">
                <a:extLst/>
              </p:cNvPr>
              <p:cNvSpPr txBox="1">
                <a:spLocks noChangeArrowheads="1"/>
              </p:cNvSpPr>
              <p:nvPr/>
            </p:nvSpPr>
            <p:spPr bwMode="auto">
              <a:xfrm>
                <a:off x="-461843" y="2729730"/>
                <a:ext cx="1647713" cy="1040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7" name="文本框 14">
                <a:extLst/>
              </p:cNvPr>
              <p:cNvSpPr txBox="1">
                <a:spLocks noChangeArrowheads="1"/>
              </p:cNvSpPr>
              <p:nvPr/>
            </p:nvSpPr>
            <p:spPr bwMode="auto">
              <a:xfrm>
                <a:off x="1926116" y="3112482"/>
                <a:ext cx="2862826" cy="748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buNone/>
                  <a:defRPr/>
                </a:pPr>
                <a:r>
                  <a:rPr lang="zh-CN" altLang="en-US" sz="3200" b="1">
                    <a:latin typeface="微软雅黑" panose="020B0503020204020204" pitchFamily="34" charset="-122"/>
                    <a:ea typeface="微软雅黑" panose="020B0503020204020204" pitchFamily="34" charset="-122"/>
                  </a:rPr>
                  <a:t>治肾，先明白肾</a:t>
                </a:r>
                <a:endParaRPr lang="en-US" altLang="zh-CN" sz="1100" b="1">
                  <a:latin typeface="微软雅黑" panose="020B0503020204020204" pitchFamily="34" charset="-122"/>
                  <a:ea typeface="微软雅黑" panose="020B0503020204020204" pitchFamily="34" charset="-122"/>
                </a:endParaRPr>
              </a:p>
            </p:txBody>
          </p:sp>
          <p:cxnSp>
            <p:nvCxnSpPr>
              <p:cNvPr id="8" name="直接连接符 7">
                <a:extLst/>
              </p:cNvPr>
              <p:cNvCxnSpPr>
                <a:cxnSpLocks/>
              </p:cNvCxnSpPr>
              <p:nvPr/>
            </p:nvCxnSpPr>
            <p:spPr>
              <a:xfrm flipH="1">
                <a:off x="283397" y="3337348"/>
                <a:ext cx="698570" cy="469923"/>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9" name="矩形 20">
                <a:extLst/>
              </p:cNvPr>
              <p:cNvSpPr>
                <a:spLocks noChangeArrowheads="1"/>
              </p:cNvSpPr>
              <p:nvPr/>
            </p:nvSpPr>
            <p:spPr bwMode="auto">
              <a:xfrm>
                <a:off x="672946" y="3486915"/>
                <a:ext cx="914857" cy="645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sp>
        <p:nvSpPr>
          <p:cNvPr id="3" name="矩形 14340"/>
          <p:cNvSpPr/>
          <p:nvPr/>
        </p:nvSpPr>
        <p:spPr>
          <a:xfrm>
            <a:off x="328913" y="2276872"/>
            <a:ext cx="2592288" cy="2985433"/>
          </a:xfrm>
          <a:prstGeom prst="rect">
            <a:avLst/>
          </a:prstGeom>
        </p:spPr>
        <p:txBody>
          <a:bodyPr wrap="square">
            <a:spAutoFit/>
          </a:bodyPr>
          <a:lstStyle/>
          <a:p>
            <a:pPr>
              <a:defRPr/>
            </a:pPr>
            <a:r>
              <a:rPr lang="zh-CN" altLang="en-US" sz="2400" b="1">
                <a:solidFill>
                  <a:schemeClr val="tx2">
                    <a:lumMod val="75000"/>
                  </a:schemeClr>
                </a:solidFill>
                <a:latin typeface="+mj-ea"/>
                <a:ea typeface="+mj-ea"/>
              </a:rPr>
              <a:t>肾脏的功能</a:t>
            </a:r>
            <a:endParaRPr lang="en-US" altLang="zh-CN" sz="1000" b="1">
              <a:solidFill>
                <a:schemeClr val="tx2">
                  <a:lumMod val="75000"/>
                </a:schemeClr>
              </a:solidFill>
              <a:latin typeface="+mj-ea"/>
              <a:ea typeface="+mj-ea"/>
            </a:endParaRPr>
          </a:p>
          <a:p>
            <a:pPr>
              <a:defRPr/>
            </a:pPr>
            <a:endParaRPr lang="en-US" altLang="zh-CN" sz="1000" b="1">
              <a:solidFill>
                <a:schemeClr val="tx2">
                  <a:lumMod val="75000"/>
                </a:schemeClr>
              </a:solidFill>
              <a:latin typeface="+mj-ea"/>
              <a:ea typeface="+mj-ea"/>
            </a:endParaRPr>
          </a:p>
          <a:p>
            <a:pPr marL="285750" indent="-285750">
              <a:buFont typeface="Wingdings" panose="05000000000000000000" pitchFamily="2" charset="2"/>
              <a:buChar char="l"/>
              <a:defRPr/>
            </a:pPr>
            <a:r>
              <a:rPr lang="zh-CN" altLang="en-US" sz="1600" b="1">
                <a:solidFill>
                  <a:schemeClr val="tx2">
                    <a:lumMod val="75000"/>
                  </a:schemeClr>
                </a:solidFill>
                <a:latin typeface="+mj-ea"/>
                <a:ea typeface="+mj-ea"/>
              </a:rPr>
              <a:t>过滤血液中的代谢废物</a:t>
            </a:r>
            <a:endParaRPr lang="en-US" altLang="zh-CN" sz="1600" b="1">
              <a:solidFill>
                <a:schemeClr val="tx2">
                  <a:lumMod val="75000"/>
                </a:schemeClr>
              </a:solidFill>
              <a:latin typeface="+mj-ea"/>
              <a:ea typeface="+mj-ea"/>
            </a:endParaRPr>
          </a:p>
          <a:p>
            <a:pPr marL="285750" indent="-285750">
              <a:buFont typeface="Wingdings" panose="05000000000000000000" pitchFamily="2" charset="2"/>
              <a:buChar char="l"/>
              <a:defRPr/>
            </a:pPr>
            <a:r>
              <a:rPr lang="zh-CN" altLang="en-US" sz="1600" b="1">
                <a:solidFill>
                  <a:schemeClr val="tx2">
                    <a:lumMod val="75000"/>
                  </a:schemeClr>
                </a:solidFill>
                <a:latin typeface="+mj-ea"/>
                <a:ea typeface="+mj-ea"/>
              </a:rPr>
              <a:t>调节电解质平衡</a:t>
            </a:r>
            <a:endParaRPr lang="en-US" altLang="zh-CN" sz="1600" b="1">
              <a:solidFill>
                <a:schemeClr val="tx2">
                  <a:lumMod val="75000"/>
                </a:schemeClr>
              </a:solidFill>
              <a:latin typeface="+mj-ea"/>
              <a:ea typeface="+mj-ea"/>
            </a:endParaRPr>
          </a:p>
          <a:p>
            <a:pPr marL="285750" indent="-285750">
              <a:buFont typeface="Wingdings" panose="05000000000000000000" pitchFamily="2" charset="2"/>
              <a:buChar char="l"/>
              <a:defRPr/>
            </a:pPr>
            <a:r>
              <a:rPr lang="zh-CN" altLang="en-US" sz="1600" b="1">
                <a:solidFill>
                  <a:schemeClr val="tx2">
                    <a:lumMod val="75000"/>
                  </a:schemeClr>
                </a:solidFill>
                <a:latin typeface="+mj-ea"/>
                <a:ea typeface="+mj-ea"/>
              </a:rPr>
              <a:t>调节血液酸碱平衡</a:t>
            </a:r>
            <a:endParaRPr lang="en-US" altLang="zh-CN" sz="1600" b="1">
              <a:solidFill>
                <a:schemeClr val="tx2">
                  <a:lumMod val="75000"/>
                </a:schemeClr>
              </a:solidFill>
              <a:latin typeface="+mj-ea"/>
              <a:ea typeface="+mj-ea"/>
            </a:endParaRPr>
          </a:p>
          <a:p>
            <a:pPr marL="285750" indent="-285750">
              <a:buFont typeface="Wingdings" panose="05000000000000000000" pitchFamily="2" charset="2"/>
              <a:buChar char="l"/>
              <a:defRPr/>
            </a:pPr>
            <a:r>
              <a:rPr lang="zh-CN" altLang="en-US" sz="1600" b="1">
                <a:solidFill>
                  <a:schemeClr val="tx2">
                    <a:lumMod val="75000"/>
                  </a:schemeClr>
                </a:solidFill>
                <a:latin typeface="+mj-ea"/>
                <a:ea typeface="+mj-ea"/>
              </a:rPr>
              <a:t>荷尔蒙</a:t>
            </a:r>
            <a:endParaRPr lang="en-US" altLang="zh-CN" sz="1600" b="1">
              <a:solidFill>
                <a:schemeClr val="tx2">
                  <a:lumMod val="75000"/>
                </a:schemeClr>
              </a:solidFill>
              <a:latin typeface="+mj-ea"/>
              <a:ea typeface="+mj-ea"/>
            </a:endParaRPr>
          </a:p>
          <a:p>
            <a:pPr>
              <a:defRPr/>
            </a:pPr>
            <a:r>
              <a:rPr lang="en-US" altLang="zh-CN" sz="1600">
                <a:solidFill>
                  <a:schemeClr val="tx2">
                    <a:lumMod val="75000"/>
                  </a:schemeClr>
                </a:solidFill>
                <a:latin typeface="+mj-ea"/>
                <a:ea typeface="+mj-ea"/>
              </a:rPr>
              <a:t>    </a:t>
            </a:r>
            <a:r>
              <a:rPr lang="zh-CN" altLang="en-US" sz="1600">
                <a:solidFill>
                  <a:schemeClr val="tx2">
                    <a:lumMod val="75000"/>
                  </a:schemeClr>
                </a:solidFill>
                <a:latin typeface="+mj-ea"/>
                <a:ea typeface="+mj-ea"/>
              </a:rPr>
              <a:t>例如：</a:t>
            </a:r>
            <a:endParaRPr lang="en-US" altLang="zh-CN" sz="1600">
              <a:solidFill>
                <a:schemeClr val="tx2">
                  <a:lumMod val="75000"/>
                </a:schemeClr>
              </a:solidFill>
              <a:latin typeface="+mj-ea"/>
              <a:ea typeface="+mj-ea"/>
            </a:endParaRPr>
          </a:p>
          <a:p>
            <a:pPr>
              <a:defRPr/>
            </a:pPr>
            <a:r>
              <a:rPr lang="en-US" altLang="zh-CN" sz="1600">
                <a:solidFill>
                  <a:schemeClr val="tx2">
                    <a:lumMod val="75000"/>
                  </a:schemeClr>
                </a:solidFill>
                <a:latin typeface="+mj-ea"/>
                <a:ea typeface="+mj-ea"/>
              </a:rPr>
              <a:t>          </a:t>
            </a:r>
            <a:r>
              <a:rPr lang="zh-CN" altLang="en-US" sz="1600">
                <a:solidFill>
                  <a:schemeClr val="tx2">
                    <a:lumMod val="75000"/>
                  </a:schemeClr>
                </a:solidFill>
                <a:latin typeface="+mj-ea"/>
                <a:ea typeface="+mj-ea"/>
              </a:rPr>
              <a:t>刺激红细胞制造</a:t>
            </a:r>
            <a:endParaRPr lang="en-US" altLang="zh-CN" sz="1600">
              <a:solidFill>
                <a:schemeClr val="tx2">
                  <a:lumMod val="75000"/>
                </a:schemeClr>
              </a:solidFill>
              <a:latin typeface="+mj-ea"/>
              <a:ea typeface="+mj-ea"/>
            </a:endParaRPr>
          </a:p>
          <a:p>
            <a:pPr>
              <a:defRPr/>
            </a:pPr>
            <a:r>
              <a:rPr lang="en-US" altLang="zh-CN" sz="1600">
                <a:solidFill>
                  <a:schemeClr val="tx2">
                    <a:lumMod val="75000"/>
                  </a:schemeClr>
                </a:solidFill>
                <a:latin typeface="+mj-ea"/>
                <a:ea typeface="+mj-ea"/>
              </a:rPr>
              <a:t>          </a:t>
            </a:r>
            <a:r>
              <a:rPr lang="zh-CN" altLang="en-US" sz="1600">
                <a:solidFill>
                  <a:schemeClr val="tx2">
                    <a:lumMod val="75000"/>
                  </a:schemeClr>
                </a:solidFill>
                <a:latin typeface="+mj-ea"/>
                <a:ea typeface="+mj-ea"/>
              </a:rPr>
              <a:t>活化维生素</a:t>
            </a:r>
            <a:r>
              <a:rPr lang="en-US" altLang="zh-CN" sz="1600">
                <a:solidFill>
                  <a:schemeClr val="tx2">
                    <a:lumMod val="75000"/>
                  </a:schemeClr>
                </a:solidFill>
                <a:latin typeface="+mj-ea"/>
                <a:ea typeface="+mj-ea"/>
              </a:rPr>
              <a:t>D</a:t>
            </a:r>
          </a:p>
          <a:p>
            <a:pPr>
              <a:defRPr/>
            </a:pPr>
            <a:r>
              <a:rPr lang="en-US" altLang="zh-CN" sz="1600">
                <a:solidFill>
                  <a:schemeClr val="tx2">
                    <a:lumMod val="75000"/>
                  </a:schemeClr>
                </a:solidFill>
                <a:latin typeface="+mj-ea"/>
                <a:ea typeface="+mj-ea"/>
              </a:rPr>
              <a:t>          </a:t>
            </a:r>
            <a:r>
              <a:rPr lang="zh-CN" altLang="en-US" sz="1600">
                <a:solidFill>
                  <a:schemeClr val="tx2">
                    <a:lumMod val="75000"/>
                  </a:schemeClr>
                </a:solidFill>
                <a:latin typeface="+mj-ea"/>
                <a:ea typeface="+mj-ea"/>
              </a:rPr>
              <a:t>胃泌素排出</a:t>
            </a:r>
            <a:endParaRPr lang="en-US" altLang="zh-CN" sz="1600">
              <a:solidFill>
                <a:schemeClr val="tx2">
                  <a:lumMod val="75000"/>
                </a:schemeClr>
              </a:solidFill>
              <a:latin typeface="+mj-ea"/>
              <a:ea typeface="+mj-ea"/>
            </a:endParaRPr>
          </a:p>
          <a:p>
            <a:pPr>
              <a:defRPr/>
            </a:pPr>
            <a:r>
              <a:rPr lang="en-US" altLang="zh-CN" sz="1600">
                <a:solidFill>
                  <a:schemeClr val="tx2">
                    <a:lumMod val="75000"/>
                  </a:schemeClr>
                </a:solidFill>
                <a:latin typeface="+mj-ea"/>
                <a:ea typeface="+mj-ea"/>
              </a:rPr>
              <a:t>          </a:t>
            </a:r>
            <a:r>
              <a:rPr lang="zh-CN" altLang="en-US" sz="1600">
                <a:solidFill>
                  <a:schemeClr val="tx2">
                    <a:lumMod val="75000"/>
                  </a:schemeClr>
                </a:solidFill>
                <a:latin typeface="+mj-ea"/>
                <a:ea typeface="+mj-ea"/>
              </a:rPr>
              <a:t>血压调节</a:t>
            </a:r>
            <a:endParaRPr lang="en-US" altLang="zh-CN" sz="1600">
              <a:solidFill>
                <a:schemeClr val="tx2">
                  <a:lumMod val="75000"/>
                </a:schemeClr>
              </a:solidFill>
              <a:latin typeface="+mj-ea"/>
              <a:ea typeface="+mj-ea"/>
            </a:endParaRPr>
          </a:p>
          <a:p>
            <a:pPr>
              <a:defRPr/>
            </a:pPr>
            <a:r>
              <a:rPr lang="en-US" altLang="zh-CN" sz="1000">
                <a:solidFill>
                  <a:schemeClr val="tx2">
                    <a:lumMod val="75000"/>
                  </a:schemeClr>
                </a:solidFill>
                <a:latin typeface="+mj-ea"/>
                <a:ea typeface="+mj-ea"/>
              </a:rPr>
              <a:t>  </a:t>
            </a:r>
          </a:p>
        </p:txBody>
      </p:sp>
    </p:spTree>
    <p:extLst>
      <p:ext uri="{BB962C8B-B14F-4D97-AF65-F5344CB8AC3E}">
        <p14:creationId xmlns:p14="http://schemas.microsoft.com/office/powerpoint/2010/main" val="12168445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0" name="箭头: 五边形 6">
            <a:extLst/>
          </p:cNvPr>
          <p:cNvSpPr/>
          <p:nvPr/>
        </p:nvSpPr>
        <p:spPr>
          <a:xfrm rot="10800000" flipH="1">
            <a:off x="0" y="404813"/>
            <a:ext cx="5041853" cy="1344612"/>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sp>
        <p:nvSpPr>
          <p:cNvPr id="3" name="文本框 14">
            <a:extLst/>
          </p:cNvPr>
          <p:cNvSpPr txBox="1">
            <a:spLocks noChangeArrowheads="1"/>
          </p:cNvSpPr>
          <p:nvPr/>
        </p:nvSpPr>
        <p:spPr bwMode="auto">
          <a:xfrm>
            <a:off x="206616" y="715832"/>
            <a:ext cx="5968056"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buNone/>
            </a:pPr>
            <a:r>
              <a:rPr lang="en-US" altLang="zh-CN" sz="3200" b="1">
                <a:solidFill>
                  <a:schemeClr val="tx2">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IRIS</a:t>
            </a:r>
            <a:r>
              <a:rPr lang="zh-CN" altLang="en-US" sz="3200" b="1">
                <a:solidFill>
                  <a:schemeClr val="tx2">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猫慢性肾病分级</a:t>
            </a:r>
            <a:endParaRPr lang="en-US" altLang="zh-CN" sz="3200" b="1">
              <a:solidFill>
                <a:schemeClr val="tx2">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32772" name="组合 33"/>
          <p:cNvGrpSpPr>
            <a:grpSpLocks/>
          </p:cNvGrpSpPr>
          <p:nvPr/>
        </p:nvGrpSpPr>
        <p:grpSpPr bwMode="auto">
          <a:xfrm>
            <a:off x="0" y="2390775"/>
            <a:ext cx="5041900" cy="3529013"/>
            <a:chOff x="570024" y="2740356"/>
            <a:chExt cx="5040560" cy="3529471"/>
          </a:xfrm>
        </p:grpSpPr>
        <p:sp>
          <p:nvSpPr>
            <p:cNvPr id="19" name="矩形 18">
              <a:extLst/>
            </p:cNvPr>
            <p:cNvSpPr/>
            <p:nvPr/>
          </p:nvSpPr>
          <p:spPr>
            <a:xfrm>
              <a:off x="570024" y="2740356"/>
              <a:ext cx="5040560" cy="352947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kern="0">
                <a:solidFill>
                  <a:sysClr val="windowText" lastClr="000000"/>
                </a:solidFill>
                <a:cs typeface="+mn-ea"/>
                <a:sym typeface="+mn-lt"/>
              </a:endParaRPr>
            </a:p>
          </p:txBody>
        </p:sp>
        <p:grpSp>
          <p:nvGrpSpPr>
            <p:cNvPr id="32796" name="组合 71"/>
            <p:cNvGrpSpPr>
              <a:grpSpLocks/>
            </p:cNvGrpSpPr>
            <p:nvPr/>
          </p:nvGrpSpPr>
          <p:grpSpPr bwMode="auto">
            <a:xfrm>
              <a:off x="814434" y="5123505"/>
              <a:ext cx="3413806" cy="772763"/>
              <a:chOff x="4073654" y="3093824"/>
              <a:chExt cx="3413806" cy="773382"/>
            </a:xfrm>
          </p:grpSpPr>
          <p:sp>
            <p:nvSpPr>
              <p:cNvPr id="41" name="文本框 66">
                <a:extLst/>
              </p:cNvPr>
              <p:cNvSpPr txBox="1">
                <a:spLocks noChangeArrowheads="1"/>
              </p:cNvSpPr>
              <p:nvPr/>
            </p:nvSpPr>
            <p:spPr bwMode="auto">
              <a:xfrm>
                <a:off x="4233950" y="3371895"/>
                <a:ext cx="3253510" cy="196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lnSpc>
                    <a:spcPts val="900"/>
                  </a:lnSpc>
                  <a:spcBef>
                    <a:spcPts val="0"/>
                  </a:spcBef>
                  <a:spcAft>
                    <a:spcPts val="0"/>
                  </a:spcAft>
                  <a:defRPr/>
                </a:pPr>
                <a:endParaRPr lang="zh-CN" altLang="en-US" sz="600" kern="0">
                  <a:solidFill>
                    <a:schemeClr val="bg1">
                      <a:lumMod val="65000"/>
                    </a:schemeClr>
                  </a:solidFill>
                  <a:latin typeface="+mn-lt"/>
                  <a:ea typeface="+mn-ea"/>
                  <a:cs typeface="+mn-ea"/>
                  <a:sym typeface="+mn-lt"/>
                </a:endParaRPr>
              </a:p>
            </p:txBody>
          </p:sp>
          <p:sp>
            <p:nvSpPr>
              <p:cNvPr id="42" name="文本框 66">
                <a:extLst/>
              </p:cNvPr>
              <p:cNvSpPr txBox="1">
                <a:spLocks noChangeArrowheads="1"/>
              </p:cNvSpPr>
              <p:nvPr/>
            </p:nvSpPr>
            <p:spPr bwMode="auto">
              <a:xfrm>
                <a:off x="4197446" y="3093824"/>
                <a:ext cx="184682" cy="308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spcBef>
                    <a:spcPts val="0"/>
                  </a:spcBef>
                  <a:spcAft>
                    <a:spcPts val="0"/>
                  </a:spcAft>
                  <a:defRPr/>
                </a:pPr>
                <a:endParaRPr lang="zh-CN" altLang="en-US" sz="1400" kern="0">
                  <a:solidFill>
                    <a:schemeClr val="bg1">
                      <a:lumMod val="65000"/>
                    </a:schemeClr>
                  </a:solidFill>
                  <a:latin typeface="+mn-lt"/>
                  <a:ea typeface="+mn-ea"/>
                  <a:cs typeface="+mn-ea"/>
                  <a:sym typeface="+mn-lt"/>
                </a:endParaRPr>
              </a:p>
            </p:txBody>
          </p:sp>
          <p:sp>
            <p:nvSpPr>
              <p:cNvPr id="59" name="文本框 66">
                <a:extLst/>
              </p:cNvPr>
              <p:cNvSpPr txBox="1">
                <a:spLocks noChangeArrowheads="1"/>
              </p:cNvSpPr>
              <p:nvPr/>
            </p:nvSpPr>
            <p:spPr bwMode="auto">
              <a:xfrm>
                <a:off x="4073654" y="3670623"/>
                <a:ext cx="3253510" cy="196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lnSpc>
                    <a:spcPts val="900"/>
                  </a:lnSpc>
                  <a:spcBef>
                    <a:spcPts val="0"/>
                  </a:spcBef>
                  <a:spcAft>
                    <a:spcPts val="0"/>
                  </a:spcAft>
                  <a:defRPr/>
                </a:pPr>
                <a:endParaRPr lang="zh-CN" altLang="en-US" sz="600" kern="0">
                  <a:solidFill>
                    <a:schemeClr val="bg1">
                      <a:lumMod val="65000"/>
                    </a:schemeClr>
                  </a:solidFill>
                  <a:latin typeface="+mn-lt"/>
                  <a:ea typeface="+mn-ea"/>
                  <a:cs typeface="+mn-ea"/>
                  <a:sym typeface="+mn-lt"/>
                </a:endParaRPr>
              </a:p>
            </p:txBody>
          </p:sp>
        </p:grpSp>
        <p:grpSp>
          <p:nvGrpSpPr>
            <p:cNvPr id="32797" name="组合 17"/>
            <p:cNvGrpSpPr>
              <a:grpSpLocks/>
            </p:cNvGrpSpPr>
            <p:nvPr/>
          </p:nvGrpSpPr>
          <p:grpSpPr bwMode="auto">
            <a:xfrm>
              <a:off x="938226" y="4220096"/>
              <a:ext cx="3290013" cy="604835"/>
              <a:chOff x="489046" y="3712680"/>
              <a:chExt cx="3290013" cy="605320"/>
            </a:xfrm>
          </p:grpSpPr>
          <p:grpSp>
            <p:nvGrpSpPr>
              <p:cNvPr id="26" name="组合 25">
                <a:extLst/>
              </p:cNvPr>
              <p:cNvGrpSpPr/>
              <p:nvPr/>
            </p:nvGrpSpPr>
            <p:grpSpPr bwMode="auto">
              <a:xfrm>
                <a:off x="677624" y="3960954"/>
                <a:ext cx="448152" cy="357046"/>
                <a:chOff x="155576" y="754063"/>
                <a:chExt cx="1143000" cy="909638"/>
              </a:xfrm>
              <a:solidFill>
                <a:schemeClr val="bg1"/>
              </a:solidFill>
            </p:grpSpPr>
            <p:sp>
              <p:nvSpPr>
                <p:cNvPr id="37" name="Freeform 13">
                  <a:extLst/>
                </p:cNvPr>
                <p:cNvSpPr>
                  <a:spLocks noEditPoints="1"/>
                </p:cNvSpPr>
                <p:nvPr/>
              </p:nvSpPr>
              <p:spPr bwMode="auto">
                <a:xfrm>
                  <a:off x="155576" y="855663"/>
                  <a:ext cx="985838" cy="808038"/>
                </a:xfrm>
                <a:prstGeom prst="rect">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zh-CN" altLang="en-US" sz="1350" kern="0">
                    <a:solidFill>
                      <a:sysClr val="windowText" lastClr="000000"/>
                    </a:solidFill>
                    <a:latin typeface="+mn-lt"/>
                    <a:ea typeface="+mn-ea"/>
                    <a:cs typeface="+mn-ea"/>
                    <a:sym typeface="+mn-lt"/>
                  </a:endParaRPr>
                </a:p>
              </p:txBody>
            </p:sp>
            <p:sp>
              <p:nvSpPr>
                <p:cNvPr id="38" name="Freeform 14">
                  <a:extLst/>
                </p:cNvPr>
                <p:cNvSpPr>
                  <a:spLocks noEditPoints="1"/>
                </p:cNvSpPr>
                <p:nvPr/>
              </p:nvSpPr>
              <p:spPr bwMode="auto">
                <a:xfrm>
                  <a:off x="379413" y="1212850"/>
                  <a:ext cx="388938" cy="357188"/>
                </a:xfrm>
                <a:prstGeom prst="rect">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zh-CN" altLang="en-US" sz="1350" kern="0">
                    <a:solidFill>
                      <a:sysClr val="windowText" lastClr="000000"/>
                    </a:solidFill>
                    <a:latin typeface="+mn-lt"/>
                    <a:ea typeface="+mn-ea"/>
                    <a:cs typeface="+mn-ea"/>
                    <a:sym typeface="+mn-lt"/>
                  </a:endParaRPr>
                </a:p>
              </p:txBody>
            </p:sp>
            <p:sp>
              <p:nvSpPr>
                <p:cNvPr id="39" name="Freeform 15">
                  <a:extLst/>
                </p:cNvPr>
                <p:cNvSpPr>
                  <a:spLocks/>
                </p:cNvSpPr>
                <p:nvPr/>
              </p:nvSpPr>
              <p:spPr bwMode="auto">
                <a:xfrm>
                  <a:off x="892176" y="890588"/>
                  <a:ext cx="215900" cy="228600"/>
                </a:xfrm>
                <a:prstGeom prst="rect">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zh-CN" altLang="en-US" sz="1350" kern="0">
                    <a:solidFill>
                      <a:sysClr val="windowText" lastClr="000000"/>
                    </a:solidFill>
                    <a:latin typeface="+mn-lt"/>
                    <a:ea typeface="+mn-ea"/>
                    <a:cs typeface="+mn-ea"/>
                    <a:sym typeface="+mn-lt"/>
                  </a:endParaRPr>
                </a:p>
              </p:txBody>
            </p:sp>
            <p:sp>
              <p:nvSpPr>
                <p:cNvPr id="40" name="Freeform 16">
                  <a:extLst/>
                </p:cNvPr>
                <p:cNvSpPr>
                  <a:spLocks/>
                </p:cNvSpPr>
                <p:nvPr/>
              </p:nvSpPr>
              <p:spPr bwMode="auto">
                <a:xfrm>
                  <a:off x="850901" y="754063"/>
                  <a:ext cx="447675" cy="425450"/>
                </a:xfrm>
                <a:prstGeom prst="rect">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zh-CN" altLang="en-US" sz="1350" kern="0">
                    <a:solidFill>
                      <a:sysClr val="windowText" lastClr="000000"/>
                    </a:solidFill>
                    <a:latin typeface="+mn-lt"/>
                    <a:ea typeface="+mn-ea"/>
                    <a:cs typeface="+mn-ea"/>
                    <a:sym typeface="+mn-lt"/>
                  </a:endParaRPr>
                </a:p>
              </p:txBody>
            </p:sp>
          </p:grpSp>
          <p:grpSp>
            <p:nvGrpSpPr>
              <p:cNvPr id="32801" name="组合 74"/>
              <p:cNvGrpSpPr>
                <a:grpSpLocks/>
              </p:cNvGrpSpPr>
              <p:nvPr/>
            </p:nvGrpSpPr>
            <p:grpSpPr bwMode="auto">
              <a:xfrm>
                <a:off x="489046" y="3712680"/>
                <a:ext cx="3290013" cy="474655"/>
                <a:chOff x="4197446" y="3093555"/>
                <a:chExt cx="3290013" cy="474655"/>
              </a:xfrm>
            </p:grpSpPr>
            <p:sp>
              <p:nvSpPr>
                <p:cNvPr id="35" name="文本框 66">
                  <a:extLst/>
                </p:cNvPr>
                <p:cNvSpPr txBox="1">
                  <a:spLocks noChangeArrowheads="1"/>
                </p:cNvSpPr>
                <p:nvPr/>
              </p:nvSpPr>
              <p:spPr bwMode="auto">
                <a:xfrm>
                  <a:off x="4233949" y="3371627"/>
                  <a:ext cx="3253510" cy="196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lnSpc>
                      <a:spcPts val="900"/>
                    </a:lnSpc>
                    <a:spcBef>
                      <a:spcPts val="0"/>
                    </a:spcBef>
                    <a:spcAft>
                      <a:spcPts val="0"/>
                    </a:spcAft>
                    <a:defRPr/>
                  </a:pPr>
                  <a:endParaRPr lang="zh-CN" altLang="en-US" sz="600" kern="0">
                    <a:solidFill>
                      <a:schemeClr val="bg1">
                        <a:lumMod val="65000"/>
                      </a:schemeClr>
                    </a:solidFill>
                    <a:latin typeface="+mn-lt"/>
                    <a:ea typeface="+mn-ea"/>
                    <a:cs typeface="+mn-ea"/>
                    <a:sym typeface="+mn-lt"/>
                  </a:endParaRPr>
                </a:p>
              </p:txBody>
            </p:sp>
            <p:sp>
              <p:nvSpPr>
                <p:cNvPr id="36" name="文本框 66">
                  <a:extLst/>
                </p:cNvPr>
                <p:cNvSpPr txBox="1">
                  <a:spLocks noChangeArrowheads="1"/>
                </p:cNvSpPr>
                <p:nvPr/>
              </p:nvSpPr>
              <p:spPr bwMode="auto">
                <a:xfrm>
                  <a:off x="4197446" y="3093555"/>
                  <a:ext cx="184682" cy="308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spcBef>
                      <a:spcPts val="0"/>
                    </a:spcBef>
                    <a:spcAft>
                      <a:spcPts val="0"/>
                    </a:spcAft>
                    <a:defRPr/>
                  </a:pPr>
                  <a:endParaRPr lang="zh-CN" altLang="en-US" sz="1400" kern="0">
                    <a:solidFill>
                      <a:schemeClr val="bg1">
                        <a:lumMod val="65000"/>
                      </a:schemeClr>
                    </a:solidFill>
                    <a:latin typeface="+mn-lt"/>
                    <a:ea typeface="+mn-ea"/>
                    <a:cs typeface="+mn-ea"/>
                    <a:sym typeface="+mn-lt"/>
                  </a:endParaRPr>
                </a:p>
              </p:txBody>
            </p:sp>
          </p:grpSp>
        </p:grpSp>
        <p:sp>
          <p:nvSpPr>
            <p:cNvPr id="23" name="文本框 66">
              <a:extLst/>
            </p:cNvPr>
            <p:cNvSpPr txBox="1">
              <a:spLocks noChangeArrowheads="1"/>
            </p:cNvSpPr>
            <p:nvPr/>
          </p:nvSpPr>
          <p:spPr bwMode="auto">
            <a:xfrm>
              <a:off x="906485" y="3005503"/>
              <a:ext cx="4258131" cy="460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spcBef>
                  <a:spcPts val="0"/>
                </a:spcBef>
                <a:spcAft>
                  <a:spcPts val="0"/>
                </a:spcAft>
                <a:defRPr/>
              </a:pPr>
              <a:endParaRPr lang="zh-CN" altLang="en-US" sz="2400" b="1" kern="0">
                <a:solidFill>
                  <a:srgbClr val="4F4F4F"/>
                </a:solidFill>
                <a:latin typeface="+mn-lt"/>
                <a:ea typeface="+mn-ea"/>
                <a:cs typeface="+mn-ea"/>
                <a:sym typeface="+mn-lt"/>
              </a:endParaRPr>
            </a:p>
          </p:txBody>
        </p:sp>
        <p:sp>
          <p:nvSpPr>
            <p:cNvPr id="25" name="矩形 24">
              <a:extLst/>
            </p:cNvPr>
            <p:cNvSpPr/>
            <p:nvPr/>
          </p:nvSpPr>
          <p:spPr>
            <a:xfrm>
              <a:off x="876331" y="3446886"/>
              <a:ext cx="4499366" cy="277035"/>
            </a:xfrm>
            <a:prstGeom prst="rect">
              <a:avLst/>
            </a:prstGeom>
          </p:spPr>
          <p:txBody>
            <a:bodyPr>
              <a:spAutoFit/>
            </a:bodyPr>
            <a:lstStyle/>
            <a:p>
              <a:pPr eaLnBrk="1" fontAlgn="auto" hangingPunct="1">
                <a:spcBef>
                  <a:spcPts val="0"/>
                </a:spcBef>
                <a:spcAft>
                  <a:spcPts val="0"/>
                </a:spcAft>
                <a:defRPr/>
              </a:pPr>
              <a:endParaRPr lang="zh-CN" altLang="en-US" sz="1200" kern="0">
                <a:solidFill>
                  <a:srgbClr val="4F4F4F"/>
                </a:solidFill>
                <a:latin typeface="+mn-lt"/>
                <a:ea typeface="+mn-ea"/>
                <a:cs typeface="+mn-ea"/>
                <a:sym typeface="+mn-lt"/>
              </a:endParaRPr>
            </a:p>
          </p:txBody>
        </p:sp>
      </p:grpSp>
      <p:sp>
        <p:nvSpPr>
          <p:cNvPr id="29" name="ValueShape2">
            <a:extLst/>
          </p:cNvPr>
          <p:cNvSpPr/>
          <p:nvPr/>
        </p:nvSpPr>
        <p:spPr bwMode="auto">
          <a:xfrm>
            <a:off x="7063605" y="2323431"/>
            <a:ext cx="4076700" cy="4076700"/>
          </a:xfrm>
          <a:prstGeom prst="blockArc">
            <a:avLst>
              <a:gd name="adj1" fmla="val 16200000"/>
              <a:gd name="adj2" fmla="val 9180000"/>
              <a:gd name="adj3" fmla="val 5772"/>
            </a:avLst>
          </a:prstGeom>
          <a:solidFill>
            <a:srgbClr val="FF2929"/>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30" name="ValueShape3">
            <a:extLst/>
          </p:cNvPr>
          <p:cNvSpPr/>
          <p:nvPr/>
        </p:nvSpPr>
        <p:spPr bwMode="auto">
          <a:xfrm>
            <a:off x="7296968" y="2555206"/>
            <a:ext cx="3611562" cy="3613150"/>
          </a:xfrm>
          <a:prstGeom prst="blockArc">
            <a:avLst>
              <a:gd name="adj1" fmla="val 16200000"/>
              <a:gd name="adj2" fmla="val 7560000"/>
              <a:gd name="adj3" fmla="val 7146"/>
            </a:avLst>
          </a:prstGeom>
          <a:solidFill>
            <a:srgbClr val="EE864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31" name="ValueShape4">
            <a:extLst/>
          </p:cNvPr>
          <p:cNvSpPr/>
          <p:nvPr/>
        </p:nvSpPr>
        <p:spPr bwMode="auto">
          <a:xfrm>
            <a:off x="7547793" y="2807618"/>
            <a:ext cx="3108325" cy="3108325"/>
          </a:xfrm>
          <a:prstGeom prst="blockArc">
            <a:avLst>
              <a:gd name="adj1" fmla="val 16200000"/>
              <a:gd name="adj2" fmla="val 7010490"/>
              <a:gd name="adj3" fmla="val 9000"/>
            </a:avLst>
          </a:prstGeom>
          <a:solidFill>
            <a:schemeClr val="accent4">
              <a:lumMod val="60000"/>
              <a:lumOff val="4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32" name="ValueText1">
            <a:extLst/>
          </p:cNvPr>
          <p:cNvSpPr txBox="1"/>
          <p:nvPr/>
        </p:nvSpPr>
        <p:spPr bwMode="auto">
          <a:xfrm>
            <a:off x="8657279" y="2124376"/>
            <a:ext cx="300363" cy="172748"/>
          </a:xfrm>
          <a:prstGeom prst="rect">
            <a:avLst/>
          </a:prstGeom>
          <a:noFill/>
          <a:ln>
            <a:noFill/>
          </a:ln>
        </p:spPr>
        <p:txBody>
          <a:bodyPr wrap="none" lIns="0" tIns="0" rIns="0" bIns="0" anchor="ctr" anchorCtr="1">
            <a:prstTxWarp prst="textPlain">
              <a:avLst/>
            </a:prstTxWarp>
            <a:normAutofit fontScale="85000" lnSpcReduction="20000"/>
          </a:bodyPr>
          <a:lstStyle/>
          <a:p>
            <a:pPr algn="ctr">
              <a:defRPr/>
            </a:pPr>
            <a:endParaRPr lang="en-US" altLang="zh-CN" sz="1600">
              <a:solidFill>
                <a:schemeClr val="bg1"/>
              </a:solidFill>
              <a:latin typeface="Impact" panose="020B0806030902050204" pitchFamily="34" charset="0"/>
            </a:endParaRPr>
          </a:p>
        </p:txBody>
      </p:sp>
      <p:sp>
        <p:nvSpPr>
          <p:cNvPr id="33" name="ValueText2">
            <a:extLst/>
          </p:cNvPr>
          <p:cNvSpPr txBox="1"/>
          <p:nvPr/>
        </p:nvSpPr>
        <p:spPr bwMode="auto">
          <a:xfrm>
            <a:off x="8657279" y="2371881"/>
            <a:ext cx="300363" cy="172748"/>
          </a:xfrm>
          <a:prstGeom prst="rect">
            <a:avLst/>
          </a:prstGeom>
          <a:noFill/>
          <a:ln>
            <a:noFill/>
          </a:ln>
        </p:spPr>
        <p:txBody>
          <a:bodyPr wrap="none" lIns="0" tIns="0" rIns="0" bIns="0" anchor="ctr" anchorCtr="1">
            <a:prstTxWarp prst="textPlain">
              <a:avLst/>
            </a:prstTxWarp>
            <a:normAutofit fontScale="85000" lnSpcReduction="20000"/>
          </a:bodyPr>
          <a:lstStyle/>
          <a:p>
            <a:pPr algn="ctr">
              <a:defRPr/>
            </a:pPr>
            <a:endParaRPr lang="en-US" altLang="zh-CN" sz="1600">
              <a:solidFill>
                <a:srgbClr val="FFFF00"/>
              </a:solidFill>
              <a:latin typeface="Impact" panose="020B0806030902050204" pitchFamily="34" charset="0"/>
            </a:endParaRPr>
          </a:p>
        </p:txBody>
      </p:sp>
      <p:sp>
        <p:nvSpPr>
          <p:cNvPr id="34" name="ValueText3">
            <a:extLst/>
          </p:cNvPr>
          <p:cNvSpPr txBox="1"/>
          <p:nvPr/>
        </p:nvSpPr>
        <p:spPr bwMode="auto">
          <a:xfrm>
            <a:off x="8657279" y="2617467"/>
            <a:ext cx="300363" cy="172748"/>
          </a:xfrm>
          <a:prstGeom prst="rect">
            <a:avLst/>
          </a:prstGeom>
          <a:noFill/>
          <a:ln>
            <a:noFill/>
          </a:ln>
        </p:spPr>
        <p:txBody>
          <a:bodyPr wrap="none" lIns="0" tIns="0" rIns="0" bIns="0" anchor="ctr" anchorCtr="1">
            <a:prstTxWarp prst="textPlain">
              <a:avLst/>
            </a:prstTxWarp>
            <a:normAutofit fontScale="85000" lnSpcReduction="20000"/>
          </a:bodyPr>
          <a:lstStyle/>
          <a:p>
            <a:pPr algn="ctr">
              <a:defRPr/>
            </a:pPr>
            <a:endParaRPr lang="en-US" altLang="zh-CN" sz="1600">
              <a:solidFill>
                <a:schemeClr val="bg1"/>
              </a:solidFill>
              <a:latin typeface="Impact" panose="020B0806030902050204" pitchFamily="34" charset="0"/>
            </a:endParaRPr>
          </a:p>
        </p:txBody>
      </p:sp>
      <p:sp>
        <p:nvSpPr>
          <p:cNvPr id="32781" name="CustomText2"/>
          <p:cNvSpPr txBox="1">
            <a:spLocks noChangeArrowheads="1"/>
          </p:cNvSpPr>
          <p:nvPr/>
        </p:nvSpPr>
        <p:spPr bwMode="auto">
          <a:xfrm flipH="1">
            <a:off x="8446953" y="2811852"/>
            <a:ext cx="466306" cy="194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a:lnSpc>
                <a:spcPct val="100000"/>
              </a:lnSpc>
              <a:spcBef>
                <a:spcPct val="0"/>
              </a:spcBef>
              <a:buFontTx/>
              <a:buNone/>
            </a:pPr>
            <a:r>
              <a:rPr lang="zh-CN" altLang="en-US" sz="1400" b="1">
                <a:solidFill>
                  <a:schemeClr val="accent4">
                    <a:lumMod val="60000"/>
                    <a:lumOff val="40000"/>
                  </a:schemeClr>
                </a:solidFill>
                <a:latin typeface="微软雅黑" panose="020B0503020204020204" pitchFamily="34" charset="-122"/>
              </a:rPr>
              <a:t>二阶肾病</a:t>
            </a:r>
            <a:endParaRPr lang="en-US" altLang="zh-CN" sz="1400" b="1">
              <a:solidFill>
                <a:schemeClr val="accent4">
                  <a:lumMod val="60000"/>
                  <a:lumOff val="40000"/>
                </a:schemeClr>
              </a:solidFill>
              <a:latin typeface="微软雅黑" panose="020B0503020204020204" pitchFamily="34" charset="-122"/>
            </a:endParaRPr>
          </a:p>
        </p:txBody>
      </p:sp>
      <p:sp>
        <p:nvSpPr>
          <p:cNvPr id="32782" name="CustomText3"/>
          <p:cNvSpPr txBox="1">
            <a:spLocks noChangeArrowheads="1"/>
          </p:cNvSpPr>
          <p:nvPr/>
        </p:nvSpPr>
        <p:spPr bwMode="auto">
          <a:xfrm flipH="1">
            <a:off x="8424957" y="2555487"/>
            <a:ext cx="493017" cy="194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a:lnSpc>
                <a:spcPct val="100000"/>
              </a:lnSpc>
              <a:spcBef>
                <a:spcPct val="0"/>
              </a:spcBef>
              <a:buFontTx/>
              <a:buNone/>
            </a:pPr>
            <a:r>
              <a:rPr lang="zh-CN" altLang="en-US" sz="1400" b="1">
                <a:solidFill>
                  <a:srgbClr val="EE8640"/>
                </a:solidFill>
                <a:latin typeface="微软雅黑" panose="020B0503020204020204" pitchFamily="34" charset="-122"/>
              </a:rPr>
              <a:t>三阶肾病</a:t>
            </a:r>
            <a:endParaRPr lang="en-US" altLang="zh-CN" sz="1400" b="1">
              <a:solidFill>
                <a:srgbClr val="EE8640"/>
              </a:solidFill>
              <a:latin typeface="微软雅黑" panose="020B0503020204020204" pitchFamily="34" charset="-122"/>
            </a:endParaRPr>
          </a:p>
        </p:txBody>
      </p:sp>
      <p:sp>
        <p:nvSpPr>
          <p:cNvPr id="45" name="ValueText4">
            <a:extLst/>
          </p:cNvPr>
          <p:cNvSpPr txBox="1"/>
          <p:nvPr/>
        </p:nvSpPr>
        <p:spPr bwMode="auto">
          <a:xfrm>
            <a:off x="8657279" y="2863052"/>
            <a:ext cx="300363" cy="172748"/>
          </a:xfrm>
          <a:prstGeom prst="rect">
            <a:avLst/>
          </a:prstGeom>
          <a:noFill/>
          <a:ln>
            <a:noFill/>
          </a:ln>
        </p:spPr>
        <p:txBody>
          <a:bodyPr wrap="none" lIns="0" tIns="0" rIns="0" bIns="0" anchor="ctr" anchorCtr="1">
            <a:prstTxWarp prst="textPlain">
              <a:avLst/>
            </a:prstTxWarp>
            <a:normAutofit fontScale="85000" lnSpcReduction="20000"/>
          </a:bodyPr>
          <a:lstStyle/>
          <a:p>
            <a:pPr algn="ctr">
              <a:defRPr/>
            </a:pPr>
            <a:endParaRPr lang="en-US" altLang="zh-CN" sz="1600">
              <a:solidFill>
                <a:schemeClr val="bg1"/>
              </a:solidFill>
              <a:latin typeface="Impact" panose="020B0806030902050204" pitchFamily="34" charset="0"/>
            </a:endParaRPr>
          </a:p>
        </p:txBody>
      </p:sp>
      <p:sp>
        <p:nvSpPr>
          <p:cNvPr id="32784" name="CustomText4"/>
          <p:cNvSpPr txBox="1">
            <a:spLocks noChangeArrowheads="1"/>
          </p:cNvSpPr>
          <p:nvPr/>
        </p:nvSpPr>
        <p:spPr bwMode="auto">
          <a:xfrm flipH="1">
            <a:off x="8391002" y="2260238"/>
            <a:ext cx="566639" cy="261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a:lnSpc>
                <a:spcPct val="100000"/>
              </a:lnSpc>
              <a:spcBef>
                <a:spcPct val="0"/>
              </a:spcBef>
              <a:buFontTx/>
              <a:buNone/>
            </a:pPr>
            <a:r>
              <a:rPr lang="zh-CN" altLang="en-US" sz="1400" b="1">
                <a:solidFill>
                  <a:srgbClr val="C00000"/>
                </a:solidFill>
                <a:effectLst>
                  <a:outerShdw blurRad="38100" dist="38100" dir="2700000" algn="tl">
                    <a:srgbClr val="000000">
                      <a:alpha val="43137"/>
                    </a:srgbClr>
                  </a:outerShdw>
                </a:effectLst>
                <a:latin typeface="微软雅黑" panose="020B0503020204020204" pitchFamily="34" charset="-122"/>
              </a:rPr>
              <a:t>四阶肾病</a:t>
            </a:r>
            <a:endParaRPr lang="en-US" altLang="zh-CN" sz="1400" b="1">
              <a:solidFill>
                <a:srgbClr val="C00000"/>
              </a:solidFill>
              <a:effectLst>
                <a:outerShdw blurRad="38100" dist="38100" dir="2700000" algn="tl">
                  <a:srgbClr val="000000">
                    <a:alpha val="43137"/>
                  </a:srgbClr>
                </a:outerShdw>
              </a:effectLst>
              <a:latin typeface="微软雅黑" panose="020B0503020204020204" pitchFamily="34" charset="-122"/>
            </a:endParaRPr>
          </a:p>
        </p:txBody>
      </p:sp>
      <p:sp>
        <p:nvSpPr>
          <p:cNvPr id="32785" name="Line 6"/>
          <p:cNvSpPr>
            <a:spLocks/>
          </p:cNvSpPr>
          <p:nvPr/>
        </p:nvSpPr>
        <p:spPr bwMode="auto">
          <a:xfrm>
            <a:off x="8252595" y="1961481"/>
            <a:ext cx="0" cy="1209568"/>
          </a:xfrm>
          <a:prstGeom prst="line">
            <a:avLst/>
          </a:prstGeom>
          <a:noFill/>
          <a:ln w="9525">
            <a:solidFill>
              <a:srgbClr val="D9D9D9"/>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51" name="RelativeShape4">
            <a:extLst/>
          </p:cNvPr>
          <p:cNvSpPr/>
          <p:nvPr/>
        </p:nvSpPr>
        <p:spPr bwMode="auto">
          <a:xfrm>
            <a:off x="6433368" y="2885405"/>
            <a:ext cx="1819275" cy="1791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52" name="RelativeShape3">
            <a:extLst/>
          </p:cNvPr>
          <p:cNvSpPr/>
          <p:nvPr/>
        </p:nvSpPr>
        <p:spPr bwMode="auto">
          <a:xfrm>
            <a:off x="6433368" y="2640931"/>
            <a:ext cx="1819275" cy="127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53" name="RelativeShape2">
            <a:extLst/>
          </p:cNvPr>
          <p:cNvSpPr/>
          <p:nvPr/>
        </p:nvSpPr>
        <p:spPr bwMode="auto">
          <a:xfrm>
            <a:off x="6433368" y="2394868"/>
            <a:ext cx="1819275" cy="127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54" name="RelativeShape1">
            <a:extLst/>
          </p:cNvPr>
          <p:cNvSpPr/>
          <p:nvPr/>
        </p:nvSpPr>
        <p:spPr bwMode="auto">
          <a:xfrm>
            <a:off x="6433368" y="2147218"/>
            <a:ext cx="1819275" cy="127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55" name="ValueShape44">
            <a:extLst/>
          </p:cNvPr>
          <p:cNvSpPr/>
          <p:nvPr/>
        </p:nvSpPr>
        <p:spPr bwMode="auto">
          <a:xfrm>
            <a:off x="6796858" y="2801209"/>
            <a:ext cx="1451175" cy="269809"/>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solidFill>
                <a:schemeClr val="accent4">
                  <a:lumMod val="60000"/>
                  <a:lumOff val="40000"/>
                </a:schemeClr>
              </a:solidFill>
            </a:endParaRPr>
          </a:p>
        </p:txBody>
      </p:sp>
      <p:sp>
        <p:nvSpPr>
          <p:cNvPr id="56" name="ValueShape33">
            <a:extLst/>
          </p:cNvPr>
          <p:cNvSpPr/>
          <p:nvPr/>
        </p:nvSpPr>
        <p:spPr bwMode="auto">
          <a:xfrm>
            <a:off x="6615882" y="2539270"/>
            <a:ext cx="1636761" cy="261845"/>
          </a:xfrm>
          <a:prstGeom prst="rect">
            <a:avLst/>
          </a:prstGeom>
          <a:solidFill>
            <a:srgbClr val="EE86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57" name="ValueShape22">
            <a:extLst/>
          </p:cNvPr>
          <p:cNvSpPr/>
          <p:nvPr/>
        </p:nvSpPr>
        <p:spPr bwMode="auto">
          <a:xfrm>
            <a:off x="6469596" y="2290153"/>
            <a:ext cx="1782999" cy="254476"/>
          </a:xfrm>
          <a:prstGeom prst="rect">
            <a:avLst/>
          </a:prstGeom>
          <a:solidFill>
            <a:srgbClr val="FF292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5" name="矩形 4"/>
          <p:cNvSpPr/>
          <p:nvPr/>
        </p:nvSpPr>
        <p:spPr>
          <a:xfrm>
            <a:off x="368300" y="1284722"/>
            <a:ext cx="3647152" cy="369332"/>
          </a:xfrm>
          <a:prstGeom prst="rect">
            <a:avLst/>
          </a:prstGeom>
        </p:spPr>
        <p:txBody>
          <a:bodyPr wrap="none">
            <a:spAutoFit/>
          </a:bodyPr>
          <a:lstStyle/>
          <a:p>
            <a:r>
              <a:rPr lang="zh-CN" altLang="en-US">
                <a:solidFill>
                  <a:schemeClr val="tx2">
                    <a:lumMod val="75000"/>
                  </a:schemeClr>
                </a:solidFill>
                <a:latin typeface="微软雅黑 Light" panose="020B0502040204020203" pitchFamily="34" charset="-122"/>
                <a:ea typeface="微软雅黑 Light" panose="020B0502040204020203" pitchFamily="34" charset="-122"/>
              </a:rPr>
              <a:t>一次检查结果并不作数，切记切记</a:t>
            </a:r>
          </a:p>
        </p:txBody>
      </p:sp>
      <p:graphicFrame>
        <p:nvGraphicFramePr>
          <p:cNvPr id="8" name="表格 7"/>
          <p:cNvGraphicFramePr>
            <a:graphicFrameLocks noGrp="1"/>
          </p:cNvGraphicFramePr>
          <p:nvPr>
            <p:extLst/>
          </p:nvPr>
        </p:nvGraphicFramePr>
        <p:xfrm>
          <a:off x="-47" y="1925449"/>
          <a:ext cx="5041900" cy="4498209"/>
        </p:xfrm>
        <a:graphic>
          <a:graphicData uri="http://schemas.openxmlformats.org/drawingml/2006/table">
            <a:tbl>
              <a:tblPr firstRow="1" bandRow="1">
                <a:tableStyleId>{5C22544A-7EE6-4342-B048-85BDC9FD1C3A}</a:tableStyleId>
              </a:tblPr>
              <a:tblGrid>
                <a:gridCol w="1264554">
                  <a:extLst>
                    <a:ext uri="{9D8B030D-6E8A-4147-A177-3AD203B41FA5}">
                      <a16:colId xmlns:a16="http://schemas.microsoft.com/office/drawing/2014/main" val="2717285475"/>
                    </a:ext>
                  </a:extLst>
                </a:gridCol>
                <a:gridCol w="1237862">
                  <a:extLst>
                    <a:ext uri="{9D8B030D-6E8A-4147-A177-3AD203B41FA5}">
                      <a16:colId xmlns:a16="http://schemas.microsoft.com/office/drawing/2014/main" val="570801397"/>
                    </a:ext>
                  </a:extLst>
                </a:gridCol>
                <a:gridCol w="1279009">
                  <a:extLst>
                    <a:ext uri="{9D8B030D-6E8A-4147-A177-3AD203B41FA5}">
                      <a16:colId xmlns:a16="http://schemas.microsoft.com/office/drawing/2014/main" val="1609321145"/>
                    </a:ext>
                  </a:extLst>
                </a:gridCol>
                <a:gridCol w="1260475">
                  <a:extLst>
                    <a:ext uri="{9D8B030D-6E8A-4147-A177-3AD203B41FA5}">
                      <a16:colId xmlns:a16="http://schemas.microsoft.com/office/drawing/2014/main" val="271056896"/>
                    </a:ext>
                  </a:extLst>
                </a:gridCol>
              </a:tblGrid>
              <a:tr h="943696">
                <a:tc>
                  <a:txBody>
                    <a:bodyPr/>
                    <a:lstStyle/>
                    <a:p>
                      <a:pPr algn="ctr"/>
                      <a:endParaRPr lang="zh-CN" altLang="en-US" sz="1600" b="1">
                        <a:latin typeface="微软雅黑" panose="020B0503020204020204" pitchFamily="34" charset="-122"/>
                        <a:ea typeface="微软雅黑" panose="020B0503020204020204" pitchFamily="34" charset="-122"/>
                      </a:endParaRPr>
                    </a:p>
                  </a:txBody>
                  <a:tcPr>
                    <a:solidFill>
                      <a:schemeClr val="bg1"/>
                    </a:solidFill>
                  </a:tcPr>
                </a:tc>
                <a:tc>
                  <a:txBody>
                    <a:bodyPr/>
                    <a:lstStyle/>
                    <a:p>
                      <a:pPr algn="ctr"/>
                      <a:endParaRPr lang="en-US" altLang="zh-CN" sz="16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ctr"/>
                      <a:r>
                        <a:rPr lang="zh-CN" altLang="en-US" sz="16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二阶肾病</a:t>
                      </a:r>
                    </a:p>
                  </a:txBody>
                  <a:tcPr>
                    <a:solidFill>
                      <a:schemeClr val="accent4">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altLang="zh-CN" sz="1600" b="1">
                        <a:solidFill>
                          <a:schemeClr val="accent4">
                            <a:lumMod val="20000"/>
                            <a:lumOff val="8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b="1">
                          <a:solidFill>
                            <a:schemeClr val="accent4">
                              <a:lumMod val="20000"/>
                              <a:lumOff val="8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三阶肾病</a:t>
                      </a:r>
                    </a:p>
                  </a:txBody>
                  <a:tcPr>
                    <a:solidFill>
                      <a:srgbClr val="EE864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altLang="zh-CN" sz="1600" b="1">
                        <a:solidFill>
                          <a:schemeClr val="accent4">
                            <a:lumMod val="60000"/>
                            <a:lumOff val="4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b="1">
                          <a:solidFill>
                            <a:schemeClr val="accent4">
                              <a:lumMod val="60000"/>
                              <a:lumOff val="4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四阶肾病</a:t>
                      </a:r>
                    </a:p>
                  </a:txBody>
                  <a:tcPr>
                    <a:solidFill>
                      <a:srgbClr val="FF2929"/>
                    </a:solidFill>
                  </a:tcPr>
                </a:tc>
                <a:extLst>
                  <a:ext uri="{0D108BD9-81ED-4DB2-BD59-A6C34878D82A}">
                    <a16:rowId xmlns:a16="http://schemas.microsoft.com/office/drawing/2014/main" val="2585280960"/>
                  </a:ext>
                </a:extLst>
              </a:tr>
              <a:tr h="94369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b="1">
                          <a:solidFill>
                            <a:schemeClr val="tx2">
                              <a:lumMod val="75000"/>
                            </a:schemeClr>
                          </a:solidFill>
                          <a:latin typeface="微软雅黑" panose="020B0503020204020204" pitchFamily="34" charset="-122"/>
                          <a:ea typeface="微软雅黑" panose="020B0503020204020204" pitchFamily="34" charset="-122"/>
                        </a:rPr>
                        <a:t>肌酐</a:t>
                      </a:r>
                      <a:endParaRPr lang="en-US" altLang="zh-CN" sz="1600" b="1">
                        <a:solidFill>
                          <a:schemeClr val="tx2">
                            <a:lumMod val="75000"/>
                          </a:schemeClr>
                        </a:solidFill>
                        <a:latin typeface="微软雅黑" panose="020B0503020204020204" pitchFamily="34" charset="-122"/>
                        <a:ea typeface="微软雅黑" panose="020B0503020204020204" pitchFamily="34" charset="-122"/>
                      </a:endParaRPr>
                    </a:p>
                    <a:p>
                      <a:pPr marL="0" marR="0" indent="0" algn="ctr" defTabSz="914400" rtl="0" eaLnBrk="1" fontAlgn="auto" latinLnBrk="0" hangingPunct="1">
                        <a:lnSpc>
                          <a:spcPct val="100000"/>
                        </a:lnSpc>
                        <a:spcBef>
                          <a:spcPts val="0"/>
                        </a:spcBef>
                        <a:spcAft>
                          <a:spcPts val="0"/>
                        </a:spcAft>
                        <a:buClrTx/>
                        <a:buSzTx/>
                        <a:buFontTx/>
                        <a:buNone/>
                        <a:tabLst/>
                        <a:defRPr/>
                      </a:pPr>
                      <a:r>
                        <a:rPr lang="el-GR" altLang="zh-CN" sz="1600" b="1" u="sng">
                          <a:solidFill>
                            <a:schemeClr val="bg2">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μ</a:t>
                      </a:r>
                      <a:r>
                        <a:rPr lang="en-US" altLang="zh-CN" sz="1600" b="1" u="sng">
                          <a:solidFill>
                            <a:schemeClr val="bg2">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mol/L </a:t>
                      </a:r>
                      <a:endParaRPr lang="zh-CN" altLang="en-US" sz="1600" b="1" u="sng">
                        <a:solidFill>
                          <a:schemeClr val="bg2">
                            <a:lumMod val="50000"/>
                          </a:schemeClr>
                        </a:solidFill>
                        <a:latin typeface="微软雅黑" panose="020B0503020204020204" pitchFamily="34" charset="-122"/>
                        <a:ea typeface="微软雅黑" panose="020B0503020204020204" pitchFamily="34" charset="-122"/>
                      </a:endParaRPr>
                    </a:p>
                    <a:p>
                      <a:pPr algn="ctr"/>
                      <a:endParaRPr lang="zh-CN" altLang="en-US" sz="1600" b="1">
                        <a:latin typeface="微软雅黑" panose="020B0503020204020204" pitchFamily="34" charset="-122"/>
                        <a:ea typeface="微软雅黑" panose="020B0503020204020204" pitchFamily="34" charset="-122"/>
                      </a:endParaRPr>
                    </a:p>
                  </a:txBody>
                  <a:tcPr>
                    <a:solidFill>
                      <a:schemeClr val="bg1"/>
                    </a:solidFill>
                  </a:tcPr>
                </a:tc>
                <a:tc>
                  <a:txBody>
                    <a:bodyPr/>
                    <a:lstStyle/>
                    <a:p>
                      <a:pPr algn="ctr">
                        <a:lnSpc>
                          <a:spcPct val="150000"/>
                        </a:lnSpc>
                      </a:pPr>
                      <a:r>
                        <a:rPr lang="zh-CN" altLang="en-US" sz="16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16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140</a:t>
                      </a:r>
                      <a:endParaRPr lang="zh-CN" altLang="en-US" sz="16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a:solidFill>
                      <a:schemeClr val="accent4">
                        <a:lumMod val="40000"/>
                        <a:lumOff val="60000"/>
                      </a:schemeClr>
                    </a:solidFill>
                  </a:tcPr>
                </a:tc>
                <a:tc>
                  <a:txBody>
                    <a:bodyPr/>
                    <a:lstStyle/>
                    <a:p>
                      <a:pPr marL="0" marR="0" indent="0" algn="ctr" defTabSz="914400" rtl="0" eaLnBrk="1" fontAlgn="auto" latinLnBrk="0" hangingPunct="1">
                        <a:lnSpc>
                          <a:spcPct val="150000"/>
                        </a:lnSpc>
                        <a:spcBef>
                          <a:spcPts val="0"/>
                        </a:spcBef>
                        <a:spcAft>
                          <a:spcPts val="0"/>
                        </a:spcAft>
                        <a:buClrTx/>
                        <a:buSzTx/>
                        <a:buFontTx/>
                        <a:buNone/>
                        <a:tabLst/>
                        <a:defRPr/>
                      </a:pPr>
                      <a:r>
                        <a:rPr lang="en-US" altLang="zh-CN" sz="1600" b="1">
                          <a:solidFill>
                            <a:schemeClr val="accent4">
                              <a:lumMod val="20000"/>
                              <a:lumOff val="8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250-439</a:t>
                      </a:r>
                      <a:endParaRPr lang="zh-CN" altLang="en-US" sz="1600" b="1">
                        <a:solidFill>
                          <a:schemeClr val="accent4">
                            <a:lumMod val="20000"/>
                            <a:lumOff val="8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a:solidFill>
                      <a:srgbClr val="EE8640"/>
                    </a:solidFill>
                  </a:tcPr>
                </a:tc>
                <a:tc>
                  <a:txBody>
                    <a:bodyPr/>
                    <a:lstStyle/>
                    <a:p>
                      <a:pPr marL="0" marR="0" indent="0" algn="ctr" defTabSz="914400" rtl="0" eaLnBrk="1" fontAlgn="auto" latinLnBrk="0" hangingPunct="1">
                        <a:lnSpc>
                          <a:spcPct val="150000"/>
                        </a:lnSpc>
                        <a:spcBef>
                          <a:spcPts val="0"/>
                        </a:spcBef>
                        <a:spcAft>
                          <a:spcPts val="0"/>
                        </a:spcAft>
                        <a:buClrTx/>
                        <a:buSzTx/>
                        <a:buFontTx/>
                        <a:buNone/>
                        <a:tabLst/>
                        <a:defRPr/>
                      </a:pPr>
                      <a:r>
                        <a:rPr lang="zh-CN" altLang="en-US" sz="1600" b="1">
                          <a:solidFill>
                            <a:schemeClr val="accent4">
                              <a:lumMod val="60000"/>
                              <a:lumOff val="4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1600" b="1">
                          <a:solidFill>
                            <a:schemeClr val="accent4">
                              <a:lumMod val="60000"/>
                              <a:lumOff val="4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440</a:t>
                      </a:r>
                      <a:endParaRPr lang="zh-CN" altLang="en-US" sz="1600" b="1">
                        <a:solidFill>
                          <a:schemeClr val="accent4">
                            <a:lumMod val="60000"/>
                            <a:lumOff val="4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a:solidFill>
                      <a:srgbClr val="FF2929"/>
                    </a:solidFill>
                  </a:tcPr>
                </a:tc>
                <a:extLst>
                  <a:ext uri="{0D108BD9-81ED-4DB2-BD59-A6C34878D82A}">
                    <a16:rowId xmlns:a16="http://schemas.microsoft.com/office/drawing/2014/main" val="2112469746"/>
                  </a:ext>
                </a:extLst>
              </a:tr>
              <a:tr h="90413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b="1">
                          <a:solidFill>
                            <a:schemeClr val="tx2">
                              <a:lumMod val="75000"/>
                            </a:schemeClr>
                          </a:solidFill>
                          <a:latin typeface="微软雅黑" panose="020B0503020204020204" pitchFamily="34" charset="-122"/>
                          <a:ea typeface="微软雅黑" panose="020B0503020204020204" pitchFamily="34" charset="-122"/>
                        </a:rPr>
                        <a:t>肌酐</a:t>
                      </a:r>
                      <a:endParaRPr lang="en-US" altLang="zh-CN" sz="1600" b="1">
                        <a:solidFill>
                          <a:schemeClr val="tx2">
                            <a:lumMod val="75000"/>
                          </a:schemeClr>
                        </a:solidFill>
                        <a:latin typeface="微软雅黑" panose="020B0503020204020204" pitchFamily="34" charset="-122"/>
                        <a:ea typeface="微软雅黑" panose="020B0503020204020204" pitchFamily="34" charset="-122"/>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b="1" u="sng">
                          <a:solidFill>
                            <a:schemeClr val="bg2">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mg/dl</a:t>
                      </a:r>
                      <a:endParaRPr lang="zh-CN" altLang="en-US" sz="1600" b="1" u="sng">
                        <a:solidFill>
                          <a:schemeClr val="bg2">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ctr"/>
                      <a:endParaRPr lang="zh-CN" altLang="en-US" sz="1600" b="1">
                        <a:latin typeface="微软雅黑" panose="020B0503020204020204" pitchFamily="34" charset="-122"/>
                        <a:ea typeface="微软雅黑" panose="020B0503020204020204" pitchFamily="34" charset="-122"/>
                      </a:endParaRPr>
                    </a:p>
                  </a:txBody>
                  <a:tcPr>
                    <a:solidFill>
                      <a:schemeClr val="bg1"/>
                    </a:solidFill>
                  </a:tcPr>
                </a:tc>
                <a:tc>
                  <a:txBody>
                    <a:bodyPr/>
                    <a:lstStyle/>
                    <a:p>
                      <a:pPr algn="ctr">
                        <a:lnSpc>
                          <a:spcPct val="150000"/>
                        </a:lnSpc>
                      </a:pPr>
                      <a:r>
                        <a:rPr lang="zh-CN" altLang="en-US" sz="16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16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1.6</a:t>
                      </a:r>
                      <a:endParaRPr lang="zh-CN" altLang="en-US" sz="16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a:solidFill>
                      <a:schemeClr val="accent4">
                        <a:lumMod val="40000"/>
                        <a:lumOff val="60000"/>
                      </a:schemeClr>
                    </a:solidFill>
                  </a:tcPr>
                </a:tc>
                <a:tc>
                  <a:txBody>
                    <a:bodyPr/>
                    <a:lstStyle/>
                    <a:p>
                      <a:pPr algn="ctr">
                        <a:lnSpc>
                          <a:spcPct val="150000"/>
                        </a:lnSpc>
                      </a:pPr>
                      <a:r>
                        <a:rPr lang="en-US" altLang="zh-CN" sz="1600" b="1">
                          <a:solidFill>
                            <a:schemeClr val="accent4">
                              <a:lumMod val="20000"/>
                              <a:lumOff val="8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2.9-5.0</a:t>
                      </a:r>
                      <a:endParaRPr lang="zh-CN" altLang="en-US" sz="1600" b="1">
                        <a:solidFill>
                          <a:schemeClr val="accent4">
                            <a:lumMod val="20000"/>
                            <a:lumOff val="8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a:solidFill>
                      <a:srgbClr val="EE8640"/>
                    </a:solidFill>
                  </a:tcPr>
                </a:tc>
                <a:tc>
                  <a:txBody>
                    <a:bodyPr/>
                    <a:lstStyle/>
                    <a:p>
                      <a:pPr algn="ctr">
                        <a:lnSpc>
                          <a:spcPct val="150000"/>
                        </a:lnSpc>
                      </a:pPr>
                      <a:r>
                        <a:rPr lang="zh-CN" altLang="en-US" sz="1600" b="1">
                          <a:solidFill>
                            <a:schemeClr val="accent4">
                              <a:lumMod val="60000"/>
                              <a:lumOff val="4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1600" b="1">
                          <a:solidFill>
                            <a:schemeClr val="accent4">
                              <a:lumMod val="60000"/>
                              <a:lumOff val="4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5.0</a:t>
                      </a:r>
                      <a:endParaRPr lang="zh-CN" altLang="en-US" sz="1600" b="1">
                        <a:solidFill>
                          <a:schemeClr val="accent4">
                            <a:lumMod val="60000"/>
                            <a:lumOff val="4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a:solidFill>
                      <a:srgbClr val="FF2929"/>
                    </a:solidFill>
                  </a:tcPr>
                </a:tc>
                <a:extLst>
                  <a:ext uri="{0D108BD9-81ED-4DB2-BD59-A6C34878D82A}">
                    <a16:rowId xmlns:a16="http://schemas.microsoft.com/office/drawing/2014/main" val="3324980692"/>
                  </a:ext>
                </a:extLst>
              </a:tr>
              <a:tr h="853339">
                <a:tc>
                  <a:txBody>
                    <a:bodyPr/>
                    <a:lstStyle/>
                    <a:p>
                      <a:pPr algn="ctr"/>
                      <a:r>
                        <a:rPr lang="zh-CN" altLang="en-US" sz="1600" b="1">
                          <a:solidFill>
                            <a:schemeClr val="tx2">
                              <a:lumMod val="75000"/>
                            </a:schemeClr>
                          </a:solidFill>
                          <a:latin typeface="微软雅黑" panose="020B0503020204020204" pitchFamily="34" charset="-122"/>
                          <a:ea typeface="微软雅黑" panose="020B0503020204020204" pitchFamily="34" charset="-122"/>
                        </a:rPr>
                        <a:t>目标血磷</a:t>
                      </a:r>
                      <a:endParaRPr lang="en-US" altLang="zh-CN" sz="1600" b="1">
                        <a:solidFill>
                          <a:schemeClr val="tx2">
                            <a:lumMod val="75000"/>
                          </a:schemeClr>
                        </a:solidFill>
                        <a:latin typeface="微软雅黑" panose="020B0503020204020204" pitchFamily="34" charset="-122"/>
                        <a:ea typeface="微软雅黑" panose="020B0503020204020204" pitchFamily="34" charset="-122"/>
                      </a:endParaRPr>
                    </a:p>
                    <a:p>
                      <a:pPr algn="ctr"/>
                      <a:r>
                        <a:rPr lang="en-US" altLang="zh-CN" sz="1600" b="1" u="sng">
                          <a:solidFill>
                            <a:schemeClr val="bg2">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mmol/</a:t>
                      </a:r>
                      <a:r>
                        <a:rPr lang="en-US" altLang="zh-CN" sz="1600" b="1">
                          <a:solidFill>
                            <a:schemeClr val="bg2">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L</a:t>
                      </a:r>
                      <a:endParaRPr lang="zh-CN" altLang="en-US" sz="1600" b="1">
                        <a:solidFill>
                          <a:schemeClr val="bg2">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a:solidFill>
                      <a:schemeClr val="bg1"/>
                    </a:solidFill>
                  </a:tcPr>
                </a:tc>
                <a:tc>
                  <a:txBody>
                    <a:bodyPr/>
                    <a:lstStyle/>
                    <a:p>
                      <a:pPr algn="ctr">
                        <a:lnSpc>
                          <a:spcPct val="150000"/>
                        </a:lnSpc>
                      </a:pPr>
                      <a:r>
                        <a:rPr lang="en-US" altLang="zh-CN" sz="16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0.81-1.45</a:t>
                      </a:r>
                      <a:endParaRPr lang="zh-CN" altLang="en-US" sz="16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a:solidFill>
                      <a:schemeClr val="accent4">
                        <a:lumMod val="40000"/>
                        <a:lumOff val="60000"/>
                      </a:schemeClr>
                    </a:solidFill>
                  </a:tcPr>
                </a:tc>
                <a:tc>
                  <a:txBody>
                    <a:bodyPr/>
                    <a:lstStyle/>
                    <a:p>
                      <a:pPr algn="ctr">
                        <a:lnSpc>
                          <a:spcPct val="150000"/>
                        </a:lnSpc>
                      </a:pPr>
                      <a:r>
                        <a:rPr lang="en-US" altLang="zh-CN" sz="1600" b="1">
                          <a:solidFill>
                            <a:schemeClr val="accent4">
                              <a:lumMod val="20000"/>
                              <a:lumOff val="8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0.81-1.61</a:t>
                      </a:r>
                      <a:endParaRPr lang="zh-CN" altLang="en-US" sz="1600" b="1">
                        <a:solidFill>
                          <a:schemeClr val="accent4">
                            <a:lumMod val="20000"/>
                            <a:lumOff val="8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a:solidFill>
                      <a:srgbClr val="EE8640"/>
                    </a:solidFill>
                  </a:tcPr>
                </a:tc>
                <a:tc>
                  <a:txBody>
                    <a:bodyPr/>
                    <a:lstStyle/>
                    <a:p>
                      <a:pPr algn="ctr">
                        <a:lnSpc>
                          <a:spcPct val="150000"/>
                        </a:lnSpc>
                      </a:pPr>
                      <a:r>
                        <a:rPr lang="en-US" altLang="zh-CN" sz="1600" b="1">
                          <a:solidFill>
                            <a:schemeClr val="accent4">
                              <a:lumMod val="60000"/>
                              <a:lumOff val="4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0.81-1.94</a:t>
                      </a:r>
                      <a:endParaRPr lang="zh-CN" altLang="en-US" sz="1600" b="1">
                        <a:solidFill>
                          <a:schemeClr val="accent4">
                            <a:lumMod val="60000"/>
                            <a:lumOff val="4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a:solidFill>
                      <a:srgbClr val="FF2929"/>
                    </a:solidFill>
                  </a:tcPr>
                </a:tc>
                <a:extLst>
                  <a:ext uri="{0D108BD9-81ED-4DB2-BD59-A6C34878D82A}">
                    <a16:rowId xmlns:a16="http://schemas.microsoft.com/office/drawing/2014/main" val="1372434213"/>
                  </a:ext>
                </a:extLst>
              </a:tr>
              <a:tr h="853339">
                <a:tc>
                  <a:txBody>
                    <a:bodyPr/>
                    <a:lstStyle/>
                    <a:p>
                      <a:pPr algn="ctr"/>
                      <a:endParaRPr lang="en-US" altLang="zh-CN" sz="1600" b="1">
                        <a:solidFill>
                          <a:schemeClr val="bg2">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ctr"/>
                      <a:r>
                        <a:rPr lang="zh-CN" altLang="en-US" sz="16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阶段特点</a:t>
                      </a:r>
                    </a:p>
                  </a:txBody>
                  <a:tcPr>
                    <a:solidFill>
                      <a:schemeClr val="bg1"/>
                    </a:solidFill>
                  </a:tcPr>
                </a:tc>
                <a:tc>
                  <a:txBody>
                    <a:bodyPr/>
                    <a:lstStyle/>
                    <a:p>
                      <a:pPr algn="l"/>
                      <a:endParaRPr lang="en-US" altLang="zh-CN" sz="14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l"/>
                      <a:r>
                        <a:rPr lang="zh-CN" altLang="en-US" sz="14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长时间稳定，应开始限磷。</a:t>
                      </a:r>
                    </a:p>
                  </a:txBody>
                  <a:tcPr>
                    <a:solidFill>
                      <a:schemeClr val="accent4">
                        <a:lumMod val="40000"/>
                        <a:lumOff val="60000"/>
                      </a:schemeClr>
                    </a:solidFill>
                  </a:tcPr>
                </a:tc>
                <a:tc>
                  <a:txBody>
                    <a:bodyPr/>
                    <a:lstStyle/>
                    <a:p>
                      <a:pPr algn="l"/>
                      <a:endParaRPr lang="zh-CN" altLang="en-US" sz="1600" b="1">
                        <a:solidFill>
                          <a:schemeClr val="accent4">
                            <a:lumMod val="20000"/>
                            <a:lumOff val="8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a:solidFill>
                      <a:srgbClr val="EE8640"/>
                    </a:solidFill>
                  </a:tcPr>
                </a:tc>
                <a:tc>
                  <a:txBody>
                    <a:bodyPr/>
                    <a:lstStyle/>
                    <a:p>
                      <a:pPr algn="l"/>
                      <a:endParaRPr lang="zh-CN" altLang="en-US" sz="1600" b="1">
                        <a:solidFill>
                          <a:schemeClr val="accent4">
                            <a:lumMod val="60000"/>
                            <a:lumOff val="4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a:solidFill>
                      <a:srgbClr val="FF2929"/>
                    </a:solidFill>
                  </a:tcPr>
                </a:tc>
                <a:extLst>
                  <a:ext uri="{0D108BD9-81ED-4DB2-BD59-A6C34878D82A}">
                    <a16:rowId xmlns:a16="http://schemas.microsoft.com/office/drawing/2014/main" val="505459469"/>
                  </a:ext>
                </a:extLst>
              </a:tr>
            </a:tbl>
          </a:graphicData>
        </a:graphic>
      </p:graphicFrame>
      <p:sp>
        <p:nvSpPr>
          <p:cNvPr id="10" name="文本框 9"/>
          <p:cNvSpPr txBox="1"/>
          <p:nvPr/>
        </p:nvSpPr>
        <p:spPr>
          <a:xfrm>
            <a:off x="2523622" y="5798333"/>
            <a:ext cx="1296144" cy="523220"/>
          </a:xfrm>
          <a:prstGeom prst="rect">
            <a:avLst/>
          </a:prstGeom>
          <a:noFill/>
        </p:spPr>
        <p:txBody>
          <a:bodyPr wrap="square" rtlCol="0">
            <a:spAutoFit/>
          </a:bodyPr>
          <a:lstStyle/>
          <a:p>
            <a:r>
              <a:rPr lang="zh-CN" altLang="en-US" sz="14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开始恶化，并发症增多。</a:t>
            </a:r>
          </a:p>
        </p:txBody>
      </p:sp>
      <p:sp>
        <p:nvSpPr>
          <p:cNvPr id="11" name="文本框 10"/>
          <p:cNvSpPr txBox="1"/>
          <p:nvPr/>
        </p:nvSpPr>
        <p:spPr>
          <a:xfrm>
            <a:off x="3897991" y="5684994"/>
            <a:ext cx="1108330" cy="738664"/>
          </a:xfrm>
          <a:prstGeom prst="rect">
            <a:avLst/>
          </a:prstGeom>
          <a:noFill/>
        </p:spPr>
        <p:txBody>
          <a:bodyPr wrap="square" rtlCol="0">
            <a:spAutoFit/>
          </a:bodyPr>
          <a:lstStyle/>
          <a:p>
            <a:r>
              <a:rPr lang="zh-CN" altLang="en-US" sz="1400" b="1">
                <a:solidFill>
                  <a:schemeClr val="tx1">
                    <a:lumMod val="85000"/>
                    <a:lumOff val="1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对抗尿毒症，可能需要控蛋白摄入</a:t>
            </a:r>
          </a:p>
        </p:txBody>
      </p:sp>
      <p:sp>
        <p:nvSpPr>
          <p:cNvPr id="12" name="文本框 11"/>
          <p:cNvSpPr txBox="1"/>
          <p:nvPr/>
        </p:nvSpPr>
        <p:spPr>
          <a:xfrm>
            <a:off x="6757451" y="2766836"/>
            <a:ext cx="1677706" cy="307777"/>
          </a:xfrm>
          <a:prstGeom prst="rect">
            <a:avLst/>
          </a:prstGeom>
          <a:noFill/>
        </p:spPr>
        <p:txBody>
          <a:bodyPr wrap="square" rtlCol="0">
            <a:spAutoFit/>
          </a:bodyPr>
          <a:lstStyle/>
          <a:p>
            <a:r>
              <a:rPr lang="zh-CN" altLang="en-US" sz="1400" b="1">
                <a:solidFill>
                  <a:schemeClr val="tx1">
                    <a:lumMod val="75000"/>
                    <a:lumOff val="25000"/>
                  </a:schemeClr>
                </a:solidFill>
                <a:latin typeface="+mj-ea"/>
                <a:ea typeface="+mj-ea"/>
              </a:rPr>
              <a:t>损失：</a:t>
            </a:r>
            <a:r>
              <a:rPr lang="en-US" altLang="zh-CN" sz="1400" b="1">
                <a:solidFill>
                  <a:schemeClr val="tx1">
                    <a:lumMod val="75000"/>
                    <a:lumOff val="25000"/>
                  </a:schemeClr>
                </a:solidFill>
                <a:latin typeface="+mj-ea"/>
                <a:ea typeface="+mj-ea"/>
              </a:rPr>
              <a:t>66-75%</a:t>
            </a:r>
            <a:endParaRPr lang="zh-CN" altLang="en-US" sz="1400" b="1">
              <a:solidFill>
                <a:schemeClr val="tx1">
                  <a:lumMod val="75000"/>
                  <a:lumOff val="25000"/>
                </a:schemeClr>
              </a:solidFill>
              <a:latin typeface="+mj-ea"/>
              <a:ea typeface="+mj-ea"/>
            </a:endParaRPr>
          </a:p>
        </p:txBody>
      </p:sp>
      <p:sp>
        <p:nvSpPr>
          <p:cNvPr id="13" name="文本框 12"/>
          <p:cNvSpPr txBox="1"/>
          <p:nvPr/>
        </p:nvSpPr>
        <p:spPr>
          <a:xfrm>
            <a:off x="6727126" y="2515230"/>
            <a:ext cx="1408788" cy="584775"/>
          </a:xfrm>
          <a:prstGeom prst="rect">
            <a:avLst/>
          </a:prstGeom>
          <a:noFill/>
        </p:spPr>
        <p:txBody>
          <a:bodyPr wrap="square" rtlCol="0">
            <a:spAutoFit/>
          </a:bodyPr>
          <a:lstStyle/>
          <a:p>
            <a:r>
              <a:rPr lang="zh-CN" altLang="en-US" sz="1400" b="1">
                <a:solidFill>
                  <a:schemeClr val="tx1">
                    <a:lumMod val="75000"/>
                    <a:lumOff val="25000"/>
                  </a:schemeClr>
                </a:solidFill>
                <a:latin typeface="+mj-ea"/>
                <a:ea typeface="+mj-ea"/>
              </a:rPr>
              <a:t>损失：</a:t>
            </a:r>
            <a:r>
              <a:rPr lang="en-US" altLang="zh-CN" sz="1400" b="1">
                <a:solidFill>
                  <a:schemeClr val="tx1">
                    <a:lumMod val="75000"/>
                    <a:lumOff val="25000"/>
                  </a:schemeClr>
                </a:solidFill>
                <a:latin typeface="+mj-ea"/>
                <a:ea typeface="+mj-ea"/>
              </a:rPr>
              <a:t>76-90%</a:t>
            </a:r>
            <a:endParaRPr lang="zh-CN" altLang="en-US" sz="1400" b="1">
              <a:solidFill>
                <a:schemeClr val="tx1">
                  <a:lumMod val="75000"/>
                  <a:lumOff val="25000"/>
                </a:schemeClr>
              </a:solidFill>
              <a:latin typeface="+mj-ea"/>
              <a:ea typeface="+mj-ea"/>
            </a:endParaRPr>
          </a:p>
          <a:p>
            <a:endParaRPr lang="zh-CN" altLang="en-US"/>
          </a:p>
        </p:txBody>
      </p:sp>
      <p:sp>
        <p:nvSpPr>
          <p:cNvPr id="14" name="文本框 13"/>
          <p:cNvSpPr txBox="1"/>
          <p:nvPr/>
        </p:nvSpPr>
        <p:spPr>
          <a:xfrm>
            <a:off x="6625575" y="2263502"/>
            <a:ext cx="1573221" cy="307777"/>
          </a:xfrm>
          <a:prstGeom prst="rect">
            <a:avLst/>
          </a:prstGeom>
          <a:noFill/>
        </p:spPr>
        <p:txBody>
          <a:bodyPr wrap="square" rtlCol="0">
            <a:spAutoFit/>
          </a:bodyPr>
          <a:lstStyle/>
          <a:p>
            <a:r>
              <a:rPr lang="zh-CN" altLang="en-US" sz="1400" b="1">
                <a:solidFill>
                  <a:schemeClr val="tx2">
                    <a:lumMod val="75000"/>
                  </a:schemeClr>
                </a:solidFill>
                <a:latin typeface="+mj-ea"/>
                <a:ea typeface="+mj-ea"/>
              </a:rPr>
              <a:t>损失：</a:t>
            </a:r>
            <a:r>
              <a:rPr lang="en-US" altLang="zh-CN" sz="1400" b="1">
                <a:solidFill>
                  <a:schemeClr val="tx2">
                    <a:lumMod val="75000"/>
                  </a:schemeClr>
                </a:solidFill>
                <a:latin typeface="+mj-ea"/>
                <a:ea typeface="+mj-ea"/>
              </a:rPr>
              <a:t>90%</a:t>
            </a:r>
            <a:r>
              <a:rPr lang="zh-CN" altLang="en-US" sz="1400" b="1">
                <a:solidFill>
                  <a:schemeClr val="tx2">
                    <a:lumMod val="75000"/>
                  </a:schemeClr>
                </a:solidFill>
                <a:latin typeface="+mj-ea"/>
                <a:ea typeface="+mj-ea"/>
              </a:rPr>
              <a:t>以上</a:t>
            </a:r>
          </a:p>
        </p:txBody>
      </p:sp>
      <p:sp>
        <p:nvSpPr>
          <p:cNvPr id="15" name="文本框 14"/>
          <p:cNvSpPr txBox="1"/>
          <p:nvPr/>
        </p:nvSpPr>
        <p:spPr>
          <a:xfrm>
            <a:off x="8163741" y="3993478"/>
            <a:ext cx="1954271" cy="923330"/>
          </a:xfrm>
          <a:prstGeom prst="rect">
            <a:avLst/>
          </a:prstGeom>
          <a:noFill/>
        </p:spPr>
        <p:txBody>
          <a:bodyPr wrap="square" rtlCol="0">
            <a:spAutoFit/>
          </a:bodyPr>
          <a:lstStyle/>
          <a:p>
            <a:r>
              <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残余肾机能，重要乎，不重要乎？</a:t>
            </a:r>
          </a:p>
        </p:txBody>
      </p:sp>
    </p:spTree>
    <p:extLst>
      <p:ext uri="{BB962C8B-B14F-4D97-AF65-F5344CB8AC3E}">
        <p14:creationId xmlns:p14="http://schemas.microsoft.com/office/powerpoint/2010/main" val="32572602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0" name="箭头: 五边形 6">
            <a:extLst/>
          </p:cNvPr>
          <p:cNvSpPr/>
          <p:nvPr/>
        </p:nvSpPr>
        <p:spPr>
          <a:xfrm rot="10800000" flipH="1">
            <a:off x="0" y="404813"/>
            <a:ext cx="5041853" cy="1344612"/>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sp>
        <p:nvSpPr>
          <p:cNvPr id="3" name="文本框 14">
            <a:extLst/>
          </p:cNvPr>
          <p:cNvSpPr txBox="1">
            <a:spLocks noChangeArrowheads="1"/>
          </p:cNvSpPr>
          <p:nvPr/>
        </p:nvSpPr>
        <p:spPr bwMode="auto">
          <a:xfrm>
            <a:off x="206616" y="715832"/>
            <a:ext cx="5968056"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buNone/>
            </a:pPr>
            <a:r>
              <a:rPr lang="zh-CN" altLang="en-US" sz="3200" b="1">
                <a:solidFill>
                  <a:schemeClr val="tx2">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猫慢性肾病分级表现</a:t>
            </a:r>
            <a:endParaRPr lang="en-US" altLang="zh-CN" sz="3200" b="1">
              <a:solidFill>
                <a:schemeClr val="tx2">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9" name="ValueShape2">
            <a:extLst/>
          </p:cNvPr>
          <p:cNvSpPr/>
          <p:nvPr/>
        </p:nvSpPr>
        <p:spPr bwMode="auto">
          <a:xfrm>
            <a:off x="7884681" y="2180081"/>
            <a:ext cx="4076700" cy="4076700"/>
          </a:xfrm>
          <a:prstGeom prst="blockArc">
            <a:avLst>
              <a:gd name="adj1" fmla="val 16200000"/>
              <a:gd name="adj2" fmla="val 9180000"/>
              <a:gd name="adj3" fmla="val 5772"/>
            </a:avLst>
          </a:prstGeom>
          <a:solidFill>
            <a:srgbClr val="FF2929"/>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30" name="ValueShape3">
            <a:extLst/>
          </p:cNvPr>
          <p:cNvSpPr/>
          <p:nvPr/>
        </p:nvSpPr>
        <p:spPr bwMode="auto">
          <a:xfrm>
            <a:off x="8118044" y="2411856"/>
            <a:ext cx="3611562" cy="3613150"/>
          </a:xfrm>
          <a:prstGeom prst="blockArc">
            <a:avLst>
              <a:gd name="adj1" fmla="val 16200000"/>
              <a:gd name="adj2" fmla="val 7560000"/>
              <a:gd name="adj3" fmla="val 7146"/>
            </a:avLst>
          </a:prstGeom>
          <a:solidFill>
            <a:srgbClr val="EE864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31" name="ValueShape4">
            <a:extLst/>
          </p:cNvPr>
          <p:cNvSpPr/>
          <p:nvPr/>
        </p:nvSpPr>
        <p:spPr bwMode="auto">
          <a:xfrm>
            <a:off x="8368869" y="2664268"/>
            <a:ext cx="3108325" cy="3108325"/>
          </a:xfrm>
          <a:prstGeom prst="blockArc">
            <a:avLst>
              <a:gd name="adj1" fmla="val 16200000"/>
              <a:gd name="adj2" fmla="val 7010490"/>
              <a:gd name="adj3" fmla="val 9000"/>
            </a:avLst>
          </a:prstGeom>
          <a:solidFill>
            <a:schemeClr val="accent4">
              <a:lumMod val="60000"/>
              <a:lumOff val="4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32" name="ValueText1">
            <a:extLst/>
          </p:cNvPr>
          <p:cNvSpPr txBox="1"/>
          <p:nvPr/>
        </p:nvSpPr>
        <p:spPr bwMode="auto">
          <a:xfrm>
            <a:off x="9478355" y="1981026"/>
            <a:ext cx="300363" cy="172748"/>
          </a:xfrm>
          <a:prstGeom prst="rect">
            <a:avLst/>
          </a:prstGeom>
          <a:noFill/>
          <a:ln>
            <a:noFill/>
          </a:ln>
        </p:spPr>
        <p:txBody>
          <a:bodyPr wrap="none" lIns="0" tIns="0" rIns="0" bIns="0" anchor="ctr" anchorCtr="1">
            <a:prstTxWarp prst="textPlain">
              <a:avLst/>
            </a:prstTxWarp>
            <a:normAutofit fontScale="85000" lnSpcReduction="20000"/>
          </a:bodyPr>
          <a:lstStyle/>
          <a:p>
            <a:pPr algn="ctr">
              <a:defRPr/>
            </a:pPr>
            <a:endParaRPr lang="en-US" altLang="zh-CN" sz="1600">
              <a:solidFill>
                <a:schemeClr val="bg1"/>
              </a:solidFill>
              <a:latin typeface="Impact" panose="020B0806030902050204" pitchFamily="34" charset="0"/>
            </a:endParaRPr>
          </a:p>
        </p:txBody>
      </p:sp>
      <p:sp>
        <p:nvSpPr>
          <p:cNvPr id="33" name="ValueText2">
            <a:extLst/>
          </p:cNvPr>
          <p:cNvSpPr txBox="1"/>
          <p:nvPr/>
        </p:nvSpPr>
        <p:spPr bwMode="auto">
          <a:xfrm>
            <a:off x="9478355" y="2228531"/>
            <a:ext cx="300363" cy="172748"/>
          </a:xfrm>
          <a:prstGeom prst="rect">
            <a:avLst/>
          </a:prstGeom>
          <a:noFill/>
          <a:ln>
            <a:noFill/>
          </a:ln>
        </p:spPr>
        <p:txBody>
          <a:bodyPr wrap="none" lIns="0" tIns="0" rIns="0" bIns="0" anchor="ctr" anchorCtr="1">
            <a:prstTxWarp prst="textPlain">
              <a:avLst/>
            </a:prstTxWarp>
            <a:normAutofit fontScale="85000" lnSpcReduction="20000"/>
          </a:bodyPr>
          <a:lstStyle/>
          <a:p>
            <a:pPr algn="ctr">
              <a:defRPr/>
            </a:pPr>
            <a:endParaRPr lang="en-US" altLang="zh-CN" sz="1600">
              <a:solidFill>
                <a:srgbClr val="FFFF00"/>
              </a:solidFill>
              <a:latin typeface="Impact" panose="020B0806030902050204" pitchFamily="34" charset="0"/>
            </a:endParaRPr>
          </a:p>
        </p:txBody>
      </p:sp>
      <p:sp>
        <p:nvSpPr>
          <p:cNvPr id="34" name="ValueText3">
            <a:extLst/>
          </p:cNvPr>
          <p:cNvSpPr txBox="1"/>
          <p:nvPr/>
        </p:nvSpPr>
        <p:spPr bwMode="auto">
          <a:xfrm>
            <a:off x="9478355" y="2474117"/>
            <a:ext cx="300363" cy="172748"/>
          </a:xfrm>
          <a:prstGeom prst="rect">
            <a:avLst/>
          </a:prstGeom>
          <a:noFill/>
          <a:ln>
            <a:noFill/>
          </a:ln>
        </p:spPr>
        <p:txBody>
          <a:bodyPr wrap="none" lIns="0" tIns="0" rIns="0" bIns="0" anchor="ctr" anchorCtr="1">
            <a:prstTxWarp prst="textPlain">
              <a:avLst/>
            </a:prstTxWarp>
            <a:normAutofit fontScale="85000" lnSpcReduction="20000"/>
          </a:bodyPr>
          <a:lstStyle/>
          <a:p>
            <a:pPr algn="ctr">
              <a:defRPr/>
            </a:pPr>
            <a:endParaRPr lang="en-US" altLang="zh-CN" sz="1600">
              <a:solidFill>
                <a:schemeClr val="bg1"/>
              </a:solidFill>
              <a:latin typeface="Impact" panose="020B0806030902050204" pitchFamily="34" charset="0"/>
            </a:endParaRPr>
          </a:p>
        </p:txBody>
      </p:sp>
      <p:sp>
        <p:nvSpPr>
          <p:cNvPr id="32781" name="CustomText2"/>
          <p:cNvSpPr txBox="1">
            <a:spLocks noChangeArrowheads="1"/>
          </p:cNvSpPr>
          <p:nvPr/>
        </p:nvSpPr>
        <p:spPr bwMode="auto">
          <a:xfrm flipH="1">
            <a:off x="9268029" y="2668502"/>
            <a:ext cx="466306" cy="194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a:lnSpc>
                <a:spcPct val="100000"/>
              </a:lnSpc>
              <a:spcBef>
                <a:spcPct val="0"/>
              </a:spcBef>
              <a:buFontTx/>
              <a:buNone/>
            </a:pPr>
            <a:r>
              <a:rPr lang="zh-CN" altLang="en-US" sz="1400" b="1">
                <a:solidFill>
                  <a:schemeClr val="accent4">
                    <a:lumMod val="60000"/>
                    <a:lumOff val="40000"/>
                  </a:schemeClr>
                </a:solidFill>
                <a:effectLst>
                  <a:outerShdw blurRad="38100" dist="38100" dir="2700000" algn="tl">
                    <a:srgbClr val="000000">
                      <a:alpha val="43137"/>
                    </a:srgbClr>
                  </a:outerShdw>
                </a:effectLst>
                <a:latin typeface="微软雅黑" panose="020B0503020204020204" pitchFamily="34" charset="-122"/>
              </a:rPr>
              <a:t>二阶肾病</a:t>
            </a:r>
            <a:endParaRPr lang="en-US" altLang="zh-CN" sz="1400" b="1">
              <a:solidFill>
                <a:schemeClr val="accent4">
                  <a:lumMod val="60000"/>
                  <a:lumOff val="40000"/>
                </a:schemeClr>
              </a:solidFill>
              <a:effectLst>
                <a:outerShdw blurRad="38100" dist="38100" dir="2700000" algn="tl">
                  <a:srgbClr val="000000">
                    <a:alpha val="43137"/>
                  </a:srgbClr>
                </a:outerShdw>
              </a:effectLst>
              <a:latin typeface="微软雅黑" panose="020B0503020204020204" pitchFamily="34" charset="-122"/>
            </a:endParaRPr>
          </a:p>
        </p:txBody>
      </p:sp>
      <p:sp>
        <p:nvSpPr>
          <p:cNvPr id="32782" name="CustomText3"/>
          <p:cNvSpPr txBox="1">
            <a:spLocks noChangeArrowheads="1"/>
          </p:cNvSpPr>
          <p:nvPr/>
        </p:nvSpPr>
        <p:spPr bwMode="auto">
          <a:xfrm flipH="1">
            <a:off x="9246033" y="2412137"/>
            <a:ext cx="493017" cy="194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a:lnSpc>
                <a:spcPct val="100000"/>
              </a:lnSpc>
              <a:spcBef>
                <a:spcPct val="0"/>
              </a:spcBef>
              <a:buFontTx/>
              <a:buNone/>
            </a:pPr>
            <a:r>
              <a:rPr lang="zh-CN" altLang="en-US" sz="1400" b="1">
                <a:solidFill>
                  <a:srgbClr val="EE8640"/>
                </a:solidFill>
                <a:effectLst>
                  <a:outerShdw blurRad="38100" dist="38100" dir="2700000" algn="tl">
                    <a:srgbClr val="000000">
                      <a:alpha val="43137"/>
                    </a:srgbClr>
                  </a:outerShdw>
                </a:effectLst>
                <a:latin typeface="微软雅黑" panose="020B0503020204020204" pitchFamily="34" charset="-122"/>
              </a:rPr>
              <a:t>三阶肾病</a:t>
            </a:r>
            <a:endParaRPr lang="en-US" altLang="zh-CN" sz="1400" b="1">
              <a:solidFill>
                <a:srgbClr val="EE8640"/>
              </a:solidFill>
              <a:effectLst>
                <a:outerShdw blurRad="38100" dist="38100" dir="2700000" algn="tl">
                  <a:srgbClr val="000000">
                    <a:alpha val="43137"/>
                  </a:srgbClr>
                </a:outerShdw>
              </a:effectLst>
              <a:latin typeface="微软雅黑" panose="020B0503020204020204" pitchFamily="34" charset="-122"/>
            </a:endParaRPr>
          </a:p>
        </p:txBody>
      </p:sp>
      <p:sp>
        <p:nvSpPr>
          <p:cNvPr id="45" name="ValueText4">
            <a:extLst/>
          </p:cNvPr>
          <p:cNvSpPr txBox="1"/>
          <p:nvPr/>
        </p:nvSpPr>
        <p:spPr bwMode="auto">
          <a:xfrm>
            <a:off x="9478355" y="2719702"/>
            <a:ext cx="300363" cy="172748"/>
          </a:xfrm>
          <a:prstGeom prst="rect">
            <a:avLst/>
          </a:prstGeom>
          <a:noFill/>
          <a:ln>
            <a:noFill/>
          </a:ln>
        </p:spPr>
        <p:txBody>
          <a:bodyPr wrap="none" lIns="0" tIns="0" rIns="0" bIns="0" anchor="ctr" anchorCtr="1">
            <a:prstTxWarp prst="textPlain">
              <a:avLst/>
            </a:prstTxWarp>
            <a:normAutofit fontScale="85000" lnSpcReduction="20000"/>
          </a:bodyPr>
          <a:lstStyle/>
          <a:p>
            <a:pPr algn="ctr">
              <a:defRPr/>
            </a:pPr>
            <a:endParaRPr lang="en-US" altLang="zh-CN" sz="1600">
              <a:solidFill>
                <a:schemeClr val="bg1"/>
              </a:solidFill>
              <a:latin typeface="Impact" panose="020B0806030902050204" pitchFamily="34" charset="0"/>
            </a:endParaRPr>
          </a:p>
        </p:txBody>
      </p:sp>
      <p:sp>
        <p:nvSpPr>
          <p:cNvPr id="32784" name="CustomText4"/>
          <p:cNvSpPr txBox="1">
            <a:spLocks noChangeArrowheads="1"/>
          </p:cNvSpPr>
          <p:nvPr/>
        </p:nvSpPr>
        <p:spPr bwMode="auto">
          <a:xfrm flipH="1">
            <a:off x="9212078" y="2116888"/>
            <a:ext cx="566639" cy="261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a:lnSpc>
                <a:spcPct val="100000"/>
              </a:lnSpc>
              <a:spcBef>
                <a:spcPct val="0"/>
              </a:spcBef>
              <a:buFontTx/>
              <a:buNone/>
            </a:pPr>
            <a:r>
              <a:rPr lang="zh-CN" altLang="en-US" sz="1400" b="1">
                <a:solidFill>
                  <a:srgbClr val="C00000"/>
                </a:solidFill>
                <a:effectLst>
                  <a:outerShdw blurRad="38100" dist="38100" dir="2700000" algn="tl">
                    <a:srgbClr val="000000">
                      <a:alpha val="43137"/>
                    </a:srgbClr>
                  </a:outerShdw>
                </a:effectLst>
                <a:latin typeface="微软雅黑" panose="020B0503020204020204" pitchFamily="34" charset="-122"/>
              </a:rPr>
              <a:t>四阶肾病</a:t>
            </a:r>
            <a:endParaRPr lang="en-US" altLang="zh-CN" sz="1400" b="1">
              <a:solidFill>
                <a:srgbClr val="C00000"/>
              </a:solidFill>
              <a:effectLst>
                <a:outerShdw blurRad="38100" dist="38100" dir="2700000" algn="tl">
                  <a:srgbClr val="000000">
                    <a:alpha val="43137"/>
                  </a:srgbClr>
                </a:outerShdw>
              </a:effectLst>
              <a:latin typeface="微软雅黑" panose="020B0503020204020204" pitchFamily="34" charset="-122"/>
            </a:endParaRPr>
          </a:p>
        </p:txBody>
      </p:sp>
      <p:sp>
        <p:nvSpPr>
          <p:cNvPr id="32785" name="Line 6"/>
          <p:cNvSpPr>
            <a:spLocks/>
          </p:cNvSpPr>
          <p:nvPr/>
        </p:nvSpPr>
        <p:spPr bwMode="auto">
          <a:xfrm>
            <a:off x="9073671" y="1818131"/>
            <a:ext cx="0" cy="1209568"/>
          </a:xfrm>
          <a:prstGeom prst="line">
            <a:avLst/>
          </a:prstGeom>
          <a:noFill/>
          <a:ln w="9525">
            <a:solidFill>
              <a:srgbClr val="D9D9D9"/>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51" name="RelativeShape4">
            <a:extLst/>
          </p:cNvPr>
          <p:cNvSpPr/>
          <p:nvPr/>
        </p:nvSpPr>
        <p:spPr bwMode="auto">
          <a:xfrm>
            <a:off x="7254444" y="2742055"/>
            <a:ext cx="1819275" cy="1791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52" name="RelativeShape3">
            <a:extLst/>
          </p:cNvPr>
          <p:cNvSpPr/>
          <p:nvPr/>
        </p:nvSpPr>
        <p:spPr bwMode="auto">
          <a:xfrm>
            <a:off x="7254444" y="2497581"/>
            <a:ext cx="1819275" cy="127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53" name="RelativeShape2">
            <a:extLst/>
          </p:cNvPr>
          <p:cNvSpPr/>
          <p:nvPr/>
        </p:nvSpPr>
        <p:spPr bwMode="auto">
          <a:xfrm>
            <a:off x="7254444" y="2251518"/>
            <a:ext cx="1819275" cy="127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54" name="RelativeShape1">
            <a:extLst/>
          </p:cNvPr>
          <p:cNvSpPr/>
          <p:nvPr/>
        </p:nvSpPr>
        <p:spPr bwMode="auto">
          <a:xfrm>
            <a:off x="7254444" y="2003868"/>
            <a:ext cx="1819275" cy="127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55" name="ValueShape44">
            <a:extLst/>
          </p:cNvPr>
          <p:cNvSpPr/>
          <p:nvPr/>
        </p:nvSpPr>
        <p:spPr bwMode="auto">
          <a:xfrm>
            <a:off x="7617934" y="2657859"/>
            <a:ext cx="1451175" cy="269809"/>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solidFill>
                <a:schemeClr val="accent4">
                  <a:lumMod val="60000"/>
                  <a:lumOff val="40000"/>
                </a:schemeClr>
              </a:solidFill>
            </a:endParaRPr>
          </a:p>
        </p:txBody>
      </p:sp>
      <p:sp>
        <p:nvSpPr>
          <p:cNvPr id="56" name="ValueShape33">
            <a:extLst/>
          </p:cNvPr>
          <p:cNvSpPr/>
          <p:nvPr/>
        </p:nvSpPr>
        <p:spPr bwMode="auto">
          <a:xfrm>
            <a:off x="7436958" y="2395920"/>
            <a:ext cx="1636761" cy="261845"/>
          </a:xfrm>
          <a:prstGeom prst="rect">
            <a:avLst/>
          </a:prstGeom>
          <a:solidFill>
            <a:srgbClr val="EE86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57" name="ValueShape22">
            <a:extLst/>
          </p:cNvPr>
          <p:cNvSpPr/>
          <p:nvPr/>
        </p:nvSpPr>
        <p:spPr bwMode="auto">
          <a:xfrm>
            <a:off x="7290672" y="2146803"/>
            <a:ext cx="1782999" cy="254476"/>
          </a:xfrm>
          <a:prstGeom prst="rect">
            <a:avLst/>
          </a:prstGeom>
          <a:solidFill>
            <a:srgbClr val="FF292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5" name="矩形 4"/>
          <p:cNvSpPr/>
          <p:nvPr/>
        </p:nvSpPr>
        <p:spPr>
          <a:xfrm>
            <a:off x="368300" y="1284722"/>
            <a:ext cx="2954655" cy="369332"/>
          </a:xfrm>
          <a:prstGeom prst="rect">
            <a:avLst/>
          </a:prstGeom>
        </p:spPr>
        <p:txBody>
          <a:bodyPr wrap="none">
            <a:spAutoFit/>
          </a:bodyPr>
          <a:lstStyle/>
          <a:p>
            <a:r>
              <a:rPr lang="zh-CN" altLang="en-US">
                <a:solidFill>
                  <a:schemeClr val="tx2">
                    <a:lumMod val="75000"/>
                  </a:schemeClr>
                </a:solidFill>
                <a:latin typeface="微软雅黑 Light" panose="020B0502040204020203" pitchFamily="34" charset="-122"/>
                <a:ea typeface="微软雅黑 Light" panose="020B0502040204020203" pitchFamily="34" charset="-122"/>
              </a:rPr>
              <a:t>持续的检查与细致的观察！</a:t>
            </a:r>
          </a:p>
        </p:txBody>
      </p:sp>
      <p:sp>
        <p:nvSpPr>
          <p:cNvPr id="12" name="文本框 11"/>
          <p:cNvSpPr txBox="1"/>
          <p:nvPr/>
        </p:nvSpPr>
        <p:spPr>
          <a:xfrm>
            <a:off x="7578527" y="2623486"/>
            <a:ext cx="1677706" cy="307777"/>
          </a:xfrm>
          <a:prstGeom prst="rect">
            <a:avLst/>
          </a:prstGeom>
          <a:noFill/>
        </p:spPr>
        <p:txBody>
          <a:bodyPr wrap="square" rtlCol="0">
            <a:spAutoFit/>
          </a:bodyPr>
          <a:lstStyle/>
          <a:p>
            <a:r>
              <a:rPr lang="zh-CN" altLang="en-US" sz="1400" b="1">
                <a:solidFill>
                  <a:schemeClr val="tx1">
                    <a:lumMod val="75000"/>
                    <a:lumOff val="25000"/>
                  </a:schemeClr>
                </a:solidFill>
                <a:latin typeface="+mj-ea"/>
                <a:ea typeface="+mj-ea"/>
              </a:rPr>
              <a:t>损失：</a:t>
            </a:r>
            <a:r>
              <a:rPr lang="en-US" altLang="zh-CN" sz="1400" b="1">
                <a:solidFill>
                  <a:schemeClr val="tx1">
                    <a:lumMod val="75000"/>
                    <a:lumOff val="25000"/>
                  </a:schemeClr>
                </a:solidFill>
                <a:latin typeface="+mj-ea"/>
                <a:ea typeface="+mj-ea"/>
              </a:rPr>
              <a:t>66-75%</a:t>
            </a:r>
            <a:endParaRPr lang="zh-CN" altLang="en-US" sz="1400" b="1">
              <a:solidFill>
                <a:schemeClr val="tx1">
                  <a:lumMod val="75000"/>
                  <a:lumOff val="25000"/>
                </a:schemeClr>
              </a:solidFill>
              <a:latin typeface="+mj-ea"/>
              <a:ea typeface="+mj-ea"/>
            </a:endParaRPr>
          </a:p>
        </p:txBody>
      </p:sp>
      <p:sp>
        <p:nvSpPr>
          <p:cNvPr id="13" name="文本框 12"/>
          <p:cNvSpPr txBox="1"/>
          <p:nvPr/>
        </p:nvSpPr>
        <p:spPr>
          <a:xfrm>
            <a:off x="7548202" y="2371880"/>
            <a:ext cx="1408788" cy="584775"/>
          </a:xfrm>
          <a:prstGeom prst="rect">
            <a:avLst/>
          </a:prstGeom>
          <a:noFill/>
        </p:spPr>
        <p:txBody>
          <a:bodyPr wrap="square" rtlCol="0">
            <a:spAutoFit/>
          </a:bodyPr>
          <a:lstStyle/>
          <a:p>
            <a:r>
              <a:rPr lang="zh-CN" altLang="en-US" sz="1400" b="1">
                <a:solidFill>
                  <a:schemeClr val="tx1">
                    <a:lumMod val="75000"/>
                    <a:lumOff val="25000"/>
                  </a:schemeClr>
                </a:solidFill>
                <a:latin typeface="+mj-ea"/>
                <a:ea typeface="+mj-ea"/>
              </a:rPr>
              <a:t>损失：</a:t>
            </a:r>
            <a:r>
              <a:rPr lang="en-US" altLang="zh-CN" sz="1400" b="1">
                <a:solidFill>
                  <a:schemeClr val="tx1">
                    <a:lumMod val="75000"/>
                    <a:lumOff val="25000"/>
                  </a:schemeClr>
                </a:solidFill>
                <a:latin typeface="+mj-ea"/>
                <a:ea typeface="+mj-ea"/>
              </a:rPr>
              <a:t>76-90%</a:t>
            </a:r>
            <a:endParaRPr lang="zh-CN" altLang="en-US" sz="1400" b="1">
              <a:solidFill>
                <a:schemeClr val="tx1">
                  <a:lumMod val="75000"/>
                  <a:lumOff val="25000"/>
                </a:schemeClr>
              </a:solidFill>
              <a:latin typeface="+mj-ea"/>
              <a:ea typeface="+mj-ea"/>
            </a:endParaRPr>
          </a:p>
          <a:p>
            <a:endParaRPr lang="zh-CN" altLang="en-US"/>
          </a:p>
        </p:txBody>
      </p:sp>
      <p:sp>
        <p:nvSpPr>
          <p:cNvPr id="14" name="文本框 13"/>
          <p:cNvSpPr txBox="1"/>
          <p:nvPr/>
        </p:nvSpPr>
        <p:spPr>
          <a:xfrm>
            <a:off x="7446651" y="2120152"/>
            <a:ext cx="1573221" cy="307777"/>
          </a:xfrm>
          <a:prstGeom prst="rect">
            <a:avLst/>
          </a:prstGeom>
          <a:noFill/>
        </p:spPr>
        <p:txBody>
          <a:bodyPr wrap="square" rtlCol="0">
            <a:spAutoFit/>
          </a:bodyPr>
          <a:lstStyle/>
          <a:p>
            <a:r>
              <a:rPr lang="zh-CN" altLang="en-US" sz="1400" b="1">
                <a:solidFill>
                  <a:schemeClr val="tx2">
                    <a:lumMod val="75000"/>
                  </a:schemeClr>
                </a:solidFill>
                <a:latin typeface="+mj-ea"/>
                <a:ea typeface="+mj-ea"/>
              </a:rPr>
              <a:t>损失：</a:t>
            </a:r>
            <a:r>
              <a:rPr lang="en-US" altLang="zh-CN" sz="1400" b="1">
                <a:solidFill>
                  <a:schemeClr val="tx2">
                    <a:lumMod val="75000"/>
                  </a:schemeClr>
                </a:solidFill>
                <a:latin typeface="+mj-ea"/>
                <a:ea typeface="+mj-ea"/>
              </a:rPr>
              <a:t>90%</a:t>
            </a:r>
            <a:r>
              <a:rPr lang="zh-CN" altLang="en-US" sz="1400" b="1">
                <a:solidFill>
                  <a:schemeClr val="tx2">
                    <a:lumMod val="75000"/>
                  </a:schemeClr>
                </a:solidFill>
                <a:latin typeface="+mj-ea"/>
                <a:ea typeface="+mj-ea"/>
              </a:rPr>
              <a:t>以上</a:t>
            </a:r>
          </a:p>
        </p:txBody>
      </p:sp>
      <p:sp>
        <p:nvSpPr>
          <p:cNvPr id="15" name="文本框 14"/>
          <p:cNvSpPr txBox="1"/>
          <p:nvPr/>
        </p:nvSpPr>
        <p:spPr>
          <a:xfrm>
            <a:off x="7786219" y="3651144"/>
            <a:ext cx="2963619" cy="923330"/>
          </a:xfrm>
          <a:prstGeom prst="rect">
            <a:avLst/>
          </a:prstGeom>
          <a:noFill/>
        </p:spPr>
        <p:txBody>
          <a:bodyPr wrap="square" rtlCol="0">
            <a:spAutoFit/>
          </a:bodyPr>
          <a:lstStyle/>
          <a:p>
            <a:r>
              <a:rPr lang="zh-CN" altLang="en-US" b="1">
                <a:solidFill>
                  <a:srgbClr val="0F0F0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不用过度介意残余肾脏机能有多少。不少猫仅有</a:t>
            </a:r>
            <a:r>
              <a:rPr lang="en-US" altLang="zh-CN" b="1">
                <a:solidFill>
                  <a:srgbClr val="0F0F0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5-8%</a:t>
            </a:r>
            <a:r>
              <a:rPr lang="zh-CN" altLang="en-US" b="1">
                <a:solidFill>
                  <a:srgbClr val="0F0F0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肾机能残留依然活很久。</a:t>
            </a:r>
          </a:p>
        </p:txBody>
      </p:sp>
      <p:pic>
        <p:nvPicPr>
          <p:cNvPr id="4" name="图片 3">
            <a:extLst>
              <a:ext uri="{FF2B5EF4-FFF2-40B4-BE49-F238E27FC236}">
                <a16:creationId xmlns:a16="http://schemas.microsoft.com/office/drawing/2014/main" id="{65CBFF36-DB77-4DF5-882C-07A4BBF0AD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655" y="1818131"/>
            <a:ext cx="7094891" cy="4797555"/>
          </a:xfrm>
          <a:prstGeom prst="rect">
            <a:avLst/>
          </a:prstGeom>
        </p:spPr>
      </p:pic>
    </p:spTree>
    <p:extLst>
      <p:ext uri="{BB962C8B-B14F-4D97-AF65-F5344CB8AC3E}">
        <p14:creationId xmlns:p14="http://schemas.microsoft.com/office/powerpoint/2010/main" val="6050135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0" name="箭头: 五边形 6">
            <a:extLst/>
          </p:cNvPr>
          <p:cNvSpPr/>
          <p:nvPr/>
        </p:nvSpPr>
        <p:spPr>
          <a:xfrm rot="10800000" flipH="1">
            <a:off x="1" y="4977"/>
            <a:ext cx="6600056" cy="1960028"/>
          </a:xfrm>
          <a:prstGeom prst="homePlate">
            <a:avLst>
              <a:gd name="adj" fmla="val 32692"/>
            </a:avLst>
          </a:prstGeom>
          <a:solidFill>
            <a:srgbClr val="FFFF00">
              <a:alpha val="6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sp>
        <p:nvSpPr>
          <p:cNvPr id="11" name="箭头: 五边形 6">
            <a:extLst/>
          </p:cNvPr>
          <p:cNvSpPr/>
          <p:nvPr/>
        </p:nvSpPr>
        <p:spPr>
          <a:xfrm rot="10800000" flipH="1">
            <a:off x="45037" y="-13826"/>
            <a:ext cx="5938839" cy="1955822"/>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sp>
        <p:nvSpPr>
          <p:cNvPr id="12" name="箭头: 五边形 6">
            <a:extLst/>
          </p:cNvPr>
          <p:cNvSpPr/>
          <p:nvPr/>
        </p:nvSpPr>
        <p:spPr>
          <a:xfrm rot="10800000" flipH="1">
            <a:off x="19069" y="0"/>
            <a:ext cx="5340845" cy="1918440"/>
          </a:xfrm>
          <a:prstGeom prst="homePlate">
            <a:avLst>
              <a:gd name="adj" fmla="val 32692"/>
            </a:avLst>
          </a:prstGeom>
          <a:solidFill>
            <a:srgbClr val="FFFF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sp>
        <p:nvSpPr>
          <p:cNvPr id="24" name="文本框 14">
            <a:extLst>
              <a:ext uri="{FF2B5EF4-FFF2-40B4-BE49-F238E27FC236}">
                <a16:creationId xmlns:a16="http://schemas.microsoft.com/office/drawing/2014/main" id="{98C6F3F6-5900-4AC8-92B4-489C5D16D816}"/>
              </a:ext>
            </a:extLst>
          </p:cNvPr>
          <p:cNvSpPr txBox="1">
            <a:spLocks noChangeArrowheads="1"/>
          </p:cNvSpPr>
          <p:nvPr/>
        </p:nvSpPr>
        <p:spPr bwMode="auto">
          <a:xfrm>
            <a:off x="156332" y="375083"/>
            <a:ext cx="5939668" cy="906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4000" b="1">
                <a:solidFill>
                  <a:schemeClr val="bg2">
                    <a:lumMod val="10000"/>
                  </a:schemeClr>
                </a:solidFill>
                <a:effectLst>
                  <a:outerShdw blurRad="38100" dist="38100" dir="2700000" algn="tl">
                    <a:srgbClr val="000000">
                      <a:alpha val="43137"/>
                    </a:srgbClr>
                  </a:outerShdw>
                </a:effectLst>
                <a:latin typeface="+mj-ea"/>
                <a:ea typeface="+mj-ea"/>
                <a:cs typeface="+mn-ea"/>
                <a:sym typeface="+mn-lt"/>
              </a:rPr>
              <a:t>复查是治疗的一环</a:t>
            </a:r>
            <a:endParaRPr lang="en-US" altLang="zh-CN" sz="4000" b="1">
              <a:solidFill>
                <a:schemeClr val="bg2">
                  <a:lumMod val="10000"/>
                </a:schemeClr>
              </a:solidFill>
              <a:effectLst>
                <a:outerShdw blurRad="38100" dist="38100" dir="2700000" algn="tl">
                  <a:srgbClr val="000000">
                    <a:alpha val="43137"/>
                  </a:srgbClr>
                </a:outerShdw>
              </a:effectLst>
              <a:latin typeface="+mj-ea"/>
              <a:ea typeface="+mj-ea"/>
              <a:cs typeface="+mn-ea"/>
              <a:sym typeface="+mn-lt"/>
            </a:endParaRPr>
          </a:p>
        </p:txBody>
      </p:sp>
      <p:sp>
        <p:nvSpPr>
          <p:cNvPr id="25" name="矩形 24">
            <a:extLst>
              <a:ext uri="{FF2B5EF4-FFF2-40B4-BE49-F238E27FC236}">
                <a16:creationId xmlns:a16="http://schemas.microsoft.com/office/drawing/2014/main" id="{5AA8B7D1-0C5E-4A0A-9256-2502FA9177BD}"/>
              </a:ext>
            </a:extLst>
          </p:cNvPr>
          <p:cNvSpPr/>
          <p:nvPr/>
        </p:nvSpPr>
        <p:spPr>
          <a:xfrm>
            <a:off x="6738997" y="647691"/>
            <a:ext cx="4613587" cy="954107"/>
          </a:xfrm>
          <a:prstGeom prst="rect">
            <a:avLst/>
          </a:prstGeom>
        </p:spPr>
        <p:txBody>
          <a:bodyPr wrap="square">
            <a:spAutoFit/>
          </a:bodyPr>
          <a:lstStyle/>
          <a:p>
            <a:r>
              <a:rPr lang="zh-CN" altLang="en-US" sz="2800" b="1">
                <a:solidFill>
                  <a:schemeClr val="bg1"/>
                </a:solidFill>
                <a:effectLst>
                  <a:outerShdw blurRad="38100" dist="38100" dir="2700000" algn="tl">
                    <a:srgbClr val="000000">
                      <a:alpha val="43137"/>
                    </a:srgbClr>
                  </a:outerShdw>
                </a:effectLst>
                <a:latin typeface="+mj-ea"/>
                <a:ea typeface="+mj-ea"/>
                <a:cs typeface="+mn-ea"/>
                <a:sym typeface="+mn-lt"/>
              </a:rPr>
              <a:t>猫慢性肾病逐步发展，问题逐渐出现，复查不可省。</a:t>
            </a:r>
            <a:endParaRPr lang="zh-CN" altLang="en-US" sz="2800">
              <a:latin typeface="+mj-ea"/>
              <a:ea typeface="+mj-ea"/>
            </a:endParaRPr>
          </a:p>
        </p:txBody>
      </p:sp>
      <p:sp>
        <p:nvSpPr>
          <p:cNvPr id="36" name="矩形 35">
            <a:extLst>
              <a:ext uri="{FF2B5EF4-FFF2-40B4-BE49-F238E27FC236}">
                <a16:creationId xmlns:a16="http://schemas.microsoft.com/office/drawing/2014/main" id="{911527ED-712B-407B-BE31-2A44C2167B91}"/>
              </a:ext>
            </a:extLst>
          </p:cNvPr>
          <p:cNvSpPr/>
          <p:nvPr/>
        </p:nvSpPr>
        <p:spPr>
          <a:xfrm>
            <a:off x="471059" y="2446910"/>
            <a:ext cx="5286872" cy="328634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sp>
        <p:nvSpPr>
          <p:cNvPr id="37" name="文本框 36">
            <a:extLst>
              <a:ext uri="{FF2B5EF4-FFF2-40B4-BE49-F238E27FC236}">
                <a16:creationId xmlns:a16="http://schemas.microsoft.com/office/drawing/2014/main" id="{81802CDA-DA26-485B-9A3B-2114ECFFD598}"/>
              </a:ext>
            </a:extLst>
          </p:cNvPr>
          <p:cNvSpPr txBox="1"/>
          <p:nvPr/>
        </p:nvSpPr>
        <p:spPr>
          <a:xfrm>
            <a:off x="592090" y="2719096"/>
            <a:ext cx="5256584" cy="461665"/>
          </a:xfrm>
          <a:prstGeom prst="rect">
            <a:avLst/>
          </a:prstGeom>
          <a:noFill/>
        </p:spPr>
        <p:txBody>
          <a:bodyPr wrap="square" rtlCol="0">
            <a:spAutoFit/>
          </a:bodyPr>
          <a:lstStyle/>
          <a:p>
            <a:pPr marL="342900" indent="-342900">
              <a:buFont typeface="Wingdings" panose="05000000000000000000" pitchFamily="2" charset="2"/>
              <a:buChar char="u"/>
            </a:pPr>
            <a:r>
              <a:rPr lang="zh-CN" altLang="en-US" sz="2400" b="1">
                <a:solidFill>
                  <a:schemeClr val="tx2">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如果医师认为猫属二期肾病</a:t>
            </a:r>
          </a:p>
        </p:txBody>
      </p:sp>
      <p:sp>
        <p:nvSpPr>
          <p:cNvPr id="38" name="文本框 37">
            <a:extLst>
              <a:ext uri="{FF2B5EF4-FFF2-40B4-BE49-F238E27FC236}">
                <a16:creationId xmlns:a16="http://schemas.microsoft.com/office/drawing/2014/main" id="{4CDB9386-611E-4C3B-8300-06D6486D84E7}"/>
              </a:ext>
            </a:extLst>
          </p:cNvPr>
          <p:cNvSpPr txBox="1"/>
          <p:nvPr/>
        </p:nvSpPr>
        <p:spPr>
          <a:xfrm>
            <a:off x="528121" y="3446193"/>
            <a:ext cx="5384522" cy="2431435"/>
          </a:xfrm>
          <a:prstGeom prst="rect">
            <a:avLst/>
          </a:prstGeom>
          <a:noFill/>
        </p:spPr>
        <p:txBody>
          <a:bodyPr wrap="square" numCol="1" rtlCol="0">
            <a:spAutoFit/>
          </a:bodyPr>
          <a:lstStyle/>
          <a:p>
            <a:pPr lvl="1"/>
            <a:r>
              <a:rPr lang="zh-CN" altLang="en-US" sz="2000" b="1">
                <a:solidFill>
                  <a:schemeClr val="tx1">
                    <a:lumMod val="75000"/>
                    <a:lumOff val="25000"/>
                  </a:schemeClr>
                </a:solidFill>
                <a:effectLst>
                  <a:outerShdw blurRad="38100" dist="38100" dir="2700000" algn="tl">
                    <a:srgbClr val="000000">
                      <a:alpha val="43137"/>
                    </a:srgbClr>
                  </a:outerShdw>
                </a:effectLst>
                <a:latin typeface="+mj-ea"/>
                <a:ea typeface="+mj-ea"/>
              </a:rPr>
              <a:t>至少每</a:t>
            </a:r>
            <a:r>
              <a:rPr lang="zh-CN" altLang="en-US" sz="2000" b="1">
                <a:solidFill>
                  <a:srgbClr val="C00000"/>
                </a:solidFill>
                <a:effectLst>
                  <a:outerShdw blurRad="38100" dist="38100" dir="2700000" algn="tl">
                    <a:srgbClr val="000000">
                      <a:alpha val="43137"/>
                    </a:srgbClr>
                  </a:outerShdw>
                </a:effectLst>
                <a:latin typeface="+mj-ea"/>
                <a:ea typeface="+mj-ea"/>
              </a:rPr>
              <a:t>半年</a:t>
            </a:r>
            <a:r>
              <a:rPr lang="zh-CN" altLang="en-US" sz="2000" b="1">
                <a:solidFill>
                  <a:schemeClr val="tx1">
                    <a:lumMod val="75000"/>
                    <a:lumOff val="25000"/>
                  </a:schemeClr>
                </a:solidFill>
                <a:effectLst>
                  <a:outerShdw blurRad="38100" dist="38100" dir="2700000" algn="tl">
                    <a:srgbClr val="000000">
                      <a:alpha val="43137"/>
                    </a:srgbClr>
                  </a:outerShdw>
                </a:effectLst>
                <a:latin typeface="+mj-ea"/>
                <a:ea typeface="+mj-ea"/>
              </a:rPr>
              <a:t>复查：</a:t>
            </a:r>
            <a:endParaRPr lang="en-US" altLang="zh-CN" sz="2000" b="1">
              <a:solidFill>
                <a:schemeClr val="tx1">
                  <a:lumMod val="75000"/>
                  <a:lumOff val="25000"/>
                </a:schemeClr>
              </a:solidFill>
              <a:effectLst>
                <a:outerShdw blurRad="38100" dist="38100" dir="2700000" algn="tl">
                  <a:srgbClr val="000000">
                    <a:alpha val="43137"/>
                  </a:srgbClr>
                </a:outerShdw>
              </a:effectLst>
              <a:latin typeface="+mj-ea"/>
              <a:ea typeface="+mj-ea"/>
            </a:endParaRPr>
          </a:p>
          <a:p>
            <a:pPr lvl="1"/>
            <a:endPar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endParaRPr>
          </a:p>
          <a:p>
            <a:pPr marL="742950" lvl="1" indent="-285750">
              <a:buFont typeface="Wingdings" panose="05000000000000000000" pitchFamily="2" charset="2"/>
              <a:buChar char="ü"/>
            </a:pPr>
            <a:r>
              <a:rPr lang="zh-CN" altLang="en-US" sz="1600" b="1">
                <a:solidFill>
                  <a:schemeClr val="tx1">
                    <a:lumMod val="75000"/>
                    <a:lumOff val="25000"/>
                  </a:schemeClr>
                </a:solidFill>
                <a:effectLst>
                  <a:outerShdw blurRad="38100" dist="38100" dir="2700000" algn="tl">
                    <a:srgbClr val="000000">
                      <a:alpha val="43137"/>
                    </a:srgbClr>
                  </a:outerShdw>
                </a:effectLst>
                <a:latin typeface="+mn-ea"/>
                <a:ea typeface="+mn-ea"/>
              </a:rPr>
              <a:t>生化</a:t>
            </a:r>
            <a:r>
              <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rPr>
              <a:t>15</a:t>
            </a:r>
            <a:r>
              <a:rPr lang="zh-CN" altLang="en-US" sz="1600" b="1">
                <a:solidFill>
                  <a:schemeClr val="tx1">
                    <a:lumMod val="75000"/>
                    <a:lumOff val="25000"/>
                  </a:schemeClr>
                </a:solidFill>
                <a:effectLst>
                  <a:outerShdw blurRad="38100" dist="38100" dir="2700000" algn="tl">
                    <a:srgbClr val="000000">
                      <a:alpha val="43137"/>
                    </a:srgbClr>
                  </a:outerShdw>
                </a:effectLst>
                <a:latin typeface="+mn-ea"/>
                <a:ea typeface="+mn-ea"/>
              </a:rPr>
              <a:t>项</a:t>
            </a:r>
            <a:endPar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endParaRPr>
          </a:p>
          <a:p>
            <a:pPr marL="742950" lvl="1" indent="-285750">
              <a:buFont typeface="Wingdings" panose="05000000000000000000" pitchFamily="2" charset="2"/>
              <a:buChar char="ü"/>
            </a:pPr>
            <a:r>
              <a:rPr lang="zh-CN" altLang="en-US" sz="1600" b="1">
                <a:solidFill>
                  <a:schemeClr val="tx1">
                    <a:lumMod val="75000"/>
                    <a:lumOff val="25000"/>
                  </a:schemeClr>
                </a:solidFill>
                <a:effectLst>
                  <a:outerShdw blurRad="38100" dist="38100" dir="2700000" algn="tl">
                    <a:srgbClr val="000000">
                      <a:alpha val="43137"/>
                    </a:srgbClr>
                  </a:outerShdw>
                </a:effectLst>
                <a:latin typeface="+mn-ea"/>
                <a:ea typeface="+mn-ea"/>
              </a:rPr>
              <a:t>血钾 （</a:t>
            </a:r>
            <a:r>
              <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rPr>
              <a:t>K</a:t>
            </a:r>
            <a:r>
              <a:rPr lang="zh-CN" altLang="en-US" sz="1600" b="1">
                <a:solidFill>
                  <a:schemeClr val="tx1">
                    <a:lumMod val="75000"/>
                    <a:lumOff val="25000"/>
                  </a:schemeClr>
                </a:solidFill>
                <a:effectLst>
                  <a:outerShdw blurRad="38100" dist="38100" dir="2700000" algn="tl">
                    <a:srgbClr val="000000">
                      <a:alpha val="43137"/>
                    </a:srgbClr>
                  </a:outerShdw>
                </a:effectLst>
                <a:latin typeface="+mn-ea"/>
                <a:ea typeface="+mn-ea"/>
              </a:rPr>
              <a:t>）</a:t>
            </a:r>
            <a:endPar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endParaRPr>
          </a:p>
          <a:p>
            <a:pPr marL="742950" lvl="1" indent="-285750">
              <a:buFont typeface="Wingdings" panose="05000000000000000000" pitchFamily="2" charset="2"/>
              <a:buChar char="ü"/>
            </a:pPr>
            <a:r>
              <a:rPr lang="zh-CN" altLang="en-US" sz="1600" b="1">
                <a:solidFill>
                  <a:schemeClr val="tx1">
                    <a:lumMod val="75000"/>
                    <a:lumOff val="25000"/>
                  </a:schemeClr>
                </a:solidFill>
                <a:effectLst>
                  <a:outerShdw blurRad="38100" dist="38100" dir="2700000" algn="tl">
                    <a:srgbClr val="000000">
                      <a:alpha val="43137"/>
                    </a:srgbClr>
                  </a:outerShdw>
                </a:effectLst>
                <a:latin typeface="+mn-ea"/>
                <a:ea typeface="+mn-ea"/>
              </a:rPr>
              <a:t>血压 </a:t>
            </a:r>
            <a:endPar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endParaRPr>
          </a:p>
          <a:p>
            <a:pPr marL="742950" lvl="1" indent="-285750">
              <a:buFont typeface="Wingdings" panose="05000000000000000000" pitchFamily="2" charset="2"/>
              <a:buChar char="ü"/>
            </a:pPr>
            <a:r>
              <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rPr>
              <a:t>UPC</a:t>
            </a:r>
          </a:p>
          <a:p>
            <a:pPr lvl="1"/>
            <a:endParaRPr lang="en-US" altLang="zh-CN" b="1">
              <a:solidFill>
                <a:schemeClr val="tx1">
                  <a:lumMod val="75000"/>
                  <a:lumOff val="25000"/>
                </a:schemeClr>
              </a:solidFill>
              <a:effectLst>
                <a:outerShdw blurRad="38100" dist="38100" dir="2700000" algn="tl">
                  <a:srgbClr val="000000">
                    <a:alpha val="43137"/>
                  </a:srgbClr>
                </a:outerShdw>
              </a:effectLst>
              <a:latin typeface="+mj-ea"/>
              <a:ea typeface="+mj-ea"/>
            </a:endParaRPr>
          </a:p>
          <a:p>
            <a:pPr lvl="1"/>
            <a:endParaRPr lang="en-US" altLang="zh-CN" sz="1600" b="1">
              <a:solidFill>
                <a:schemeClr val="tx1">
                  <a:lumMod val="75000"/>
                  <a:lumOff val="25000"/>
                </a:schemeClr>
              </a:solidFill>
              <a:effectLst>
                <a:outerShdw blurRad="38100" dist="38100" dir="2700000" algn="tl">
                  <a:srgbClr val="000000">
                    <a:alpha val="43137"/>
                  </a:srgbClr>
                </a:outerShdw>
              </a:effectLst>
              <a:latin typeface="+mj-ea"/>
            </a:endParaRPr>
          </a:p>
          <a:p>
            <a:endParaRPr lang="zh-CN" altLang="en-US"/>
          </a:p>
        </p:txBody>
      </p:sp>
      <p:sp>
        <p:nvSpPr>
          <p:cNvPr id="39" name="矩形 38">
            <a:extLst>
              <a:ext uri="{FF2B5EF4-FFF2-40B4-BE49-F238E27FC236}">
                <a16:creationId xmlns:a16="http://schemas.microsoft.com/office/drawing/2014/main" id="{EA508033-330F-40B8-9FB2-135074044D18}"/>
              </a:ext>
            </a:extLst>
          </p:cNvPr>
          <p:cNvSpPr/>
          <p:nvPr/>
        </p:nvSpPr>
        <p:spPr>
          <a:xfrm>
            <a:off x="5811922" y="2446910"/>
            <a:ext cx="5761540" cy="328634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sp>
        <p:nvSpPr>
          <p:cNvPr id="40" name="文本框 39">
            <a:extLst>
              <a:ext uri="{FF2B5EF4-FFF2-40B4-BE49-F238E27FC236}">
                <a16:creationId xmlns:a16="http://schemas.microsoft.com/office/drawing/2014/main" id="{4FC71A6A-B9EF-4DEE-B5DB-519075565550}"/>
              </a:ext>
            </a:extLst>
          </p:cNvPr>
          <p:cNvSpPr txBox="1"/>
          <p:nvPr/>
        </p:nvSpPr>
        <p:spPr>
          <a:xfrm>
            <a:off x="6007489" y="2719095"/>
            <a:ext cx="5653558" cy="461665"/>
          </a:xfrm>
          <a:prstGeom prst="rect">
            <a:avLst/>
          </a:prstGeom>
          <a:noFill/>
        </p:spPr>
        <p:txBody>
          <a:bodyPr wrap="square" rtlCol="0">
            <a:spAutoFit/>
          </a:bodyPr>
          <a:lstStyle/>
          <a:p>
            <a:pPr marL="342900" indent="-342900">
              <a:buFont typeface="Wingdings" panose="05000000000000000000" pitchFamily="2" charset="2"/>
              <a:buChar char="u"/>
            </a:pPr>
            <a:r>
              <a:rPr lang="zh-CN" altLang="en-US" sz="2400" b="1">
                <a:solidFill>
                  <a:schemeClr val="tx2">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如果医师认为猫属三、四期肾病</a:t>
            </a:r>
          </a:p>
        </p:txBody>
      </p:sp>
      <p:sp>
        <p:nvSpPr>
          <p:cNvPr id="41" name="文本框 40">
            <a:extLst>
              <a:ext uri="{FF2B5EF4-FFF2-40B4-BE49-F238E27FC236}">
                <a16:creationId xmlns:a16="http://schemas.microsoft.com/office/drawing/2014/main" id="{7C8ED6A9-CE3A-49ED-BFA0-3A91514C08AD}"/>
              </a:ext>
            </a:extLst>
          </p:cNvPr>
          <p:cNvSpPr txBox="1"/>
          <p:nvPr/>
        </p:nvSpPr>
        <p:spPr>
          <a:xfrm>
            <a:off x="6080287" y="3506082"/>
            <a:ext cx="7416825" cy="2720890"/>
          </a:xfrm>
          <a:prstGeom prst="rect">
            <a:avLst/>
          </a:prstGeom>
          <a:noFill/>
        </p:spPr>
        <p:txBody>
          <a:bodyPr wrap="square" numCol="3" rtlCol="0">
            <a:spAutoFit/>
          </a:bodyPr>
          <a:lstStyle/>
          <a:p>
            <a:pPr marL="0" lvl="1"/>
            <a:r>
              <a:rPr lang="zh-CN" altLang="en-US" sz="2000" b="1">
                <a:solidFill>
                  <a:schemeClr val="tx1">
                    <a:lumMod val="75000"/>
                    <a:lumOff val="25000"/>
                  </a:schemeClr>
                </a:solidFill>
                <a:effectLst>
                  <a:outerShdw blurRad="38100" dist="38100" dir="2700000" algn="tl">
                    <a:srgbClr val="000000">
                      <a:alpha val="43137"/>
                    </a:srgbClr>
                  </a:outerShdw>
                </a:effectLst>
                <a:latin typeface="+mj-ea"/>
                <a:ea typeface="+mj-ea"/>
              </a:rPr>
              <a:t>每</a:t>
            </a:r>
            <a:r>
              <a:rPr lang="zh-CN" altLang="en-US" sz="2000" b="1">
                <a:solidFill>
                  <a:srgbClr val="C00000"/>
                </a:solidFill>
                <a:effectLst>
                  <a:outerShdw blurRad="38100" dist="38100" dir="2700000" algn="tl">
                    <a:srgbClr val="000000">
                      <a:alpha val="43137"/>
                    </a:srgbClr>
                  </a:outerShdw>
                </a:effectLst>
                <a:latin typeface="+mj-ea"/>
                <a:ea typeface="+mj-ea"/>
              </a:rPr>
              <a:t>季度</a:t>
            </a:r>
            <a:r>
              <a:rPr lang="zh-CN" altLang="en-US" sz="2000" b="1">
                <a:solidFill>
                  <a:schemeClr val="tx1">
                    <a:lumMod val="75000"/>
                    <a:lumOff val="25000"/>
                  </a:schemeClr>
                </a:solidFill>
                <a:effectLst>
                  <a:outerShdw blurRad="38100" dist="38100" dir="2700000" algn="tl">
                    <a:srgbClr val="000000">
                      <a:alpha val="43137"/>
                    </a:srgbClr>
                  </a:outerShdw>
                </a:effectLst>
                <a:latin typeface="+mj-ea"/>
                <a:ea typeface="+mj-ea"/>
              </a:rPr>
              <a:t>复查：</a:t>
            </a:r>
            <a:endParaRPr lang="en-US" altLang="zh-CN" sz="2000" b="1">
              <a:solidFill>
                <a:schemeClr val="tx1">
                  <a:lumMod val="75000"/>
                  <a:lumOff val="25000"/>
                </a:schemeClr>
              </a:solidFill>
              <a:effectLst>
                <a:outerShdw blurRad="38100" dist="38100" dir="2700000" algn="tl">
                  <a:srgbClr val="000000">
                    <a:alpha val="43137"/>
                  </a:srgbClr>
                </a:outerShdw>
              </a:effectLst>
              <a:latin typeface="+mj-ea"/>
              <a:ea typeface="+mj-ea"/>
            </a:endParaRPr>
          </a:p>
          <a:p>
            <a:pPr marL="285750" lvl="1" indent="-285750">
              <a:buFont typeface="Wingdings" panose="05000000000000000000" pitchFamily="2" charset="2"/>
              <a:buChar char="ü"/>
            </a:pPr>
            <a:endPar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endParaRPr>
          </a:p>
          <a:p>
            <a:pPr marL="285750" lvl="1" indent="-285750">
              <a:buFont typeface="Wingdings" panose="05000000000000000000" pitchFamily="2" charset="2"/>
              <a:buChar char="ü"/>
            </a:pPr>
            <a:r>
              <a:rPr lang="zh-CN" altLang="en-US" sz="1600" b="1">
                <a:solidFill>
                  <a:schemeClr val="tx1">
                    <a:lumMod val="75000"/>
                    <a:lumOff val="25000"/>
                  </a:schemeClr>
                </a:solidFill>
                <a:effectLst>
                  <a:outerShdw blurRad="38100" dist="38100" dir="2700000" algn="tl">
                    <a:srgbClr val="000000">
                      <a:alpha val="43137"/>
                    </a:srgbClr>
                  </a:outerShdw>
                </a:effectLst>
                <a:latin typeface="+mn-ea"/>
                <a:ea typeface="+mn-ea"/>
              </a:rPr>
              <a:t>体型与身体肌肉状况</a:t>
            </a:r>
            <a:endPar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endParaRPr>
          </a:p>
          <a:p>
            <a:pPr marL="285750" lvl="1" indent="-285750">
              <a:buFont typeface="Wingdings" panose="05000000000000000000" pitchFamily="2" charset="2"/>
              <a:buChar char="ü"/>
            </a:pPr>
            <a:r>
              <a:rPr lang="zh-CN" altLang="en-US" sz="1600" b="1">
                <a:solidFill>
                  <a:schemeClr val="tx1">
                    <a:lumMod val="75000"/>
                    <a:lumOff val="25000"/>
                  </a:schemeClr>
                </a:solidFill>
                <a:effectLst>
                  <a:outerShdw blurRad="38100" dist="38100" dir="2700000" algn="tl">
                    <a:srgbClr val="000000">
                      <a:alpha val="43137"/>
                    </a:srgbClr>
                  </a:outerShdw>
                </a:effectLst>
                <a:latin typeface="+mn-ea"/>
                <a:ea typeface="+mn-ea"/>
              </a:rPr>
              <a:t>生化</a:t>
            </a:r>
            <a:r>
              <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rPr>
              <a:t>15</a:t>
            </a:r>
            <a:r>
              <a:rPr lang="zh-CN" altLang="en-US" sz="1600" b="1">
                <a:solidFill>
                  <a:schemeClr val="tx1">
                    <a:lumMod val="75000"/>
                    <a:lumOff val="25000"/>
                  </a:schemeClr>
                </a:solidFill>
                <a:effectLst>
                  <a:outerShdw blurRad="38100" dist="38100" dir="2700000" algn="tl">
                    <a:srgbClr val="000000">
                      <a:alpha val="43137"/>
                    </a:srgbClr>
                  </a:outerShdw>
                </a:effectLst>
                <a:latin typeface="+mn-ea"/>
                <a:ea typeface="+mn-ea"/>
              </a:rPr>
              <a:t>项</a:t>
            </a:r>
            <a:endPar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endParaRPr>
          </a:p>
          <a:p>
            <a:pPr marL="285750" lvl="1" indent="-285750">
              <a:buFont typeface="Wingdings" panose="05000000000000000000" pitchFamily="2" charset="2"/>
              <a:buChar char="ü"/>
            </a:pPr>
            <a:r>
              <a:rPr lang="zh-CN" altLang="en-US" sz="1600" b="1">
                <a:solidFill>
                  <a:schemeClr val="tx1">
                    <a:lumMod val="75000"/>
                    <a:lumOff val="25000"/>
                  </a:schemeClr>
                </a:solidFill>
                <a:effectLst>
                  <a:outerShdw blurRad="38100" dist="38100" dir="2700000" algn="tl">
                    <a:srgbClr val="000000">
                      <a:alpha val="43137"/>
                    </a:srgbClr>
                  </a:outerShdw>
                </a:effectLst>
                <a:latin typeface="+mn-ea"/>
                <a:ea typeface="+mn-ea"/>
              </a:rPr>
              <a:t>血钾</a:t>
            </a:r>
            <a:endPar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endParaRPr>
          </a:p>
          <a:p>
            <a:pPr marL="285750" lvl="1" indent="-285750">
              <a:buFont typeface="Wingdings" panose="05000000000000000000" pitchFamily="2" charset="2"/>
              <a:buChar char="ü"/>
            </a:pPr>
            <a:r>
              <a:rPr lang="zh-CN" altLang="en-US" sz="1600" b="1">
                <a:solidFill>
                  <a:schemeClr val="tx1">
                    <a:lumMod val="75000"/>
                    <a:lumOff val="25000"/>
                  </a:schemeClr>
                </a:solidFill>
                <a:effectLst>
                  <a:outerShdw blurRad="38100" dist="38100" dir="2700000" algn="tl">
                    <a:srgbClr val="000000">
                      <a:alpha val="43137"/>
                    </a:srgbClr>
                  </a:outerShdw>
                </a:effectLst>
                <a:latin typeface="+mn-ea"/>
                <a:ea typeface="+mn-ea"/>
              </a:rPr>
              <a:t>血钠</a:t>
            </a:r>
            <a:endPar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endParaRPr>
          </a:p>
          <a:p>
            <a:pPr marL="285750" lvl="1" indent="-285750">
              <a:buFont typeface="Wingdings" panose="05000000000000000000" pitchFamily="2" charset="2"/>
              <a:buChar char="ü"/>
            </a:pPr>
            <a:r>
              <a:rPr lang="zh-CN" altLang="en-US" sz="1600" b="1">
                <a:solidFill>
                  <a:schemeClr val="tx1">
                    <a:lumMod val="75000"/>
                    <a:lumOff val="25000"/>
                  </a:schemeClr>
                </a:solidFill>
                <a:effectLst>
                  <a:outerShdw blurRad="38100" dist="38100" dir="2700000" algn="tl">
                    <a:srgbClr val="000000">
                      <a:alpha val="43137"/>
                    </a:srgbClr>
                  </a:outerShdw>
                </a:effectLst>
                <a:latin typeface="+mn-ea"/>
                <a:ea typeface="+mn-ea"/>
              </a:rPr>
              <a:t>血压排查高血压</a:t>
            </a:r>
            <a:endPar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endParaRPr>
          </a:p>
          <a:p>
            <a:pPr marL="285750" lvl="1" indent="-285750">
              <a:buFont typeface="Wingdings" panose="05000000000000000000" pitchFamily="2" charset="2"/>
              <a:buChar char="ü"/>
            </a:pPr>
            <a:r>
              <a:rPr lang="zh-CN" altLang="en-US" sz="1600" b="1">
                <a:solidFill>
                  <a:schemeClr val="tx1">
                    <a:lumMod val="75000"/>
                    <a:lumOff val="25000"/>
                  </a:schemeClr>
                </a:solidFill>
                <a:effectLst>
                  <a:outerShdw blurRad="38100" dist="38100" dir="2700000" algn="tl">
                    <a:srgbClr val="000000">
                      <a:alpha val="43137"/>
                    </a:srgbClr>
                  </a:outerShdw>
                </a:effectLst>
                <a:latin typeface="+mn-ea"/>
                <a:ea typeface="+mn-ea"/>
              </a:rPr>
              <a:t>血液</a:t>
            </a:r>
            <a:r>
              <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rPr>
              <a:t>PH</a:t>
            </a:r>
            <a:r>
              <a:rPr lang="zh-CN" altLang="en-US" sz="1600" b="1">
                <a:solidFill>
                  <a:schemeClr val="tx1">
                    <a:lumMod val="75000"/>
                    <a:lumOff val="25000"/>
                  </a:schemeClr>
                </a:solidFill>
                <a:effectLst>
                  <a:outerShdw blurRad="38100" dist="38100" dir="2700000" algn="tl">
                    <a:srgbClr val="000000">
                      <a:alpha val="43137"/>
                    </a:srgbClr>
                  </a:outerShdw>
                </a:effectLst>
                <a:latin typeface="+mn-ea"/>
                <a:ea typeface="+mn-ea"/>
              </a:rPr>
              <a:t>排查酸中毒</a:t>
            </a:r>
            <a:endPar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endParaRPr>
          </a:p>
          <a:p>
            <a:pPr marL="285750" lvl="1" indent="-285750">
              <a:buFont typeface="Wingdings" panose="05000000000000000000" pitchFamily="2" charset="2"/>
              <a:buChar char="ü"/>
            </a:pPr>
            <a:endPar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endParaRPr>
          </a:p>
          <a:p>
            <a:pPr marL="285750" lvl="1" indent="-285750">
              <a:buFont typeface="Wingdings" panose="05000000000000000000" pitchFamily="2" charset="2"/>
              <a:buChar char="ü"/>
            </a:pPr>
            <a:endPar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endParaRPr>
          </a:p>
          <a:p>
            <a:pPr marL="285750" lvl="1" indent="-285750">
              <a:buFont typeface="Wingdings" panose="05000000000000000000" pitchFamily="2" charset="2"/>
              <a:buChar char="ü"/>
            </a:pPr>
            <a:endPar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endParaRPr>
          </a:p>
          <a:p>
            <a:pPr marL="285750" lvl="1" indent="-285750">
              <a:buFont typeface="Wingdings" panose="05000000000000000000" pitchFamily="2" charset="2"/>
              <a:buChar char="ü"/>
            </a:pPr>
            <a:endPar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endParaRPr>
          </a:p>
          <a:p>
            <a:pPr marL="285750" lvl="1" indent="-285750">
              <a:buFont typeface="Wingdings" panose="05000000000000000000" pitchFamily="2" charset="2"/>
              <a:buChar char="ü"/>
            </a:pPr>
            <a:r>
              <a:rPr lang="zh-CN" altLang="en-US" sz="1600" b="1">
                <a:solidFill>
                  <a:schemeClr val="tx1">
                    <a:lumMod val="75000"/>
                    <a:lumOff val="25000"/>
                  </a:schemeClr>
                </a:solidFill>
                <a:effectLst>
                  <a:outerShdw blurRad="38100" dist="38100" dir="2700000" algn="tl">
                    <a:srgbClr val="000000">
                      <a:alpha val="43137"/>
                    </a:srgbClr>
                  </a:outerShdw>
                </a:effectLst>
                <a:latin typeface="+mn-ea"/>
                <a:ea typeface="+mn-ea"/>
              </a:rPr>
              <a:t>血常规排查贫血</a:t>
            </a:r>
            <a:endPar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endParaRPr>
          </a:p>
          <a:p>
            <a:pPr marL="285750" lvl="1" indent="-285750">
              <a:buFont typeface="Wingdings" panose="05000000000000000000" pitchFamily="2" charset="2"/>
              <a:buChar char="ü"/>
            </a:pPr>
            <a:r>
              <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rPr>
              <a:t>UPC</a:t>
            </a:r>
            <a:r>
              <a:rPr lang="zh-CN" altLang="en-US" sz="1600" b="1">
                <a:solidFill>
                  <a:schemeClr val="tx1">
                    <a:lumMod val="75000"/>
                    <a:lumOff val="25000"/>
                  </a:schemeClr>
                </a:solidFill>
                <a:effectLst>
                  <a:outerShdw blurRad="38100" dist="38100" dir="2700000" algn="tl">
                    <a:srgbClr val="000000">
                      <a:alpha val="43137"/>
                    </a:srgbClr>
                  </a:outerShdw>
                </a:effectLst>
                <a:latin typeface="+mn-ea"/>
                <a:ea typeface="+mn-ea"/>
              </a:rPr>
              <a:t>与尿检排查蛋白尿和感染</a:t>
            </a:r>
            <a:endPar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endParaRPr>
          </a:p>
          <a:p>
            <a:pPr marL="285750" lvl="1" indent="-285750">
              <a:buFont typeface="Wingdings" panose="05000000000000000000" pitchFamily="2" charset="2"/>
              <a:buChar char="ü"/>
            </a:pPr>
            <a:r>
              <a:rPr lang="zh-CN" altLang="en-US" sz="1600" b="1">
                <a:solidFill>
                  <a:schemeClr val="tx1">
                    <a:lumMod val="75000"/>
                    <a:lumOff val="25000"/>
                  </a:schemeClr>
                </a:solidFill>
                <a:effectLst>
                  <a:outerShdw blurRad="38100" dist="38100" dir="2700000" algn="tl">
                    <a:srgbClr val="000000">
                      <a:alpha val="43137"/>
                    </a:srgbClr>
                  </a:outerShdw>
                </a:effectLst>
                <a:latin typeface="+mn-ea"/>
                <a:ea typeface="+mn-ea"/>
              </a:rPr>
              <a:t>口腔情况</a:t>
            </a:r>
            <a:endParaRPr lang="en-US" altLang="zh-CN" sz="1600" b="1">
              <a:solidFill>
                <a:schemeClr val="tx1">
                  <a:lumMod val="75000"/>
                  <a:lumOff val="25000"/>
                </a:schemeClr>
              </a:solidFill>
              <a:effectLst>
                <a:outerShdw blurRad="38100" dist="38100" dir="2700000" algn="tl">
                  <a:srgbClr val="000000">
                    <a:alpha val="43137"/>
                  </a:srgbClr>
                </a:outerShdw>
              </a:effectLst>
              <a:latin typeface="+mn-ea"/>
              <a:ea typeface="+mn-ea"/>
            </a:endParaRPr>
          </a:p>
          <a:p>
            <a:pPr marL="742950" lvl="1" indent="-285750">
              <a:buFont typeface="Wingdings" panose="05000000000000000000" pitchFamily="2" charset="2"/>
              <a:buChar char="ü"/>
            </a:pPr>
            <a:endParaRPr lang="en-US" altLang="zh-CN" b="1">
              <a:solidFill>
                <a:schemeClr val="tx1">
                  <a:lumMod val="75000"/>
                  <a:lumOff val="25000"/>
                </a:schemeClr>
              </a:solidFill>
              <a:effectLst>
                <a:outerShdw blurRad="38100" dist="38100" dir="2700000" algn="tl">
                  <a:srgbClr val="000000">
                    <a:alpha val="43137"/>
                  </a:srgbClr>
                </a:outerShdw>
              </a:effectLst>
              <a:latin typeface="+mj-ea"/>
            </a:endParaRPr>
          </a:p>
          <a:p>
            <a:pPr lvl="1"/>
            <a:endParaRPr lang="en-US" altLang="zh-CN" b="1">
              <a:solidFill>
                <a:schemeClr val="tx1">
                  <a:lumMod val="75000"/>
                  <a:lumOff val="25000"/>
                </a:schemeClr>
              </a:solidFill>
              <a:effectLst>
                <a:outerShdw blurRad="38100" dist="38100" dir="2700000" algn="tl">
                  <a:srgbClr val="000000">
                    <a:alpha val="43137"/>
                  </a:srgbClr>
                </a:outerShdw>
              </a:effectLst>
              <a:latin typeface="+mj-ea"/>
            </a:endParaRPr>
          </a:p>
          <a:p>
            <a:pPr marL="742950" lvl="1" indent="-285750">
              <a:buFont typeface="Wingdings" panose="05000000000000000000" pitchFamily="2" charset="2"/>
              <a:buChar char="ü"/>
            </a:pPr>
            <a:endParaRPr lang="en-US" altLang="zh-CN" b="1">
              <a:solidFill>
                <a:schemeClr val="tx1">
                  <a:lumMod val="75000"/>
                  <a:lumOff val="25000"/>
                </a:schemeClr>
              </a:solidFill>
              <a:effectLst>
                <a:outerShdw blurRad="38100" dist="38100" dir="2700000" algn="tl">
                  <a:srgbClr val="000000">
                    <a:alpha val="43137"/>
                  </a:srgbClr>
                </a:outerShdw>
              </a:effectLst>
              <a:latin typeface="+mj-ea"/>
            </a:endParaRPr>
          </a:p>
          <a:p>
            <a:pPr lvl="1"/>
            <a:endParaRPr lang="en-US" altLang="zh-CN" b="1">
              <a:solidFill>
                <a:schemeClr val="tx1">
                  <a:lumMod val="75000"/>
                  <a:lumOff val="25000"/>
                </a:schemeClr>
              </a:solidFill>
              <a:effectLst>
                <a:outerShdw blurRad="38100" dist="38100" dir="2700000" algn="tl">
                  <a:srgbClr val="000000">
                    <a:alpha val="43137"/>
                  </a:srgbClr>
                </a:outerShdw>
              </a:effectLst>
              <a:latin typeface="+mj-ea"/>
            </a:endParaRPr>
          </a:p>
          <a:p>
            <a:pPr lvl="1"/>
            <a:endParaRPr lang="en-US" altLang="zh-CN" sz="1600" b="1">
              <a:solidFill>
                <a:schemeClr val="tx1">
                  <a:lumMod val="75000"/>
                  <a:lumOff val="25000"/>
                </a:schemeClr>
              </a:solidFill>
              <a:effectLst>
                <a:outerShdw blurRad="38100" dist="38100" dir="2700000" algn="tl">
                  <a:srgbClr val="000000">
                    <a:alpha val="43137"/>
                  </a:srgbClr>
                </a:outerShdw>
              </a:effectLst>
              <a:latin typeface="+mj-ea"/>
            </a:endParaRPr>
          </a:p>
          <a:p>
            <a:endParaRPr lang="zh-CN" altLang="en-US"/>
          </a:p>
          <a:p>
            <a:pPr marL="0" lvl="1"/>
            <a:endParaRPr lang="en-US" altLang="zh-CN" sz="2000" b="1">
              <a:solidFill>
                <a:schemeClr val="tx1">
                  <a:lumMod val="75000"/>
                  <a:lumOff val="25000"/>
                </a:schemeClr>
              </a:solidFill>
              <a:effectLst>
                <a:outerShdw blurRad="38100" dist="38100" dir="2700000" algn="tl">
                  <a:srgbClr val="000000">
                    <a:alpha val="43137"/>
                  </a:srgbClr>
                </a:outerShdw>
              </a:effectLst>
              <a:latin typeface="+mj-ea"/>
              <a:ea typeface="+mj-ea"/>
            </a:endParaRPr>
          </a:p>
          <a:p>
            <a:endParaRPr lang="en-US" altLang="zh-CN"/>
          </a:p>
          <a:p>
            <a:endParaRPr lang="zh-CN" altLang="en-US"/>
          </a:p>
        </p:txBody>
      </p:sp>
      <p:sp>
        <p:nvSpPr>
          <p:cNvPr id="42" name="矩形 41">
            <a:extLst>
              <a:ext uri="{FF2B5EF4-FFF2-40B4-BE49-F238E27FC236}">
                <a16:creationId xmlns:a16="http://schemas.microsoft.com/office/drawing/2014/main" id="{2F156649-ECBF-4829-8100-EE6E9343E413}"/>
              </a:ext>
            </a:extLst>
          </p:cNvPr>
          <p:cNvSpPr/>
          <p:nvPr/>
        </p:nvSpPr>
        <p:spPr>
          <a:xfrm>
            <a:off x="471059" y="5776016"/>
            <a:ext cx="11102403" cy="965352"/>
          </a:xfrm>
          <a:prstGeom prst="rect">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sp>
        <p:nvSpPr>
          <p:cNvPr id="43" name="文本框 42">
            <a:extLst>
              <a:ext uri="{FF2B5EF4-FFF2-40B4-BE49-F238E27FC236}">
                <a16:creationId xmlns:a16="http://schemas.microsoft.com/office/drawing/2014/main" id="{E278D05D-0732-45FE-B571-2472317B326E}"/>
              </a:ext>
            </a:extLst>
          </p:cNvPr>
          <p:cNvSpPr txBox="1"/>
          <p:nvPr/>
        </p:nvSpPr>
        <p:spPr>
          <a:xfrm>
            <a:off x="850477" y="5822580"/>
            <a:ext cx="10343566" cy="830997"/>
          </a:xfrm>
          <a:prstGeom prst="rect">
            <a:avLst/>
          </a:prstGeom>
          <a:noFill/>
        </p:spPr>
        <p:txBody>
          <a:bodyPr wrap="square" rtlCol="0">
            <a:spAutoFit/>
          </a:bodyPr>
          <a:lstStyle/>
          <a:p>
            <a:pPr marL="285750" indent="-285750">
              <a:buFont typeface="Wingdings" panose="05000000000000000000" pitchFamily="2" charset="2"/>
              <a:buChar char="n"/>
            </a:pPr>
            <a:r>
              <a:rPr lang="zh-CN" altLang="en-US" sz="1600" b="1">
                <a:solidFill>
                  <a:srgbClr val="FFC000"/>
                </a:solidFill>
                <a:effectLst>
                  <a:outerShdw blurRad="38100" dist="38100" dir="2700000" algn="tl">
                    <a:srgbClr val="000000">
                      <a:alpha val="43137"/>
                    </a:srgbClr>
                  </a:outerShdw>
                </a:effectLst>
                <a:latin typeface="+mn-ea"/>
                <a:ea typeface="+mn-ea"/>
              </a:rPr>
              <a:t>切记，每只猫都是不同的，检查项目应尊医嘱酌情增加！</a:t>
            </a:r>
            <a:endParaRPr lang="en-US" altLang="zh-CN" sz="1600" b="1">
              <a:solidFill>
                <a:srgbClr val="FFC000"/>
              </a:solidFill>
              <a:effectLst>
                <a:outerShdw blurRad="38100" dist="38100" dir="2700000" algn="tl">
                  <a:srgbClr val="000000">
                    <a:alpha val="43137"/>
                  </a:srgbClr>
                </a:outerShdw>
              </a:effectLst>
              <a:latin typeface="+mn-ea"/>
              <a:ea typeface="+mn-ea"/>
            </a:endParaRPr>
          </a:p>
          <a:p>
            <a:pPr marL="285750" indent="-285750">
              <a:buFont typeface="Wingdings" panose="05000000000000000000" pitchFamily="2" charset="2"/>
              <a:buChar char="n"/>
            </a:pPr>
            <a:r>
              <a:rPr lang="zh-CN" altLang="en-US" sz="1600">
                <a:solidFill>
                  <a:schemeClr val="bg1">
                    <a:lumMod val="95000"/>
                  </a:schemeClr>
                </a:solidFill>
                <a:effectLst>
                  <a:outerShdw blurRad="38100" dist="38100" dir="2700000" algn="tl">
                    <a:srgbClr val="000000">
                      <a:alpha val="43137"/>
                    </a:srgbClr>
                  </a:outerShdw>
                </a:effectLst>
                <a:latin typeface="+mn-ea"/>
                <a:ea typeface="+mn-ea"/>
              </a:rPr>
              <a:t>如果近期使用了特定药物，比如为了对付高血压、蛋白尿用了贝纳普利、替米沙坦、氨氯地平之类，最好用药后</a:t>
            </a:r>
            <a:r>
              <a:rPr lang="en-US" altLang="zh-CN" sz="1600">
                <a:solidFill>
                  <a:schemeClr val="bg1">
                    <a:lumMod val="95000"/>
                  </a:schemeClr>
                </a:solidFill>
                <a:effectLst>
                  <a:outerShdw blurRad="38100" dist="38100" dir="2700000" algn="tl">
                    <a:srgbClr val="000000">
                      <a:alpha val="43137"/>
                    </a:srgbClr>
                  </a:outerShdw>
                </a:effectLst>
                <a:latin typeface="+mn-ea"/>
                <a:ea typeface="+mn-ea"/>
              </a:rPr>
              <a:t>1-2</a:t>
            </a:r>
            <a:r>
              <a:rPr lang="zh-CN" altLang="en-US" sz="1600">
                <a:solidFill>
                  <a:schemeClr val="bg1">
                    <a:lumMod val="95000"/>
                  </a:schemeClr>
                </a:solidFill>
                <a:effectLst>
                  <a:outerShdw blurRad="38100" dist="38100" dir="2700000" algn="tl">
                    <a:srgbClr val="000000">
                      <a:alpha val="43137"/>
                    </a:srgbClr>
                  </a:outerShdw>
                </a:effectLst>
                <a:latin typeface="+mn-ea"/>
                <a:ea typeface="+mn-ea"/>
              </a:rPr>
              <a:t>周复查下相关指数。</a:t>
            </a:r>
            <a:r>
              <a:rPr lang="zh-CN" altLang="en-US" sz="1600">
                <a:solidFill>
                  <a:schemeClr val="bg1">
                    <a:lumMod val="95000"/>
                  </a:schemeClr>
                </a:solidFill>
                <a:effectLst>
                  <a:outerShdw blurRad="38100" dist="38100" dir="2700000" algn="tl">
                    <a:srgbClr val="000000">
                      <a:alpha val="43137"/>
                    </a:srgbClr>
                  </a:outerShdw>
                </a:effectLst>
                <a:latin typeface="+mj-ea"/>
                <a:ea typeface="+mj-ea"/>
              </a:rPr>
              <a:t>贫血和严重高血磷（＞</a:t>
            </a:r>
            <a:r>
              <a:rPr lang="en-US" altLang="zh-CN" sz="1600">
                <a:solidFill>
                  <a:schemeClr val="bg1">
                    <a:lumMod val="95000"/>
                  </a:schemeClr>
                </a:solidFill>
                <a:effectLst>
                  <a:outerShdw blurRad="38100" dist="38100" dir="2700000" algn="tl">
                    <a:srgbClr val="000000">
                      <a:alpha val="43137"/>
                    </a:srgbClr>
                  </a:outerShdw>
                </a:effectLst>
                <a:latin typeface="+mj-ea"/>
                <a:ea typeface="+mj-ea"/>
              </a:rPr>
              <a:t>1.9mmol/L</a:t>
            </a:r>
            <a:r>
              <a:rPr lang="zh-CN" altLang="en-US" sz="1600">
                <a:solidFill>
                  <a:schemeClr val="bg1">
                    <a:lumMod val="95000"/>
                  </a:schemeClr>
                </a:solidFill>
                <a:effectLst>
                  <a:outerShdw blurRad="38100" dist="38100" dir="2700000" algn="tl">
                    <a:srgbClr val="000000">
                      <a:alpha val="43137"/>
                    </a:srgbClr>
                  </a:outerShdw>
                </a:effectLst>
                <a:latin typeface="+mj-ea"/>
                <a:ea typeface="+mj-ea"/>
              </a:rPr>
              <a:t>）也需要较频繁复查</a:t>
            </a:r>
            <a:r>
              <a:rPr lang="zh-CN" altLang="en-US" sz="1600">
                <a:solidFill>
                  <a:schemeClr val="bg1">
                    <a:lumMod val="95000"/>
                  </a:schemeClr>
                </a:solidFill>
                <a:effectLst>
                  <a:outerShdw blurRad="38100" dist="38100" dir="2700000" algn="tl">
                    <a:srgbClr val="000000">
                      <a:alpha val="43137"/>
                    </a:srgbClr>
                  </a:outerShdw>
                </a:effectLst>
                <a:latin typeface="+mn-ea"/>
                <a:ea typeface="+mn-ea"/>
              </a:rPr>
              <a:t>。</a:t>
            </a:r>
          </a:p>
        </p:txBody>
      </p:sp>
    </p:spTree>
    <p:extLst>
      <p:ext uri="{BB962C8B-B14F-4D97-AF65-F5344CB8AC3E}">
        <p14:creationId xmlns:p14="http://schemas.microsoft.com/office/powerpoint/2010/main" val="11920057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p:cNvPr>
          <p:cNvGrpSpPr/>
          <p:nvPr/>
        </p:nvGrpSpPr>
        <p:grpSpPr>
          <a:xfrm>
            <a:off x="4866703" y="690832"/>
            <a:ext cx="7320137" cy="1035882"/>
            <a:chOff x="8112223" y="330677"/>
            <a:chExt cx="4194115" cy="1035882"/>
          </a:xfrm>
          <a:effectLst>
            <a:outerShdw blurRad="50800" dist="38100" dir="5400000" algn="t" rotWithShape="0">
              <a:prstClr val="black">
                <a:alpha val="40000"/>
              </a:prstClr>
            </a:outerShdw>
          </a:effectLst>
        </p:grpSpPr>
        <p:sp>
          <p:nvSpPr>
            <p:cNvPr id="27"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8281096" y="330677"/>
              <a:ext cx="3956208" cy="985057"/>
              <a:chOff x="-461843" y="2729730"/>
              <a:chExt cx="4659887" cy="1377463"/>
            </a:xfrm>
          </p:grpSpPr>
          <p:sp>
            <p:nvSpPr>
              <p:cNvPr id="29"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1335218" y="3061740"/>
                <a:ext cx="2862826" cy="81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latin typeface="+mn-lt"/>
                    <a:ea typeface="+mn-ea"/>
                    <a:cs typeface="+mn-ea"/>
                    <a:sym typeface="+mn-lt"/>
                  </a:rPr>
                  <a:t>猫肾病治疗之：学习喂药</a:t>
                </a:r>
                <a:endParaRPr lang="en-US" altLang="zh-CN" sz="2400" b="1">
                  <a:solidFill>
                    <a:srgbClr val="010101"/>
                  </a:solidFill>
                  <a:latin typeface="+mn-lt"/>
                  <a:ea typeface="+mn-ea"/>
                  <a:cs typeface="+mn-ea"/>
                  <a:sym typeface="+mn-lt"/>
                </a:endParaRPr>
              </a:p>
            </p:txBody>
          </p:sp>
          <p:cxnSp>
            <p:nvCxnSpPr>
              <p:cNvPr id="31" name="直接连接符 30">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506334" y="3461620"/>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cxnSp>
        <p:nvCxnSpPr>
          <p:cNvPr id="49" name="直接连接符 48">
            <a:extLst/>
          </p:cNvPr>
          <p:cNvCxnSpPr/>
          <p:nvPr/>
        </p:nvCxnSpPr>
        <p:spPr>
          <a:xfrm flipH="1">
            <a:off x="6107113" y="3668713"/>
            <a:ext cx="19050" cy="1079500"/>
          </a:xfrm>
          <a:prstGeom prst="line">
            <a:avLst/>
          </a:prstGeom>
          <a:ln w="50800">
            <a:solidFill>
              <a:srgbClr val="4F4F4F"/>
            </a:solidFill>
          </a:ln>
        </p:spPr>
        <p:style>
          <a:lnRef idx="1">
            <a:schemeClr val="accent1"/>
          </a:lnRef>
          <a:fillRef idx="0">
            <a:schemeClr val="accent1"/>
          </a:fillRef>
          <a:effectRef idx="0">
            <a:schemeClr val="accent1"/>
          </a:effectRef>
          <a:fontRef idx="minor">
            <a:schemeClr val="tx1"/>
          </a:fontRef>
        </p:style>
      </p:cxnSp>
      <p:grpSp>
        <p:nvGrpSpPr>
          <p:cNvPr id="37893" name="组合 1"/>
          <p:cNvGrpSpPr>
            <a:grpSpLocks/>
          </p:cNvGrpSpPr>
          <p:nvPr/>
        </p:nvGrpSpPr>
        <p:grpSpPr bwMode="auto">
          <a:xfrm>
            <a:off x="6627643" y="2129374"/>
            <a:ext cx="4544392" cy="5895012"/>
            <a:chOff x="6887496" y="2608336"/>
            <a:chExt cx="4544073" cy="5893463"/>
          </a:xfrm>
        </p:grpSpPr>
        <p:grpSp>
          <p:nvGrpSpPr>
            <p:cNvPr id="37894" name="组合 14"/>
            <p:cNvGrpSpPr>
              <a:grpSpLocks/>
            </p:cNvGrpSpPr>
            <p:nvPr/>
          </p:nvGrpSpPr>
          <p:grpSpPr bwMode="auto">
            <a:xfrm>
              <a:off x="6931323" y="2608336"/>
              <a:ext cx="4500246" cy="718135"/>
              <a:chOff x="3936148" y="1692543"/>
              <a:chExt cx="4500246" cy="718135"/>
            </a:xfrm>
          </p:grpSpPr>
          <p:sp>
            <p:nvSpPr>
              <p:cNvPr id="55" name="文本框 66">
                <a:extLst/>
              </p:cNvPr>
              <p:cNvSpPr txBox="1">
                <a:spLocks noChangeArrowheads="1"/>
              </p:cNvSpPr>
              <p:nvPr/>
            </p:nvSpPr>
            <p:spPr bwMode="auto">
              <a:xfrm>
                <a:off x="3966308" y="1692543"/>
                <a:ext cx="4258964" cy="461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spcBef>
                    <a:spcPts val="0"/>
                  </a:spcBef>
                  <a:spcAft>
                    <a:spcPts val="0"/>
                  </a:spcAft>
                  <a:defRPr/>
                </a:pPr>
                <a:r>
                  <a:rPr lang="zh-CN" altLang="en-US" sz="2400" b="1" kern="0">
                    <a:solidFill>
                      <a:srgbClr val="4F4F4F"/>
                    </a:solidFill>
                    <a:latin typeface="+mn-lt"/>
                    <a:ea typeface="+mn-ea"/>
                    <a:cs typeface="+mn-ea"/>
                    <a:sym typeface="+mn-lt"/>
                  </a:rPr>
                  <a:t>喂药有几种好用的组合</a:t>
                </a:r>
              </a:p>
            </p:txBody>
          </p:sp>
          <p:sp>
            <p:nvSpPr>
              <p:cNvPr id="56" name="矩形 55">
                <a:extLst/>
              </p:cNvPr>
              <p:cNvSpPr/>
              <p:nvPr/>
            </p:nvSpPr>
            <p:spPr>
              <a:xfrm>
                <a:off x="3936148" y="2133752"/>
                <a:ext cx="4500246" cy="276926"/>
              </a:xfrm>
              <a:prstGeom prst="rect">
                <a:avLst/>
              </a:prstGeom>
            </p:spPr>
            <p:txBody>
              <a:bodyPr>
                <a:spAutoFit/>
              </a:bodyPr>
              <a:lstStyle/>
              <a:p>
                <a:pPr eaLnBrk="1" fontAlgn="auto" hangingPunct="1">
                  <a:spcBef>
                    <a:spcPts val="0"/>
                  </a:spcBef>
                  <a:spcAft>
                    <a:spcPts val="0"/>
                  </a:spcAft>
                  <a:defRPr/>
                </a:pPr>
                <a:endParaRPr lang="zh-CN" altLang="en-US" sz="1200" kern="0">
                  <a:solidFill>
                    <a:srgbClr val="4F4F4F"/>
                  </a:solidFill>
                  <a:latin typeface="+mn-lt"/>
                  <a:ea typeface="+mn-ea"/>
                  <a:cs typeface="+mn-ea"/>
                  <a:sym typeface="+mn-lt"/>
                </a:endParaRPr>
              </a:p>
            </p:txBody>
          </p:sp>
        </p:grpSp>
        <p:sp>
          <p:nvSpPr>
            <p:cNvPr id="52" name="矩形 3">
              <a:extLst/>
            </p:cNvPr>
            <p:cNvSpPr>
              <a:spLocks noChangeArrowheads="1"/>
            </p:cNvSpPr>
            <p:nvPr/>
          </p:nvSpPr>
          <p:spPr bwMode="auto">
            <a:xfrm>
              <a:off x="6887496" y="3332512"/>
              <a:ext cx="4470086" cy="516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457200" indent="-457200" eaLnBrk="1" fontAlgn="auto" hangingPunct="1">
                <a:lnSpc>
                  <a:spcPct val="100000"/>
                </a:lnSpc>
                <a:spcBef>
                  <a:spcPct val="0"/>
                </a:spcBef>
                <a:spcAft>
                  <a:spcPts val="0"/>
                </a:spcAft>
                <a:buFont typeface="Wingdings" panose="05000000000000000000" pitchFamily="2" charset="2"/>
                <a:buChar char="n"/>
                <a:defRPr/>
              </a:pPr>
              <a:r>
                <a:rPr lang="zh-CN" altLang="en-US" sz="2000" kern="0">
                  <a:solidFill>
                    <a:srgbClr val="4F4F4F"/>
                  </a:solidFill>
                  <a:latin typeface="+mj-ea"/>
                  <a:ea typeface="+mj-ea"/>
                  <a:cs typeface="+mn-ea"/>
                  <a:sym typeface="+mn-lt"/>
                </a:rPr>
                <a:t>三号空胶囊配合喂药器</a:t>
              </a:r>
              <a:endParaRPr lang="en-US" altLang="zh-CN" sz="2000" kern="0">
                <a:solidFill>
                  <a:srgbClr val="4F4F4F"/>
                </a:solidFill>
                <a:latin typeface="+mj-ea"/>
                <a:ea typeface="+mj-ea"/>
                <a:cs typeface="+mn-ea"/>
                <a:sym typeface="+mn-lt"/>
              </a:endParaRPr>
            </a:p>
            <a:p>
              <a:pPr marL="457200" indent="-457200" eaLnBrk="1" fontAlgn="auto" hangingPunct="1">
                <a:lnSpc>
                  <a:spcPct val="100000"/>
                </a:lnSpc>
                <a:spcBef>
                  <a:spcPct val="0"/>
                </a:spcBef>
                <a:spcAft>
                  <a:spcPts val="0"/>
                </a:spcAft>
                <a:buFont typeface="Wingdings" panose="05000000000000000000" pitchFamily="2" charset="2"/>
                <a:buChar char="n"/>
                <a:defRPr/>
              </a:pPr>
              <a:endParaRPr lang="en-US" altLang="zh-CN" sz="2000" kern="0">
                <a:solidFill>
                  <a:srgbClr val="4F4F4F"/>
                </a:solidFill>
                <a:latin typeface="+mj-ea"/>
                <a:ea typeface="+mj-ea"/>
                <a:cs typeface="+mn-ea"/>
                <a:sym typeface="+mn-lt"/>
              </a:endParaRPr>
            </a:p>
            <a:p>
              <a:pPr eaLnBrk="1" fontAlgn="auto" hangingPunct="1">
                <a:lnSpc>
                  <a:spcPct val="100000"/>
                </a:lnSpc>
                <a:spcBef>
                  <a:spcPct val="0"/>
                </a:spcBef>
                <a:spcAft>
                  <a:spcPts val="0"/>
                </a:spcAft>
                <a:buNone/>
                <a:defRPr/>
              </a:pPr>
              <a:r>
                <a:rPr lang="en-US" altLang="zh-CN" sz="2000" kern="0">
                  <a:solidFill>
                    <a:srgbClr val="4F4F4F"/>
                  </a:solidFill>
                  <a:latin typeface="+mj-ea"/>
                  <a:ea typeface="+mj-ea"/>
                  <a:cs typeface="+mn-ea"/>
                  <a:sym typeface="+mn-lt"/>
                </a:rPr>
                <a:t>                      +</a:t>
              </a:r>
            </a:p>
            <a:p>
              <a:pPr marL="457200" indent="-457200" eaLnBrk="1" fontAlgn="auto" hangingPunct="1">
                <a:lnSpc>
                  <a:spcPct val="100000"/>
                </a:lnSpc>
                <a:spcBef>
                  <a:spcPct val="0"/>
                </a:spcBef>
                <a:spcAft>
                  <a:spcPts val="0"/>
                </a:spcAft>
                <a:buFont typeface="Wingdings" panose="05000000000000000000" pitchFamily="2" charset="2"/>
                <a:buChar char="n"/>
                <a:defRPr/>
              </a:pPr>
              <a:endParaRPr lang="en-US" altLang="zh-CN" sz="2000" kern="0">
                <a:solidFill>
                  <a:srgbClr val="4F4F4F"/>
                </a:solidFill>
                <a:latin typeface="+mj-ea"/>
                <a:ea typeface="+mj-ea"/>
                <a:cs typeface="+mn-ea"/>
                <a:sym typeface="+mn-lt"/>
              </a:endParaRPr>
            </a:p>
            <a:p>
              <a:pPr marL="457200" indent="-457200" eaLnBrk="1" fontAlgn="auto" hangingPunct="1">
                <a:lnSpc>
                  <a:spcPct val="100000"/>
                </a:lnSpc>
                <a:spcBef>
                  <a:spcPct val="0"/>
                </a:spcBef>
                <a:spcAft>
                  <a:spcPts val="0"/>
                </a:spcAft>
                <a:buFont typeface="Wingdings" panose="05000000000000000000" pitchFamily="2" charset="2"/>
                <a:buChar char="n"/>
                <a:defRPr/>
              </a:pPr>
              <a:endParaRPr lang="en-US" altLang="zh-CN" sz="2000" kern="0">
                <a:solidFill>
                  <a:srgbClr val="4F4F4F"/>
                </a:solidFill>
                <a:latin typeface="+mj-ea"/>
                <a:ea typeface="+mj-ea"/>
                <a:cs typeface="+mn-ea"/>
                <a:sym typeface="+mn-lt"/>
              </a:endParaRPr>
            </a:p>
            <a:p>
              <a:pPr marL="457200" indent="-457200" eaLnBrk="1" fontAlgn="auto" hangingPunct="1">
                <a:lnSpc>
                  <a:spcPct val="100000"/>
                </a:lnSpc>
                <a:spcBef>
                  <a:spcPct val="0"/>
                </a:spcBef>
                <a:spcAft>
                  <a:spcPts val="0"/>
                </a:spcAft>
                <a:buFont typeface="Wingdings" panose="05000000000000000000" pitchFamily="2" charset="2"/>
                <a:buChar char="n"/>
                <a:defRPr/>
              </a:pPr>
              <a:r>
                <a:rPr lang="zh-CN" altLang="en-US" sz="2000" kern="0">
                  <a:solidFill>
                    <a:srgbClr val="4F4F4F"/>
                  </a:solidFill>
                  <a:latin typeface="+mj-ea"/>
                  <a:ea typeface="+mj-ea"/>
                  <a:cs typeface="+mn-ea"/>
                  <a:sym typeface="+mn-lt"/>
                </a:rPr>
                <a:t>药片分割可以淘宝买切药器</a:t>
              </a:r>
              <a:endParaRPr lang="en-US" altLang="zh-CN" sz="2000" kern="0">
                <a:solidFill>
                  <a:srgbClr val="4F4F4F"/>
                </a:solidFill>
                <a:latin typeface="+mj-ea"/>
                <a:ea typeface="+mj-ea"/>
                <a:cs typeface="+mn-ea"/>
                <a:sym typeface="+mn-lt"/>
              </a:endParaRPr>
            </a:p>
            <a:p>
              <a:pPr marL="457200" indent="-457200" eaLnBrk="1" fontAlgn="auto" hangingPunct="1">
                <a:lnSpc>
                  <a:spcPct val="100000"/>
                </a:lnSpc>
                <a:spcBef>
                  <a:spcPct val="0"/>
                </a:spcBef>
                <a:spcAft>
                  <a:spcPts val="0"/>
                </a:spcAft>
                <a:buFont typeface="Wingdings" panose="05000000000000000000" pitchFamily="2" charset="2"/>
                <a:buChar char="n"/>
                <a:defRPr/>
              </a:pPr>
              <a:endParaRPr lang="en-US" altLang="zh-CN" sz="2000" kern="0">
                <a:solidFill>
                  <a:srgbClr val="4F4F4F"/>
                </a:solidFill>
                <a:latin typeface="+mj-ea"/>
                <a:ea typeface="+mj-ea"/>
                <a:cs typeface="+mn-ea"/>
                <a:sym typeface="+mn-lt"/>
              </a:endParaRPr>
            </a:p>
            <a:p>
              <a:pPr marL="457200" indent="-457200" eaLnBrk="1" fontAlgn="auto" hangingPunct="1">
                <a:lnSpc>
                  <a:spcPct val="100000"/>
                </a:lnSpc>
                <a:spcBef>
                  <a:spcPct val="0"/>
                </a:spcBef>
                <a:spcAft>
                  <a:spcPts val="0"/>
                </a:spcAft>
                <a:buFont typeface="Wingdings" panose="05000000000000000000" pitchFamily="2" charset="2"/>
                <a:buChar char="n"/>
                <a:defRPr/>
              </a:pPr>
              <a:r>
                <a:rPr lang="zh-CN" altLang="en-US" sz="2000" kern="0">
                  <a:solidFill>
                    <a:srgbClr val="4F4F4F"/>
                  </a:solidFill>
                  <a:latin typeface="+mj-ea"/>
                  <a:ea typeface="+mj-ea"/>
                  <a:cs typeface="+mn-ea"/>
                  <a:sym typeface="+mn-lt"/>
                </a:rPr>
                <a:t>黄油包裹，一些猫还喜欢奶酪</a:t>
              </a:r>
              <a:endParaRPr lang="en-US" altLang="zh-CN" sz="2000" kern="0">
                <a:solidFill>
                  <a:srgbClr val="4F4F4F"/>
                </a:solidFill>
                <a:latin typeface="+mj-ea"/>
                <a:ea typeface="+mj-ea"/>
                <a:cs typeface="+mn-ea"/>
                <a:sym typeface="+mn-lt"/>
              </a:endParaRPr>
            </a:p>
            <a:p>
              <a:pPr marL="457200" indent="-457200" eaLnBrk="1" fontAlgn="auto" hangingPunct="1">
                <a:lnSpc>
                  <a:spcPct val="100000"/>
                </a:lnSpc>
                <a:spcBef>
                  <a:spcPct val="0"/>
                </a:spcBef>
                <a:spcAft>
                  <a:spcPts val="0"/>
                </a:spcAft>
                <a:buFont typeface="Wingdings" panose="05000000000000000000" pitchFamily="2" charset="2"/>
                <a:buChar char="n"/>
                <a:defRPr/>
              </a:pPr>
              <a:endParaRPr lang="en-US" altLang="zh-CN" sz="2000" kern="0">
                <a:solidFill>
                  <a:srgbClr val="4F4F4F"/>
                </a:solidFill>
                <a:latin typeface="+mj-ea"/>
                <a:ea typeface="+mj-ea"/>
                <a:cs typeface="+mn-ea"/>
                <a:sym typeface="+mn-lt"/>
              </a:endParaRPr>
            </a:p>
            <a:p>
              <a:pPr marL="457200" indent="-457200" eaLnBrk="1" fontAlgn="auto" hangingPunct="1">
                <a:lnSpc>
                  <a:spcPct val="100000"/>
                </a:lnSpc>
                <a:spcBef>
                  <a:spcPct val="0"/>
                </a:spcBef>
                <a:spcAft>
                  <a:spcPts val="0"/>
                </a:spcAft>
                <a:buFont typeface="Wingdings" panose="05000000000000000000" pitchFamily="2" charset="2"/>
                <a:buChar char="n"/>
                <a:defRPr/>
              </a:pPr>
              <a:endParaRPr lang="en-US" altLang="zh-CN" sz="2000" kern="0">
                <a:solidFill>
                  <a:srgbClr val="4F4F4F"/>
                </a:solidFill>
                <a:latin typeface="+mj-ea"/>
                <a:ea typeface="+mj-ea"/>
                <a:cs typeface="+mn-ea"/>
                <a:sym typeface="+mn-lt"/>
              </a:endParaRPr>
            </a:p>
            <a:p>
              <a:pPr marL="457200" indent="-457200" eaLnBrk="1" fontAlgn="auto" hangingPunct="1">
                <a:lnSpc>
                  <a:spcPct val="100000"/>
                </a:lnSpc>
                <a:spcBef>
                  <a:spcPct val="0"/>
                </a:spcBef>
                <a:spcAft>
                  <a:spcPts val="0"/>
                </a:spcAft>
                <a:buFont typeface="Wingdings" panose="05000000000000000000" pitchFamily="2" charset="2"/>
                <a:buChar char="n"/>
                <a:defRPr/>
              </a:pPr>
              <a:endParaRPr lang="en-US" altLang="zh-CN" sz="2000" kern="0">
                <a:solidFill>
                  <a:srgbClr val="4F4F4F"/>
                </a:solidFill>
                <a:latin typeface="+mj-ea"/>
                <a:ea typeface="+mj-ea"/>
                <a:cs typeface="+mn-ea"/>
                <a:sym typeface="+mn-lt"/>
              </a:endParaRPr>
            </a:p>
            <a:p>
              <a:pPr marL="457200" indent="-457200" eaLnBrk="1" fontAlgn="auto" hangingPunct="1">
                <a:lnSpc>
                  <a:spcPct val="100000"/>
                </a:lnSpc>
                <a:spcBef>
                  <a:spcPct val="0"/>
                </a:spcBef>
                <a:spcAft>
                  <a:spcPts val="0"/>
                </a:spcAft>
                <a:buFont typeface="Wingdings" panose="05000000000000000000" pitchFamily="2" charset="2"/>
                <a:buChar char="n"/>
                <a:defRPr/>
              </a:pPr>
              <a:endParaRPr lang="en-US" altLang="zh-CN" sz="2000" kern="0">
                <a:solidFill>
                  <a:srgbClr val="4F4F4F"/>
                </a:solidFill>
                <a:latin typeface="+mj-ea"/>
                <a:ea typeface="+mj-ea"/>
                <a:cs typeface="+mn-ea"/>
                <a:sym typeface="+mn-lt"/>
              </a:endParaRPr>
            </a:p>
            <a:p>
              <a:pPr marL="457200" indent="-457200" eaLnBrk="1" fontAlgn="auto" hangingPunct="1">
                <a:lnSpc>
                  <a:spcPct val="100000"/>
                </a:lnSpc>
                <a:spcBef>
                  <a:spcPct val="0"/>
                </a:spcBef>
                <a:spcAft>
                  <a:spcPts val="0"/>
                </a:spcAft>
                <a:buFont typeface="Wingdings" panose="05000000000000000000" pitchFamily="2" charset="2"/>
                <a:buChar char="n"/>
                <a:defRPr/>
              </a:pPr>
              <a:endParaRPr lang="en-US" altLang="zh-CN" sz="2000" kern="0">
                <a:solidFill>
                  <a:srgbClr val="4F4F4F"/>
                </a:solidFill>
                <a:latin typeface="+mj-ea"/>
                <a:ea typeface="+mj-ea"/>
                <a:cs typeface="+mn-ea"/>
                <a:sym typeface="+mn-lt"/>
              </a:endParaRPr>
            </a:p>
            <a:p>
              <a:pPr eaLnBrk="1" fontAlgn="auto" hangingPunct="1">
                <a:lnSpc>
                  <a:spcPct val="100000"/>
                </a:lnSpc>
                <a:spcBef>
                  <a:spcPct val="0"/>
                </a:spcBef>
                <a:spcAft>
                  <a:spcPts val="0"/>
                </a:spcAft>
                <a:buFont typeface="Arial" panose="020B0604020202020204" pitchFamily="34" charset="0"/>
                <a:buNone/>
                <a:defRPr/>
              </a:pPr>
              <a:endParaRPr lang="en-US" altLang="zh-CN" sz="1400" kern="0">
                <a:solidFill>
                  <a:srgbClr val="4F4F4F"/>
                </a:solidFill>
                <a:latin typeface="+mn-lt"/>
                <a:ea typeface="+mn-ea"/>
                <a:cs typeface="+mn-ea"/>
                <a:sym typeface="+mn-lt"/>
              </a:endParaRPr>
            </a:p>
            <a:p>
              <a:pPr eaLnBrk="1" fontAlgn="auto" hangingPunct="1">
                <a:lnSpc>
                  <a:spcPct val="100000"/>
                </a:lnSpc>
                <a:spcBef>
                  <a:spcPct val="0"/>
                </a:spcBef>
                <a:spcAft>
                  <a:spcPts val="0"/>
                </a:spcAft>
                <a:buFont typeface="Arial" panose="020B0604020202020204" pitchFamily="34" charset="0"/>
                <a:buNone/>
                <a:defRPr/>
              </a:pPr>
              <a:endParaRPr lang="en-US" altLang="zh-CN" sz="1400" kern="0">
                <a:solidFill>
                  <a:srgbClr val="4F4F4F"/>
                </a:solidFill>
                <a:latin typeface="+mn-lt"/>
                <a:ea typeface="+mn-ea"/>
                <a:cs typeface="+mn-ea"/>
                <a:sym typeface="+mn-lt"/>
              </a:endParaRPr>
            </a:p>
            <a:p>
              <a:pPr eaLnBrk="1" fontAlgn="auto" hangingPunct="1">
                <a:lnSpc>
                  <a:spcPct val="100000"/>
                </a:lnSpc>
                <a:spcBef>
                  <a:spcPct val="0"/>
                </a:spcBef>
                <a:spcAft>
                  <a:spcPts val="0"/>
                </a:spcAft>
                <a:buNone/>
                <a:defRPr/>
              </a:pPr>
              <a:endParaRPr lang="en-US" altLang="zh-CN" sz="1400" kern="0">
                <a:solidFill>
                  <a:srgbClr val="4F4F4F"/>
                </a:solidFill>
                <a:cs typeface="+mn-ea"/>
                <a:sym typeface="+mn-lt"/>
              </a:endParaRPr>
            </a:p>
            <a:p>
              <a:pPr eaLnBrk="1" fontAlgn="auto" hangingPunct="1">
                <a:lnSpc>
                  <a:spcPct val="100000"/>
                </a:lnSpc>
                <a:spcBef>
                  <a:spcPct val="0"/>
                </a:spcBef>
                <a:spcAft>
                  <a:spcPts val="0"/>
                </a:spcAft>
                <a:buFont typeface="Arial" panose="020B0604020202020204" pitchFamily="34" charset="0"/>
                <a:buNone/>
                <a:defRPr/>
              </a:pPr>
              <a:endParaRPr lang="en-US" altLang="zh-CN" sz="1400" kern="0">
                <a:solidFill>
                  <a:srgbClr val="4F4F4F"/>
                </a:solidFill>
                <a:latin typeface="+mn-lt"/>
                <a:ea typeface="+mn-ea"/>
                <a:cs typeface="+mn-ea"/>
                <a:sym typeface="+mn-lt"/>
              </a:endParaRPr>
            </a:p>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sp>
          <p:nvSpPr>
            <p:cNvPr id="53" name="矩形 3">
              <a:extLst/>
            </p:cNvPr>
            <p:cNvSpPr>
              <a:spLocks noChangeArrowheads="1"/>
            </p:cNvSpPr>
            <p:nvPr/>
          </p:nvSpPr>
          <p:spPr bwMode="auto">
            <a:xfrm>
              <a:off x="6931323" y="4487442"/>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sp>
          <p:nvSpPr>
            <p:cNvPr id="54" name="矩形 3">
              <a:extLst/>
            </p:cNvPr>
            <p:cNvSpPr>
              <a:spLocks noChangeArrowheads="1"/>
            </p:cNvSpPr>
            <p:nvPr/>
          </p:nvSpPr>
          <p:spPr bwMode="auto">
            <a:xfrm>
              <a:off x="6931323" y="5273048"/>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grpSp>
      <p:pic>
        <p:nvPicPr>
          <p:cNvPr id="4" name="图片 3">
            <a:extLst>
              <a:ext uri="{FF2B5EF4-FFF2-40B4-BE49-F238E27FC236}">
                <a16:creationId xmlns:a16="http://schemas.microsoft.com/office/drawing/2014/main" id="{1A6C5398-46DB-4B78-90F5-03B64736978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09904" y="3272710"/>
            <a:ext cx="1174549" cy="837945"/>
          </a:xfrm>
          <a:prstGeom prst="rect">
            <a:avLst/>
          </a:prstGeom>
        </p:spPr>
      </p:pic>
      <p:pic>
        <p:nvPicPr>
          <p:cNvPr id="7" name="图片 6">
            <a:extLst>
              <a:ext uri="{FF2B5EF4-FFF2-40B4-BE49-F238E27FC236}">
                <a16:creationId xmlns:a16="http://schemas.microsoft.com/office/drawing/2014/main" id="{38564DE8-5BEE-4F6F-968B-5F46C370EF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6956252" y="3297995"/>
            <a:ext cx="1293465" cy="837945"/>
          </a:xfrm>
          <a:prstGeom prst="rect">
            <a:avLst/>
          </a:prstGeom>
        </p:spPr>
      </p:pic>
      <p:pic>
        <p:nvPicPr>
          <p:cNvPr id="10" name="图片 9">
            <a:extLst>
              <a:ext uri="{FF2B5EF4-FFF2-40B4-BE49-F238E27FC236}">
                <a16:creationId xmlns:a16="http://schemas.microsoft.com/office/drawing/2014/main" id="{FE23117C-EF71-478C-B912-9CAAE56E55D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03098" y="5420907"/>
            <a:ext cx="2042374" cy="1157771"/>
          </a:xfrm>
          <a:prstGeom prst="rect">
            <a:avLst/>
          </a:prstGeom>
        </p:spPr>
      </p:pic>
      <p:pic>
        <p:nvPicPr>
          <p:cNvPr id="12" name="图片 11">
            <a:extLst>
              <a:ext uri="{FF2B5EF4-FFF2-40B4-BE49-F238E27FC236}">
                <a16:creationId xmlns:a16="http://schemas.microsoft.com/office/drawing/2014/main" id="{A9B698B5-E4D4-403D-9C01-098A65A8AEA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815143" y="5471985"/>
            <a:ext cx="1446851" cy="1309996"/>
          </a:xfrm>
          <a:prstGeom prst="rect">
            <a:avLst/>
          </a:prstGeom>
        </p:spPr>
      </p:pic>
      <p:pic>
        <p:nvPicPr>
          <p:cNvPr id="14" name="图片 13">
            <a:extLst>
              <a:ext uri="{FF2B5EF4-FFF2-40B4-BE49-F238E27FC236}">
                <a16:creationId xmlns:a16="http://schemas.microsoft.com/office/drawing/2014/main" id="{45C1838D-15D0-42DD-9C37-8FBD49B1A5E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48681" y="2827874"/>
            <a:ext cx="3876452" cy="2805112"/>
          </a:xfrm>
          <a:prstGeom prst="rect">
            <a:avLst/>
          </a:prstGeom>
        </p:spPr>
      </p:pic>
    </p:spTree>
    <p:extLst>
      <p:ext uri="{BB962C8B-B14F-4D97-AF65-F5344CB8AC3E}">
        <p14:creationId xmlns:p14="http://schemas.microsoft.com/office/powerpoint/2010/main" val="7671652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959595"/>
        </a:solidFill>
        <a:effectLst/>
      </p:bgPr>
    </p:bg>
    <p:spTree>
      <p:nvGrpSpPr>
        <p:cNvPr id="1" name=""/>
        <p:cNvGrpSpPr/>
        <p:nvPr/>
      </p:nvGrpSpPr>
      <p:grpSpPr>
        <a:xfrm>
          <a:off x="0" y="0"/>
          <a:ext cx="0" cy="0"/>
          <a:chOff x="0" y="0"/>
          <a:chExt cx="0" cy="0"/>
        </a:xfrm>
      </p:grpSpPr>
      <p:pic>
        <p:nvPicPr>
          <p:cNvPr id="3" name="图片 2">
            <a:extLst/>
          </p:cNvPr>
          <p:cNvPicPr>
            <a:picLocks noChangeAspect="1"/>
          </p:cNvPicPr>
          <p:nvPr/>
        </p:nvPicPr>
        <p:blipFill rotWithShape="1">
          <a:blip r:embed="rId3">
            <a:duotone>
              <a:prstClr val="black"/>
              <a:schemeClr val="accent3">
                <a:tint val="45000"/>
                <a:satMod val="400000"/>
              </a:schemeClr>
            </a:duotone>
            <a:extLst>
              <a:ext uri="{28A0092B-C50C-407E-A947-70E740481C1C}">
                <a14:useLocalDpi xmlns:a14="http://schemas.microsoft.com/office/drawing/2010/main" val="0"/>
              </a:ext>
            </a:extLst>
          </a:blip>
          <a:srcRect l="17921"/>
          <a:stretch/>
        </p:blipFill>
        <p:spPr>
          <a:xfrm>
            <a:off x="34663" y="0"/>
            <a:ext cx="10007080" cy="6858000"/>
          </a:xfrm>
          <a:prstGeom prst="rect">
            <a:avLst/>
          </a:prstGeom>
        </p:spPr>
      </p:pic>
      <p:sp>
        <p:nvSpPr>
          <p:cNvPr id="4" name="矩形 3">
            <a:extLst/>
          </p:cNvPr>
          <p:cNvSpPr/>
          <p:nvPr/>
        </p:nvSpPr>
        <p:spPr>
          <a:xfrm>
            <a:off x="6096001" y="1916676"/>
            <a:ext cx="5759822" cy="4717916"/>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sp>
        <p:nvSpPr>
          <p:cNvPr id="20" name="箭头: 五边形 6">
            <a:extLst/>
          </p:cNvPr>
          <p:cNvSpPr/>
          <p:nvPr/>
        </p:nvSpPr>
        <p:spPr>
          <a:xfrm rot="10800000" flipH="1">
            <a:off x="0" y="404813"/>
            <a:ext cx="7464152" cy="1344612"/>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grpSp>
        <p:nvGrpSpPr>
          <p:cNvPr id="35845" name="组合 22"/>
          <p:cNvGrpSpPr>
            <a:grpSpLocks/>
          </p:cNvGrpSpPr>
          <p:nvPr/>
        </p:nvGrpSpPr>
        <p:grpSpPr bwMode="auto">
          <a:xfrm>
            <a:off x="196850" y="404813"/>
            <a:ext cx="7318518" cy="1120775"/>
            <a:chOff x="-101400" y="2876417"/>
            <a:chExt cx="4886823" cy="1120760"/>
          </a:xfrm>
        </p:grpSpPr>
        <p:sp>
          <p:nvSpPr>
            <p:cNvPr id="25613" name="文本框 13">
              <a:extLst/>
            </p:cNvPr>
            <p:cNvSpPr txBox="1">
              <a:spLocks noChangeArrowheads="1"/>
            </p:cNvSpPr>
            <p:nvPr/>
          </p:nvSpPr>
          <p:spPr bwMode="auto">
            <a:xfrm>
              <a:off x="-101400" y="2876417"/>
              <a:ext cx="1343079" cy="825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600" b="1">
                  <a:solidFill>
                    <a:srgbClr val="010101"/>
                  </a:solidFill>
                  <a:latin typeface="+mn-lt"/>
                  <a:ea typeface="+mn-ea"/>
                  <a:cs typeface="+mn-ea"/>
                  <a:sym typeface="+mn-lt"/>
                </a:rPr>
                <a:t>PART</a:t>
              </a:r>
            </a:p>
          </p:txBody>
        </p:sp>
        <p:sp>
          <p:nvSpPr>
            <p:cNvPr id="25614" name="文本框 14">
              <a:extLst/>
            </p:cNvPr>
            <p:cNvSpPr txBox="1">
              <a:spLocks noChangeArrowheads="1"/>
            </p:cNvSpPr>
            <p:nvPr/>
          </p:nvSpPr>
          <p:spPr bwMode="auto">
            <a:xfrm>
              <a:off x="1922685" y="3188762"/>
              <a:ext cx="2862738" cy="662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b="1">
                  <a:solidFill>
                    <a:srgbClr val="010101"/>
                  </a:solidFill>
                  <a:latin typeface="+mn-ea"/>
                  <a:ea typeface="+mn-ea"/>
                  <a:cs typeface="+mn-ea"/>
                  <a:sym typeface="+mn-lt"/>
                </a:rPr>
                <a:t>猫慢性肾病：二期</a:t>
              </a:r>
              <a:endParaRPr lang="en-US" altLang="zh-CN" b="1">
                <a:solidFill>
                  <a:srgbClr val="010101"/>
                </a:solidFill>
                <a:latin typeface="+mn-ea"/>
                <a:ea typeface="+mn-ea"/>
                <a:cs typeface="+mn-ea"/>
                <a:sym typeface="+mn-lt"/>
              </a:endParaRPr>
            </a:p>
          </p:txBody>
        </p:sp>
        <p:cxnSp>
          <p:nvCxnSpPr>
            <p:cNvPr id="24" name="直接连接符 23">
              <a:extLst/>
            </p:cNvPr>
            <p:cNvCxnSpPr>
              <a:cxnSpLocks/>
            </p:cNvCxnSpPr>
            <p:nvPr/>
          </p:nvCxnSpPr>
          <p:spPr>
            <a:xfrm flipH="1">
              <a:off x="489876" y="3171688"/>
              <a:ext cx="1074196" cy="722302"/>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5616" name="矩形 20">
              <a:extLst/>
            </p:cNvPr>
            <p:cNvSpPr>
              <a:spLocks noChangeArrowheads="1"/>
            </p:cNvSpPr>
            <p:nvPr/>
          </p:nvSpPr>
          <p:spPr bwMode="auto">
            <a:xfrm>
              <a:off x="618298" y="3473309"/>
              <a:ext cx="1577182" cy="523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lvl="1">
                <a:lnSpc>
                  <a:spcPct val="100000"/>
                </a:lnSpc>
                <a:spcBef>
                  <a:spcPct val="0"/>
                </a:spcBef>
                <a:buFontTx/>
                <a:buNone/>
                <a:defRPr/>
              </a:pPr>
              <a:r>
                <a:rPr lang="en-US" altLang="zh-CN" sz="2800" b="1">
                  <a:solidFill>
                    <a:srgbClr val="010101"/>
                  </a:solidFill>
                  <a:latin typeface="+mn-lt"/>
                  <a:ea typeface="+mn-ea"/>
                  <a:cs typeface="+mn-ea"/>
                  <a:sym typeface="+mn-lt"/>
                </a:rPr>
                <a:t>THREE</a:t>
              </a:r>
              <a:endParaRPr lang="zh-CN" altLang="en-US" sz="1400">
                <a:latin typeface="+mn-lt"/>
                <a:ea typeface="+mn-ea"/>
                <a:cs typeface="+mn-ea"/>
                <a:sym typeface="+mn-lt"/>
              </a:endParaRPr>
            </a:p>
          </p:txBody>
        </p:sp>
      </p:grpSp>
      <p:grpSp>
        <p:nvGrpSpPr>
          <p:cNvPr id="35846" name="组合 1"/>
          <p:cNvGrpSpPr>
            <a:grpSpLocks/>
          </p:cNvGrpSpPr>
          <p:nvPr/>
        </p:nvGrpSpPr>
        <p:grpSpPr bwMode="auto">
          <a:xfrm>
            <a:off x="6302445" y="2074933"/>
            <a:ext cx="5369428" cy="4762565"/>
            <a:chOff x="6845394" y="2608336"/>
            <a:chExt cx="4672106" cy="4651086"/>
          </a:xfrm>
        </p:grpSpPr>
        <p:grpSp>
          <p:nvGrpSpPr>
            <p:cNvPr id="35847" name="组合 14"/>
            <p:cNvGrpSpPr>
              <a:grpSpLocks/>
            </p:cNvGrpSpPr>
            <p:nvPr/>
          </p:nvGrpSpPr>
          <p:grpSpPr bwMode="auto">
            <a:xfrm>
              <a:off x="6931323" y="2608336"/>
              <a:ext cx="4500246" cy="937648"/>
              <a:chOff x="3936148" y="1692543"/>
              <a:chExt cx="4500246" cy="937648"/>
            </a:xfrm>
          </p:grpSpPr>
          <p:sp>
            <p:nvSpPr>
              <p:cNvPr id="25" name="文本框 66">
                <a:extLst/>
              </p:cNvPr>
              <p:cNvSpPr txBox="1">
                <a:spLocks noChangeArrowheads="1"/>
              </p:cNvSpPr>
              <p:nvPr/>
            </p:nvSpPr>
            <p:spPr bwMode="auto">
              <a:xfrm>
                <a:off x="3966309" y="1692543"/>
                <a:ext cx="4258962" cy="438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spcBef>
                    <a:spcPts val="0"/>
                  </a:spcBef>
                  <a:spcAft>
                    <a:spcPts val="0"/>
                  </a:spcAft>
                  <a:defRPr/>
                </a:pPr>
                <a:r>
                  <a:rPr lang="zh-CN" altLang="en-US" sz="2400" b="1" kern="0">
                    <a:solidFill>
                      <a:srgbClr val="4F4F4F"/>
                    </a:solidFill>
                    <a:effectLst>
                      <a:outerShdw blurRad="38100" dist="38100" dir="2700000" algn="tl">
                        <a:srgbClr val="000000">
                          <a:alpha val="43137"/>
                        </a:srgbClr>
                      </a:outerShdw>
                    </a:effectLst>
                    <a:latin typeface="+mn-lt"/>
                    <a:ea typeface="+mn-ea"/>
                    <a:cs typeface="+mn-ea"/>
                    <a:sym typeface="+mn-lt"/>
                  </a:rPr>
                  <a:t>确诊二期肾病</a:t>
                </a:r>
              </a:p>
            </p:txBody>
          </p:sp>
          <p:sp>
            <p:nvSpPr>
              <p:cNvPr id="26" name="矩形 25">
                <a:extLst/>
              </p:cNvPr>
              <p:cNvSpPr/>
              <p:nvPr/>
            </p:nvSpPr>
            <p:spPr>
              <a:xfrm>
                <a:off x="3936148" y="2133752"/>
                <a:ext cx="4500246" cy="496439"/>
              </a:xfrm>
              <a:prstGeom prst="rect">
                <a:avLst/>
              </a:prstGeom>
            </p:spPr>
            <p:txBody>
              <a:bodyPr>
                <a:spAutoFit/>
              </a:bodyPr>
              <a:lstStyle/>
              <a:p>
                <a:pPr eaLnBrk="1" fontAlgn="auto" hangingPunct="1">
                  <a:spcBef>
                    <a:spcPts val="0"/>
                  </a:spcBef>
                  <a:spcAft>
                    <a:spcPts val="0"/>
                  </a:spcAft>
                  <a:defRPr/>
                </a:pPr>
                <a:r>
                  <a:rPr lang="zh-CN" altLang="en-US" sz="1400" kern="0">
                    <a:solidFill>
                      <a:srgbClr val="4F4F4F"/>
                    </a:solidFill>
                    <a:latin typeface="+mn-lt"/>
                    <a:ea typeface="+mn-ea"/>
                    <a:cs typeface="+mn-ea"/>
                    <a:sym typeface="+mn-lt"/>
                  </a:rPr>
                  <a:t>三期：肌酐</a:t>
                </a:r>
                <a:r>
                  <a:rPr lang="en-US" altLang="zh-CN" sz="1400" kern="0">
                    <a:solidFill>
                      <a:srgbClr val="4F4F4F"/>
                    </a:solidFill>
                    <a:latin typeface="+mn-lt"/>
                    <a:ea typeface="+mn-ea"/>
                    <a:cs typeface="+mn-ea"/>
                    <a:sym typeface="+mn-lt"/>
                  </a:rPr>
                  <a:t>141-249</a:t>
                </a:r>
                <a:r>
                  <a:rPr lang="el-GR" altLang="zh-CN" sz="1400" kern="0">
                    <a:solidFill>
                      <a:srgbClr val="4F4F4F"/>
                    </a:solidFill>
                    <a:latin typeface="+mn-lt"/>
                    <a:ea typeface="+mn-ea"/>
                    <a:cs typeface="+mn-ea"/>
                    <a:sym typeface="+mn-lt"/>
                  </a:rPr>
                  <a:t>μ</a:t>
                </a:r>
                <a:r>
                  <a:rPr lang="en-US" altLang="zh-CN" sz="1400" kern="0">
                    <a:solidFill>
                      <a:srgbClr val="4F4F4F"/>
                    </a:solidFill>
                    <a:latin typeface="+mn-lt"/>
                    <a:ea typeface="+mn-ea"/>
                    <a:cs typeface="+mn-ea"/>
                    <a:sym typeface="+mn-lt"/>
                  </a:rPr>
                  <a:t>mol/L</a:t>
                </a:r>
                <a:r>
                  <a:rPr lang="zh-CN" altLang="en-US" sz="1400" kern="0">
                    <a:solidFill>
                      <a:srgbClr val="4F4F4F"/>
                    </a:solidFill>
                    <a:latin typeface="+mn-lt"/>
                    <a:ea typeface="+mn-ea"/>
                    <a:cs typeface="+mn-ea"/>
                    <a:sym typeface="+mn-lt"/>
                  </a:rPr>
                  <a:t>，或</a:t>
                </a:r>
                <a:r>
                  <a:rPr lang="en-US" altLang="zh-CN" sz="1400" kern="0">
                    <a:solidFill>
                      <a:srgbClr val="4F4F4F"/>
                    </a:solidFill>
                    <a:latin typeface="+mn-lt"/>
                    <a:ea typeface="+mn-ea"/>
                    <a:cs typeface="+mn-ea"/>
                    <a:sym typeface="+mn-lt"/>
                  </a:rPr>
                  <a:t>1.6mg/dl-2.8mg/dl</a:t>
                </a:r>
              </a:p>
              <a:p>
                <a:pPr eaLnBrk="1" fontAlgn="auto" hangingPunct="1">
                  <a:spcBef>
                    <a:spcPts val="0"/>
                  </a:spcBef>
                  <a:spcAft>
                    <a:spcPts val="0"/>
                  </a:spcAft>
                  <a:defRPr/>
                </a:pPr>
                <a:endParaRPr lang="zh-CN" altLang="en-US" sz="1400" kern="0">
                  <a:solidFill>
                    <a:srgbClr val="4F4F4F"/>
                  </a:solidFill>
                  <a:latin typeface="+mn-lt"/>
                  <a:ea typeface="+mn-ea"/>
                  <a:cs typeface="+mn-ea"/>
                  <a:sym typeface="+mn-lt"/>
                </a:endParaRPr>
              </a:p>
            </p:txBody>
          </p:sp>
        </p:grpSp>
        <p:sp>
          <p:nvSpPr>
            <p:cNvPr id="21" name="矩形 3">
              <a:extLst/>
            </p:cNvPr>
            <p:cNvSpPr>
              <a:spLocks noChangeArrowheads="1"/>
            </p:cNvSpPr>
            <p:nvPr/>
          </p:nvSpPr>
          <p:spPr bwMode="auto">
            <a:xfrm>
              <a:off x="6931323" y="3703423"/>
              <a:ext cx="4470085"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sp>
          <p:nvSpPr>
            <p:cNvPr id="22" name="矩形 3">
              <a:extLst/>
            </p:cNvPr>
            <p:cNvSpPr>
              <a:spLocks noChangeArrowheads="1"/>
            </p:cNvSpPr>
            <p:nvPr/>
          </p:nvSpPr>
          <p:spPr bwMode="auto">
            <a:xfrm>
              <a:off x="6931323" y="4487442"/>
              <a:ext cx="4470085"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sp>
          <p:nvSpPr>
            <p:cNvPr id="23" name="矩形 3">
              <a:extLst/>
            </p:cNvPr>
            <p:cNvSpPr>
              <a:spLocks noChangeArrowheads="1"/>
            </p:cNvSpPr>
            <p:nvPr/>
          </p:nvSpPr>
          <p:spPr bwMode="auto">
            <a:xfrm>
              <a:off x="6845394" y="3382039"/>
              <a:ext cx="4672106" cy="3877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r>
                <a:rPr lang="zh-CN" altLang="en-US" sz="1800" kern="0">
                  <a:solidFill>
                    <a:srgbClr val="4F4F4F"/>
                  </a:solidFill>
                  <a:latin typeface="+mn-lt"/>
                  <a:ea typeface="+mn-ea"/>
                  <a:cs typeface="+mn-ea"/>
                  <a:sym typeface="+mn-lt"/>
                </a:rPr>
                <a:t>哪些问题这时需要关注？</a:t>
              </a:r>
              <a:endParaRPr lang="en-US" altLang="zh-CN" sz="1800" kern="0">
                <a:solidFill>
                  <a:srgbClr val="4F4F4F"/>
                </a:solidFill>
                <a:latin typeface="+mn-lt"/>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Ø"/>
                <a:defRPr/>
              </a:pPr>
              <a:endParaRPr lang="en-US" altLang="zh-CN" sz="2000" kern="0">
                <a:solidFill>
                  <a:srgbClr val="4F4F4F"/>
                </a:solidFill>
                <a:latin typeface="+mn-lt"/>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Ø"/>
                <a:defRPr/>
              </a:pPr>
              <a:r>
                <a:rPr lang="zh-CN" altLang="en-US" sz="2000" kern="0">
                  <a:solidFill>
                    <a:srgbClr val="4F4F4F"/>
                  </a:solidFill>
                  <a:latin typeface="+mn-lt"/>
                  <a:ea typeface="+mn-ea"/>
                  <a:cs typeface="+mn-ea"/>
                  <a:sym typeface="+mn-lt"/>
                </a:rPr>
                <a:t>高血压</a:t>
              </a:r>
              <a:endParaRPr lang="en-US" altLang="zh-CN" sz="2000" kern="0">
                <a:solidFill>
                  <a:srgbClr val="4F4F4F"/>
                </a:solidFill>
                <a:latin typeface="+mn-lt"/>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Ø"/>
                <a:defRPr/>
              </a:pPr>
              <a:r>
                <a:rPr lang="zh-CN" altLang="en-US" sz="2000" kern="0">
                  <a:solidFill>
                    <a:srgbClr val="4F4F4F"/>
                  </a:solidFill>
                  <a:latin typeface="+mn-lt"/>
                  <a:ea typeface="+mn-ea"/>
                  <a:cs typeface="+mn-ea"/>
                  <a:sym typeface="+mn-lt"/>
                </a:rPr>
                <a:t>关注蛋白尿</a:t>
              </a:r>
              <a:endParaRPr lang="en-US" altLang="zh-CN" sz="2000" kern="0">
                <a:solidFill>
                  <a:srgbClr val="4F4F4F"/>
                </a:solidFill>
                <a:latin typeface="+mn-lt"/>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Ø"/>
                <a:defRPr/>
              </a:pPr>
              <a:r>
                <a:rPr lang="zh-CN" altLang="en-US" sz="2000" kern="0">
                  <a:solidFill>
                    <a:srgbClr val="4F4F4F"/>
                  </a:solidFill>
                  <a:latin typeface="+mn-lt"/>
                  <a:ea typeface="+mn-ea"/>
                  <a:cs typeface="+mn-ea"/>
                  <a:sym typeface="+mn-lt"/>
                </a:rPr>
                <a:t>调整血钾</a:t>
              </a:r>
              <a:endParaRPr lang="en-US" altLang="zh-CN" sz="2000" kern="0">
                <a:solidFill>
                  <a:srgbClr val="4F4F4F"/>
                </a:solidFill>
                <a:latin typeface="+mn-lt"/>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Ø"/>
                <a:defRPr/>
              </a:pPr>
              <a:r>
                <a:rPr lang="zh-CN" altLang="en-US" sz="2000" kern="0">
                  <a:solidFill>
                    <a:srgbClr val="4F4F4F"/>
                  </a:solidFill>
                  <a:latin typeface="+mn-lt"/>
                  <a:ea typeface="+mn-ea"/>
                  <a:cs typeface="+mn-ea"/>
                  <a:sym typeface="+mn-lt"/>
                </a:rPr>
                <a:t>钙磷平衡</a:t>
              </a:r>
              <a:endParaRPr lang="en-US" altLang="zh-CN" sz="2000" kern="0">
                <a:solidFill>
                  <a:srgbClr val="4F4F4F"/>
                </a:solidFill>
                <a:latin typeface="+mn-lt"/>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Ø"/>
                <a:defRPr/>
              </a:pPr>
              <a:r>
                <a:rPr lang="zh-CN" altLang="en-US" sz="2000" kern="0">
                  <a:solidFill>
                    <a:srgbClr val="4F4F4F"/>
                  </a:solidFill>
                  <a:latin typeface="+mn-lt"/>
                  <a:ea typeface="+mn-ea"/>
                  <a:cs typeface="+mn-ea"/>
                  <a:sym typeface="+mn-lt"/>
                </a:rPr>
                <a:t>其它问题</a:t>
              </a:r>
              <a:endParaRPr lang="en-US" altLang="zh-CN" sz="2000" kern="0">
                <a:solidFill>
                  <a:srgbClr val="4F4F4F"/>
                </a:solidFill>
                <a:latin typeface="+mn-lt"/>
                <a:ea typeface="+mn-ea"/>
                <a:cs typeface="+mn-ea"/>
                <a:sym typeface="+mn-lt"/>
              </a:endParaRPr>
            </a:p>
            <a:p>
              <a:pPr marL="1085850" lvl="1" indent="-342900" eaLnBrk="1" fontAlgn="auto" hangingPunct="1">
                <a:lnSpc>
                  <a:spcPct val="100000"/>
                </a:lnSpc>
                <a:spcBef>
                  <a:spcPct val="0"/>
                </a:spcBef>
                <a:spcAft>
                  <a:spcPts val="0"/>
                </a:spcAft>
                <a:defRPr/>
              </a:pPr>
              <a:r>
                <a:rPr lang="zh-CN" altLang="en-US" sz="2000" kern="0">
                  <a:solidFill>
                    <a:srgbClr val="4F4F4F"/>
                  </a:solidFill>
                  <a:latin typeface="+mn-lt"/>
                  <a:ea typeface="+mn-ea"/>
                  <a:cs typeface="+mn-ea"/>
                  <a:sym typeface="+mn-lt"/>
                </a:rPr>
                <a:t>维生素</a:t>
              </a:r>
              <a:r>
                <a:rPr lang="en-US" altLang="zh-CN" sz="2000" kern="0">
                  <a:solidFill>
                    <a:srgbClr val="4F4F4F"/>
                  </a:solidFill>
                  <a:latin typeface="+mn-lt"/>
                  <a:ea typeface="+mn-ea"/>
                  <a:cs typeface="+mn-ea"/>
                  <a:sym typeface="+mn-lt"/>
                </a:rPr>
                <a:t>B</a:t>
              </a:r>
              <a:r>
                <a:rPr lang="zh-CN" altLang="en-US" sz="2000" kern="0">
                  <a:solidFill>
                    <a:srgbClr val="4F4F4F"/>
                  </a:solidFill>
                  <a:latin typeface="+mn-lt"/>
                  <a:ea typeface="+mn-ea"/>
                  <a:cs typeface="+mn-ea"/>
                  <a:sym typeface="+mn-lt"/>
                </a:rPr>
                <a:t>不足</a:t>
              </a:r>
              <a:endParaRPr lang="en-US" altLang="zh-CN" sz="2000" kern="0">
                <a:solidFill>
                  <a:srgbClr val="4F4F4F"/>
                </a:solidFill>
                <a:latin typeface="+mn-lt"/>
                <a:ea typeface="+mn-ea"/>
                <a:cs typeface="+mn-ea"/>
                <a:sym typeface="+mn-lt"/>
              </a:endParaRPr>
            </a:p>
            <a:p>
              <a:pPr eaLnBrk="1" fontAlgn="auto" hangingPunct="1">
                <a:lnSpc>
                  <a:spcPct val="100000"/>
                </a:lnSpc>
                <a:spcBef>
                  <a:spcPct val="0"/>
                </a:spcBef>
                <a:spcAft>
                  <a:spcPts val="0"/>
                </a:spcAft>
                <a:buFont typeface="Arial" panose="020B0604020202020204" pitchFamily="34" charset="0"/>
                <a:buNone/>
                <a:defRPr/>
              </a:pPr>
              <a:endParaRPr lang="en-US" altLang="zh-CN" sz="2000" b="1" kern="0">
                <a:solidFill>
                  <a:srgbClr val="4F4F4F"/>
                </a:solidFill>
                <a:latin typeface="+mn-lt"/>
                <a:ea typeface="+mn-ea"/>
                <a:cs typeface="+mn-ea"/>
                <a:sym typeface="+mn-lt"/>
              </a:endParaRPr>
            </a:p>
            <a:p>
              <a:pPr eaLnBrk="1" fontAlgn="auto" hangingPunct="1">
                <a:lnSpc>
                  <a:spcPct val="100000"/>
                </a:lnSpc>
                <a:spcBef>
                  <a:spcPct val="0"/>
                </a:spcBef>
                <a:spcAft>
                  <a:spcPts val="0"/>
                </a:spcAft>
                <a:buFont typeface="Arial" panose="020B0604020202020204" pitchFamily="34" charset="0"/>
                <a:buNone/>
                <a:defRPr/>
              </a:pPr>
              <a:endParaRPr lang="en-US" altLang="zh-CN" sz="1800" b="1" kern="0">
                <a:solidFill>
                  <a:srgbClr val="4F4F4F"/>
                </a:solidFill>
                <a:latin typeface="+mn-lt"/>
                <a:ea typeface="+mn-ea"/>
                <a:cs typeface="+mn-ea"/>
                <a:sym typeface="+mn-lt"/>
              </a:endParaRPr>
            </a:p>
            <a:p>
              <a:pPr eaLnBrk="1" fontAlgn="auto" hangingPunct="1">
                <a:lnSpc>
                  <a:spcPct val="100000"/>
                </a:lnSpc>
                <a:spcBef>
                  <a:spcPct val="0"/>
                </a:spcBef>
                <a:spcAft>
                  <a:spcPts val="0"/>
                </a:spcAft>
                <a:buFont typeface="Arial" panose="020B0604020202020204" pitchFamily="34" charset="0"/>
                <a:buNone/>
                <a:defRPr/>
              </a:pPr>
              <a:endParaRPr lang="en-US" altLang="zh-CN" sz="1800" b="1" kern="0">
                <a:solidFill>
                  <a:srgbClr val="C00000"/>
                </a:solidFill>
                <a:latin typeface="+mn-lt"/>
                <a:ea typeface="+mn-ea"/>
                <a:cs typeface="+mn-ea"/>
                <a:sym typeface="+mn-lt"/>
              </a:endParaRPr>
            </a:p>
            <a:p>
              <a:pPr eaLnBrk="1" fontAlgn="auto" hangingPunct="1">
                <a:lnSpc>
                  <a:spcPct val="100000"/>
                </a:lnSpc>
                <a:spcBef>
                  <a:spcPct val="0"/>
                </a:spcBef>
                <a:spcAft>
                  <a:spcPts val="0"/>
                </a:spcAft>
                <a:buFont typeface="Arial" panose="020B0604020202020204" pitchFamily="34" charset="0"/>
                <a:buNone/>
                <a:defRPr/>
              </a:pPr>
              <a:r>
                <a:rPr lang="zh-CN" altLang="en-US" sz="1800" b="1" kern="0">
                  <a:solidFill>
                    <a:srgbClr val="C00000"/>
                  </a:solidFill>
                  <a:latin typeface="+mn-lt"/>
                  <a:ea typeface="+mn-ea"/>
                  <a:cs typeface="+mn-ea"/>
                  <a:sym typeface="+mn-lt"/>
                </a:rPr>
                <a:t>上述问题大多数肾病猫最终都会出现，要持续关注</a:t>
              </a:r>
              <a:endParaRPr lang="en-US" altLang="zh-CN" sz="1800" b="1" kern="0">
                <a:solidFill>
                  <a:srgbClr val="C00000"/>
                </a:solidFill>
                <a:latin typeface="+mn-lt"/>
                <a:ea typeface="+mn-ea"/>
                <a:cs typeface="+mn-ea"/>
                <a:sym typeface="+mn-lt"/>
              </a:endParaRPr>
            </a:p>
            <a:p>
              <a:pPr eaLnBrk="1" fontAlgn="auto" hangingPunct="1">
                <a:lnSpc>
                  <a:spcPct val="100000"/>
                </a:lnSpc>
                <a:spcBef>
                  <a:spcPct val="0"/>
                </a:spcBef>
                <a:spcAft>
                  <a:spcPts val="0"/>
                </a:spcAft>
                <a:buFont typeface="Arial" panose="020B0604020202020204" pitchFamily="34" charset="0"/>
                <a:buNone/>
                <a:defRPr/>
              </a:pPr>
              <a:endParaRPr lang="zh-CN" altLang="en-US" sz="2000" b="1" kern="0">
                <a:solidFill>
                  <a:srgbClr val="4F4F4F"/>
                </a:solidFill>
                <a:latin typeface="+mn-lt"/>
                <a:ea typeface="+mn-ea"/>
                <a:cs typeface="+mn-ea"/>
                <a:sym typeface="+mn-lt"/>
              </a:endParaRPr>
            </a:p>
          </p:txBody>
        </p:sp>
      </p:grpSp>
      <p:sp>
        <p:nvSpPr>
          <p:cNvPr id="2" name="文本框 1">
            <a:extLst>
              <a:ext uri="{FF2B5EF4-FFF2-40B4-BE49-F238E27FC236}">
                <a16:creationId xmlns:a16="http://schemas.microsoft.com/office/drawing/2014/main" id="{8F76D65D-0EA7-479E-9D64-CF9ED1AEC5C8}"/>
              </a:ext>
            </a:extLst>
          </p:cNvPr>
          <p:cNvSpPr txBox="1"/>
          <p:nvPr/>
        </p:nvSpPr>
        <p:spPr>
          <a:xfrm>
            <a:off x="551384" y="2536598"/>
            <a:ext cx="4824536" cy="3662541"/>
          </a:xfrm>
          <a:prstGeom prst="rect">
            <a:avLst/>
          </a:prstGeom>
          <a:noFill/>
        </p:spPr>
        <p:txBody>
          <a:bodyPr wrap="square" rtlCol="0">
            <a:spAutoFit/>
          </a:bodyPr>
          <a:lstStyle/>
          <a:p>
            <a:r>
              <a:rPr lang="zh-CN" altLang="en-US" sz="3200" b="1">
                <a:solidFill>
                  <a:srgbClr val="FFC000"/>
                </a:solidFill>
                <a:effectLst>
                  <a:outerShdw blurRad="38100" dist="38100" dir="2700000" algn="tl">
                    <a:srgbClr val="000000">
                      <a:alpha val="43137"/>
                    </a:srgbClr>
                  </a:outerShdw>
                </a:effectLst>
                <a:latin typeface="+mj-ea"/>
                <a:ea typeface="+mj-ea"/>
              </a:rPr>
              <a:t>问自己这几个问题！</a:t>
            </a:r>
            <a:endParaRPr lang="en-US" altLang="zh-CN" sz="3200" b="1">
              <a:solidFill>
                <a:srgbClr val="FFC000"/>
              </a:solidFill>
              <a:effectLst>
                <a:outerShdw blurRad="38100" dist="38100" dir="2700000" algn="tl">
                  <a:srgbClr val="000000">
                    <a:alpha val="43137"/>
                  </a:srgbClr>
                </a:outerShdw>
              </a:effectLst>
              <a:latin typeface="+mj-ea"/>
              <a:ea typeface="+mj-ea"/>
            </a:endParaRPr>
          </a:p>
          <a:p>
            <a:endParaRPr lang="en-US" altLang="zh-CN" sz="2000">
              <a:solidFill>
                <a:schemeClr val="bg1"/>
              </a:solidFill>
              <a:effectLst>
                <a:outerShdw blurRad="38100" dist="38100" dir="2700000" algn="tl">
                  <a:srgbClr val="000000">
                    <a:alpha val="43137"/>
                  </a:srgbClr>
                </a:outerShdw>
              </a:effectLst>
              <a:latin typeface="+mj-ea"/>
              <a:ea typeface="+mj-ea"/>
            </a:endParaRPr>
          </a:p>
          <a:p>
            <a:pPr marL="285750" indent="-285750">
              <a:buFont typeface="Wingdings" panose="05000000000000000000" pitchFamily="2" charset="2"/>
              <a:buChar char="p"/>
            </a:pPr>
            <a:r>
              <a:rPr lang="zh-CN" altLang="en-US" sz="2000" b="1">
                <a:solidFill>
                  <a:schemeClr val="bg1"/>
                </a:solidFill>
                <a:effectLst>
                  <a:outerShdw blurRad="38100" dist="38100" dir="2700000" algn="tl">
                    <a:srgbClr val="000000">
                      <a:alpha val="43137"/>
                    </a:srgbClr>
                  </a:outerShdw>
                </a:effectLst>
                <a:latin typeface="+mj-ea"/>
                <a:ea typeface="+mj-ea"/>
              </a:rPr>
              <a:t>血磷、血钙、血钾医师帮你查了吗？</a:t>
            </a:r>
            <a:endParaRPr lang="en-US" altLang="zh-CN" sz="2000" b="1">
              <a:solidFill>
                <a:schemeClr val="bg1"/>
              </a:solidFill>
              <a:effectLst>
                <a:outerShdw blurRad="38100" dist="38100" dir="2700000" algn="tl">
                  <a:srgbClr val="000000">
                    <a:alpha val="43137"/>
                  </a:srgbClr>
                </a:outerShdw>
              </a:effectLst>
              <a:latin typeface="+mj-ea"/>
              <a:ea typeface="+mj-ea"/>
            </a:endParaRPr>
          </a:p>
          <a:p>
            <a:r>
              <a:rPr lang="zh-CN" altLang="en-US" sz="2000">
                <a:solidFill>
                  <a:schemeClr val="bg1"/>
                </a:solidFill>
                <a:effectLst>
                  <a:outerShdw blurRad="38100" dist="38100" dir="2700000" algn="tl">
                    <a:srgbClr val="000000">
                      <a:alpha val="43137"/>
                    </a:srgbClr>
                  </a:outerShdw>
                </a:effectLst>
                <a:latin typeface="+mj-ea"/>
                <a:ea typeface="+mj-ea"/>
              </a:rPr>
              <a:t>（生化中应该有</a:t>
            </a:r>
            <a:r>
              <a:rPr lang="en-US" altLang="zh-CN" sz="2000">
                <a:solidFill>
                  <a:schemeClr val="bg1"/>
                </a:solidFill>
                <a:effectLst>
                  <a:outerShdw blurRad="38100" dist="38100" dir="2700000" algn="tl">
                    <a:srgbClr val="000000">
                      <a:alpha val="43137"/>
                    </a:srgbClr>
                  </a:outerShdw>
                </a:effectLst>
                <a:latin typeface="+mj-ea"/>
                <a:ea typeface="+mj-ea"/>
              </a:rPr>
              <a:t>phos</a:t>
            </a:r>
            <a:r>
              <a:rPr lang="zh-CN" altLang="en-US" sz="2000">
                <a:solidFill>
                  <a:schemeClr val="bg1"/>
                </a:solidFill>
                <a:effectLst>
                  <a:outerShdw blurRad="38100" dist="38100" dir="2700000" algn="tl">
                    <a:srgbClr val="000000">
                      <a:alpha val="43137"/>
                    </a:srgbClr>
                  </a:outerShdw>
                </a:effectLst>
                <a:latin typeface="+mj-ea"/>
                <a:ea typeface="+mj-ea"/>
              </a:rPr>
              <a:t>、</a:t>
            </a:r>
            <a:r>
              <a:rPr lang="en-US" altLang="zh-CN" sz="2000">
                <a:solidFill>
                  <a:schemeClr val="bg1"/>
                </a:solidFill>
                <a:effectLst>
                  <a:outerShdw blurRad="38100" dist="38100" dir="2700000" algn="tl">
                    <a:srgbClr val="000000">
                      <a:alpha val="43137"/>
                    </a:srgbClr>
                  </a:outerShdw>
                </a:effectLst>
                <a:latin typeface="+mj-ea"/>
                <a:ea typeface="+mj-ea"/>
              </a:rPr>
              <a:t>ca</a:t>
            </a:r>
            <a:r>
              <a:rPr lang="zh-CN" altLang="en-US" sz="2000">
                <a:solidFill>
                  <a:schemeClr val="bg1"/>
                </a:solidFill>
                <a:effectLst>
                  <a:outerShdw blurRad="38100" dist="38100" dir="2700000" algn="tl">
                    <a:srgbClr val="000000">
                      <a:alpha val="43137"/>
                    </a:srgbClr>
                  </a:outerShdw>
                </a:effectLst>
                <a:latin typeface="+mj-ea"/>
                <a:ea typeface="+mj-ea"/>
              </a:rPr>
              <a:t>、</a:t>
            </a:r>
            <a:r>
              <a:rPr lang="en-US" altLang="zh-CN" sz="2000">
                <a:solidFill>
                  <a:schemeClr val="bg1"/>
                </a:solidFill>
                <a:effectLst>
                  <a:outerShdw blurRad="38100" dist="38100" dir="2700000" algn="tl">
                    <a:srgbClr val="000000">
                      <a:alpha val="43137"/>
                    </a:srgbClr>
                  </a:outerShdw>
                </a:effectLst>
                <a:latin typeface="+mj-ea"/>
                <a:ea typeface="+mj-ea"/>
              </a:rPr>
              <a:t>k</a:t>
            </a:r>
            <a:r>
              <a:rPr lang="zh-CN" altLang="en-US" sz="2000">
                <a:solidFill>
                  <a:schemeClr val="bg1"/>
                </a:solidFill>
                <a:effectLst>
                  <a:outerShdw blurRad="38100" dist="38100" dir="2700000" algn="tl">
                    <a:srgbClr val="000000">
                      <a:alpha val="43137"/>
                    </a:srgbClr>
                  </a:outerShdw>
                </a:effectLst>
                <a:latin typeface="+mj-ea"/>
                <a:ea typeface="+mj-ea"/>
              </a:rPr>
              <a:t>）</a:t>
            </a:r>
            <a:endParaRPr lang="en-US" altLang="zh-CN" sz="2000">
              <a:solidFill>
                <a:schemeClr val="bg1"/>
              </a:solidFill>
              <a:effectLst>
                <a:outerShdw blurRad="38100" dist="38100" dir="2700000" algn="tl">
                  <a:srgbClr val="000000">
                    <a:alpha val="43137"/>
                  </a:srgbClr>
                </a:outerShdw>
              </a:effectLst>
              <a:latin typeface="+mj-ea"/>
              <a:ea typeface="+mj-ea"/>
            </a:endParaRPr>
          </a:p>
          <a:p>
            <a:pPr marL="285750" indent="-285750">
              <a:buFont typeface="Wingdings" panose="05000000000000000000" pitchFamily="2" charset="2"/>
              <a:buChar char="p"/>
            </a:pPr>
            <a:endParaRPr lang="en-US" altLang="zh-CN" sz="2000">
              <a:solidFill>
                <a:schemeClr val="bg1"/>
              </a:solidFill>
              <a:effectLst>
                <a:outerShdw blurRad="38100" dist="38100" dir="2700000" algn="tl">
                  <a:srgbClr val="000000">
                    <a:alpha val="43137"/>
                  </a:srgbClr>
                </a:outerShdw>
              </a:effectLst>
              <a:latin typeface="+mj-ea"/>
              <a:ea typeface="+mj-ea"/>
            </a:endParaRPr>
          </a:p>
          <a:p>
            <a:pPr marL="285750" indent="-285750">
              <a:buFont typeface="Wingdings" panose="05000000000000000000" pitchFamily="2" charset="2"/>
              <a:buChar char="p"/>
            </a:pPr>
            <a:r>
              <a:rPr lang="zh-CN" altLang="en-US" sz="2000" b="1">
                <a:solidFill>
                  <a:schemeClr val="bg1"/>
                </a:solidFill>
                <a:effectLst>
                  <a:outerShdw blurRad="38100" dist="38100" dir="2700000" algn="tl">
                    <a:srgbClr val="000000">
                      <a:alpha val="43137"/>
                    </a:srgbClr>
                  </a:outerShdw>
                </a:effectLst>
                <a:latin typeface="+mj-ea"/>
                <a:ea typeface="+mj-ea"/>
              </a:rPr>
              <a:t>医师建议尿检了吗？做了吗？</a:t>
            </a:r>
            <a:endParaRPr lang="en-US" altLang="zh-CN" sz="2000" b="1">
              <a:solidFill>
                <a:schemeClr val="bg1"/>
              </a:solidFill>
              <a:effectLst>
                <a:outerShdw blurRad="38100" dist="38100" dir="2700000" algn="tl">
                  <a:srgbClr val="000000">
                    <a:alpha val="43137"/>
                  </a:srgbClr>
                </a:outerShdw>
              </a:effectLst>
              <a:latin typeface="+mj-ea"/>
              <a:ea typeface="+mj-ea"/>
            </a:endParaRPr>
          </a:p>
          <a:p>
            <a:r>
              <a:rPr lang="en-US" altLang="zh-CN" sz="2000" b="1">
                <a:solidFill>
                  <a:schemeClr val="bg1"/>
                </a:solidFill>
                <a:effectLst>
                  <a:outerShdw blurRad="38100" dist="38100" dir="2700000" algn="tl">
                    <a:srgbClr val="000000">
                      <a:alpha val="43137"/>
                    </a:srgbClr>
                  </a:outerShdw>
                </a:effectLst>
                <a:latin typeface="+mj-ea"/>
                <a:ea typeface="+mj-ea"/>
              </a:rPr>
              <a:t> </a:t>
            </a:r>
            <a:r>
              <a:rPr lang="zh-CN" altLang="en-US" sz="2000">
                <a:solidFill>
                  <a:schemeClr val="bg1"/>
                </a:solidFill>
                <a:effectLst>
                  <a:outerShdw blurRad="38100" dist="38100" dir="2700000" algn="tl">
                    <a:srgbClr val="000000">
                      <a:alpha val="43137"/>
                    </a:srgbClr>
                  </a:outerShdw>
                </a:effectLst>
                <a:latin typeface="+mj-ea"/>
                <a:ea typeface="+mj-ea"/>
              </a:rPr>
              <a:t>（</a:t>
            </a:r>
            <a:r>
              <a:rPr lang="en-US" altLang="zh-CN" sz="2000">
                <a:solidFill>
                  <a:schemeClr val="bg1"/>
                </a:solidFill>
                <a:effectLst>
                  <a:outerShdw blurRad="38100" dist="38100" dir="2700000" algn="tl">
                    <a:srgbClr val="000000">
                      <a:alpha val="43137"/>
                    </a:srgbClr>
                  </a:outerShdw>
                </a:effectLst>
                <a:latin typeface="+mj-ea"/>
                <a:ea typeface="+mj-ea"/>
              </a:rPr>
              <a:t>upc/</a:t>
            </a:r>
            <a:r>
              <a:rPr lang="zh-CN" altLang="en-US" sz="2000">
                <a:solidFill>
                  <a:schemeClr val="bg1"/>
                </a:solidFill>
                <a:effectLst>
                  <a:outerShdw blurRad="38100" dist="38100" dir="2700000" algn="tl">
                    <a:srgbClr val="000000">
                      <a:alpha val="43137"/>
                    </a:srgbClr>
                  </a:outerShdw>
                </a:effectLst>
                <a:latin typeface="+mj-ea"/>
                <a:ea typeface="+mj-ea"/>
              </a:rPr>
              <a:t>尿常规）</a:t>
            </a:r>
            <a:endParaRPr lang="en-US" altLang="zh-CN" sz="2000">
              <a:solidFill>
                <a:schemeClr val="bg1"/>
              </a:solidFill>
              <a:effectLst>
                <a:outerShdw blurRad="38100" dist="38100" dir="2700000" algn="tl">
                  <a:srgbClr val="000000">
                    <a:alpha val="43137"/>
                  </a:srgbClr>
                </a:outerShdw>
              </a:effectLst>
              <a:latin typeface="+mj-ea"/>
              <a:ea typeface="+mj-ea"/>
            </a:endParaRPr>
          </a:p>
          <a:p>
            <a:pPr marL="285750" indent="-285750">
              <a:buFont typeface="Wingdings" panose="05000000000000000000" pitchFamily="2" charset="2"/>
              <a:buChar char="p"/>
            </a:pPr>
            <a:endParaRPr lang="en-US" altLang="zh-CN" sz="2000">
              <a:solidFill>
                <a:schemeClr val="bg1"/>
              </a:solidFill>
              <a:effectLst>
                <a:outerShdw blurRad="38100" dist="38100" dir="2700000" algn="tl">
                  <a:srgbClr val="000000">
                    <a:alpha val="43137"/>
                  </a:srgbClr>
                </a:outerShdw>
              </a:effectLst>
              <a:latin typeface="+mj-ea"/>
              <a:ea typeface="+mj-ea"/>
            </a:endParaRPr>
          </a:p>
          <a:p>
            <a:pPr marL="285750" indent="-285750">
              <a:buFont typeface="Wingdings" panose="05000000000000000000" pitchFamily="2" charset="2"/>
              <a:buChar char="p"/>
            </a:pPr>
            <a:r>
              <a:rPr lang="zh-CN" altLang="en-US" sz="2000" b="1">
                <a:solidFill>
                  <a:schemeClr val="bg1"/>
                </a:solidFill>
                <a:effectLst>
                  <a:outerShdw blurRad="38100" dist="38100" dir="2700000" algn="tl">
                    <a:srgbClr val="000000">
                      <a:alpha val="43137"/>
                    </a:srgbClr>
                  </a:outerShdw>
                </a:effectLst>
                <a:latin typeface="+mj-ea"/>
                <a:ea typeface="+mj-ea"/>
              </a:rPr>
              <a:t>医师有帮测血压吗？早点测作为参照。</a:t>
            </a:r>
            <a:endParaRPr lang="en-US" altLang="zh-CN" sz="2000" b="1">
              <a:solidFill>
                <a:schemeClr val="bg1"/>
              </a:solidFill>
              <a:effectLst>
                <a:outerShdw blurRad="38100" dist="38100" dir="2700000" algn="tl">
                  <a:srgbClr val="000000">
                    <a:alpha val="43137"/>
                  </a:srgbClr>
                </a:outerShdw>
              </a:effectLst>
              <a:latin typeface="+mj-ea"/>
              <a:ea typeface="+mj-ea"/>
            </a:endParaRPr>
          </a:p>
          <a:p>
            <a:pPr marL="285750" indent="-285750">
              <a:buFont typeface="Wingdings" panose="05000000000000000000" pitchFamily="2" charset="2"/>
              <a:buChar char="p"/>
            </a:pPr>
            <a:endParaRPr lang="en-US" altLang="zh-CN" sz="2000" b="1">
              <a:solidFill>
                <a:schemeClr val="bg1"/>
              </a:solidFill>
              <a:effectLst>
                <a:outerShdw blurRad="38100" dist="38100" dir="2700000" algn="tl">
                  <a:srgbClr val="000000">
                    <a:alpha val="43137"/>
                  </a:srgbClr>
                </a:outerShdw>
              </a:effectLst>
              <a:latin typeface="+mj-ea"/>
              <a:ea typeface="+mj-ea"/>
            </a:endParaRPr>
          </a:p>
          <a:p>
            <a:endParaRPr lang="zh-CN" altLang="en-US" sz="2000" b="1">
              <a:solidFill>
                <a:schemeClr val="bg1"/>
              </a:solidFill>
              <a:effectLst>
                <a:outerShdw blurRad="38100" dist="38100" dir="2700000" algn="tl">
                  <a:srgbClr val="000000">
                    <a:alpha val="43137"/>
                  </a:srgbClr>
                </a:outerShdw>
              </a:effectLst>
              <a:latin typeface="+mj-ea"/>
              <a:ea typeface="+mj-ea"/>
            </a:endParaRPr>
          </a:p>
        </p:txBody>
      </p:sp>
    </p:spTree>
    <p:extLst>
      <p:ext uri="{BB962C8B-B14F-4D97-AF65-F5344CB8AC3E}">
        <p14:creationId xmlns:p14="http://schemas.microsoft.com/office/powerpoint/2010/main" val="22883118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0" name="箭头: 五边形 6">
            <a:extLst/>
          </p:cNvPr>
          <p:cNvSpPr/>
          <p:nvPr/>
        </p:nvSpPr>
        <p:spPr>
          <a:xfrm rot="10800000" flipH="1">
            <a:off x="0" y="404813"/>
            <a:ext cx="9264352" cy="1344612"/>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grpSp>
        <p:nvGrpSpPr>
          <p:cNvPr id="30724" name="组合 22"/>
          <p:cNvGrpSpPr>
            <a:grpSpLocks/>
          </p:cNvGrpSpPr>
          <p:nvPr/>
        </p:nvGrpSpPr>
        <p:grpSpPr bwMode="auto">
          <a:xfrm>
            <a:off x="196850" y="404813"/>
            <a:ext cx="5779784" cy="1134998"/>
            <a:chOff x="-101400" y="2876417"/>
            <a:chExt cx="5114992" cy="1134983"/>
          </a:xfrm>
        </p:grpSpPr>
        <p:sp>
          <p:nvSpPr>
            <p:cNvPr id="20494" name="文本框 13">
              <a:extLst/>
            </p:cNvPr>
            <p:cNvSpPr txBox="1">
              <a:spLocks noChangeArrowheads="1"/>
            </p:cNvSpPr>
            <p:nvPr/>
          </p:nvSpPr>
          <p:spPr bwMode="auto">
            <a:xfrm>
              <a:off x="-101400" y="2876417"/>
              <a:ext cx="1343136" cy="825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600" b="1">
                  <a:solidFill>
                    <a:srgbClr val="010101"/>
                  </a:solidFill>
                  <a:latin typeface="+mn-lt"/>
                  <a:ea typeface="+mn-ea"/>
                  <a:cs typeface="+mn-ea"/>
                  <a:sym typeface="+mn-lt"/>
                </a:rPr>
                <a:t>PART</a:t>
              </a:r>
            </a:p>
          </p:txBody>
        </p:sp>
        <p:sp>
          <p:nvSpPr>
            <p:cNvPr id="20495" name="文本框 14">
              <a:extLst/>
            </p:cNvPr>
            <p:cNvSpPr txBox="1">
              <a:spLocks noChangeArrowheads="1"/>
            </p:cNvSpPr>
            <p:nvPr/>
          </p:nvSpPr>
          <p:spPr bwMode="auto">
            <a:xfrm>
              <a:off x="2150733" y="3430993"/>
              <a:ext cx="2862859" cy="580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endParaRPr lang="en-US" altLang="zh-CN" sz="2400">
                <a:solidFill>
                  <a:srgbClr val="010101"/>
                </a:solidFill>
                <a:latin typeface="+mn-lt"/>
                <a:ea typeface="+mn-ea"/>
                <a:cs typeface="+mn-ea"/>
                <a:sym typeface="+mn-lt"/>
              </a:endParaRPr>
            </a:p>
          </p:txBody>
        </p:sp>
        <p:cxnSp>
          <p:nvCxnSpPr>
            <p:cNvPr id="24" name="直接连接符 23">
              <a:extLst/>
            </p:cNvPr>
            <p:cNvCxnSpPr>
              <a:cxnSpLocks/>
            </p:cNvCxnSpPr>
            <p:nvPr/>
          </p:nvCxnSpPr>
          <p:spPr>
            <a:xfrm flipH="1">
              <a:off x="489901" y="3171688"/>
              <a:ext cx="1074241" cy="722302"/>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0497" name="矩形 20">
              <a:extLst/>
            </p:cNvPr>
            <p:cNvSpPr>
              <a:spLocks noChangeArrowheads="1"/>
            </p:cNvSpPr>
            <p:nvPr/>
          </p:nvSpPr>
          <p:spPr bwMode="auto">
            <a:xfrm>
              <a:off x="618328" y="3473309"/>
              <a:ext cx="1824424" cy="52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lvl="1">
                <a:lnSpc>
                  <a:spcPct val="100000"/>
                </a:lnSpc>
                <a:spcBef>
                  <a:spcPct val="0"/>
                </a:spcBef>
                <a:buFontTx/>
                <a:buNone/>
                <a:defRPr/>
              </a:pPr>
              <a:r>
                <a:rPr lang="en-US" altLang="zh-CN" sz="2800" b="1">
                  <a:solidFill>
                    <a:srgbClr val="010101"/>
                  </a:solidFill>
                  <a:latin typeface="+mn-lt"/>
                  <a:ea typeface="+mn-ea"/>
                  <a:cs typeface="+mn-ea"/>
                  <a:sym typeface="+mn-lt"/>
                </a:rPr>
                <a:t>THREE</a:t>
              </a:r>
              <a:endParaRPr lang="zh-CN" altLang="en-US" sz="1400">
                <a:latin typeface="+mn-lt"/>
                <a:ea typeface="+mn-ea"/>
                <a:cs typeface="+mn-ea"/>
                <a:sym typeface="+mn-lt"/>
              </a:endParaRPr>
            </a:p>
          </p:txBody>
        </p:sp>
      </p:grpSp>
      <p:sp>
        <p:nvSpPr>
          <p:cNvPr id="8" name="文本框 7"/>
          <p:cNvSpPr txBox="1"/>
          <p:nvPr/>
        </p:nvSpPr>
        <p:spPr>
          <a:xfrm>
            <a:off x="111478" y="2174705"/>
            <a:ext cx="5683126" cy="615553"/>
          </a:xfrm>
          <a:prstGeom prst="rect">
            <a:avLst/>
          </a:prstGeom>
          <a:noFill/>
        </p:spPr>
        <p:txBody>
          <a:bodyPr wrap="square" numCol="2" rtlCol="0">
            <a:spAutoFit/>
          </a:bodyPr>
          <a:lstStyle/>
          <a:p>
            <a:pPr lvl="1"/>
            <a:endParaRPr lang="en-US" altLang="zh-CN" sz="1600" b="1">
              <a:solidFill>
                <a:schemeClr val="tx1">
                  <a:lumMod val="75000"/>
                  <a:lumOff val="25000"/>
                </a:schemeClr>
              </a:solidFill>
              <a:effectLst>
                <a:outerShdw blurRad="38100" dist="38100" dir="2700000" algn="tl">
                  <a:srgbClr val="000000">
                    <a:alpha val="43137"/>
                  </a:srgbClr>
                </a:outerShdw>
              </a:effectLst>
              <a:latin typeface="+mj-ea"/>
            </a:endParaRPr>
          </a:p>
          <a:p>
            <a:endParaRPr lang="zh-CN" altLang="en-US"/>
          </a:p>
        </p:txBody>
      </p:sp>
      <p:sp>
        <p:nvSpPr>
          <p:cNvPr id="2" name="文本框 1"/>
          <p:cNvSpPr txBox="1"/>
          <p:nvPr/>
        </p:nvSpPr>
        <p:spPr>
          <a:xfrm>
            <a:off x="2953041" y="1146051"/>
            <a:ext cx="6539679" cy="461665"/>
          </a:xfrm>
          <a:prstGeom prst="rect">
            <a:avLst/>
          </a:prstGeom>
          <a:noFill/>
        </p:spPr>
        <p:txBody>
          <a:bodyPr wrap="square" rtlCol="0">
            <a:spAutoFit/>
          </a:bodyPr>
          <a:lstStyle/>
          <a:p>
            <a:r>
              <a:rPr lang="zh-CN" altLang="en-US" sz="2400" b="1">
                <a:solidFill>
                  <a:schemeClr val="tx2">
                    <a:lumMod val="75000"/>
                  </a:schemeClr>
                </a:solidFill>
                <a:latin typeface="+mj-ea"/>
                <a:ea typeface="+mj-ea"/>
              </a:rPr>
              <a:t>治疗高血磷 </a:t>
            </a:r>
            <a:r>
              <a:rPr lang="en-US" altLang="zh-CN" sz="2400" b="1">
                <a:solidFill>
                  <a:schemeClr val="tx2">
                    <a:lumMod val="75000"/>
                  </a:schemeClr>
                </a:solidFill>
                <a:latin typeface="+mj-ea"/>
                <a:ea typeface="+mj-ea"/>
              </a:rPr>
              <a:t>Hyperphosphataemia</a:t>
            </a:r>
            <a:endParaRPr lang="zh-CN" altLang="en-US" sz="2400" b="1">
              <a:solidFill>
                <a:schemeClr val="tx2">
                  <a:lumMod val="75000"/>
                </a:schemeClr>
              </a:solidFill>
              <a:latin typeface="+mj-ea"/>
              <a:ea typeface="+mj-ea"/>
            </a:endParaRPr>
          </a:p>
        </p:txBody>
      </p:sp>
      <p:sp>
        <p:nvSpPr>
          <p:cNvPr id="4" name="文本框 3"/>
          <p:cNvSpPr txBox="1"/>
          <p:nvPr/>
        </p:nvSpPr>
        <p:spPr>
          <a:xfrm>
            <a:off x="2897878" y="620688"/>
            <a:ext cx="3078756" cy="461665"/>
          </a:xfrm>
          <a:prstGeom prst="rect">
            <a:avLst/>
          </a:prstGeom>
          <a:noFill/>
        </p:spPr>
        <p:txBody>
          <a:bodyPr wrap="square" rtlCol="0">
            <a:spAutoFit/>
          </a:bodyPr>
          <a:lstStyle/>
          <a:p>
            <a:r>
              <a:rPr lang="zh-CN" altLang="en-US" sz="2400" b="1">
                <a:solidFill>
                  <a:schemeClr val="bg1"/>
                </a:solidFill>
                <a:effectLst>
                  <a:outerShdw blurRad="38100" dist="38100" dir="2700000" algn="tl">
                    <a:srgbClr val="000000">
                      <a:alpha val="43137"/>
                    </a:srgbClr>
                  </a:outerShdw>
                </a:effectLst>
                <a:latin typeface="+mj-ea"/>
                <a:ea typeface="+mj-ea"/>
              </a:rPr>
              <a:t>猫慢性肾病治疗</a:t>
            </a:r>
          </a:p>
        </p:txBody>
      </p:sp>
      <p:sp>
        <p:nvSpPr>
          <p:cNvPr id="21" name="矩形 20">
            <a:extLst>
              <a:ext uri="{FF2B5EF4-FFF2-40B4-BE49-F238E27FC236}">
                <a16:creationId xmlns:a16="http://schemas.microsoft.com/office/drawing/2014/main" id="{665B92FC-B9E6-4B02-BC89-8774CC40B9EB}"/>
              </a:ext>
            </a:extLst>
          </p:cNvPr>
          <p:cNvSpPr/>
          <p:nvPr/>
        </p:nvSpPr>
        <p:spPr>
          <a:xfrm>
            <a:off x="0" y="1758182"/>
            <a:ext cx="3791744" cy="50998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sp>
        <p:nvSpPr>
          <p:cNvPr id="22" name="文本框 21">
            <a:extLst>
              <a:ext uri="{FF2B5EF4-FFF2-40B4-BE49-F238E27FC236}">
                <a16:creationId xmlns:a16="http://schemas.microsoft.com/office/drawing/2014/main" id="{3D9C8E33-59E3-4A85-AB15-41BDBA1BF45C}"/>
              </a:ext>
            </a:extLst>
          </p:cNvPr>
          <p:cNvSpPr txBox="1"/>
          <p:nvPr/>
        </p:nvSpPr>
        <p:spPr>
          <a:xfrm>
            <a:off x="700906" y="1904739"/>
            <a:ext cx="2370758" cy="461665"/>
          </a:xfrm>
          <a:prstGeom prst="rect">
            <a:avLst/>
          </a:prstGeom>
          <a:noFill/>
        </p:spPr>
        <p:txBody>
          <a:bodyPr wrap="square" rtlCol="0">
            <a:spAutoFit/>
          </a:bodyPr>
          <a:lstStyle/>
          <a:p>
            <a:r>
              <a:rPr lang="zh-CN" altLang="en-US" sz="2400" b="1">
                <a:solidFill>
                  <a:schemeClr val="tx2">
                    <a:lumMod val="75000"/>
                  </a:schemeClr>
                </a:solidFill>
                <a:latin typeface="+mj-ea"/>
                <a:ea typeface="+mj-ea"/>
              </a:rPr>
              <a:t>血磷（</a:t>
            </a:r>
            <a:r>
              <a:rPr lang="en-US" altLang="zh-CN" sz="2400" b="1">
                <a:solidFill>
                  <a:schemeClr val="tx2">
                    <a:lumMod val="75000"/>
                  </a:schemeClr>
                </a:solidFill>
                <a:effectLst>
                  <a:outerShdw blurRad="38100" dist="38100" dir="2700000" algn="tl">
                    <a:srgbClr val="000000">
                      <a:alpha val="43137"/>
                    </a:srgbClr>
                  </a:outerShdw>
                </a:effectLst>
                <a:latin typeface="+mj-ea"/>
                <a:ea typeface="+mj-ea"/>
              </a:rPr>
              <a:t>Phos</a:t>
            </a:r>
            <a:r>
              <a:rPr lang="zh-CN" altLang="en-US" sz="2400" b="1">
                <a:solidFill>
                  <a:schemeClr val="tx2">
                    <a:lumMod val="75000"/>
                  </a:schemeClr>
                </a:solidFill>
                <a:latin typeface="+mj-ea"/>
                <a:ea typeface="+mj-ea"/>
              </a:rPr>
              <a:t>）</a:t>
            </a:r>
          </a:p>
        </p:txBody>
      </p:sp>
      <p:sp>
        <p:nvSpPr>
          <p:cNvPr id="23" name="文本框 22">
            <a:extLst>
              <a:ext uri="{FF2B5EF4-FFF2-40B4-BE49-F238E27FC236}">
                <a16:creationId xmlns:a16="http://schemas.microsoft.com/office/drawing/2014/main" id="{040776E4-D042-4527-BDB0-48A53727E301}"/>
              </a:ext>
            </a:extLst>
          </p:cNvPr>
          <p:cNvSpPr txBox="1"/>
          <p:nvPr/>
        </p:nvSpPr>
        <p:spPr>
          <a:xfrm>
            <a:off x="351806" y="2708982"/>
            <a:ext cx="2438953" cy="1015663"/>
          </a:xfrm>
          <a:prstGeom prst="rect">
            <a:avLst/>
          </a:prstGeom>
          <a:noFill/>
        </p:spPr>
        <p:txBody>
          <a:bodyPr wrap="square" rtlCol="0">
            <a:spAutoFit/>
          </a:bodyPr>
          <a:lstStyle/>
          <a:p>
            <a:pPr marL="285750" lvl="1" indent="-285750">
              <a:buFont typeface="Wingdings" panose="05000000000000000000" pitchFamily="2" charset="2"/>
              <a:buChar char="u"/>
            </a:pPr>
            <a:r>
              <a:rPr lang="zh-CN" altLang="en-US" b="1">
                <a:solidFill>
                  <a:schemeClr val="tx1">
                    <a:lumMod val="75000"/>
                    <a:lumOff val="25000"/>
                  </a:schemeClr>
                </a:solidFill>
                <a:effectLst>
                  <a:outerShdw blurRad="38100" dist="38100" dir="2700000" algn="tl">
                    <a:srgbClr val="000000">
                      <a:alpha val="43137"/>
                    </a:srgbClr>
                  </a:outerShdw>
                </a:effectLst>
                <a:latin typeface="+mj-ea"/>
                <a:ea typeface="+mj-ea"/>
              </a:rPr>
              <a:t>控制血磷是延长肾病猫寿命的第一号手段！</a:t>
            </a:r>
            <a:endParaRPr lang="zh-CN" altLang="en-US" sz="2400"/>
          </a:p>
        </p:txBody>
      </p:sp>
      <p:sp>
        <p:nvSpPr>
          <p:cNvPr id="31" name="文本框 30">
            <a:extLst>
              <a:ext uri="{FF2B5EF4-FFF2-40B4-BE49-F238E27FC236}">
                <a16:creationId xmlns:a16="http://schemas.microsoft.com/office/drawing/2014/main" id="{B35243C0-8E57-4E05-BF99-C51D0FD3079F}"/>
              </a:ext>
            </a:extLst>
          </p:cNvPr>
          <p:cNvSpPr txBox="1"/>
          <p:nvPr/>
        </p:nvSpPr>
        <p:spPr>
          <a:xfrm>
            <a:off x="3976589" y="2199075"/>
            <a:ext cx="7975187" cy="4339650"/>
          </a:xfrm>
          <a:prstGeom prst="rect">
            <a:avLst/>
          </a:prstGeom>
          <a:noFill/>
        </p:spPr>
        <p:txBody>
          <a:bodyPr wrap="square" rtlCol="0">
            <a:spAutoFit/>
          </a:bodyPr>
          <a:lstStyle/>
          <a:p>
            <a:pPr lvl="1"/>
            <a:r>
              <a:rPr lang="zh-CN" altLang="en-US" sz="2800" b="1">
                <a:solidFill>
                  <a:schemeClr val="bg1">
                    <a:lumMod val="95000"/>
                  </a:schemeClr>
                </a:solidFill>
                <a:effectLst>
                  <a:outerShdw blurRad="38100" dist="38100" dir="2700000" algn="tl">
                    <a:srgbClr val="000000">
                      <a:alpha val="43137"/>
                    </a:srgbClr>
                  </a:outerShdw>
                </a:effectLst>
                <a:latin typeface="+mj-ea"/>
                <a:ea typeface="+mj-ea"/>
              </a:rPr>
              <a:t>主要治疗选项包括：</a:t>
            </a:r>
            <a:endParaRPr lang="en-US" altLang="zh-CN" sz="2800" b="1">
              <a:solidFill>
                <a:schemeClr val="bg1">
                  <a:lumMod val="95000"/>
                </a:schemeClr>
              </a:solidFill>
              <a:effectLst>
                <a:outerShdw blurRad="38100" dist="38100" dir="2700000" algn="tl">
                  <a:srgbClr val="000000">
                    <a:alpha val="43137"/>
                  </a:srgbClr>
                </a:outerShdw>
              </a:effectLst>
              <a:latin typeface="+mj-ea"/>
              <a:ea typeface="+mj-ea"/>
            </a:endParaRPr>
          </a:p>
          <a:p>
            <a:pPr lvl="1"/>
            <a:endParaRPr lang="en-US" altLang="zh-CN" sz="2000" b="1">
              <a:solidFill>
                <a:schemeClr val="bg1">
                  <a:lumMod val="9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sz="2800" b="1">
                <a:solidFill>
                  <a:srgbClr val="FFFF00"/>
                </a:solidFill>
                <a:effectLst>
                  <a:outerShdw blurRad="38100" dist="38100" dir="2700000" algn="tl">
                    <a:srgbClr val="000000">
                      <a:alpha val="43137"/>
                    </a:srgbClr>
                  </a:outerShdw>
                </a:effectLst>
                <a:latin typeface="+mj-ea"/>
                <a:ea typeface="+mj-ea"/>
              </a:rPr>
              <a:t>低磷饮食</a:t>
            </a:r>
            <a:endParaRPr lang="en-US" altLang="zh-CN" sz="2800" b="1">
              <a:solidFill>
                <a:srgbClr val="FFFF00"/>
              </a:solidFill>
              <a:effectLst>
                <a:outerShdw blurRad="38100" dist="38100" dir="2700000" algn="tl">
                  <a:srgbClr val="000000">
                    <a:alpha val="43137"/>
                  </a:srgbClr>
                </a:outerShdw>
              </a:effectLst>
              <a:latin typeface="+mj-ea"/>
              <a:ea typeface="+mj-ea"/>
            </a:endParaRPr>
          </a:p>
          <a:p>
            <a:pPr lvl="1"/>
            <a:endParaRPr lang="en-US" altLang="zh-CN" sz="2800" b="1">
              <a:solidFill>
                <a:srgbClr val="FFFF00"/>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sz="2800" b="1">
                <a:solidFill>
                  <a:srgbClr val="FFFF00"/>
                </a:solidFill>
                <a:effectLst>
                  <a:outerShdw blurRad="38100" dist="38100" dir="2700000" algn="tl">
                    <a:srgbClr val="000000">
                      <a:alpha val="43137"/>
                    </a:srgbClr>
                  </a:outerShdw>
                </a:effectLst>
                <a:latin typeface="+mj-ea"/>
                <a:ea typeface="+mj-ea"/>
              </a:rPr>
              <a:t>磷结合剂</a:t>
            </a:r>
            <a:endParaRPr lang="en-US" altLang="zh-CN" sz="2800" b="1">
              <a:solidFill>
                <a:srgbClr val="FFFF00"/>
              </a:solidFill>
              <a:effectLst>
                <a:outerShdw blurRad="38100" dist="38100" dir="2700000" algn="tl">
                  <a:srgbClr val="000000">
                    <a:alpha val="43137"/>
                  </a:srgbClr>
                </a:outerShdw>
              </a:effectLst>
              <a:latin typeface="+mj-ea"/>
              <a:ea typeface="+mj-ea"/>
            </a:endParaRPr>
          </a:p>
          <a:p>
            <a:pPr marL="1428750" lvl="2" indent="-514350">
              <a:buFont typeface="Wingdings" panose="05000000000000000000" pitchFamily="2" charset="2"/>
              <a:buChar char="u"/>
            </a:pPr>
            <a:r>
              <a:rPr lang="zh-CN" altLang="en-US" sz="2000" b="1">
                <a:solidFill>
                  <a:srgbClr val="FFFF00"/>
                </a:solidFill>
                <a:effectLst>
                  <a:outerShdw blurRad="38100" dist="38100" dir="2700000" algn="tl">
                    <a:srgbClr val="000000">
                      <a:alpha val="43137"/>
                    </a:srgbClr>
                  </a:outerShdw>
                </a:effectLst>
                <a:latin typeface="+mj-ea"/>
                <a:ea typeface="+mj-ea"/>
              </a:rPr>
              <a:t>柠檬酸铁</a:t>
            </a:r>
            <a:endParaRPr lang="en-US" altLang="zh-CN" sz="2000" b="1">
              <a:solidFill>
                <a:srgbClr val="FFFF00"/>
              </a:solidFill>
              <a:effectLst>
                <a:outerShdw blurRad="38100" dist="38100" dir="2700000" algn="tl">
                  <a:srgbClr val="000000">
                    <a:alpha val="43137"/>
                  </a:srgbClr>
                </a:outerShdw>
              </a:effectLst>
              <a:latin typeface="+mj-ea"/>
              <a:ea typeface="+mj-ea"/>
            </a:endParaRPr>
          </a:p>
          <a:p>
            <a:pPr marL="1428750" lvl="2" indent="-514350">
              <a:buFont typeface="Wingdings" panose="05000000000000000000" pitchFamily="2" charset="2"/>
              <a:buChar char="u"/>
            </a:pPr>
            <a:r>
              <a:rPr lang="zh-CN" altLang="en-US" sz="2000" b="1">
                <a:solidFill>
                  <a:srgbClr val="FFFF00"/>
                </a:solidFill>
                <a:effectLst>
                  <a:outerShdw blurRad="38100" dist="38100" dir="2700000" algn="tl">
                    <a:srgbClr val="000000">
                      <a:alpha val="43137"/>
                    </a:srgbClr>
                  </a:outerShdw>
                </a:effectLst>
                <a:latin typeface="+mj-ea"/>
                <a:ea typeface="+mj-ea"/>
              </a:rPr>
              <a:t>钙制剂</a:t>
            </a:r>
            <a:endParaRPr lang="en-US" altLang="zh-CN" sz="2000" b="1">
              <a:solidFill>
                <a:srgbClr val="FFFF00"/>
              </a:solidFill>
              <a:effectLst>
                <a:outerShdw blurRad="38100" dist="38100" dir="2700000" algn="tl">
                  <a:srgbClr val="000000">
                    <a:alpha val="43137"/>
                  </a:srgbClr>
                </a:outerShdw>
              </a:effectLst>
              <a:latin typeface="+mj-ea"/>
              <a:ea typeface="+mj-ea"/>
            </a:endParaRPr>
          </a:p>
          <a:p>
            <a:pPr marL="1428750" lvl="2" indent="-514350">
              <a:buFont typeface="Wingdings" panose="05000000000000000000" pitchFamily="2" charset="2"/>
              <a:buChar char="u"/>
            </a:pPr>
            <a:r>
              <a:rPr lang="zh-CN" altLang="en-US" sz="2000" b="1">
                <a:solidFill>
                  <a:srgbClr val="FFFF00"/>
                </a:solidFill>
                <a:effectLst>
                  <a:outerShdw blurRad="38100" dist="38100" dir="2700000" algn="tl">
                    <a:srgbClr val="000000">
                      <a:alpha val="43137"/>
                    </a:srgbClr>
                  </a:outerShdw>
                </a:effectLst>
                <a:latin typeface="+mj-ea"/>
                <a:ea typeface="+mj-ea"/>
              </a:rPr>
              <a:t>碳酸镧</a:t>
            </a:r>
            <a:endParaRPr lang="en-US" altLang="zh-CN" sz="2000" b="1">
              <a:solidFill>
                <a:srgbClr val="FFFF00"/>
              </a:solidFill>
              <a:effectLst>
                <a:outerShdw blurRad="38100" dist="38100" dir="2700000" algn="tl">
                  <a:srgbClr val="000000">
                    <a:alpha val="43137"/>
                  </a:srgbClr>
                </a:outerShdw>
              </a:effectLst>
              <a:latin typeface="+mj-ea"/>
              <a:ea typeface="+mj-ea"/>
            </a:endParaRPr>
          </a:p>
          <a:p>
            <a:pPr marL="1428750" lvl="2" indent="-514350">
              <a:buFont typeface="Wingdings" panose="05000000000000000000" pitchFamily="2" charset="2"/>
              <a:buChar char="u"/>
            </a:pPr>
            <a:r>
              <a:rPr lang="zh-CN" altLang="en-US" sz="2000" b="1">
                <a:solidFill>
                  <a:srgbClr val="FFFF00"/>
                </a:solidFill>
                <a:effectLst>
                  <a:outerShdw blurRad="38100" dist="38100" dir="2700000" algn="tl">
                    <a:srgbClr val="000000">
                      <a:alpha val="43137"/>
                    </a:srgbClr>
                  </a:outerShdw>
                </a:effectLst>
                <a:latin typeface="+mj-ea"/>
                <a:ea typeface="+mj-ea"/>
              </a:rPr>
              <a:t>盐酸司维拉姆</a:t>
            </a:r>
            <a:endParaRPr lang="en-US" altLang="zh-CN" sz="2000" b="1">
              <a:solidFill>
                <a:srgbClr val="FFFF00"/>
              </a:solidFill>
              <a:effectLst>
                <a:outerShdw blurRad="38100" dist="38100" dir="2700000" algn="tl">
                  <a:srgbClr val="000000">
                    <a:alpha val="43137"/>
                  </a:srgbClr>
                </a:outerShdw>
              </a:effectLst>
              <a:latin typeface="+mj-ea"/>
              <a:ea typeface="+mj-ea"/>
            </a:endParaRPr>
          </a:p>
          <a:p>
            <a:pPr lvl="1"/>
            <a:endParaRPr lang="en-US" altLang="zh-CN" sz="1600" b="1">
              <a:solidFill>
                <a:srgbClr val="FFFF00"/>
              </a:solidFill>
              <a:effectLst>
                <a:outerShdw blurRad="38100" dist="38100" dir="2700000" algn="tl">
                  <a:srgbClr val="000000">
                    <a:alpha val="43137"/>
                  </a:srgbClr>
                </a:outerShdw>
              </a:effectLst>
              <a:latin typeface="+mj-ea"/>
              <a:ea typeface="+mj-ea"/>
            </a:endParaRPr>
          </a:p>
          <a:p>
            <a:pPr lvl="1"/>
            <a:r>
              <a:rPr lang="en-US" altLang="zh-CN" sz="1600" b="1">
                <a:solidFill>
                  <a:schemeClr val="bg1">
                    <a:lumMod val="95000"/>
                  </a:schemeClr>
                </a:solidFill>
                <a:effectLst>
                  <a:outerShdw blurRad="38100" dist="38100" dir="2700000" algn="tl">
                    <a:srgbClr val="000000">
                      <a:alpha val="43137"/>
                    </a:srgbClr>
                  </a:outerShdw>
                </a:effectLst>
                <a:latin typeface="+mj-ea"/>
                <a:ea typeface="+mj-ea"/>
              </a:rPr>
              <a:t>    </a:t>
            </a:r>
          </a:p>
          <a:p>
            <a:pPr lvl="1"/>
            <a:endParaRPr lang="en-US" altLang="zh-CN" sz="1600" b="1">
              <a:solidFill>
                <a:schemeClr val="bg1">
                  <a:lumMod val="95000"/>
                </a:schemeClr>
              </a:solidFill>
              <a:effectLst>
                <a:outerShdw blurRad="38100" dist="38100" dir="2700000" algn="tl">
                  <a:srgbClr val="000000">
                    <a:alpha val="43137"/>
                  </a:srgbClr>
                </a:outerShdw>
              </a:effectLst>
              <a:latin typeface="+mj-ea"/>
              <a:ea typeface="+mj-ea"/>
            </a:endParaRPr>
          </a:p>
          <a:p>
            <a:pPr lvl="1"/>
            <a:endParaRPr lang="en-US" altLang="zh-CN" sz="1600" b="1">
              <a:solidFill>
                <a:schemeClr val="bg1"/>
              </a:solidFill>
              <a:effectLst>
                <a:outerShdw blurRad="38100" dist="38100" dir="2700000" algn="tl">
                  <a:srgbClr val="000000">
                    <a:alpha val="43137"/>
                  </a:srgbClr>
                </a:outerShdw>
              </a:effectLst>
              <a:latin typeface="+mj-ea"/>
              <a:ea typeface="+mj-ea"/>
            </a:endParaRPr>
          </a:p>
        </p:txBody>
      </p:sp>
      <p:sp>
        <p:nvSpPr>
          <p:cNvPr id="17" name="文本框 16">
            <a:extLst>
              <a:ext uri="{FF2B5EF4-FFF2-40B4-BE49-F238E27FC236}">
                <a16:creationId xmlns:a16="http://schemas.microsoft.com/office/drawing/2014/main" id="{35020D44-0260-4471-B012-866D6900EED5}"/>
              </a:ext>
            </a:extLst>
          </p:cNvPr>
          <p:cNvSpPr txBox="1"/>
          <p:nvPr/>
        </p:nvSpPr>
        <p:spPr>
          <a:xfrm>
            <a:off x="240964" y="5061130"/>
            <a:ext cx="3309816" cy="1754326"/>
          </a:xfrm>
          <a:prstGeom prst="rect">
            <a:avLst/>
          </a:prstGeom>
          <a:noFill/>
        </p:spPr>
        <p:txBody>
          <a:bodyPr wrap="square" rtlCol="0">
            <a:spAutoFit/>
          </a:bodyPr>
          <a:lstStyle/>
          <a:p>
            <a:pPr eaLnBrk="1" fontAlgn="t" hangingPunct="1"/>
            <a:r>
              <a:rPr lang="zh-CN" altLang="en-US" b="1">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肾病猫“正常范围”</a:t>
            </a:r>
            <a:endParaRPr lang="en-US" altLang="zh-CN" b="1">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eaLnBrk="1" fontAlgn="t" hangingPunct="1"/>
            <a:r>
              <a:rPr lang="zh-CN" altLang="zh-CN">
                <a:latin typeface="+mj-ea"/>
                <a:ea typeface="+mj-ea"/>
              </a:rPr>
              <a:t>二阶肾病</a:t>
            </a:r>
            <a:r>
              <a:rPr lang="en-US" altLang="zh-CN">
                <a:latin typeface="+mj-ea"/>
                <a:ea typeface="+mj-ea"/>
              </a:rPr>
              <a:t> </a:t>
            </a:r>
            <a:r>
              <a:rPr lang="zh-CN" altLang="en-US">
                <a:latin typeface="+mj-ea"/>
                <a:ea typeface="+mj-ea"/>
              </a:rPr>
              <a:t>≤</a:t>
            </a:r>
            <a:r>
              <a:rPr lang="en-US" altLang="zh-CN">
                <a:latin typeface="+mj-ea"/>
                <a:ea typeface="+mj-ea"/>
              </a:rPr>
              <a:t>1.45 </a:t>
            </a:r>
            <a:r>
              <a:rPr lang="zh-CN" altLang="en-US">
                <a:latin typeface="+mj-ea"/>
                <a:ea typeface="+mj-ea"/>
              </a:rPr>
              <a:t>（即</a:t>
            </a:r>
            <a:r>
              <a:rPr lang="en-US" altLang="zh-CN">
                <a:latin typeface="+mj-ea"/>
                <a:ea typeface="+mj-ea"/>
              </a:rPr>
              <a:t>4.5mg/dl</a:t>
            </a:r>
            <a:r>
              <a:rPr lang="zh-CN" altLang="en-US">
                <a:latin typeface="+mj-ea"/>
                <a:ea typeface="+mj-ea"/>
              </a:rPr>
              <a:t>）</a:t>
            </a:r>
            <a:endParaRPr lang="zh-CN" altLang="zh-CN">
              <a:latin typeface="+mj-ea"/>
              <a:ea typeface="+mj-ea"/>
            </a:endParaRPr>
          </a:p>
          <a:p>
            <a:pPr eaLnBrk="1" fontAlgn="auto" hangingPunct="1"/>
            <a:r>
              <a:rPr lang="zh-CN" altLang="zh-CN">
                <a:latin typeface="+mj-ea"/>
                <a:ea typeface="+mj-ea"/>
              </a:rPr>
              <a:t>三阶肾病</a:t>
            </a:r>
            <a:r>
              <a:rPr lang="en-US" altLang="zh-CN">
                <a:latin typeface="+mj-ea"/>
                <a:ea typeface="+mj-ea"/>
              </a:rPr>
              <a:t> </a:t>
            </a:r>
            <a:r>
              <a:rPr lang="zh-CN" altLang="en-US">
                <a:latin typeface="+mj-ea"/>
                <a:ea typeface="+mj-ea"/>
              </a:rPr>
              <a:t>≤ </a:t>
            </a:r>
            <a:r>
              <a:rPr lang="en-US" altLang="zh-CN">
                <a:latin typeface="+mj-ea"/>
                <a:ea typeface="+mj-ea"/>
              </a:rPr>
              <a:t>1.61</a:t>
            </a:r>
            <a:r>
              <a:rPr lang="zh-CN" altLang="en-US">
                <a:latin typeface="+mj-ea"/>
                <a:ea typeface="+mj-ea"/>
              </a:rPr>
              <a:t>（即</a:t>
            </a:r>
            <a:r>
              <a:rPr lang="en-US" altLang="zh-CN">
                <a:latin typeface="+mj-ea"/>
                <a:ea typeface="+mj-ea"/>
              </a:rPr>
              <a:t>5.0mg/dl</a:t>
            </a:r>
            <a:r>
              <a:rPr lang="zh-CN" altLang="en-US">
                <a:latin typeface="+mj-ea"/>
                <a:ea typeface="+mj-ea"/>
              </a:rPr>
              <a:t>）</a:t>
            </a:r>
            <a:endParaRPr lang="zh-CN" altLang="zh-CN">
              <a:latin typeface="+mj-ea"/>
              <a:ea typeface="+mj-ea"/>
            </a:endParaRPr>
          </a:p>
          <a:p>
            <a:pPr eaLnBrk="1" fontAlgn="auto" hangingPunct="1"/>
            <a:r>
              <a:rPr lang="zh-CN" altLang="zh-CN">
                <a:latin typeface="+mj-ea"/>
                <a:ea typeface="+mj-ea"/>
              </a:rPr>
              <a:t>四阶肾病</a:t>
            </a:r>
            <a:r>
              <a:rPr lang="en-US" altLang="zh-CN">
                <a:latin typeface="+mj-ea"/>
                <a:ea typeface="+mj-ea"/>
              </a:rPr>
              <a:t> </a:t>
            </a:r>
            <a:r>
              <a:rPr lang="zh-CN" altLang="en-US">
                <a:latin typeface="+mj-ea"/>
                <a:ea typeface="+mj-ea"/>
              </a:rPr>
              <a:t>≤ </a:t>
            </a:r>
            <a:r>
              <a:rPr lang="en-US" altLang="zh-CN">
                <a:latin typeface="+mj-ea"/>
                <a:ea typeface="+mj-ea"/>
              </a:rPr>
              <a:t>1.94</a:t>
            </a:r>
            <a:r>
              <a:rPr lang="zh-CN" altLang="en-US">
                <a:latin typeface="+mj-ea"/>
                <a:ea typeface="+mj-ea"/>
              </a:rPr>
              <a:t>（即</a:t>
            </a:r>
            <a:r>
              <a:rPr lang="en-US" altLang="zh-CN">
                <a:latin typeface="+mj-ea"/>
                <a:ea typeface="+mj-ea"/>
              </a:rPr>
              <a:t>6.0mg/dl</a:t>
            </a:r>
            <a:r>
              <a:rPr lang="zh-CN" altLang="en-US">
                <a:latin typeface="+mj-ea"/>
                <a:ea typeface="+mj-ea"/>
              </a:rPr>
              <a:t>）</a:t>
            </a:r>
            <a:endParaRPr lang="zh-CN" altLang="zh-CN">
              <a:latin typeface="+mj-ea"/>
              <a:ea typeface="+mj-ea"/>
            </a:endParaRPr>
          </a:p>
          <a:p>
            <a:endParaRPr lang="en-US" altLang="zh-CN"/>
          </a:p>
          <a:p>
            <a:endParaRPr lang="en-US" altLang="zh-CN"/>
          </a:p>
        </p:txBody>
      </p:sp>
      <p:sp>
        <p:nvSpPr>
          <p:cNvPr id="18" name="文本框 17">
            <a:extLst>
              <a:ext uri="{FF2B5EF4-FFF2-40B4-BE49-F238E27FC236}">
                <a16:creationId xmlns:a16="http://schemas.microsoft.com/office/drawing/2014/main" id="{A10E5CD5-BA22-4487-AFCC-12FEAFE7ADDE}"/>
              </a:ext>
            </a:extLst>
          </p:cNvPr>
          <p:cNvSpPr txBox="1"/>
          <p:nvPr/>
        </p:nvSpPr>
        <p:spPr>
          <a:xfrm>
            <a:off x="290712" y="4410421"/>
            <a:ext cx="2664296" cy="646331"/>
          </a:xfrm>
          <a:prstGeom prst="rect">
            <a:avLst/>
          </a:prstGeom>
          <a:noFill/>
        </p:spPr>
        <p:txBody>
          <a:bodyPr wrap="square" rtlCol="0">
            <a:spAutoFit/>
          </a:bodyPr>
          <a:lstStyle/>
          <a:p>
            <a:r>
              <a:rPr lang="zh-CN" altLang="en-US" b="1">
                <a:solidFill>
                  <a:srgbClr val="C00000"/>
                </a:solidFill>
                <a:effectLst>
                  <a:outerShdw blurRad="38100" dist="38100" dir="2700000" algn="tl">
                    <a:srgbClr val="000000">
                      <a:alpha val="43137"/>
                    </a:srgbClr>
                  </a:outerShdw>
                </a:effectLst>
                <a:latin typeface="+mn-ea"/>
                <a:ea typeface="+mn-ea"/>
              </a:rPr>
              <a:t>默认正常范围</a:t>
            </a:r>
            <a:endParaRPr lang="en-US" altLang="zh-CN" b="1">
              <a:solidFill>
                <a:srgbClr val="C00000"/>
              </a:solidFill>
              <a:effectLst>
                <a:outerShdw blurRad="38100" dist="38100" dir="2700000" algn="tl">
                  <a:srgbClr val="000000">
                    <a:alpha val="43137"/>
                  </a:srgbClr>
                </a:outerShdw>
              </a:effectLst>
              <a:latin typeface="+mn-ea"/>
              <a:ea typeface="+mn-ea"/>
            </a:endParaRPr>
          </a:p>
          <a:p>
            <a:r>
              <a:rPr lang="en-US" altLang="zh-CN"/>
              <a:t>1.0-2.42mmol/L</a:t>
            </a:r>
            <a:endParaRPr lang="zh-CN" altLang="en-US"/>
          </a:p>
        </p:txBody>
      </p:sp>
    </p:spTree>
    <p:extLst>
      <p:ext uri="{BB962C8B-B14F-4D97-AF65-F5344CB8AC3E}">
        <p14:creationId xmlns:p14="http://schemas.microsoft.com/office/powerpoint/2010/main" val="3754471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p:cNvPr>
          <p:cNvGrpSpPr/>
          <p:nvPr/>
        </p:nvGrpSpPr>
        <p:grpSpPr>
          <a:xfrm>
            <a:off x="4871863" y="0"/>
            <a:ext cx="7320137" cy="1035882"/>
            <a:chOff x="8112223" y="330677"/>
            <a:chExt cx="4194115" cy="1035882"/>
          </a:xfrm>
          <a:effectLst>
            <a:outerShdw blurRad="50800" dist="38100" dir="5400000" algn="t" rotWithShape="0">
              <a:prstClr val="black">
                <a:alpha val="40000"/>
              </a:prstClr>
            </a:outerShdw>
          </a:effectLst>
        </p:grpSpPr>
        <p:sp>
          <p:nvSpPr>
            <p:cNvPr id="27"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8281096" y="330677"/>
              <a:ext cx="4013203" cy="985057"/>
              <a:chOff x="-461843" y="2729730"/>
              <a:chExt cx="4727020" cy="1377463"/>
            </a:xfrm>
          </p:grpSpPr>
          <p:sp>
            <p:nvSpPr>
              <p:cNvPr id="29"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1402351" y="2972777"/>
                <a:ext cx="2862826" cy="81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latin typeface="+mn-lt"/>
                    <a:ea typeface="+mn-ea"/>
                    <a:cs typeface="+mn-ea"/>
                    <a:sym typeface="+mn-lt"/>
                  </a:rPr>
                  <a:t>肾病低磷饮食</a:t>
                </a:r>
                <a:endParaRPr lang="en-US" altLang="zh-CN" sz="2400" b="1">
                  <a:solidFill>
                    <a:srgbClr val="010101"/>
                  </a:solidFill>
                  <a:latin typeface="+mn-lt"/>
                  <a:ea typeface="+mn-ea"/>
                  <a:cs typeface="+mn-ea"/>
                  <a:sym typeface="+mn-lt"/>
                </a:endParaRPr>
              </a:p>
            </p:txBody>
          </p:sp>
          <p:cxnSp>
            <p:nvCxnSpPr>
              <p:cNvPr id="31" name="直接连接符 30">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506334" y="3461620"/>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cxnSp>
        <p:nvCxnSpPr>
          <p:cNvPr id="49" name="直接连接符 48">
            <a:extLst/>
          </p:cNvPr>
          <p:cNvCxnSpPr/>
          <p:nvPr/>
        </p:nvCxnSpPr>
        <p:spPr>
          <a:xfrm flipH="1">
            <a:off x="6107113" y="3668713"/>
            <a:ext cx="19050" cy="1079500"/>
          </a:xfrm>
          <a:prstGeom prst="line">
            <a:avLst/>
          </a:prstGeom>
          <a:ln w="50800">
            <a:solidFill>
              <a:srgbClr val="4F4F4F"/>
            </a:solidFill>
          </a:ln>
        </p:spPr>
        <p:style>
          <a:lnRef idx="1">
            <a:schemeClr val="accent1"/>
          </a:lnRef>
          <a:fillRef idx="0">
            <a:schemeClr val="accent1"/>
          </a:fillRef>
          <a:effectRef idx="0">
            <a:schemeClr val="accent1"/>
          </a:effectRef>
          <a:fontRef idx="minor">
            <a:schemeClr val="tx1"/>
          </a:fontRef>
        </p:style>
      </p:cxnSp>
      <p:grpSp>
        <p:nvGrpSpPr>
          <p:cNvPr id="37893" name="组合 1"/>
          <p:cNvGrpSpPr>
            <a:grpSpLocks/>
          </p:cNvGrpSpPr>
          <p:nvPr/>
        </p:nvGrpSpPr>
        <p:grpSpPr bwMode="auto">
          <a:xfrm>
            <a:off x="6452592" y="2401343"/>
            <a:ext cx="5225517" cy="4299920"/>
            <a:chOff x="6598708" y="2608336"/>
            <a:chExt cx="4832861" cy="4298789"/>
          </a:xfrm>
        </p:grpSpPr>
        <p:grpSp>
          <p:nvGrpSpPr>
            <p:cNvPr id="37894" name="组合 14"/>
            <p:cNvGrpSpPr>
              <a:grpSpLocks/>
            </p:cNvGrpSpPr>
            <p:nvPr/>
          </p:nvGrpSpPr>
          <p:grpSpPr bwMode="auto">
            <a:xfrm>
              <a:off x="6931323" y="2608336"/>
              <a:ext cx="4500246" cy="718135"/>
              <a:chOff x="3936148" y="1692543"/>
              <a:chExt cx="4500246" cy="718135"/>
            </a:xfrm>
          </p:grpSpPr>
          <p:sp>
            <p:nvSpPr>
              <p:cNvPr id="55" name="文本框 66">
                <a:extLst/>
              </p:cNvPr>
              <p:cNvSpPr txBox="1">
                <a:spLocks noChangeArrowheads="1"/>
              </p:cNvSpPr>
              <p:nvPr/>
            </p:nvSpPr>
            <p:spPr bwMode="auto">
              <a:xfrm>
                <a:off x="3966308" y="1692543"/>
                <a:ext cx="4258964" cy="461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spcBef>
                    <a:spcPts val="0"/>
                  </a:spcBef>
                  <a:spcAft>
                    <a:spcPts val="0"/>
                  </a:spcAft>
                  <a:defRPr/>
                </a:pPr>
                <a:endParaRPr lang="zh-CN" altLang="en-US" sz="2400" b="1" kern="0">
                  <a:solidFill>
                    <a:srgbClr val="4F4F4F"/>
                  </a:solidFill>
                  <a:latin typeface="+mn-lt"/>
                  <a:ea typeface="+mn-ea"/>
                  <a:cs typeface="+mn-ea"/>
                  <a:sym typeface="+mn-lt"/>
                </a:endParaRPr>
              </a:p>
            </p:txBody>
          </p:sp>
          <p:sp>
            <p:nvSpPr>
              <p:cNvPr id="56" name="矩形 55">
                <a:extLst/>
              </p:cNvPr>
              <p:cNvSpPr/>
              <p:nvPr/>
            </p:nvSpPr>
            <p:spPr>
              <a:xfrm>
                <a:off x="3936148" y="2133752"/>
                <a:ext cx="4500246" cy="276926"/>
              </a:xfrm>
              <a:prstGeom prst="rect">
                <a:avLst/>
              </a:prstGeom>
            </p:spPr>
            <p:txBody>
              <a:bodyPr>
                <a:spAutoFit/>
              </a:bodyPr>
              <a:lstStyle/>
              <a:p>
                <a:pPr eaLnBrk="1" fontAlgn="auto" hangingPunct="1">
                  <a:spcBef>
                    <a:spcPts val="0"/>
                  </a:spcBef>
                  <a:spcAft>
                    <a:spcPts val="0"/>
                  </a:spcAft>
                  <a:defRPr/>
                </a:pPr>
                <a:endParaRPr lang="zh-CN" altLang="en-US" sz="1200" kern="0">
                  <a:solidFill>
                    <a:srgbClr val="4F4F4F"/>
                  </a:solidFill>
                  <a:latin typeface="+mn-lt"/>
                  <a:ea typeface="+mn-ea"/>
                  <a:cs typeface="+mn-ea"/>
                  <a:sym typeface="+mn-lt"/>
                </a:endParaRPr>
              </a:p>
            </p:txBody>
          </p:sp>
        </p:grpSp>
        <p:sp>
          <p:nvSpPr>
            <p:cNvPr id="52" name="矩形 3">
              <a:extLst/>
            </p:cNvPr>
            <p:cNvSpPr>
              <a:spLocks noChangeArrowheads="1"/>
            </p:cNvSpPr>
            <p:nvPr/>
          </p:nvSpPr>
          <p:spPr bwMode="auto">
            <a:xfrm>
              <a:off x="6598708" y="2784004"/>
              <a:ext cx="4470086" cy="4123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342900" indent="-342900" eaLnBrk="1" fontAlgn="auto" hangingPunct="1">
                <a:lnSpc>
                  <a:spcPct val="100000"/>
                </a:lnSpc>
                <a:spcBef>
                  <a:spcPct val="0"/>
                </a:spcBef>
                <a:spcAft>
                  <a:spcPts val="0"/>
                </a:spcAft>
                <a:buFont typeface="Wingdings" panose="05000000000000000000" pitchFamily="2" charset="2"/>
                <a:buChar char="n"/>
                <a:defRPr/>
              </a:pPr>
              <a:r>
                <a:rPr lang="zh-CN" altLang="en-US" sz="2000" kern="0">
                  <a:solidFill>
                    <a:srgbClr val="4F4F4F"/>
                  </a:solidFill>
                  <a:latin typeface="+mj-ea"/>
                  <a:ea typeface="+mj-ea"/>
                  <a:cs typeface="+mn-ea"/>
                  <a:sym typeface="+mn-lt"/>
                </a:rPr>
                <a:t>处方粮在提供蛋白质方面有所欠缺，质与量都堪忧，胜在低磷。</a:t>
              </a:r>
              <a:endParaRPr lang="en-US" altLang="zh-CN" sz="2000" kern="0">
                <a:solidFill>
                  <a:srgbClr val="4F4F4F"/>
                </a:solidFill>
                <a:latin typeface="+mj-ea"/>
                <a:ea typeface="+mj-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n"/>
                <a:defRPr/>
              </a:pPr>
              <a:endParaRPr lang="en-US" altLang="zh-CN" sz="2000" kern="0">
                <a:solidFill>
                  <a:srgbClr val="4F4F4F"/>
                </a:solidFill>
                <a:latin typeface="+mj-ea"/>
                <a:ea typeface="+mj-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n"/>
                <a:defRPr/>
              </a:pPr>
              <a:r>
                <a:rPr lang="zh-CN" altLang="en-US" sz="2000" kern="0">
                  <a:solidFill>
                    <a:srgbClr val="4F4F4F"/>
                  </a:solidFill>
                  <a:latin typeface="+mj-ea"/>
                  <a:ea typeface="+mj-ea"/>
                  <a:cs typeface="+mn-ea"/>
                  <a:sym typeface="+mn-lt"/>
                </a:rPr>
                <a:t>新鲜肉类配合钙质 </a:t>
              </a:r>
              <a:r>
                <a:rPr lang="en-US" altLang="zh-CN" sz="2000" kern="0">
                  <a:solidFill>
                    <a:srgbClr val="4F4F4F"/>
                  </a:solidFill>
                  <a:latin typeface="+mj-ea"/>
                  <a:ea typeface="+mj-ea"/>
                  <a:cs typeface="+mn-ea"/>
                  <a:sym typeface="+mn-lt"/>
                </a:rPr>
                <a:t>+ </a:t>
              </a:r>
              <a:r>
                <a:rPr lang="zh-CN" altLang="en-US" sz="2000" kern="0">
                  <a:solidFill>
                    <a:srgbClr val="4F4F4F"/>
                  </a:solidFill>
                  <a:latin typeface="+mj-ea"/>
                  <a:ea typeface="+mj-ea"/>
                  <a:cs typeface="+mn-ea"/>
                  <a:sym typeface="+mn-lt"/>
                </a:rPr>
                <a:t>处方粮</a:t>
              </a:r>
              <a:r>
                <a:rPr lang="en-US" altLang="zh-CN" sz="2000" kern="0">
                  <a:solidFill>
                    <a:srgbClr val="4F4F4F"/>
                  </a:solidFill>
                  <a:latin typeface="+mj-ea"/>
                  <a:ea typeface="+mj-ea"/>
                  <a:cs typeface="+mn-ea"/>
                  <a:sym typeface="+mn-lt"/>
                </a:rPr>
                <a:t>/</a:t>
              </a:r>
              <a:r>
                <a:rPr lang="zh-CN" altLang="en-US" sz="2000" kern="0">
                  <a:solidFill>
                    <a:srgbClr val="4F4F4F"/>
                  </a:solidFill>
                  <a:latin typeface="+mj-ea"/>
                  <a:ea typeface="+mj-ea"/>
                  <a:cs typeface="+mn-ea"/>
                  <a:sym typeface="+mn-lt"/>
                </a:rPr>
                <a:t>罐是折中且低磷的选择。</a:t>
              </a:r>
              <a:endParaRPr lang="en-US" altLang="zh-CN" sz="2000" kern="0">
                <a:solidFill>
                  <a:srgbClr val="4F4F4F"/>
                </a:solidFill>
                <a:latin typeface="+mj-ea"/>
                <a:ea typeface="+mj-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n"/>
                <a:defRPr/>
              </a:pPr>
              <a:endParaRPr lang="en-US" altLang="zh-CN" sz="2000" kern="0">
                <a:solidFill>
                  <a:srgbClr val="4F4F4F"/>
                </a:solidFill>
                <a:latin typeface="+mj-ea"/>
                <a:ea typeface="+mj-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n"/>
                <a:defRPr/>
              </a:pPr>
              <a:r>
                <a:rPr lang="zh-CN" altLang="en-US" sz="2000" kern="0">
                  <a:solidFill>
                    <a:srgbClr val="4F4F4F"/>
                  </a:solidFill>
                  <a:latin typeface="+mj-ea"/>
                  <a:ea typeface="+mj-ea"/>
                  <a:cs typeface="+mn-ea"/>
                  <a:sym typeface="+mn-lt"/>
                </a:rPr>
                <a:t>视病情，本习惯肉类自制的继续主食亦无问题。</a:t>
              </a:r>
              <a:endParaRPr lang="en-US" altLang="zh-CN" sz="2000" kern="0">
                <a:solidFill>
                  <a:srgbClr val="4F4F4F"/>
                </a:solidFill>
                <a:latin typeface="+mj-ea"/>
                <a:ea typeface="+mj-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n"/>
                <a:defRPr/>
              </a:pPr>
              <a:endParaRPr lang="en-US" altLang="zh-CN" sz="2000" kern="0">
                <a:solidFill>
                  <a:srgbClr val="4F4F4F"/>
                </a:solidFill>
                <a:latin typeface="+mj-ea"/>
                <a:ea typeface="+mj-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n"/>
                <a:defRPr/>
              </a:pPr>
              <a:r>
                <a:rPr lang="zh-CN" altLang="en-US" sz="2000" kern="0">
                  <a:solidFill>
                    <a:srgbClr val="4F4F4F"/>
                  </a:solidFill>
                  <a:latin typeface="+mj-ea"/>
                  <a:ea typeface="+mj-ea"/>
                  <a:cs typeface="+mn-ea"/>
                  <a:sym typeface="+mn-lt"/>
                </a:rPr>
                <a:t>大多数普通猫粮与普通罐头是较差的选择。</a:t>
              </a:r>
              <a:endParaRPr lang="en-US" altLang="zh-CN" sz="2000" kern="0">
                <a:solidFill>
                  <a:srgbClr val="4F4F4F"/>
                </a:solidFill>
                <a:latin typeface="+mj-ea"/>
                <a:ea typeface="+mj-ea"/>
                <a:cs typeface="+mn-ea"/>
                <a:sym typeface="+mn-lt"/>
              </a:endParaRPr>
            </a:p>
            <a:p>
              <a:pPr marL="285750" indent="-285750" eaLnBrk="1" fontAlgn="auto" hangingPunct="1">
                <a:lnSpc>
                  <a:spcPct val="100000"/>
                </a:lnSpc>
                <a:spcBef>
                  <a:spcPct val="0"/>
                </a:spcBef>
                <a:spcAft>
                  <a:spcPts val="0"/>
                </a:spcAft>
                <a:buFont typeface="Wingdings" panose="05000000000000000000" pitchFamily="2" charset="2"/>
                <a:buChar char="n"/>
                <a:defRPr/>
              </a:pPr>
              <a:endParaRPr lang="en-US" altLang="zh-CN" sz="1400" kern="0">
                <a:solidFill>
                  <a:srgbClr val="4F4F4F"/>
                </a:solidFill>
                <a:cs typeface="+mn-ea"/>
                <a:sym typeface="+mn-lt"/>
              </a:endParaRPr>
            </a:p>
            <a:p>
              <a:pPr marL="285750" indent="-285750" eaLnBrk="1" fontAlgn="auto" hangingPunct="1">
                <a:lnSpc>
                  <a:spcPct val="100000"/>
                </a:lnSpc>
                <a:spcBef>
                  <a:spcPct val="0"/>
                </a:spcBef>
                <a:spcAft>
                  <a:spcPts val="0"/>
                </a:spcAft>
                <a:buFont typeface="Wingdings" panose="05000000000000000000" pitchFamily="2" charset="2"/>
                <a:buChar char="n"/>
                <a:defRPr/>
              </a:pPr>
              <a:endParaRPr lang="en-US" altLang="zh-CN" sz="1400" kern="0">
                <a:solidFill>
                  <a:srgbClr val="4F4F4F"/>
                </a:solidFill>
                <a:latin typeface="+mn-lt"/>
                <a:ea typeface="+mn-ea"/>
                <a:cs typeface="+mn-ea"/>
                <a:sym typeface="+mn-lt"/>
              </a:endParaRPr>
            </a:p>
            <a:p>
              <a:pPr marL="285750" indent="-285750" eaLnBrk="1" fontAlgn="auto" hangingPunct="1">
                <a:lnSpc>
                  <a:spcPct val="100000"/>
                </a:lnSpc>
                <a:spcBef>
                  <a:spcPct val="0"/>
                </a:spcBef>
                <a:spcAft>
                  <a:spcPts val="0"/>
                </a:spcAft>
                <a:buFont typeface="Wingdings" panose="05000000000000000000" pitchFamily="2" charset="2"/>
                <a:buChar char="n"/>
                <a:defRPr/>
              </a:pPr>
              <a:endParaRPr lang="zh-CN" altLang="en-US" sz="1400" kern="0">
                <a:solidFill>
                  <a:srgbClr val="4F4F4F"/>
                </a:solidFill>
                <a:latin typeface="+mn-lt"/>
                <a:ea typeface="+mn-ea"/>
                <a:cs typeface="+mn-ea"/>
                <a:sym typeface="+mn-lt"/>
              </a:endParaRPr>
            </a:p>
          </p:txBody>
        </p:sp>
        <p:sp>
          <p:nvSpPr>
            <p:cNvPr id="53" name="矩形 3">
              <a:extLst/>
            </p:cNvPr>
            <p:cNvSpPr>
              <a:spLocks noChangeArrowheads="1"/>
            </p:cNvSpPr>
            <p:nvPr/>
          </p:nvSpPr>
          <p:spPr bwMode="auto">
            <a:xfrm>
              <a:off x="6931323" y="4487442"/>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sp>
          <p:nvSpPr>
            <p:cNvPr id="54" name="矩形 3">
              <a:extLst/>
            </p:cNvPr>
            <p:cNvSpPr>
              <a:spLocks noChangeArrowheads="1"/>
            </p:cNvSpPr>
            <p:nvPr/>
          </p:nvSpPr>
          <p:spPr bwMode="auto">
            <a:xfrm>
              <a:off x="6750361" y="5132782"/>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grpSp>
      <p:sp>
        <p:nvSpPr>
          <p:cNvPr id="6" name="文本框 5">
            <a:extLst>
              <a:ext uri="{FF2B5EF4-FFF2-40B4-BE49-F238E27FC236}">
                <a16:creationId xmlns:a16="http://schemas.microsoft.com/office/drawing/2014/main" id="{7AF0A42C-355B-4056-95A2-1E4221AF1B02}"/>
              </a:ext>
            </a:extLst>
          </p:cNvPr>
          <p:cNvSpPr txBox="1"/>
          <p:nvPr/>
        </p:nvSpPr>
        <p:spPr>
          <a:xfrm>
            <a:off x="1415480" y="5639154"/>
            <a:ext cx="3456383" cy="954107"/>
          </a:xfrm>
          <a:prstGeom prst="rect">
            <a:avLst/>
          </a:prstGeom>
          <a:noFill/>
        </p:spPr>
        <p:txBody>
          <a:bodyPr wrap="square" rtlCol="0">
            <a:spAutoFit/>
          </a:bodyPr>
          <a:lstStyle/>
          <a:p>
            <a:r>
              <a:rPr lang="zh-CN" altLang="en-US" sz="1400" b="1">
                <a:latin typeface="+mj-ea"/>
                <a:ea typeface="+mj-ea"/>
              </a:rPr>
              <a:t>与传统认知不同，新鲜的肉类含磷量并不高。每从鲜肉中获取</a:t>
            </a:r>
            <a:r>
              <a:rPr lang="en-US" altLang="zh-CN" sz="1400" b="1">
                <a:latin typeface="+mj-ea"/>
                <a:ea typeface="+mj-ea"/>
              </a:rPr>
              <a:t>1</a:t>
            </a:r>
            <a:r>
              <a:rPr lang="zh-CN" altLang="en-US" sz="1400" b="1">
                <a:latin typeface="+mj-ea"/>
                <a:ea typeface="+mj-ea"/>
              </a:rPr>
              <a:t>克蛋白质，摄入的磷是最少的。是极佳的肾病猫蛋白质补充饮食。</a:t>
            </a:r>
          </a:p>
        </p:txBody>
      </p:sp>
      <p:graphicFrame>
        <p:nvGraphicFramePr>
          <p:cNvPr id="4" name="图表 3">
            <a:extLst>
              <a:ext uri="{FF2B5EF4-FFF2-40B4-BE49-F238E27FC236}">
                <a16:creationId xmlns:a16="http://schemas.microsoft.com/office/drawing/2014/main" id="{A38ECC69-19C8-45DE-95E1-EC180EC4D2E2}"/>
              </a:ext>
            </a:extLst>
          </p:cNvPr>
          <p:cNvGraphicFramePr/>
          <p:nvPr>
            <p:extLst>
              <p:ext uri="{D42A27DB-BD31-4B8C-83A1-F6EECF244321}">
                <p14:modId xmlns:p14="http://schemas.microsoft.com/office/powerpoint/2010/main" val="2517099085"/>
              </p:ext>
            </p:extLst>
          </p:nvPr>
        </p:nvGraphicFramePr>
        <p:xfrm>
          <a:off x="1112444" y="985057"/>
          <a:ext cx="4766393" cy="465409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431691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EBB4F9DB-A696-428D-8000-EB5A52E7F6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626" y="0"/>
            <a:ext cx="10910924" cy="6858000"/>
          </a:xfrm>
          <a:prstGeom prst="rect">
            <a:avLst/>
          </a:prstGeom>
        </p:spPr>
      </p:pic>
      <p:grpSp>
        <p:nvGrpSpPr>
          <p:cNvPr id="17" name="组合 16">
            <a:extLst/>
          </p:cNvPr>
          <p:cNvGrpSpPr/>
          <p:nvPr/>
        </p:nvGrpSpPr>
        <p:grpSpPr>
          <a:xfrm>
            <a:off x="93849" y="-123781"/>
            <a:ext cx="12098151" cy="1159663"/>
            <a:chOff x="5374632" y="206896"/>
            <a:chExt cx="6931706" cy="1159663"/>
          </a:xfrm>
          <a:effectLst>
            <a:outerShdw blurRad="50800" dist="38100" dir="5400000" algn="t" rotWithShape="0">
              <a:prstClr val="black">
                <a:alpha val="40000"/>
              </a:prstClr>
            </a:outerShdw>
          </a:effectLst>
        </p:grpSpPr>
        <p:sp>
          <p:nvSpPr>
            <p:cNvPr id="27" name="箭头: 五边形 6">
              <a:extLst/>
            </p:cNvPr>
            <p:cNvSpPr/>
            <p:nvPr/>
          </p:nvSpPr>
          <p:spPr>
            <a:xfrm flipH="1">
              <a:off x="5374632" y="404664"/>
              <a:ext cx="6931706"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5697918" y="206896"/>
              <a:ext cx="4003658" cy="1118461"/>
              <a:chOff x="-3504483" y="2556640"/>
              <a:chExt cx="4715776" cy="1564009"/>
            </a:xfrm>
          </p:grpSpPr>
          <p:sp>
            <p:nvSpPr>
              <p:cNvPr id="29" name="文本框 13">
                <a:extLst/>
              </p:cNvPr>
              <p:cNvSpPr txBox="1">
                <a:spLocks noChangeArrowheads="1"/>
              </p:cNvSpPr>
              <p:nvPr/>
            </p:nvSpPr>
            <p:spPr bwMode="auto">
              <a:xfrm>
                <a:off x="-3504483" y="255664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1651533" y="2810538"/>
                <a:ext cx="2862826" cy="81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effectLst>
                      <a:outerShdw blurRad="38100" dist="38100" dir="2700000" algn="tl">
                        <a:srgbClr val="000000">
                          <a:alpha val="43137"/>
                        </a:srgbClr>
                      </a:outerShdw>
                    </a:effectLst>
                    <a:latin typeface="+mn-lt"/>
                    <a:ea typeface="+mn-ea"/>
                    <a:cs typeface="+mn-ea"/>
                    <a:sym typeface="+mn-lt"/>
                  </a:rPr>
                  <a:t>低磷商品粮</a:t>
                </a:r>
                <a:endParaRPr lang="en-US" altLang="zh-CN" sz="2400" b="1">
                  <a:solidFill>
                    <a:srgbClr val="010101"/>
                  </a:solidFill>
                  <a:effectLst>
                    <a:outerShdw blurRad="38100" dist="38100" dir="2700000" algn="tl">
                      <a:srgbClr val="000000">
                        <a:alpha val="43137"/>
                      </a:srgbClr>
                    </a:outerShdw>
                  </a:effectLst>
                  <a:latin typeface="+mn-lt"/>
                  <a:ea typeface="+mn-ea"/>
                  <a:cs typeface="+mn-ea"/>
                  <a:sym typeface="+mn-lt"/>
                </a:endParaRPr>
              </a:p>
            </p:txBody>
          </p:sp>
          <p:cxnSp>
            <p:nvCxnSpPr>
              <p:cNvPr id="31" name="直接连接符 30">
                <a:extLst/>
              </p:cNvPr>
              <p:cNvCxnSpPr>
                <a:cxnSpLocks/>
              </p:cNvCxnSpPr>
              <p:nvPr/>
            </p:nvCxnSpPr>
            <p:spPr>
              <a:xfrm flipH="1">
                <a:off x="-2944751" y="3182236"/>
                <a:ext cx="468592" cy="706937"/>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2653987" y="3475076"/>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cxnSp>
        <p:nvCxnSpPr>
          <p:cNvPr id="49" name="直接连接符 48">
            <a:extLst/>
          </p:cNvPr>
          <p:cNvCxnSpPr/>
          <p:nvPr/>
        </p:nvCxnSpPr>
        <p:spPr>
          <a:xfrm flipH="1">
            <a:off x="6107113" y="3668713"/>
            <a:ext cx="19050" cy="107950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graphicFrame>
        <p:nvGraphicFramePr>
          <p:cNvPr id="2" name="表格 1">
            <a:extLst>
              <a:ext uri="{FF2B5EF4-FFF2-40B4-BE49-F238E27FC236}">
                <a16:creationId xmlns:a16="http://schemas.microsoft.com/office/drawing/2014/main" id="{DA0A209E-502B-4E01-8AEA-8BF11CC6B150}"/>
              </a:ext>
            </a:extLst>
          </p:cNvPr>
          <p:cNvGraphicFramePr>
            <a:graphicFrameLocks noGrp="1"/>
          </p:cNvGraphicFramePr>
          <p:nvPr>
            <p:extLst>
              <p:ext uri="{D42A27DB-BD31-4B8C-83A1-F6EECF244321}">
                <p14:modId xmlns:p14="http://schemas.microsoft.com/office/powerpoint/2010/main" val="3184758917"/>
              </p:ext>
            </p:extLst>
          </p:nvPr>
        </p:nvGraphicFramePr>
        <p:xfrm>
          <a:off x="384760" y="2195900"/>
          <a:ext cx="4521949" cy="2966720"/>
        </p:xfrm>
        <a:graphic>
          <a:graphicData uri="http://schemas.openxmlformats.org/drawingml/2006/table">
            <a:tbl>
              <a:tblPr firstRow="1" bandRow="1">
                <a:tableStyleId>{5C22544A-7EE6-4342-B048-85BDC9FD1C3A}</a:tableStyleId>
              </a:tblPr>
              <a:tblGrid>
                <a:gridCol w="2365850">
                  <a:extLst>
                    <a:ext uri="{9D8B030D-6E8A-4147-A177-3AD203B41FA5}">
                      <a16:colId xmlns:a16="http://schemas.microsoft.com/office/drawing/2014/main" val="1513084854"/>
                    </a:ext>
                  </a:extLst>
                </a:gridCol>
                <a:gridCol w="1082238">
                  <a:extLst>
                    <a:ext uri="{9D8B030D-6E8A-4147-A177-3AD203B41FA5}">
                      <a16:colId xmlns:a16="http://schemas.microsoft.com/office/drawing/2014/main" val="3632184023"/>
                    </a:ext>
                  </a:extLst>
                </a:gridCol>
                <a:gridCol w="1073861">
                  <a:extLst>
                    <a:ext uri="{9D8B030D-6E8A-4147-A177-3AD203B41FA5}">
                      <a16:colId xmlns:a16="http://schemas.microsoft.com/office/drawing/2014/main" val="154674645"/>
                    </a:ext>
                  </a:extLst>
                </a:gridCol>
              </a:tblGrid>
              <a:tr h="370840">
                <a:tc>
                  <a:txBody>
                    <a:bodyPr/>
                    <a:lstStyle/>
                    <a:p>
                      <a:r>
                        <a:rPr lang="zh-CN" altLang="en-US"/>
                        <a:t>名称</a:t>
                      </a:r>
                    </a:p>
                  </a:txBody>
                  <a:tcPr/>
                </a:tc>
                <a:tc>
                  <a:txBody>
                    <a:bodyPr/>
                    <a:lstStyle/>
                    <a:p>
                      <a:r>
                        <a:rPr lang="zh-CN" altLang="en-US"/>
                        <a:t>磷含量</a:t>
                      </a:r>
                    </a:p>
                  </a:txBody>
                  <a:tcPr/>
                </a:tc>
                <a:tc>
                  <a:txBody>
                    <a:bodyPr/>
                    <a:lstStyle/>
                    <a:p>
                      <a:r>
                        <a:rPr lang="zh-CN" altLang="en-US"/>
                        <a:t>蛋白质</a:t>
                      </a:r>
                    </a:p>
                  </a:txBody>
                  <a:tcPr/>
                </a:tc>
                <a:extLst>
                  <a:ext uri="{0D108BD9-81ED-4DB2-BD59-A6C34878D82A}">
                    <a16:rowId xmlns:a16="http://schemas.microsoft.com/office/drawing/2014/main" val="1011660193"/>
                  </a:ext>
                </a:extLst>
              </a:tr>
              <a:tr h="370840">
                <a:tc>
                  <a:txBody>
                    <a:bodyPr/>
                    <a:lstStyle/>
                    <a:p>
                      <a:r>
                        <a:rPr lang="en-US" altLang="zh-CN">
                          <a:effectLst>
                            <a:outerShdw blurRad="38100" dist="38100" dir="2700000" algn="tl">
                              <a:srgbClr val="000000">
                                <a:alpha val="43137"/>
                              </a:srgbClr>
                            </a:outerShdw>
                          </a:effectLst>
                        </a:rPr>
                        <a:t>Now </a:t>
                      </a:r>
                      <a:r>
                        <a:rPr lang="zh-CN" altLang="en-US">
                          <a:effectLst>
                            <a:outerShdw blurRad="38100" dist="38100" dir="2700000" algn="tl">
                              <a:srgbClr val="000000">
                                <a:alpha val="43137"/>
                              </a:srgbClr>
                            </a:outerShdw>
                          </a:effectLst>
                        </a:rPr>
                        <a:t>无谷火鸡三文鸭</a:t>
                      </a:r>
                    </a:p>
                  </a:txBody>
                  <a:tcPr/>
                </a:tc>
                <a:tc>
                  <a:txBody>
                    <a:bodyPr/>
                    <a:lstStyle/>
                    <a:p>
                      <a:r>
                        <a:rPr lang="en-US" altLang="zh-CN"/>
                        <a:t>0.50%</a:t>
                      </a:r>
                      <a:endParaRPr lang="zh-CN" altLang="en-US"/>
                    </a:p>
                  </a:txBody>
                  <a:tcPr/>
                </a:tc>
                <a:tc>
                  <a:txBody>
                    <a:bodyPr/>
                    <a:lstStyle/>
                    <a:p>
                      <a:r>
                        <a:rPr lang="en-US" altLang="zh-CN"/>
                        <a:t>31%</a:t>
                      </a:r>
                      <a:endParaRPr lang="zh-CN" altLang="en-US"/>
                    </a:p>
                  </a:txBody>
                  <a:tcPr/>
                </a:tc>
                <a:extLst>
                  <a:ext uri="{0D108BD9-81ED-4DB2-BD59-A6C34878D82A}">
                    <a16:rowId xmlns:a16="http://schemas.microsoft.com/office/drawing/2014/main" val="1362647227"/>
                  </a:ext>
                </a:extLst>
              </a:tr>
              <a:tr h="370840">
                <a:tc>
                  <a:txBody>
                    <a:bodyPr/>
                    <a:lstStyle/>
                    <a:p>
                      <a:r>
                        <a:rPr lang="en-US" altLang="zh-CN">
                          <a:effectLst>
                            <a:outerShdw blurRad="38100" dist="38100" dir="2700000" algn="tl">
                              <a:srgbClr val="000000">
                                <a:alpha val="43137"/>
                              </a:srgbClr>
                            </a:outerShdw>
                          </a:effectLst>
                        </a:rPr>
                        <a:t>Now </a:t>
                      </a:r>
                      <a:r>
                        <a:rPr lang="zh-CN" altLang="en-US">
                          <a:effectLst>
                            <a:outerShdw blurRad="38100" dist="38100" dir="2700000" algn="tl">
                              <a:srgbClr val="000000">
                                <a:alpha val="43137"/>
                              </a:srgbClr>
                            </a:outerShdw>
                          </a:effectLst>
                        </a:rPr>
                        <a:t>无谷三种鱼</a:t>
                      </a:r>
                    </a:p>
                  </a:txBody>
                  <a:tcPr/>
                </a:tc>
                <a:tc>
                  <a:txBody>
                    <a:bodyPr/>
                    <a:lstStyle/>
                    <a:p>
                      <a:r>
                        <a:rPr lang="en-US" altLang="zh-CN"/>
                        <a:t>0.50%</a:t>
                      </a:r>
                      <a:endParaRPr lang="zh-CN" altLang="en-US"/>
                    </a:p>
                  </a:txBody>
                  <a:tcPr/>
                </a:tc>
                <a:tc>
                  <a:txBody>
                    <a:bodyPr/>
                    <a:lstStyle/>
                    <a:p>
                      <a:r>
                        <a:rPr lang="en-US" altLang="zh-CN"/>
                        <a:t>30%</a:t>
                      </a:r>
                      <a:endParaRPr lang="zh-CN" altLang="en-US"/>
                    </a:p>
                  </a:txBody>
                  <a:tcPr/>
                </a:tc>
                <a:extLst>
                  <a:ext uri="{0D108BD9-81ED-4DB2-BD59-A6C34878D82A}">
                    <a16:rowId xmlns:a16="http://schemas.microsoft.com/office/drawing/2014/main" val="821769694"/>
                  </a:ext>
                </a:extLst>
              </a:tr>
              <a:tr h="370840">
                <a:tc>
                  <a:txBody>
                    <a:bodyPr/>
                    <a:lstStyle/>
                    <a:p>
                      <a:r>
                        <a:rPr lang="zh-CN" altLang="en-US">
                          <a:effectLst>
                            <a:outerShdw blurRad="38100" dist="38100" dir="2700000" algn="tl">
                              <a:srgbClr val="000000">
                                <a:alpha val="43137"/>
                              </a:srgbClr>
                            </a:outerShdw>
                          </a:effectLst>
                        </a:rPr>
                        <a:t>皇家老年猫</a:t>
                      </a:r>
                    </a:p>
                  </a:txBody>
                  <a:tcPr/>
                </a:tc>
                <a:tc>
                  <a:txBody>
                    <a:bodyPr/>
                    <a:lstStyle/>
                    <a:p>
                      <a:r>
                        <a:rPr lang="en-US" altLang="zh-CN"/>
                        <a:t>0.66%</a:t>
                      </a:r>
                      <a:endParaRPr lang="zh-CN" altLang="en-US"/>
                    </a:p>
                  </a:txBody>
                  <a:tcPr/>
                </a:tc>
                <a:tc>
                  <a:txBody>
                    <a:bodyPr/>
                    <a:lstStyle/>
                    <a:p>
                      <a:r>
                        <a:rPr lang="en-US" altLang="zh-CN"/>
                        <a:t>27%</a:t>
                      </a:r>
                      <a:endParaRPr lang="zh-CN" altLang="en-US"/>
                    </a:p>
                  </a:txBody>
                  <a:tcPr/>
                </a:tc>
                <a:extLst>
                  <a:ext uri="{0D108BD9-81ED-4DB2-BD59-A6C34878D82A}">
                    <a16:rowId xmlns:a16="http://schemas.microsoft.com/office/drawing/2014/main" val="1436053985"/>
                  </a:ext>
                </a:extLst>
              </a:tr>
              <a:tr h="370840">
                <a:tc>
                  <a:txBody>
                    <a:bodyPr/>
                    <a:lstStyle/>
                    <a:p>
                      <a:r>
                        <a:rPr lang="zh-CN" altLang="en-US">
                          <a:effectLst>
                            <a:outerShdw blurRad="38100" dist="38100" dir="2700000" algn="tl">
                              <a:srgbClr val="000000">
                                <a:alpha val="43137"/>
                              </a:srgbClr>
                            </a:outerShdw>
                          </a:effectLst>
                        </a:rPr>
                        <a:t>希尔斯</a:t>
                      </a:r>
                      <a:r>
                        <a:rPr lang="en-US" altLang="zh-CN">
                          <a:effectLst>
                            <a:outerShdw blurRad="38100" dist="38100" dir="2700000" algn="tl">
                              <a:srgbClr val="000000">
                                <a:alpha val="43137"/>
                              </a:srgbClr>
                            </a:outerShdw>
                          </a:effectLst>
                        </a:rPr>
                        <a:t>7+</a:t>
                      </a:r>
                      <a:r>
                        <a:rPr lang="zh-CN" altLang="en-US">
                          <a:effectLst>
                            <a:outerShdw blurRad="38100" dist="38100" dir="2700000" algn="tl">
                              <a:srgbClr val="000000">
                                <a:alpha val="43137"/>
                              </a:srgbClr>
                            </a:outerShdw>
                          </a:effectLst>
                        </a:rPr>
                        <a:t>老年</a:t>
                      </a:r>
                    </a:p>
                  </a:txBody>
                  <a:tcPr/>
                </a:tc>
                <a:tc>
                  <a:txBody>
                    <a:bodyPr/>
                    <a:lstStyle/>
                    <a:p>
                      <a:r>
                        <a:rPr lang="en-US" altLang="zh-CN"/>
                        <a:t>0.68%</a:t>
                      </a:r>
                      <a:endParaRPr lang="zh-CN" altLang="en-US"/>
                    </a:p>
                  </a:txBody>
                  <a:tcPr/>
                </a:tc>
                <a:tc>
                  <a:txBody>
                    <a:bodyPr/>
                    <a:lstStyle/>
                    <a:p>
                      <a:r>
                        <a:rPr lang="en-US" altLang="zh-CN"/>
                        <a:t>34%</a:t>
                      </a:r>
                      <a:endParaRPr lang="zh-CN" altLang="en-US"/>
                    </a:p>
                  </a:txBody>
                  <a:tcPr/>
                </a:tc>
                <a:extLst>
                  <a:ext uri="{0D108BD9-81ED-4DB2-BD59-A6C34878D82A}">
                    <a16:rowId xmlns:a16="http://schemas.microsoft.com/office/drawing/2014/main" val="3771599980"/>
                  </a:ext>
                </a:extLst>
              </a:tr>
              <a:tr h="370840">
                <a:tc>
                  <a:txBody>
                    <a:bodyPr/>
                    <a:lstStyle/>
                    <a:p>
                      <a:r>
                        <a:rPr lang="zh-CN" altLang="en-US">
                          <a:effectLst>
                            <a:outerShdw blurRad="38100" dist="38100" dir="2700000" algn="tl">
                              <a:srgbClr val="000000">
                                <a:alpha val="43137"/>
                              </a:srgbClr>
                            </a:outerShdw>
                          </a:effectLst>
                        </a:rPr>
                        <a:t>希尔斯</a:t>
                      </a:r>
                      <a:r>
                        <a:rPr lang="en-US" altLang="zh-CN">
                          <a:effectLst>
                            <a:outerShdw blurRad="38100" dist="38100" dir="2700000" algn="tl">
                              <a:srgbClr val="000000">
                                <a:alpha val="43137"/>
                              </a:srgbClr>
                            </a:outerShdw>
                          </a:effectLst>
                        </a:rPr>
                        <a:t>r/d </a:t>
                      </a:r>
                      <a:r>
                        <a:rPr lang="zh-CN" altLang="en-US">
                          <a:effectLst>
                            <a:outerShdw blurRad="38100" dist="38100" dir="2700000" algn="tl">
                              <a:srgbClr val="000000">
                                <a:alpha val="43137"/>
                              </a:srgbClr>
                            </a:outerShdw>
                          </a:effectLst>
                        </a:rPr>
                        <a:t>减肥粮</a:t>
                      </a:r>
                    </a:p>
                  </a:txBody>
                  <a:tcPr/>
                </a:tc>
                <a:tc>
                  <a:txBody>
                    <a:bodyPr/>
                    <a:lstStyle/>
                    <a:p>
                      <a:r>
                        <a:rPr lang="en-US" altLang="zh-CN"/>
                        <a:t>0.70%</a:t>
                      </a:r>
                      <a:endParaRPr lang="zh-CN" altLang="en-US"/>
                    </a:p>
                  </a:txBody>
                  <a:tcPr/>
                </a:tc>
                <a:tc>
                  <a:txBody>
                    <a:bodyPr/>
                    <a:lstStyle/>
                    <a:p>
                      <a:r>
                        <a:rPr lang="en-US" altLang="zh-CN"/>
                        <a:t>35%</a:t>
                      </a:r>
                      <a:endParaRPr lang="zh-CN" altLang="en-US"/>
                    </a:p>
                  </a:txBody>
                  <a:tcPr/>
                </a:tc>
                <a:extLst>
                  <a:ext uri="{0D108BD9-81ED-4DB2-BD59-A6C34878D82A}">
                    <a16:rowId xmlns:a16="http://schemas.microsoft.com/office/drawing/2014/main" val="4098109896"/>
                  </a:ext>
                </a:extLst>
              </a:tr>
              <a:tr h="370840">
                <a:tc>
                  <a:txBody>
                    <a:bodyPr/>
                    <a:lstStyle/>
                    <a:p>
                      <a:r>
                        <a:rPr lang="zh-CN" altLang="en-US">
                          <a:effectLst>
                            <a:outerShdw blurRad="38100" dist="38100" dir="2700000" algn="tl">
                              <a:srgbClr val="000000">
                                <a:alpha val="43137"/>
                              </a:srgbClr>
                            </a:outerShdw>
                          </a:effectLst>
                        </a:rPr>
                        <a:t>欧奇斯有机鸡肉土豆</a:t>
                      </a:r>
                    </a:p>
                  </a:txBody>
                  <a:tcPr/>
                </a:tc>
                <a:tc>
                  <a:txBody>
                    <a:bodyPr/>
                    <a:lstStyle/>
                    <a:p>
                      <a:r>
                        <a:rPr lang="en-US" altLang="zh-CN"/>
                        <a:t>0.80%</a:t>
                      </a:r>
                      <a:endParaRPr lang="zh-CN" altLang="en-US"/>
                    </a:p>
                  </a:txBody>
                  <a:tcPr/>
                </a:tc>
                <a:tc>
                  <a:txBody>
                    <a:bodyPr/>
                    <a:lstStyle/>
                    <a:p>
                      <a:r>
                        <a:rPr lang="en-US" altLang="zh-CN"/>
                        <a:t>37%</a:t>
                      </a:r>
                      <a:endParaRPr lang="zh-CN" altLang="en-US"/>
                    </a:p>
                  </a:txBody>
                  <a:tcPr/>
                </a:tc>
                <a:extLst>
                  <a:ext uri="{0D108BD9-81ED-4DB2-BD59-A6C34878D82A}">
                    <a16:rowId xmlns:a16="http://schemas.microsoft.com/office/drawing/2014/main" val="3753028803"/>
                  </a:ext>
                </a:extLst>
              </a:tr>
              <a:tr h="370840">
                <a:tc>
                  <a:txBody>
                    <a:bodyPr/>
                    <a:lstStyle/>
                    <a:p>
                      <a:r>
                        <a:rPr lang="zh-CN" altLang="en-US">
                          <a:effectLst>
                            <a:outerShdw blurRad="38100" dist="38100" dir="2700000" algn="tl">
                              <a:srgbClr val="000000">
                                <a:alpha val="43137"/>
                              </a:srgbClr>
                            </a:outerShdw>
                          </a:effectLst>
                        </a:rPr>
                        <a:t>希尔斯 </a:t>
                      </a:r>
                      <a:r>
                        <a:rPr lang="en-US" altLang="zh-CN">
                          <a:effectLst>
                            <a:outerShdw blurRad="38100" dist="38100" dir="2700000" algn="tl">
                              <a:srgbClr val="000000">
                                <a:alpha val="43137"/>
                              </a:srgbClr>
                            </a:outerShdw>
                          </a:effectLst>
                        </a:rPr>
                        <a:t>i/d</a:t>
                      </a:r>
                      <a:r>
                        <a:rPr lang="zh-CN" altLang="en-US">
                          <a:effectLst>
                            <a:outerShdw blurRad="38100" dist="38100" dir="2700000" algn="tl">
                              <a:srgbClr val="000000">
                                <a:alpha val="43137"/>
                              </a:srgbClr>
                            </a:outerShdw>
                          </a:effectLst>
                        </a:rPr>
                        <a:t>肠道处方</a:t>
                      </a:r>
                    </a:p>
                  </a:txBody>
                  <a:tcPr/>
                </a:tc>
                <a:tc>
                  <a:txBody>
                    <a:bodyPr/>
                    <a:lstStyle/>
                    <a:p>
                      <a:r>
                        <a:rPr lang="en-US" altLang="zh-CN"/>
                        <a:t>0.86%</a:t>
                      </a:r>
                      <a:endParaRPr lang="zh-CN" altLang="en-US"/>
                    </a:p>
                  </a:txBody>
                  <a:tcPr/>
                </a:tc>
                <a:tc>
                  <a:txBody>
                    <a:bodyPr/>
                    <a:lstStyle/>
                    <a:p>
                      <a:r>
                        <a:rPr lang="en-US" altLang="zh-CN"/>
                        <a:t>40%</a:t>
                      </a:r>
                      <a:endParaRPr lang="zh-CN" altLang="en-US"/>
                    </a:p>
                  </a:txBody>
                  <a:tcPr/>
                </a:tc>
                <a:extLst>
                  <a:ext uri="{0D108BD9-81ED-4DB2-BD59-A6C34878D82A}">
                    <a16:rowId xmlns:a16="http://schemas.microsoft.com/office/drawing/2014/main" val="2221583448"/>
                  </a:ext>
                </a:extLst>
              </a:tr>
            </a:tbl>
          </a:graphicData>
        </a:graphic>
      </p:graphicFrame>
      <p:graphicFrame>
        <p:nvGraphicFramePr>
          <p:cNvPr id="3" name="表格 2">
            <a:extLst>
              <a:ext uri="{FF2B5EF4-FFF2-40B4-BE49-F238E27FC236}">
                <a16:creationId xmlns:a16="http://schemas.microsoft.com/office/drawing/2014/main" id="{B7918F66-D919-4FCB-8041-01D3B475E40F}"/>
              </a:ext>
            </a:extLst>
          </p:cNvPr>
          <p:cNvGraphicFramePr>
            <a:graphicFrameLocks noGrp="1"/>
          </p:cNvGraphicFramePr>
          <p:nvPr>
            <p:extLst>
              <p:ext uri="{D42A27DB-BD31-4B8C-83A1-F6EECF244321}">
                <p14:modId xmlns:p14="http://schemas.microsoft.com/office/powerpoint/2010/main" val="1025144044"/>
              </p:ext>
            </p:extLst>
          </p:nvPr>
        </p:nvGraphicFramePr>
        <p:xfrm>
          <a:off x="367516" y="5349301"/>
          <a:ext cx="4517369" cy="1112520"/>
        </p:xfrm>
        <a:graphic>
          <a:graphicData uri="http://schemas.openxmlformats.org/drawingml/2006/table">
            <a:tbl>
              <a:tblPr firstRow="1" bandRow="1">
                <a:tableStyleId>{5C22544A-7EE6-4342-B048-85BDC9FD1C3A}</a:tableStyleId>
              </a:tblPr>
              <a:tblGrid>
                <a:gridCol w="2363388">
                  <a:extLst>
                    <a:ext uri="{9D8B030D-6E8A-4147-A177-3AD203B41FA5}">
                      <a16:colId xmlns:a16="http://schemas.microsoft.com/office/drawing/2014/main" val="557339308"/>
                    </a:ext>
                  </a:extLst>
                </a:gridCol>
                <a:gridCol w="1080120">
                  <a:extLst>
                    <a:ext uri="{9D8B030D-6E8A-4147-A177-3AD203B41FA5}">
                      <a16:colId xmlns:a16="http://schemas.microsoft.com/office/drawing/2014/main" val="1182423607"/>
                    </a:ext>
                  </a:extLst>
                </a:gridCol>
                <a:gridCol w="1073861">
                  <a:extLst>
                    <a:ext uri="{9D8B030D-6E8A-4147-A177-3AD203B41FA5}">
                      <a16:colId xmlns:a16="http://schemas.microsoft.com/office/drawing/2014/main" val="2844098277"/>
                    </a:ext>
                  </a:extLst>
                </a:gridCol>
              </a:tblGrid>
              <a:tr h="370840">
                <a:tc>
                  <a:txBody>
                    <a:bodyPr/>
                    <a:lstStyle/>
                    <a:p>
                      <a:r>
                        <a:rPr lang="zh-CN" altLang="en-US"/>
                        <a:t>处方粮</a:t>
                      </a:r>
                    </a:p>
                  </a:txBody>
                  <a:tcPr/>
                </a:tc>
                <a:tc>
                  <a:txBody>
                    <a:bodyPr/>
                    <a:lstStyle/>
                    <a:p>
                      <a:r>
                        <a:rPr lang="zh-CN" altLang="en-US"/>
                        <a:t>磷含量</a:t>
                      </a:r>
                    </a:p>
                  </a:txBody>
                  <a:tcPr/>
                </a:tc>
                <a:tc>
                  <a:txBody>
                    <a:bodyPr/>
                    <a:lstStyle/>
                    <a:p>
                      <a:r>
                        <a:rPr lang="zh-CN" altLang="en-US"/>
                        <a:t>蛋白质</a:t>
                      </a:r>
                    </a:p>
                  </a:txBody>
                  <a:tcPr/>
                </a:tc>
                <a:extLst>
                  <a:ext uri="{0D108BD9-81ED-4DB2-BD59-A6C34878D82A}">
                    <a16:rowId xmlns:a16="http://schemas.microsoft.com/office/drawing/2014/main" val="2812332929"/>
                  </a:ext>
                </a:extLst>
              </a:tr>
              <a:tr h="370840">
                <a:tc>
                  <a:txBody>
                    <a:bodyPr/>
                    <a:lstStyle/>
                    <a:p>
                      <a:r>
                        <a:rPr lang="zh-CN" altLang="en-US">
                          <a:effectLst>
                            <a:outerShdw blurRad="38100" dist="38100" dir="2700000" algn="tl">
                              <a:srgbClr val="000000">
                                <a:alpha val="43137"/>
                              </a:srgbClr>
                            </a:outerShdw>
                          </a:effectLst>
                        </a:rPr>
                        <a:t>皇家 </a:t>
                      </a:r>
                      <a:r>
                        <a:rPr lang="en-US" altLang="zh-CN">
                          <a:effectLst>
                            <a:outerShdw blurRad="38100" dist="38100" dir="2700000" algn="tl">
                              <a:srgbClr val="000000">
                                <a:alpha val="43137"/>
                              </a:srgbClr>
                            </a:outerShdw>
                          </a:effectLst>
                        </a:rPr>
                        <a:t>RF23</a:t>
                      </a:r>
                      <a:endParaRPr lang="zh-CN" altLang="en-US">
                        <a:effectLst>
                          <a:outerShdw blurRad="38100" dist="38100" dir="2700000" algn="tl">
                            <a:srgbClr val="000000">
                              <a:alpha val="43137"/>
                            </a:srgbClr>
                          </a:outerShdw>
                        </a:effectLst>
                      </a:endParaRPr>
                    </a:p>
                  </a:txBody>
                  <a:tcPr/>
                </a:tc>
                <a:tc>
                  <a:txBody>
                    <a:bodyPr/>
                    <a:lstStyle/>
                    <a:p>
                      <a:r>
                        <a:rPr lang="en-US" altLang="zh-CN"/>
                        <a:t>0.30%</a:t>
                      </a:r>
                      <a:endParaRPr lang="zh-CN" altLang="en-US"/>
                    </a:p>
                  </a:txBody>
                  <a:tcPr/>
                </a:tc>
                <a:tc>
                  <a:txBody>
                    <a:bodyPr/>
                    <a:lstStyle/>
                    <a:p>
                      <a:r>
                        <a:rPr lang="en-US" altLang="zh-CN">
                          <a:solidFill>
                            <a:srgbClr val="C00000"/>
                          </a:solidFill>
                        </a:rPr>
                        <a:t>23%</a:t>
                      </a:r>
                      <a:endParaRPr lang="zh-CN" altLang="en-US">
                        <a:solidFill>
                          <a:srgbClr val="C00000"/>
                        </a:solidFill>
                      </a:endParaRPr>
                    </a:p>
                  </a:txBody>
                  <a:tcPr/>
                </a:tc>
                <a:extLst>
                  <a:ext uri="{0D108BD9-81ED-4DB2-BD59-A6C34878D82A}">
                    <a16:rowId xmlns:a16="http://schemas.microsoft.com/office/drawing/2014/main" val="1766277872"/>
                  </a:ext>
                </a:extLst>
              </a:tr>
              <a:tr h="370840">
                <a:tc>
                  <a:txBody>
                    <a:bodyPr/>
                    <a:lstStyle/>
                    <a:p>
                      <a:r>
                        <a:rPr lang="zh-CN" altLang="en-US">
                          <a:effectLst>
                            <a:outerShdw blurRad="38100" dist="38100" dir="2700000" algn="tl">
                              <a:srgbClr val="000000">
                                <a:alpha val="43137"/>
                              </a:srgbClr>
                            </a:outerShdw>
                          </a:effectLst>
                        </a:rPr>
                        <a:t>希尔斯 </a:t>
                      </a:r>
                      <a:r>
                        <a:rPr lang="en-US" altLang="zh-CN">
                          <a:effectLst>
                            <a:outerShdw blurRad="38100" dist="38100" dir="2700000" algn="tl">
                              <a:srgbClr val="000000">
                                <a:alpha val="43137"/>
                              </a:srgbClr>
                            </a:outerShdw>
                          </a:effectLst>
                        </a:rPr>
                        <a:t>K/D</a:t>
                      </a:r>
                      <a:endParaRPr lang="zh-CN" altLang="en-US">
                        <a:effectLst>
                          <a:outerShdw blurRad="38100" dist="38100" dir="2700000" algn="tl">
                            <a:srgbClr val="000000">
                              <a:alpha val="43137"/>
                            </a:srgbClr>
                          </a:outerShdw>
                        </a:effectLst>
                      </a:endParaRPr>
                    </a:p>
                  </a:txBody>
                  <a:tcPr/>
                </a:tc>
                <a:tc>
                  <a:txBody>
                    <a:bodyPr/>
                    <a:lstStyle/>
                    <a:p>
                      <a:r>
                        <a:rPr lang="en-US" altLang="zh-CN"/>
                        <a:t>0.48%</a:t>
                      </a:r>
                      <a:endParaRPr lang="zh-CN" altLang="en-US"/>
                    </a:p>
                  </a:txBody>
                  <a:tcPr/>
                </a:tc>
                <a:tc>
                  <a:txBody>
                    <a:bodyPr/>
                    <a:lstStyle/>
                    <a:p>
                      <a:r>
                        <a:rPr lang="en-US" altLang="zh-CN"/>
                        <a:t>28%</a:t>
                      </a:r>
                      <a:endParaRPr lang="zh-CN" altLang="en-US"/>
                    </a:p>
                  </a:txBody>
                  <a:tcPr/>
                </a:tc>
                <a:extLst>
                  <a:ext uri="{0D108BD9-81ED-4DB2-BD59-A6C34878D82A}">
                    <a16:rowId xmlns:a16="http://schemas.microsoft.com/office/drawing/2014/main" val="2391762416"/>
                  </a:ext>
                </a:extLst>
              </a:tr>
            </a:tbl>
          </a:graphicData>
        </a:graphic>
      </p:graphicFrame>
      <p:sp>
        <p:nvSpPr>
          <p:cNvPr id="5" name="文本框 4">
            <a:extLst>
              <a:ext uri="{FF2B5EF4-FFF2-40B4-BE49-F238E27FC236}">
                <a16:creationId xmlns:a16="http://schemas.microsoft.com/office/drawing/2014/main" id="{58EA969C-CCE2-4BD8-8FD7-71AAECA484C8}"/>
              </a:ext>
            </a:extLst>
          </p:cNvPr>
          <p:cNvSpPr txBox="1"/>
          <p:nvPr/>
        </p:nvSpPr>
        <p:spPr>
          <a:xfrm>
            <a:off x="5178435" y="3668713"/>
            <a:ext cx="800219" cy="1512168"/>
          </a:xfrm>
          <a:prstGeom prst="rect">
            <a:avLst/>
          </a:prstGeom>
          <a:noFill/>
        </p:spPr>
        <p:txBody>
          <a:bodyPr vert="eaVert" wrap="square" rtlCol="0">
            <a:spAutoFit/>
          </a:bodyPr>
          <a:lstStyle/>
          <a:p>
            <a:r>
              <a:rPr lang="zh-CN" altLang="en-US" sz="4000" b="1">
                <a:solidFill>
                  <a:schemeClr val="bg1"/>
                </a:solidFill>
              </a:rPr>
              <a:t>猫粮</a:t>
            </a:r>
          </a:p>
        </p:txBody>
      </p:sp>
      <p:sp>
        <p:nvSpPr>
          <p:cNvPr id="26" name="文本框 25">
            <a:extLst>
              <a:ext uri="{FF2B5EF4-FFF2-40B4-BE49-F238E27FC236}">
                <a16:creationId xmlns:a16="http://schemas.microsoft.com/office/drawing/2014/main" id="{98C50731-9942-4367-B9E8-E98CEE373CD6}"/>
              </a:ext>
            </a:extLst>
          </p:cNvPr>
          <p:cNvSpPr txBox="1"/>
          <p:nvPr/>
        </p:nvSpPr>
        <p:spPr>
          <a:xfrm>
            <a:off x="6254622" y="3668713"/>
            <a:ext cx="800219" cy="1512168"/>
          </a:xfrm>
          <a:prstGeom prst="rect">
            <a:avLst/>
          </a:prstGeom>
          <a:noFill/>
        </p:spPr>
        <p:txBody>
          <a:bodyPr vert="eaVert" wrap="square" rtlCol="0">
            <a:spAutoFit/>
          </a:bodyPr>
          <a:lstStyle/>
          <a:p>
            <a:r>
              <a:rPr lang="zh-CN" altLang="en-US" sz="4000" b="1">
                <a:solidFill>
                  <a:schemeClr val="bg1"/>
                </a:solidFill>
              </a:rPr>
              <a:t>猫罐</a:t>
            </a:r>
          </a:p>
        </p:txBody>
      </p:sp>
      <p:sp>
        <p:nvSpPr>
          <p:cNvPr id="7" name="文本框 6">
            <a:extLst>
              <a:ext uri="{FF2B5EF4-FFF2-40B4-BE49-F238E27FC236}">
                <a16:creationId xmlns:a16="http://schemas.microsoft.com/office/drawing/2014/main" id="{1A1FB2D6-65B6-4573-86CC-22159FE3BB1B}"/>
              </a:ext>
            </a:extLst>
          </p:cNvPr>
          <p:cNvSpPr txBox="1"/>
          <p:nvPr/>
        </p:nvSpPr>
        <p:spPr>
          <a:xfrm>
            <a:off x="3359696" y="576372"/>
            <a:ext cx="8832304" cy="461665"/>
          </a:xfrm>
          <a:prstGeom prst="rect">
            <a:avLst/>
          </a:prstGeom>
          <a:noFill/>
        </p:spPr>
        <p:txBody>
          <a:bodyPr wrap="square" rtlCol="0">
            <a:spAutoFit/>
          </a:bodyPr>
          <a:lstStyle/>
          <a:p>
            <a:r>
              <a:rPr lang="zh-CN" altLang="en-US" sz="2400" b="1">
                <a:solidFill>
                  <a:schemeClr val="bg2">
                    <a:lumMod val="10000"/>
                  </a:schemeClr>
                </a:solidFill>
                <a:effectLst>
                  <a:outerShdw blurRad="38100" dist="38100" dir="2700000" algn="tl">
                    <a:srgbClr val="000000">
                      <a:alpha val="43137"/>
                    </a:srgbClr>
                  </a:outerShdw>
                </a:effectLst>
              </a:rPr>
              <a:t>谁能想到用植物蛋白充数的干粮忽然这么有用？</a:t>
            </a:r>
          </a:p>
        </p:txBody>
      </p:sp>
      <p:graphicFrame>
        <p:nvGraphicFramePr>
          <p:cNvPr id="33" name="表格 32">
            <a:extLst>
              <a:ext uri="{FF2B5EF4-FFF2-40B4-BE49-F238E27FC236}">
                <a16:creationId xmlns:a16="http://schemas.microsoft.com/office/drawing/2014/main" id="{A2965707-C971-4F33-BF06-B8041C64D304}"/>
              </a:ext>
            </a:extLst>
          </p:cNvPr>
          <p:cNvGraphicFramePr>
            <a:graphicFrameLocks noGrp="1"/>
          </p:cNvGraphicFramePr>
          <p:nvPr>
            <p:extLst>
              <p:ext uri="{D42A27DB-BD31-4B8C-83A1-F6EECF244321}">
                <p14:modId xmlns:p14="http://schemas.microsoft.com/office/powerpoint/2010/main" val="941485864"/>
              </p:ext>
            </p:extLst>
          </p:nvPr>
        </p:nvGraphicFramePr>
        <p:xfrm>
          <a:off x="7228671" y="2722959"/>
          <a:ext cx="4685942" cy="2225040"/>
        </p:xfrm>
        <a:graphic>
          <a:graphicData uri="http://schemas.openxmlformats.org/drawingml/2006/table">
            <a:tbl>
              <a:tblPr firstRow="1" bandRow="1">
                <a:tableStyleId>{5C22544A-7EE6-4342-B048-85BDC9FD1C3A}</a:tableStyleId>
              </a:tblPr>
              <a:tblGrid>
                <a:gridCol w="2465833">
                  <a:extLst>
                    <a:ext uri="{9D8B030D-6E8A-4147-A177-3AD203B41FA5}">
                      <a16:colId xmlns:a16="http://schemas.microsoft.com/office/drawing/2014/main" val="1513084854"/>
                    </a:ext>
                  </a:extLst>
                </a:gridCol>
                <a:gridCol w="1114367">
                  <a:extLst>
                    <a:ext uri="{9D8B030D-6E8A-4147-A177-3AD203B41FA5}">
                      <a16:colId xmlns:a16="http://schemas.microsoft.com/office/drawing/2014/main" val="3632184023"/>
                    </a:ext>
                  </a:extLst>
                </a:gridCol>
                <a:gridCol w="1105742">
                  <a:extLst>
                    <a:ext uri="{9D8B030D-6E8A-4147-A177-3AD203B41FA5}">
                      <a16:colId xmlns:a16="http://schemas.microsoft.com/office/drawing/2014/main" val="154674645"/>
                    </a:ext>
                  </a:extLst>
                </a:gridCol>
              </a:tblGrid>
              <a:tr h="370840">
                <a:tc>
                  <a:txBody>
                    <a:bodyPr/>
                    <a:lstStyle/>
                    <a:p>
                      <a:r>
                        <a:rPr lang="zh-CN" altLang="en-US"/>
                        <a:t>名称</a:t>
                      </a:r>
                    </a:p>
                  </a:txBody>
                  <a:tcPr/>
                </a:tc>
                <a:tc>
                  <a:txBody>
                    <a:bodyPr/>
                    <a:lstStyle/>
                    <a:p>
                      <a:r>
                        <a:rPr lang="zh-CN" altLang="en-US"/>
                        <a:t>磷含量</a:t>
                      </a:r>
                    </a:p>
                  </a:txBody>
                  <a:tcPr/>
                </a:tc>
                <a:tc>
                  <a:txBody>
                    <a:bodyPr/>
                    <a:lstStyle/>
                    <a:p>
                      <a:r>
                        <a:rPr lang="zh-CN" altLang="en-US"/>
                        <a:t>干蛋白质</a:t>
                      </a:r>
                    </a:p>
                  </a:txBody>
                  <a:tcPr/>
                </a:tc>
                <a:extLst>
                  <a:ext uri="{0D108BD9-81ED-4DB2-BD59-A6C34878D82A}">
                    <a16:rowId xmlns:a16="http://schemas.microsoft.com/office/drawing/2014/main" val="1011660193"/>
                  </a:ext>
                </a:extLst>
              </a:tr>
              <a:tr h="370840">
                <a:tc>
                  <a:txBody>
                    <a:bodyPr/>
                    <a:lstStyle/>
                    <a:p>
                      <a:r>
                        <a:rPr lang="en-US" altLang="zh-CN" sz="1800" b="0" i="0" kern="1200">
                          <a:solidFill>
                            <a:schemeClr val="dk1"/>
                          </a:solidFill>
                          <a:effectLst>
                            <a:outerShdw blurRad="38100" dist="38100" dir="2700000" algn="tl">
                              <a:srgbClr val="000000">
                                <a:alpha val="43137"/>
                              </a:srgbClr>
                            </a:outerShdw>
                          </a:effectLst>
                          <a:latin typeface="+mn-lt"/>
                          <a:ea typeface="+mn-ea"/>
                          <a:cs typeface="+mn-cs"/>
                        </a:rPr>
                        <a:t>Terra Fealis </a:t>
                      </a:r>
                      <a:r>
                        <a:rPr lang="zh-CN" altLang="en-US" sz="1800" b="0" i="0" kern="1200">
                          <a:solidFill>
                            <a:schemeClr val="dk1"/>
                          </a:solidFill>
                          <a:effectLst>
                            <a:outerShdw blurRad="38100" dist="38100" dir="2700000" algn="tl">
                              <a:srgbClr val="000000">
                                <a:alpha val="43137"/>
                              </a:srgbClr>
                            </a:outerShdw>
                          </a:effectLst>
                          <a:latin typeface="+mn-lt"/>
                          <a:ea typeface="+mn-ea"/>
                          <a:cs typeface="+mn-cs"/>
                        </a:rPr>
                        <a:t>鸡肉</a:t>
                      </a:r>
                      <a:endParaRPr lang="zh-CN" altLang="en-US">
                        <a:effectLst>
                          <a:outerShdw blurRad="38100" dist="38100" dir="2700000" algn="tl">
                            <a:srgbClr val="000000">
                              <a:alpha val="43137"/>
                            </a:srgbClr>
                          </a:outerShdw>
                        </a:effectLst>
                      </a:endParaRPr>
                    </a:p>
                  </a:txBody>
                  <a:tcPr/>
                </a:tc>
                <a:tc>
                  <a:txBody>
                    <a:bodyPr/>
                    <a:lstStyle/>
                    <a:p>
                      <a:r>
                        <a:rPr lang="en-US" altLang="zh-CN"/>
                        <a:t>0.58%</a:t>
                      </a:r>
                      <a:endParaRPr lang="zh-CN" altLang="en-US"/>
                    </a:p>
                  </a:txBody>
                  <a:tcPr/>
                </a:tc>
                <a:tc>
                  <a:txBody>
                    <a:bodyPr/>
                    <a:lstStyle/>
                    <a:p>
                      <a:r>
                        <a:rPr lang="en-US" altLang="zh-CN"/>
                        <a:t>44%</a:t>
                      </a:r>
                      <a:endParaRPr lang="zh-CN" altLang="en-US"/>
                    </a:p>
                  </a:txBody>
                  <a:tcPr/>
                </a:tc>
                <a:extLst>
                  <a:ext uri="{0D108BD9-81ED-4DB2-BD59-A6C34878D82A}">
                    <a16:rowId xmlns:a16="http://schemas.microsoft.com/office/drawing/2014/main" val="590600185"/>
                  </a:ext>
                </a:extLst>
              </a:tr>
              <a:tr h="370840">
                <a:tc>
                  <a:txBody>
                    <a:bodyPr/>
                    <a:lstStyle/>
                    <a:p>
                      <a:r>
                        <a:rPr lang="en-US" altLang="zh-CN" sz="1800" b="0" i="0" kern="1200">
                          <a:solidFill>
                            <a:schemeClr val="dk1"/>
                          </a:solidFill>
                          <a:effectLst>
                            <a:outerShdw blurRad="38100" dist="38100" dir="2700000" algn="tl">
                              <a:srgbClr val="000000">
                                <a:alpha val="43137"/>
                              </a:srgbClr>
                            </a:outerShdw>
                          </a:effectLst>
                          <a:latin typeface="+mn-lt"/>
                          <a:ea typeface="+mn-ea"/>
                          <a:cs typeface="+mn-cs"/>
                        </a:rPr>
                        <a:t>Terra Fealis </a:t>
                      </a:r>
                      <a:r>
                        <a:rPr lang="zh-CN" altLang="en-US" sz="1800" b="0" i="0" kern="1200">
                          <a:solidFill>
                            <a:schemeClr val="dk1"/>
                          </a:solidFill>
                          <a:effectLst>
                            <a:outerShdw blurRad="38100" dist="38100" dir="2700000" algn="tl">
                              <a:srgbClr val="000000">
                                <a:alpha val="43137"/>
                              </a:srgbClr>
                            </a:outerShdw>
                          </a:effectLst>
                          <a:latin typeface="+mn-lt"/>
                          <a:ea typeface="+mn-ea"/>
                          <a:cs typeface="+mn-cs"/>
                        </a:rPr>
                        <a:t>火鸡</a:t>
                      </a:r>
                      <a:endParaRPr lang="zh-CN" altLang="en-US">
                        <a:effectLst>
                          <a:outerShdw blurRad="38100" dist="38100" dir="2700000" algn="tl">
                            <a:srgbClr val="000000">
                              <a:alpha val="43137"/>
                            </a:srgbClr>
                          </a:outerShdw>
                        </a:effectLst>
                      </a:endParaRPr>
                    </a:p>
                  </a:txBody>
                  <a:tcPr/>
                </a:tc>
                <a:tc>
                  <a:txBody>
                    <a:bodyPr/>
                    <a:lstStyle/>
                    <a:p>
                      <a:r>
                        <a:rPr lang="en-US" altLang="zh-CN"/>
                        <a:t>0.59%</a:t>
                      </a:r>
                      <a:endParaRPr lang="zh-CN" altLang="en-US"/>
                    </a:p>
                  </a:txBody>
                  <a:tcPr/>
                </a:tc>
                <a:tc>
                  <a:txBody>
                    <a:bodyPr/>
                    <a:lstStyle/>
                    <a:p>
                      <a:r>
                        <a:rPr lang="en-US" altLang="zh-CN"/>
                        <a:t>45%</a:t>
                      </a:r>
                      <a:endParaRPr lang="zh-CN" altLang="en-US"/>
                    </a:p>
                  </a:txBody>
                  <a:tcPr/>
                </a:tc>
                <a:extLst>
                  <a:ext uri="{0D108BD9-81ED-4DB2-BD59-A6C34878D82A}">
                    <a16:rowId xmlns:a16="http://schemas.microsoft.com/office/drawing/2014/main" val="1641117455"/>
                  </a:ext>
                </a:extLst>
              </a:tr>
              <a:tr h="370840">
                <a:tc>
                  <a:txBody>
                    <a:bodyPr/>
                    <a:lstStyle/>
                    <a:p>
                      <a:r>
                        <a:rPr lang="en-US" altLang="zh-CN">
                          <a:effectLst>
                            <a:outerShdw blurRad="38100" dist="38100" dir="2700000" algn="tl">
                              <a:srgbClr val="000000">
                                <a:alpha val="43137"/>
                              </a:srgbClr>
                            </a:outerShdw>
                          </a:effectLst>
                        </a:rPr>
                        <a:t>Wysong Epigen</a:t>
                      </a:r>
                      <a:r>
                        <a:rPr lang="zh-CN" altLang="en-US">
                          <a:effectLst>
                            <a:outerShdw blurRad="38100" dist="38100" dir="2700000" algn="tl">
                              <a:srgbClr val="000000">
                                <a:alpha val="43137"/>
                              </a:srgbClr>
                            </a:outerShdw>
                          </a:effectLst>
                        </a:rPr>
                        <a:t>系列</a:t>
                      </a:r>
                    </a:p>
                  </a:txBody>
                  <a:tcPr/>
                </a:tc>
                <a:tc>
                  <a:txBody>
                    <a:bodyPr/>
                    <a:lstStyle/>
                    <a:p>
                      <a:r>
                        <a:rPr lang="en-US" altLang="zh-CN"/>
                        <a:t>0.60%</a:t>
                      </a:r>
                      <a:endParaRPr lang="zh-CN" altLang="en-US"/>
                    </a:p>
                  </a:txBody>
                  <a:tcPr/>
                </a:tc>
                <a:tc>
                  <a:txBody>
                    <a:bodyPr/>
                    <a:lstStyle/>
                    <a:p>
                      <a:r>
                        <a:rPr lang="en-US" altLang="zh-CN"/>
                        <a:t>45%</a:t>
                      </a:r>
                      <a:endParaRPr lang="zh-CN" altLang="en-US"/>
                    </a:p>
                  </a:txBody>
                  <a:tcPr/>
                </a:tc>
                <a:extLst>
                  <a:ext uri="{0D108BD9-81ED-4DB2-BD59-A6C34878D82A}">
                    <a16:rowId xmlns:a16="http://schemas.microsoft.com/office/drawing/2014/main" val="236110821"/>
                  </a:ext>
                </a:extLst>
              </a:tr>
              <a:tr h="370840">
                <a:tc>
                  <a:txBody>
                    <a:bodyPr/>
                    <a:lstStyle/>
                    <a:p>
                      <a:r>
                        <a:rPr lang="en-US" altLang="zh-CN">
                          <a:effectLst>
                            <a:outerShdw blurRad="38100" dist="38100" dir="2700000" algn="tl">
                              <a:srgbClr val="000000">
                                <a:alpha val="43137"/>
                              </a:srgbClr>
                            </a:outerShdw>
                          </a:effectLst>
                        </a:rPr>
                        <a:t>Weruva Truluxe</a:t>
                      </a:r>
                      <a:r>
                        <a:rPr lang="zh-CN" altLang="en-US">
                          <a:effectLst>
                            <a:outerShdw blurRad="38100" dist="38100" dir="2700000" algn="tl">
                              <a:srgbClr val="000000">
                                <a:alpha val="43137"/>
                              </a:srgbClr>
                            </a:outerShdw>
                          </a:effectLst>
                        </a:rPr>
                        <a:t>系列</a:t>
                      </a:r>
                    </a:p>
                  </a:txBody>
                  <a:tcPr/>
                </a:tc>
                <a:tc>
                  <a:txBody>
                    <a:bodyPr/>
                    <a:lstStyle/>
                    <a:p>
                      <a:r>
                        <a:rPr lang="zh-CN" altLang="en-US"/>
                        <a:t>＞</a:t>
                      </a:r>
                      <a:r>
                        <a:rPr lang="en-US" altLang="zh-CN"/>
                        <a:t>0.74%</a:t>
                      </a:r>
                      <a:endParaRPr lang="zh-CN" altLang="en-US"/>
                    </a:p>
                  </a:txBody>
                  <a:tcPr/>
                </a:tc>
                <a:tc>
                  <a:txBody>
                    <a:bodyPr/>
                    <a:lstStyle/>
                    <a:p>
                      <a:r>
                        <a:rPr lang="zh-CN" altLang="en-US"/>
                        <a:t>＞</a:t>
                      </a:r>
                      <a:r>
                        <a:rPr lang="en-US" altLang="zh-CN"/>
                        <a:t>69%</a:t>
                      </a:r>
                      <a:endParaRPr lang="zh-CN" altLang="en-US"/>
                    </a:p>
                  </a:txBody>
                  <a:tcPr/>
                </a:tc>
                <a:extLst>
                  <a:ext uri="{0D108BD9-81ED-4DB2-BD59-A6C34878D82A}">
                    <a16:rowId xmlns:a16="http://schemas.microsoft.com/office/drawing/2014/main" val="1006826013"/>
                  </a:ext>
                </a:extLst>
              </a:tr>
              <a:tr h="370840">
                <a:tc>
                  <a:txBody>
                    <a:bodyPr/>
                    <a:lstStyle/>
                    <a:p>
                      <a:r>
                        <a:rPr lang="en-US" altLang="zh-CN" sz="1800" b="0" i="0" kern="1200">
                          <a:solidFill>
                            <a:schemeClr val="dk1"/>
                          </a:solidFill>
                          <a:effectLst>
                            <a:outerShdw blurRad="38100" dist="38100" dir="2700000" algn="tl">
                              <a:srgbClr val="000000">
                                <a:alpha val="43137"/>
                              </a:srgbClr>
                            </a:outerShdw>
                          </a:effectLst>
                          <a:latin typeface="+mn-lt"/>
                          <a:ea typeface="+mn-ea"/>
                          <a:cs typeface="+mn-cs"/>
                        </a:rPr>
                        <a:t>Terra Fealis </a:t>
                      </a:r>
                      <a:r>
                        <a:rPr lang="zh-CN" altLang="en-US" sz="1800" b="0" i="0" kern="1200">
                          <a:solidFill>
                            <a:schemeClr val="dk1"/>
                          </a:solidFill>
                          <a:effectLst>
                            <a:outerShdw blurRad="38100" dist="38100" dir="2700000" algn="tl">
                              <a:srgbClr val="000000">
                                <a:alpha val="43137"/>
                              </a:srgbClr>
                            </a:outerShdw>
                          </a:effectLst>
                          <a:latin typeface="+mn-lt"/>
                          <a:ea typeface="+mn-ea"/>
                          <a:cs typeface="+mn-cs"/>
                        </a:rPr>
                        <a:t>牛肉</a:t>
                      </a:r>
                      <a:endParaRPr lang="zh-CN" altLang="en-US">
                        <a:effectLst>
                          <a:outerShdw blurRad="38100" dist="38100" dir="2700000" algn="tl">
                            <a:srgbClr val="000000">
                              <a:alpha val="43137"/>
                            </a:srgbClr>
                          </a:outerShdw>
                        </a:effectLst>
                      </a:endParaRPr>
                    </a:p>
                  </a:txBody>
                  <a:tcPr/>
                </a:tc>
                <a:tc>
                  <a:txBody>
                    <a:bodyPr/>
                    <a:lstStyle/>
                    <a:p>
                      <a:r>
                        <a:rPr lang="en-US" altLang="zh-CN"/>
                        <a:t>0.70%</a:t>
                      </a:r>
                      <a:endParaRPr lang="zh-CN" altLang="en-US"/>
                    </a:p>
                  </a:txBody>
                  <a:tcPr/>
                </a:tc>
                <a:tc>
                  <a:txBody>
                    <a:bodyPr/>
                    <a:lstStyle/>
                    <a:p>
                      <a:r>
                        <a:rPr lang="en-US" altLang="zh-CN"/>
                        <a:t>53%</a:t>
                      </a:r>
                      <a:endParaRPr lang="zh-CN" altLang="en-US"/>
                    </a:p>
                  </a:txBody>
                  <a:tcPr/>
                </a:tc>
                <a:extLst>
                  <a:ext uri="{0D108BD9-81ED-4DB2-BD59-A6C34878D82A}">
                    <a16:rowId xmlns:a16="http://schemas.microsoft.com/office/drawing/2014/main" val="1436053985"/>
                  </a:ext>
                </a:extLst>
              </a:tr>
            </a:tbl>
          </a:graphicData>
        </a:graphic>
      </p:graphicFrame>
      <p:graphicFrame>
        <p:nvGraphicFramePr>
          <p:cNvPr id="34" name="表格 33">
            <a:extLst>
              <a:ext uri="{FF2B5EF4-FFF2-40B4-BE49-F238E27FC236}">
                <a16:creationId xmlns:a16="http://schemas.microsoft.com/office/drawing/2014/main" id="{192E60C6-4C63-42FB-90A5-FBA280EC722D}"/>
              </a:ext>
            </a:extLst>
          </p:cNvPr>
          <p:cNvGraphicFramePr>
            <a:graphicFrameLocks noGrp="1"/>
          </p:cNvGraphicFramePr>
          <p:nvPr>
            <p:extLst>
              <p:ext uri="{D42A27DB-BD31-4B8C-83A1-F6EECF244321}">
                <p14:modId xmlns:p14="http://schemas.microsoft.com/office/powerpoint/2010/main" val="1443015347"/>
              </p:ext>
            </p:extLst>
          </p:nvPr>
        </p:nvGraphicFramePr>
        <p:xfrm>
          <a:off x="7206340" y="5347833"/>
          <a:ext cx="4730604" cy="1112520"/>
        </p:xfrm>
        <a:graphic>
          <a:graphicData uri="http://schemas.openxmlformats.org/drawingml/2006/table">
            <a:tbl>
              <a:tblPr firstRow="1" bandRow="1">
                <a:tableStyleId>{5C22544A-7EE6-4342-B048-85BDC9FD1C3A}</a:tableStyleId>
              </a:tblPr>
              <a:tblGrid>
                <a:gridCol w="2474948">
                  <a:extLst>
                    <a:ext uri="{9D8B030D-6E8A-4147-A177-3AD203B41FA5}">
                      <a16:colId xmlns:a16="http://schemas.microsoft.com/office/drawing/2014/main" val="557339308"/>
                    </a:ext>
                  </a:extLst>
                </a:gridCol>
                <a:gridCol w="1131105">
                  <a:extLst>
                    <a:ext uri="{9D8B030D-6E8A-4147-A177-3AD203B41FA5}">
                      <a16:colId xmlns:a16="http://schemas.microsoft.com/office/drawing/2014/main" val="1182423607"/>
                    </a:ext>
                  </a:extLst>
                </a:gridCol>
                <a:gridCol w="1124551">
                  <a:extLst>
                    <a:ext uri="{9D8B030D-6E8A-4147-A177-3AD203B41FA5}">
                      <a16:colId xmlns:a16="http://schemas.microsoft.com/office/drawing/2014/main" val="2844098277"/>
                    </a:ext>
                  </a:extLst>
                </a:gridCol>
              </a:tblGrid>
              <a:tr h="370840">
                <a:tc>
                  <a:txBody>
                    <a:bodyPr/>
                    <a:lstStyle/>
                    <a:p>
                      <a:r>
                        <a:rPr lang="zh-CN" altLang="en-US"/>
                        <a:t>处方粮</a:t>
                      </a:r>
                    </a:p>
                  </a:txBody>
                  <a:tcPr/>
                </a:tc>
                <a:tc>
                  <a:txBody>
                    <a:bodyPr/>
                    <a:lstStyle/>
                    <a:p>
                      <a:r>
                        <a:rPr lang="zh-CN" altLang="en-US"/>
                        <a:t>磷含量</a:t>
                      </a:r>
                    </a:p>
                  </a:txBody>
                  <a:tcPr/>
                </a:tc>
                <a:tc>
                  <a:txBody>
                    <a:bodyPr/>
                    <a:lstStyle/>
                    <a:p>
                      <a:r>
                        <a:rPr lang="zh-CN" altLang="en-US"/>
                        <a:t>干蛋白质</a:t>
                      </a:r>
                    </a:p>
                  </a:txBody>
                  <a:tcPr/>
                </a:tc>
                <a:extLst>
                  <a:ext uri="{0D108BD9-81ED-4DB2-BD59-A6C34878D82A}">
                    <a16:rowId xmlns:a16="http://schemas.microsoft.com/office/drawing/2014/main" val="2812332929"/>
                  </a:ext>
                </a:extLst>
              </a:tr>
              <a:tr h="370840">
                <a:tc>
                  <a:txBody>
                    <a:bodyPr/>
                    <a:lstStyle/>
                    <a:p>
                      <a:r>
                        <a:rPr lang="zh-CN" altLang="en-US">
                          <a:effectLst>
                            <a:outerShdw blurRad="38100" dist="38100" dir="2700000" algn="tl">
                              <a:srgbClr val="000000">
                                <a:alpha val="43137"/>
                              </a:srgbClr>
                            </a:outerShdw>
                          </a:effectLst>
                        </a:rPr>
                        <a:t>皇家 猫肾病处方罐</a:t>
                      </a:r>
                    </a:p>
                  </a:txBody>
                  <a:tcPr/>
                </a:tc>
                <a:tc>
                  <a:txBody>
                    <a:bodyPr/>
                    <a:lstStyle/>
                    <a:p>
                      <a:r>
                        <a:rPr lang="en-US" altLang="zh-CN"/>
                        <a:t>0.40%</a:t>
                      </a:r>
                      <a:endParaRPr lang="zh-CN" altLang="en-US"/>
                    </a:p>
                  </a:txBody>
                  <a:tcPr/>
                </a:tc>
                <a:tc>
                  <a:txBody>
                    <a:bodyPr/>
                    <a:lstStyle/>
                    <a:p>
                      <a:r>
                        <a:rPr lang="en-US" altLang="zh-CN">
                          <a:solidFill>
                            <a:schemeClr val="tx1"/>
                          </a:solidFill>
                        </a:rPr>
                        <a:t>33%</a:t>
                      </a:r>
                      <a:endParaRPr lang="zh-CN" altLang="en-US">
                        <a:solidFill>
                          <a:schemeClr val="tx1"/>
                        </a:solidFill>
                      </a:endParaRPr>
                    </a:p>
                  </a:txBody>
                  <a:tcPr/>
                </a:tc>
                <a:extLst>
                  <a:ext uri="{0D108BD9-81ED-4DB2-BD59-A6C34878D82A}">
                    <a16:rowId xmlns:a16="http://schemas.microsoft.com/office/drawing/2014/main" val="1766277872"/>
                  </a:ext>
                </a:extLst>
              </a:tr>
              <a:tr h="370840">
                <a:tc>
                  <a:txBody>
                    <a:bodyPr/>
                    <a:lstStyle/>
                    <a:p>
                      <a:r>
                        <a:rPr lang="zh-CN" altLang="en-US">
                          <a:effectLst>
                            <a:outerShdw blurRad="38100" dist="38100" dir="2700000" algn="tl">
                              <a:srgbClr val="000000">
                                <a:alpha val="43137"/>
                              </a:srgbClr>
                            </a:outerShdw>
                          </a:effectLst>
                        </a:rPr>
                        <a:t>希尔斯 </a:t>
                      </a:r>
                      <a:r>
                        <a:rPr lang="en-US" altLang="zh-CN">
                          <a:effectLst>
                            <a:outerShdw blurRad="38100" dist="38100" dir="2700000" algn="tl">
                              <a:srgbClr val="000000">
                                <a:alpha val="43137"/>
                              </a:srgbClr>
                            </a:outerShdw>
                          </a:effectLst>
                        </a:rPr>
                        <a:t>K/D</a:t>
                      </a:r>
                      <a:r>
                        <a:rPr lang="zh-CN" altLang="en-US">
                          <a:effectLst>
                            <a:outerShdw blurRad="38100" dist="38100" dir="2700000" algn="tl">
                              <a:srgbClr val="000000">
                                <a:alpha val="43137"/>
                              </a:srgbClr>
                            </a:outerShdw>
                          </a:effectLst>
                        </a:rPr>
                        <a:t>罐头</a:t>
                      </a:r>
                    </a:p>
                  </a:txBody>
                  <a:tcPr/>
                </a:tc>
                <a:tc>
                  <a:txBody>
                    <a:bodyPr/>
                    <a:lstStyle/>
                    <a:p>
                      <a:r>
                        <a:rPr lang="en-US" altLang="zh-CN"/>
                        <a:t>0.38%</a:t>
                      </a:r>
                      <a:endParaRPr lang="zh-CN" altLang="en-US"/>
                    </a:p>
                  </a:txBody>
                  <a:tcPr/>
                </a:tc>
                <a:tc>
                  <a:txBody>
                    <a:bodyPr/>
                    <a:lstStyle/>
                    <a:p>
                      <a:r>
                        <a:rPr lang="en-US" altLang="zh-CN"/>
                        <a:t>29%</a:t>
                      </a:r>
                      <a:endParaRPr lang="zh-CN" altLang="en-US"/>
                    </a:p>
                  </a:txBody>
                  <a:tcPr/>
                </a:tc>
                <a:extLst>
                  <a:ext uri="{0D108BD9-81ED-4DB2-BD59-A6C34878D82A}">
                    <a16:rowId xmlns:a16="http://schemas.microsoft.com/office/drawing/2014/main" val="2391762416"/>
                  </a:ext>
                </a:extLst>
              </a:tr>
            </a:tbl>
          </a:graphicData>
        </a:graphic>
      </p:graphicFrame>
    </p:spTree>
    <p:extLst>
      <p:ext uri="{BB962C8B-B14F-4D97-AF65-F5344CB8AC3E}">
        <p14:creationId xmlns:p14="http://schemas.microsoft.com/office/powerpoint/2010/main" val="26222687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p:cNvPr>
          <p:cNvGrpSpPr/>
          <p:nvPr/>
        </p:nvGrpSpPr>
        <p:grpSpPr>
          <a:xfrm>
            <a:off x="4871863" y="0"/>
            <a:ext cx="7320137" cy="1035882"/>
            <a:chOff x="8112223" y="330677"/>
            <a:chExt cx="4194115" cy="1035882"/>
          </a:xfrm>
          <a:effectLst>
            <a:outerShdw blurRad="50800" dist="38100" dir="5400000" algn="t" rotWithShape="0">
              <a:prstClr val="black">
                <a:alpha val="40000"/>
              </a:prstClr>
            </a:outerShdw>
          </a:effectLst>
        </p:grpSpPr>
        <p:sp>
          <p:nvSpPr>
            <p:cNvPr id="27"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8281096" y="330677"/>
              <a:ext cx="4013203" cy="985057"/>
              <a:chOff x="-461843" y="2729730"/>
              <a:chExt cx="4727020" cy="1377463"/>
            </a:xfrm>
          </p:grpSpPr>
          <p:sp>
            <p:nvSpPr>
              <p:cNvPr id="29"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1402351" y="2972777"/>
                <a:ext cx="2862826" cy="81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latin typeface="+mn-lt"/>
                    <a:ea typeface="+mn-ea"/>
                    <a:cs typeface="+mn-ea"/>
                    <a:sym typeface="+mn-lt"/>
                  </a:rPr>
                  <a:t>猫肾病自制肉类的选择</a:t>
                </a:r>
                <a:endParaRPr lang="en-US" altLang="zh-CN" sz="2400" b="1">
                  <a:solidFill>
                    <a:srgbClr val="010101"/>
                  </a:solidFill>
                  <a:latin typeface="+mn-lt"/>
                  <a:ea typeface="+mn-ea"/>
                  <a:cs typeface="+mn-ea"/>
                  <a:sym typeface="+mn-lt"/>
                </a:endParaRPr>
              </a:p>
            </p:txBody>
          </p:sp>
          <p:cxnSp>
            <p:nvCxnSpPr>
              <p:cNvPr id="31" name="直接连接符 30">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506334" y="3461620"/>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cxnSp>
        <p:nvCxnSpPr>
          <p:cNvPr id="49" name="直接连接符 48">
            <a:extLst/>
          </p:cNvPr>
          <p:cNvCxnSpPr/>
          <p:nvPr/>
        </p:nvCxnSpPr>
        <p:spPr>
          <a:xfrm flipH="1">
            <a:off x="5783401" y="3658229"/>
            <a:ext cx="19050" cy="1079500"/>
          </a:xfrm>
          <a:prstGeom prst="line">
            <a:avLst/>
          </a:prstGeom>
          <a:ln w="50800">
            <a:solidFill>
              <a:srgbClr val="4F4F4F"/>
            </a:solidFill>
          </a:ln>
        </p:spPr>
        <p:style>
          <a:lnRef idx="1">
            <a:schemeClr val="accent1"/>
          </a:lnRef>
          <a:fillRef idx="0">
            <a:schemeClr val="accent1"/>
          </a:fillRef>
          <a:effectRef idx="0">
            <a:schemeClr val="accent1"/>
          </a:effectRef>
          <a:fontRef idx="minor">
            <a:schemeClr val="tx1"/>
          </a:fontRef>
        </p:style>
      </p:cxnSp>
      <p:grpSp>
        <p:nvGrpSpPr>
          <p:cNvPr id="37893" name="组合 1"/>
          <p:cNvGrpSpPr>
            <a:grpSpLocks/>
          </p:cNvGrpSpPr>
          <p:nvPr/>
        </p:nvGrpSpPr>
        <p:grpSpPr bwMode="auto">
          <a:xfrm>
            <a:off x="478164" y="2078796"/>
            <a:ext cx="5225518" cy="3961366"/>
            <a:chOff x="6598707" y="2608336"/>
            <a:chExt cx="4832862" cy="3960324"/>
          </a:xfrm>
        </p:grpSpPr>
        <p:grpSp>
          <p:nvGrpSpPr>
            <p:cNvPr id="37894" name="组合 14"/>
            <p:cNvGrpSpPr>
              <a:grpSpLocks/>
            </p:cNvGrpSpPr>
            <p:nvPr/>
          </p:nvGrpSpPr>
          <p:grpSpPr bwMode="auto">
            <a:xfrm>
              <a:off x="6931323" y="2608336"/>
              <a:ext cx="4500246" cy="718135"/>
              <a:chOff x="3936148" y="1692543"/>
              <a:chExt cx="4500246" cy="718135"/>
            </a:xfrm>
          </p:grpSpPr>
          <p:sp>
            <p:nvSpPr>
              <p:cNvPr id="55" name="文本框 66">
                <a:extLst/>
              </p:cNvPr>
              <p:cNvSpPr txBox="1">
                <a:spLocks noChangeArrowheads="1"/>
              </p:cNvSpPr>
              <p:nvPr/>
            </p:nvSpPr>
            <p:spPr bwMode="auto">
              <a:xfrm>
                <a:off x="3966308" y="1692543"/>
                <a:ext cx="4258964" cy="461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spcBef>
                    <a:spcPts val="0"/>
                  </a:spcBef>
                  <a:spcAft>
                    <a:spcPts val="0"/>
                  </a:spcAft>
                  <a:defRPr/>
                </a:pPr>
                <a:endParaRPr lang="zh-CN" altLang="en-US" sz="2400" b="1" kern="0">
                  <a:solidFill>
                    <a:srgbClr val="4F4F4F"/>
                  </a:solidFill>
                  <a:latin typeface="+mn-lt"/>
                  <a:ea typeface="+mn-ea"/>
                  <a:cs typeface="+mn-ea"/>
                  <a:sym typeface="+mn-lt"/>
                </a:endParaRPr>
              </a:p>
            </p:txBody>
          </p:sp>
          <p:sp>
            <p:nvSpPr>
              <p:cNvPr id="56" name="矩形 55">
                <a:extLst/>
              </p:cNvPr>
              <p:cNvSpPr/>
              <p:nvPr/>
            </p:nvSpPr>
            <p:spPr>
              <a:xfrm>
                <a:off x="3936148" y="2133752"/>
                <a:ext cx="4500246" cy="276926"/>
              </a:xfrm>
              <a:prstGeom prst="rect">
                <a:avLst/>
              </a:prstGeom>
            </p:spPr>
            <p:txBody>
              <a:bodyPr>
                <a:spAutoFit/>
              </a:bodyPr>
              <a:lstStyle/>
              <a:p>
                <a:pPr eaLnBrk="1" fontAlgn="auto" hangingPunct="1">
                  <a:spcBef>
                    <a:spcPts val="0"/>
                  </a:spcBef>
                  <a:spcAft>
                    <a:spcPts val="0"/>
                  </a:spcAft>
                  <a:defRPr/>
                </a:pPr>
                <a:endParaRPr lang="zh-CN" altLang="en-US" sz="1200" kern="0">
                  <a:solidFill>
                    <a:srgbClr val="4F4F4F"/>
                  </a:solidFill>
                  <a:latin typeface="+mn-lt"/>
                  <a:ea typeface="+mn-ea"/>
                  <a:cs typeface="+mn-ea"/>
                  <a:sym typeface="+mn-lt"/>
                </a:endParaRPr>
              </a:p>
            </p:txBody>
          </p:sp>
        </p:grpSp>
        <p:sp>
          <p:nvSpPr>
            <p:cNvPr id="52" name="矩形 3">
              <a:extLst/>
            </p:cNvPr>
            <p:cNvSpPr>
              <a:spLocks noChangeArrowheads="1"/>
            </p:cNvSpPr>
            <p:nvPr/>
          </p:nvSpPr>
          <p:spPr bwMode="auto">
            <a:xfrm>
              <a:off x="6598707" y="2784004"/>
              <a:ext cx="4470086" cy="3784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342900" indent="-342900" eaLnBrk="1" fontAlgn="auto" hangingPunct="1">
                <a:lnSpc>
                  <a:spcPct val="100000"/>
                </a:lnSpc>
                <a:spcBef>
                  <a:spcPct val="0"/>
                </a:spcBef>
                <a:spcAft>
                  <a:spcPts val="0"/>
                </a:spcAft>
                <a:buFont typeface="Wingdings" panose="05000000000000000000" pitchFamily="2" charset="2"/>
                <a:buChar char="n"/>
                <a:defRPr/>
              </a:pPr>
              <a:r>
                <a:rPr lang="zh-CN" altLang="en-US" sz="1800" kern="0">
                  <a:solidFill>
                    <a:srgbClr val="4F4F4F"/>
                  </a:solidFill>
                  <a:latin typeface="+mj-ea"/>
                  <a:ea typeface="+mj-ea"/>
                  <a:cs typeface="+mn-ea"/>
                  <a:sym typeface="+mn-lt"/>
                </a:rPr>
                <a:t>优先选择有一些脂肪含量的肉类，提供足够的热量和风味。</a:t>
              </a:r>
              <a:endParaRPr lang="en-US" altLang="zh-CN" sz="1800" kern="0">
                <a:solidFill>
                  <a:srgbClr val="4F4F4F"/>
                </a:solidFill>
                <a:latin typeface="+mj-ea"/>
                <a:ea typeface="+mj-ea"/>
                <a:cs typeface="+mn-ea"/>
                <a:sym typeface="+mn-lt"/>
              </a:endParaRPr>
            </a:p>
            <a:p>
              <a:pPr eaLnBrk="1" fontAlgn="auto" hangingPunct="1">
                <a:lnSpc>
                  <a:spcPct val="100000"/>
                </a:lnSpc>
                <a:spcBef>
                  <a:spcPct val="0"/>
                </a:spcBef>
                <a:spcAft>
                  <a:spcPts val="0"/>
                </a:spcAft>
                <a:buNone/>
                <a:defRPr/>
              </a:pPr>
              <a:endParaRPr lang="en-US" altLang="zh-CN" sz="1800" kern="0">
                <a:solidFill>
                  <a:srgbClr val="4F4F4F"/>
                </a:solidFill>
                <a:latin typeface="+mj-ea"/>
                <a:ea typeface="+mj-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n"/>
                <a:defRPr/>
              </a:pPr>
              <a:r>
                <a:rPr lang="zh-CN" altLang="en-US" sz="1800" kern="0">
                  <a:solidFill>
                    <a:srgbClr val="4F4F4F"/>
                  </a:solidFill>
                  <a:latin typeface="+mj-ea"/>
                  <a:ea typeface="+mj-ea"/>
                  <a:cs typeface="+mn-ea"/>
                  <a:sym typeface="+mn-lt"/>
                </a:rPr>
                <a:t>肉类钾含量高于处方粮，如高血钾慎吃。</a:t>
              </a:r>
              <a:endParaRPr lang="en-US" altLang="zh-CN" sz="1800" kern="0">
                <a:solidFill>
                  <a:srgbClr val="4F4F4F"/>
                </a:solidFill>
                <a:latin typeface="+mj-ea"/>
                <a:ea typeface="+mj-ea"/>
                <a:cs typeface="+mn-ea"/>
                <a:sym typeface="+mn-lt"/>
              </a:endParaRPr>
            </a:p>
            <a:p>
              <a:pPr eaLnBrk="1" fontAlgn="auto" hangingPunct="1">
                <a:lnSpc>
                  <a:spcPct val="100000"/>
                </a:lnSpc>
                <a:spcBef>
                  <a:spcPct val="0"/>
                </a:spcBef>
                <a:spcAft>
                  <a:spcPts val="0"/>
                </a:spcAft>
                <a:buNone/>
                <a:defRPr/>
              </a:pPr>
              <a:endParaRPr lang="en-US" altLang="zh-CN" sz="1800" kern="0">
                <a:solidFill>
                  <a:srgbClr val="4F4F4F"/>
                </a:solidFill>
                <a:latin typeface="+mj-ea"/>
                <a:ea typeface="+mj-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n"/>
                <a:defRPr/>
              </a:pPr>
              <a:r>
                <a:rPr lang="zh-CN" altLang="en-US" sz="1800" kern="0">
                  <a:solidFill>
                    <a:srgbClr val="4F4F4F"/>
                  </a:solidFill>
                  <a:latin typeface="+mj-ea"/>
                  <a:ea typeface="+mj-ea"/>
                  <a:cs typeface="+mn-ea"/>
                  <a:sym typeface="+mn-lt"/>
                </a:rPr>
                <a:t>富含维生素</a:t>
              </a:r>
              <a:r>
                <a:rPr lang="en-US" altLang="zh-CN" sz="1800" kern="0">
                  <a:solidFill>
                    <a:srgbClr val="4F4F4F"/>
                  </a:solidFill>
                  <a:latin typeface="+mj-ea"/>
                  <a:ea typeface="+mj-ea"/>
                  <a:cs typeface="+mn-ea"/>
                  <a:sym typeface="+mn-lt"/>
                </a:rPr>
                <a:t>B12</a:t>
              </a:r>
              <a:r>
                <a:rPr lang="zh-CN" altLang="en-US" sz="1800" kern="0">
                  <a:solidFill>
                    <a:srgbClr val="4F4F4F"/>
                  </a:solidFill>
                  <a:latin typeface="+mj-ea"/>
                  <a:ea typeface="+mj-ea"/>
                  <a:cs typeface="+mn-ea"/>
                  <a:sym typeface="+mn-lt"/>
                </a:rPr>
                <a:t>的动物肝脏可以浅尝则止，但不禁止。蛋黄高磷少吃。</a:t>
              </a:r>
              <a:endParaRPr lang="en-US" altLang="zh-CN" sz="1800" kern="0">
                <a:solidFill>
                  <a:srgbClr val="4F4F4F"/>
                </a:solidFill>
                <a:latin typeface="+mj-ea"/>
                <a:ea typeface="+mj-ea"/>
                <a:cs typeface="+mn-ea"/>
                <a:sym typeface="+mn-lt"/>
              </a:endParaRPr>
            </a:p>
            <a:p>
              <a:pPr eaLnBrk="1" fontAlgn="auto" hangingPunct="1">
                <a:lnSpc>
                  <a:spcPct val="100000"/>
                </a:lnSpc>
                <a:spcBef>
                  <a:spcPct val="0"/>
                </a:spcBef>
                <a:spcAft>
                  <a:spcPts val="0"/>
                </a:spcAft>
                <a:buNone/>
                <a:defRPr/>
              </a:pPr>
              <a:endParaRPr lang="en-US" altLang="zh-CN" sz="1800" kern="0">
                <a:solidFill>
                  <a:srgbClr val="4F4F4F"/>
                </a:solidFill>
                <a:latin typeface="+mj-ea"/>
                <a:ea typeface="+mj-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n"/>
                <a:defRPr/>
              </a:pPr>
              <a:r>
                <a:rPr lang="zh-CN" altLang="en-US" sz="1800" kern="0">
                  <a:solidFill>
                    <a:srgbClr val="4F4F4F"/>
                  </a:solidFill>
                  <a:latin typeface="+mj-ea"/>
                  <a:ea typeface="+mj-ea"/>
                  <a:cs typeface="+mn-ea"/>
                  <a:sym typeface="+mn-lt"/>
                </a:rPr>
                <a:t>面临</a:t>
              </a:r>
              <a:r>
                <a:rPr lang="zh-CN" altLang="en-US" sz="1800" u="sng" kern="0">
                  <a:solidFill>
                    <a:srgbClr val="4F4F4F"/>
                  </a:solidFill>
                  <a:latin typeface="+mj-ea"/>
                  <a:ea typeface="+mj-ea"/>
                  <a:cs typeface="+mn-ea"/>
                  <a:sym typeface="+mn-lt"/>
                </a:rPr>
                <a:t>高血钙问题时海洋鱼</a:t>
              </a:r>
              <a:r>
                <a:rPr lang="en-US" altLang="zh-CN" sz="1800" u="sng" kern="0">
                  <a:solidFill>
                    <a:srgbClr val="4F4F4F"/>
                  </a:solidFill>
                  <a:latin typeface="+mj-ea"/>
                  <a:ea typeface="+mj-ea"/>
                  <a:cs typeface="+mn-ea"/>
                  <a:sym typeface="+mn-lt"/>
                </a:rPr>
                <a:t>/</a:t>
              </a:r>
              <a:r>
                <a:rPr lang="zh-CN" altLang="en-US" sz="1800" u="sng" kern="0">
                  <a:solidFill>
                    <a:srgbClr val="4F4F4F"/>
                  </a:solidFill>
                  <a:latin typeface="+mj-ea"/>
                  <a:ea typeface="+mj-ea"/>
                  <a:cs typeface="+mn-ea"/>
                  <a:sym typeface="+mn-lt"/>
                </a:rPr>
                <a:t>虹鳟禁吃</a:t>
              </a:r>
              <a:r>
                <a:rPr lang="zh-CN" altLang="en-US" sz="1800" kern="0">
                  <a:solidFill>
                    <a:srgbClr val="4F4F4F"/>
                  </a:solidFill>
                  <a:latin typeface="+mj-ea"/>
                  <a:ea typeface="+mj-ea"/>
                  <a:cs typeface="+mn-ea"/>
                  <a:sym typeface="+mn-lt"/>
                </a:rPr>
                <a:t>。</a:t>
              </a:r>
              <a:endParaRPr lang="en-US" altLang="zh-CN" sz="1800" kern="0">
                <a:solidFill>
                  <a:srgbClr val="4F4F4F"/>
                </a:solidFill>
                <a:latin typeface="+mj-ea"/>
                <a:ea typeface="+mj-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n"/>
                <a:defRPr/>
              </a:pPr>
              <a:endParaRPr lang="en-US" altLang="zh-CN" sz="1800" kern="0">
                <a:solidFill>
                  <a:srgbClr val="4F4F4F"/>
                </a:solidFill>
                <a:latin typeface="+mj-ea"/>
                <a:ea typeface="+mj-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n"/>
                <a:defRPr/>
              </a:pPr>
              <a:r>
                <a:rPr lang="zh-CN" altLang="en-US" sz="1800" kern="0">
                  <a:solidFill>
                    <a:srgbClr val="4F4F4F"/>
                  </a:solidFill>
                  <a:latin typeface="+mj-ea"/>
                  <a:ea typeface="+mj-ea"/>
                  <a:cs typeface="+mn-ea"/>
                  <a:sym typeface="+mn-lt"/>
                </a:rPr>
                <a:t>钙质添加别多也别少，</a:t>
              </a:r>
              <a:r>
                <a:rPr lang="en-US" altLang="zh-CN" sz="1800" kern="0">
                  <a:solidFill>
                    <a:srgbClr val="4F4F4F"/>
                  </a:solidFill>
                  <a:latin typeface="+mj-ea"/>
                  <a:ea typeface="+mj-ea"/>
                  <a:cs typeface="+mn-ea"/>
                  <a:sym typeface="+mn-lt"/>
                </a:rPr>
                <a:t>100</a:t>
              </a:r>
              <a:r>
                <a:rPr lang="zh-CN" altLang="en-US" sz="1800" kern="0">
                  <a:solidFill>
                    <a:srgbClr val="4F4F4F"/>
                  </a:solidFill>
                  <a:latin typeface="+mj-ea"/>
                  <a:ea typeface="+mj-ea"/>
                  <a:cs typeface="+mn-ea"/>
                  <a:sym typeface="+mn-lt"/>
                </a:rPr>
                <a:t>克肉类</a:t>
              </a:r>
              <a:r>
                <a:rPr lang="zh-CN" altLang="en-US" sz="1800" b="1" kern="0">
                  <a:solidFill>
                    <a:srgbClr val="4F4F4F"/>
                  </a:solidFill>
                  <a:latin typeface="+mj-ea"/>
                  <a:ea typeface="+mj-ea"/>
                  <a:cs typeface="+mn-ea"/>
                  <a:sym typeface="+mn-lt"/>
                </a:rPr>
                <a:t>生原料</a:t>
              </a:r>
              <a:r>
                <a:rPr lang="zh-CN" altLang="en-US" sz="1800" kern="0">
                  <a:solidFill>
                    <a:srgbClr val="4F4F4F"/>
                  </a:solidFill>
                  <a:latin typeface="+mj-ea"/>
                  <a:ea typeface="+mj-ea"/>
                  <a:cs typeface="+mn-ea"/>
                  <a:sym typeface="+mn-lt"/>
                </a:rPr>
                <a:t>应搭配</a:t>
              </a:r>
              <a:r>
                <a:rPr lang="en-US" altLang="zh-CN" sz="1800" kern="0">
                  <a:solidFill>
                    <a:srgbClr val="4F4F4F"/>
                  </a:solidFill>
                  <a:latin typeface="+mj-ea"/>
                  <a:ea typeface="+mj-ea"/>
                  <a:cs typeface="+mn-ea"/>
                  <a:sym typeface="+mn-lt"/>
                </a:rPr>
                <a:t>0.6</a:t>
              </a:r>
              <a:r>
                <a:rPr lang="zh-CN" altLang="en-US" sz="1800" kern="0">
                  <a:solidFill>
                    <a:srgbClr val="4F4F4F"/>
                  </a:solidFill>
                  <a:latin typeface="+mj-ea"/>
                  <a:ea typeface="+mj-ea"/>
                  <a:cs typeface="+mn-ea"/>
                  <a:sym typeface="+mn-lt"/>
                </a:rPr>
                <a:t>克碳酸钙，或柠檬酸钙</a:t>
              </a:r>
              <a:r>
                <a:rPr lang="en-US" altLang="zh-CN" sz="1800" kern="0">
                  <a:solidFill>
                    <a:srgbClr val="4F4F4F"/>
                  </a:solidFill>
                  <a:latin typeface="+mj-ea"/>
                  <a:ea typeface="+mj-ea"/>
                  <a:cs typeface="+mn-ea"/>
                  <a:sym typeface="+mn-lt"/>
                </a:rPr>
                <a:t>1</a:t>
              </a:r>
              <a:r>
                <a:rPr lang="zh-CN" altLang="en-US" sz="1800" kern="0">
                  <a:solidFill>
                    <a:srgbClr val="4F4F4F"/>
                  </a:solidFill>
                  <a:latin typeface="+mj-ea"/>
                  <a:ea typeface="+mj-ea"/>
                  <a:cs typeface="+mn-ea"/>
                  <a:sym typeface="+mn-lt"/>
                </a:rPr>
                <a:t>克。</a:t>
              </a:r>
              <a:endParaRPr lang="en-US" altLang="zh-CN" sz="1200" kern="0">
                <a:solidFill>
                  <a:srgbClr val="4F4F4F"/>
                </a:solidFill>
                <a:cs typeface="+mn-ea"/>
                <a:sym typeface="+mn-lt"/>
              </a:endParaRPr>
            </a:p>
            <a:p>
              <a:pPr marL="285750" indent="-285750" eaLnBrk="1" fontAlgn="auto" hangingPunct="1">
                <a:lnSpc>
                  <a:spcPct val="100000"/>
                </a:lnSpc>
                <a:spcBef>
                  <a:spcPct val="0"/>
                </a:spcBef>
                <a:spcAft>
                  <a:spcPts val="0"/>
                </a:spcAft>
                <a:buFont typeface="Wingdings" panose="05000000000000000000" pitchFamily="2" charset="2"/>
                <a:buChar char="n"/>
                <a:defRPr/>
              </a:pPr>
              <a:endParaRPr lang="en-US" altLang="zh-CN" sz="1200" kern="0">
                <a:solidFill>
                  <a:srgbClr val="4F4F4F"/>
                </a:solidFill>
                <a:latin typeface="+mn-lt"/>
                <a:ea typeface="+mn-ea"/>
                <a:cs typeface="+mn-ea"/>
                <a:sym typeface="+mn-lt"/>
              </a:endParaRPr>
            </a:p>
            <a:p>
              <a:pPr marL="285750" indent="-285750" eaLnBrk="1" fontAlgn="auto" hangingPunct="1">
                <a:lnSpc>
                  <a:spcPct val="100000"/>
                </a:lnSpc>
                <a:spcBef>
                  <a:spcPct val="0"/>
                </a:spcBef>
                <a:spcAft>
                  <a:spcPts val="0"/>
                </a:spcAft>
                <a:buFont typeface="Wingdings" panose="05000000000000000000" pitchFamily="2" charset="2"/>
                <a:buChar char="n"/>
                <a:defRPr/>
              </a:pPr>
              <a:endParaRPr lang="zh-CN" altLang="en-US" sz="1200" kern="0">
                <a:solidFill>
                  <a:srgbClr val="4F4F4F"/>
                </a:solidFill>
                <a:latin typeface="+mn-lt"/>
                <a:ea typeface="+mn-ea"/>
                <a:cs typeface="+mn-ea"/>
                <a:sym typeface="+mn-lt"/>
              </a:endParaRPr>
            </a:p>
          </p:txBody>
        </p:sp>
        <p:sp>
          <p:nvSpPr>
            <p:cNvPr id="53" name="矩形 3">
              <a:extLst/>
            </p:cNvPr>
            <p:cNvSpPr>
              <a:spLocks noChangeArrowheads="1"/>
            </p:cNvSpPr>
            <p:nvPr/>
          </p:nvSpPr>
          <p:spPr bwMode="auto">
            <a:xfrm>
              <a:off x="6931323" y="4487442"/>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sp>
          <p:nvSpPr>
            <p:cNvPr id="54" name="矩形 3">
              <a:extLst/>
            </p:cNvPr>
            <p:cNvSpPr>
              <a:spLocks noChangeArrowheads="1"/>
            </p:cNvSpPr>
            <p:nvPr/>
          </p:nvSpPr>
          <p:spPr bwMode="auto">
            <a:xfrm>
              <a:off x="6931323" y="5273048"/>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grpSp>
      <p:sp>
        <p:nvSpPr>
          <p:cNvPr id="2" name="文本框 1">
            <a:extLst>
              <a:ext uri="{FF2B5EF4-FFF2-40B4-BE49-F238E27FC236}">
                <a16:creationId xmlns:a16="http://schemas.microsoft.com/office/drawing/2014/main" id="{B3963C4F-A6AD-4D9D-AC5B-0960A3B09930}"/>
              </a:ext>
            </a:extLst>
          </p:cNvPr>
          <p:cNvSpPr txBox="1"/>
          <p:nvPr/>
        </p:nvSpPr>
        <p:spPr>
          <a:xfrm>
            <a:off x="5907135" y="2668610"/>
            <a:ext cx="5475055" cy="830997"/>
          </a:xfrm>
          <a:prstGeom prst="rect">
            <a:avLst/>
          </a:prstGeom>
          <a:noFill/>
        </p:spPr>
        <p:txBody>
          <a:bodyPr wrap="square" rtlCol="0">
            <a:spAutoFit/>
          </a:bodyPr>
          <a:lstStyle/>
          <a:p>
            <a:r>
              <a:rPr lang="zh-CN" altLang="en-US" sz="2800" b="1"/>
              <a:t>高钾含量</a:t>
            </a:r>
            <a:endParaRPr lang="en-US" altLang="zh-CN" sz="2800" b="1"/>
          </a:p>
          <a:p>
            <a:pPr algn="dist"/>
            <a:r>
              <a:rPr lang="zh-CN" altLang="en-US" sz="2000" b="1">
                <a:latin typeface="方正姚体" panose="02010601030101010101" pitchFamily="2" charset="-122"/>
                <a:ea typeface="方正姚体" panose="02010601030101010101" pitchFamily="2" charset="-122"/>
              </a:rPr>
              <a:t>三文鱼</a:t>
            </a:r>
            <a:r>
              <a:rPr lang="en-US" altLang="zh-CN" sz="2000" b="1">
                <a:latin typeface="方正姚体" panose="02010601030101010101" pitchFamily="2" charset="-122"/>
                <a:ea typeface="方正姚体" panose="02010601030101010101" pitchFamily="2" charset="-122"/>
              </a:rPr>
              <a:t>/</a:t>
            </a:r>
            <a:r>
              <a:rPr lang="zh-CN" altLang="en-US" sz="2000" b="1">
                <a:latin typeface="方正姚体" panose="02010601030101010101" pitchFamily="2" charset="-122"/>
                <a:ea typeface="方正姚体" panose="02010601030101010101" pitchFamily="2" charset="-122"/>
              </a:rPr>
              <a:t>虹鳟＞猪肉＞牛肉</a:t>
            </a:r>
            <a:r>
              <a:rPr lang="en-US" altLang="zh-CN" sz="2000" b="1">
                <a:latin typeface="方正姚体" panose="02010601030101010101" pitchFamily="2" charset="-122"/>
                <a:ea typeface="方正姚体" panose="02010601030101010101" pitchFamily="2" charset="-122"/>
              </a:rPr>
              <a:t>&gt;</a:t>
            </a:r>
            <a:r>
              <a:rPr lang="zh-CN" altLang="en-US" sz="2000" b="1">
                <a:latin typeface="方正姚体" panose="02010601030101010101" pitchFamily="2" charset="-122"/>
                <a:ea typeface="方正姚体" panose="02010601030101010101" pitchFamily="2" charset="-122"/>
              </a:rPr>
              <a:t>羊肉</a:t>
            </a:r>
            <a:r>
              <a:rPr lang="en-US" altLang="zh-CN" sz="2000" b="1">
                <a:latin typeface="方正姚体" panose="02010601030101010101" pitchFamily="2" charset="-122"/>
                <a:ea typeface="方正姚体" panose="02010601030101010101" pitchFamily="2" charset="-122"/>
              </a:rPr>
              <a:t>&gt;</a:t>
            </a:r>
            <a:r>
              <a:rPr lang="zh-CN" altLang="en-US" sz="2000" b="1">
                <a:latin typeface="方正姚体" panose="02010601030101010101" pitchFamily="2" charset="-122"/>
                <a:ea typeface="方正姚体" panose="02010601030101010101" pitchFamily="2" charset="-122"/>
              </a:rPr>
              <a:t>禽类</a:t>
            </a:r>
          </a:p>
        </p:txBody>
      </p:sp>
      <p:pic>
        <p:nvPicPr>
          <p:cNvPr id="5" name="图片 4">
            <a:extLst>
              <a:ext uri="{FF2B5EF4-FFF2-40B4-BE49-F238E27FC236}">
                <a16:creationId xmlns:a16="http://schemas.microsoft.com/office/drawing/2014/main" id="{E9BBEF0F-BBAC-4DD5-8ED4-AD7A029B4B2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20742" y="3673466"/>
            <a:ext cx="1336522" cy="961895"/>
          </a:xfrm>
          <a:prstGeom prst="rect">
            <a:avLst/>
          </a:prstGeom>
        </p:spPr>
      </p:pic>
      <p:pic>
        <p:nvPicPr>
          <p:cNvPr id="10" name="图片 9">
            <a:extLst>
              <a:ext uri="{FF2B5EF4-FFF2-40B4-BE49-F238E27FC236}">
                <a16:creationId xmlns:a16="http://schemas.microsoft.com/office/drawing/2014/main" id="{4DD85FBF-ED23-4A5F-AB7E-FDBD405E392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61295" y="3627771"/>
            <a:ext cx="1339783" cy="1003424"/>
          </a:xfrm>
          <a:prstGeom prst="rect">
            <a:avLst/>
          </a:prstGeom>
        </p:spPr>
      </p:pic>
      <p:pic>
        <p:nvPicPr>
          <p:cNvPr id="12" name="图片 11">
            <a:extLst>
              <a:ext uri="{FF2B5EF4-FFF2-40B4-BE49-F238E27FC236}">
                <a16:creationId xmlns:a16="http://schemas.microsoft.com/office/drawing/2014/main" id="{98A12AEC-DA09-48F6-BD02-E548B33A659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101078" y="3606175"/>
            <a:ext cx="1499930" cy="1168761"/>
          </a:xfrm>
          <a:prstGeom prst="rect">
            <a:avLst/>
          </a:prstGeom>
        </p:spPr>
      </p:pic>
      <p:pic>
        <p:nvPicPr>
          <p:cNvPr id="14" name="图片 13">
            <a:extLst>
              <a:ext uri="{FF2B5EF4-FFF2-40B4-BE49-F238E27FC236}">
                <a16:creationId xmlns:a16="http://schemas.microsoft.com/office/drawing/2014/main" id="{6EF2233D-38CF-4952-A41A-91B69C4D1EF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580637" y="3499607"/>
            <a:ext cx="1551518" cy="1284236"/>
          </a:xfrm>
          <a:prstGeom prst="rect">
            <a:avLst/>
          </a:prstGeom>
        </p:spPr>
      </p:pic>
      <p:sp>
        <p:nvSpPr>
          <p:cNvPr id="19" name="文本框 18">
            <a:extLst>
              <a:ext uri="{FF2B5EF4-FFF2-40B4-BE49-F238E27FC236}">
                <a16:creationId xmlns:a16="http://schemas.microsoft.com/office/drawing/2014/main" id="{0247A39A-1660-479D-AD8D-1E138EC3AB7E}"/>
              </a:ext>
            </a:extLst>
          </p:cNvPr>
          <p:cNvSpPr txBox="1"/>
          <p:nvPr/>
        </p:nvSpPr>
        <p:spPr>
          <a:xfrm>
            <a:off x="6888088" y="5229200"/>
            <a:ext cx="4248472" cy="369332"/>
          </a:xfrm>
          <a:prstGeom prst="rect">
            <a:avLst/>
          </a:prstGeom>
          <a:noFill/>
        </p:spPr>
        <p:txBody>
          <a:bodyPr wrap="square" rtlCol="0">
            <a:spAutoFit/>
          </a:bodyPr>
          <a:lstStyle/>
          <a:p>
            <a:r>
              <a:rPr lang="en-US" altLang="zh-CN" b="1">
                <a:effectLst>
                  <a:outerShdw blurRad="38100" dist="38100" dir="2700000" algn="tl">
                    <a:srgbClr val="000000">
                      <a:alpha val="43137"/>
                    </a:srgbClr>
                  </a:outerShdw>
                </a:effectLst>
              </a:rPr>
              <a:t>BUN</a:t>
            </a:r>
            <a:r>
              <a:rPr lang="zh-CN" altLang="en-US" b="1">
                <a:effectLst>
                  <a:outerShdw blurRad="38100" dist="38100" dir="2700000" algn="tl">
                    <a:srgbClr val="000000">
                      <a:alpha val="43137"/>
                    </a:srgbClr>
                  </a:outerShdw>
                </a:effectLst>
              </a:rPr>
              <a:t>≥</a:t>
            </a:r>
            <a:r>
              <a:rPr lang="en-US" altLang="zh-CN" b="1">
                <a:effectLst>
                  <a:outerShdw blurRad="38100" dist="38100" dir="2700000" algn="tl">
                    <a:srgbClr val="000000">
                      <a:alpha val="43137"/>
                    </a:srgbClr>
                  </a:outerShdw>
                </a:effectLst>
              </a:rPr>
              <a:t>18mmol/L</a:t>
            </a:r>
            <a:r>
              <a:rPr lang="zh-CN" altLang="en-US" b="1">
                <a:effectLst>
                  <a:outerShdw blurRad="38100" dist="38100" dir="2700000" algn="tl">
                    <a:srgbClr val="000000">
                      <a:alpha val="43137"/>
                    </a:srgbClr>
                  </a:outerShdw>
                </a:effectLst>
              </a:rPr>
              <a:t>前不剧烈限制蛋白质</a:t>
            </a:r>
          </a:p>
        </p:txBody>
      </p:sp>
    </p:spTree>
    <p:extLst>
      <p:ext uri="{BB962C8B-B14F-4D97-AF65-F5344CB8AC3E}">
        <p14:creationId xmlns:p14="http://schemas.microsoft.com/office/powerpoint/2010/main" val="30865836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p:cNvPr>
          <p:cNvGrpSpPr/>
          <p:nvPr/>
        </p:nvGrpSpPr>
        <p:grpSpPr>
          <a:xfrm>
            <a:off x="4871863" y="0"/>
            <a:ext cx="7320137" cy="1035882"/>
            <a:chOff x="8112223" y="330677"/>
            <a:chExt cx="4194115" cy="1035882"/>
          </a:xfrm>
          <a:effectLst>
            <a:outerShdw blurRad="50800" dist="38100" dir="5400000" algn="t" rotWithShape="0">
              <a:prstClr val="black">
                <a:alpha val="40000"/>
              </a:prstClr>
            </a:outerShdw>
          </a:effectLst>
        </p:grpSpPr>
        <p:sp>
          <p:nvSpPr>
            <p:cNvPr id="27"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8281096" y="330677"/>
              <a:ext cx="4013203" cy="985057"/>
              <a:chOff x="-461843" y="2729730"/>
              <a:chExt cx="4727020" cy="1377463"/>
            </a:xfrm>
          </p:grpSpPr>
          <p:sp>
            <p:nvSpPr>
              <p:cNvPr id="29"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1402351" y="2972777"/>
                <a:ext cx="2862826" cy="81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latin typeface="+mn-lt"/>
                    <a:ea typeface="+mn-ea"/>
                    <a:cs typeface="+mn-ea"/>
                    <a:sym typeface="+mn-lt"/>
                  </a:rPr>
                  <a:t>磷结合剂的选择</a:t>
                </a:r>
                <a:endParaRPr lang="en-US" altLang="zh-CN" sz="2400" b="1">
                  <a:solidFill>
                    <a:srgbClr val="010101"/>
                  </a:solidFill>
                  <a:latin typeface="+mn-lt"/>
                  <a:ea typeface="+mn-ea"/>
                  <a:cs typeface="+mn-ea"/>
                  <a:sym typeface="+mn-lt"/>
                </a:endParaRPr>
              </a:p>
            </p:txBody>
          </p:sp>
          <p:cxnSp>
            <p:nvCxnSpPr>
              <p:cNvPr id="31" name="直接连接符 30">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506334" y="3461620"/>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grpSp>
        <p:nvGrpSpPr>
          <p:cNvPr id="37893" name="组合 1"/>
          <p:cNvGrpSpPr>
            <a:grpSpLocks/>
          </p:cNvGrpSpPr>
          <p:nvPr/>
        </p:nvGrpSpPr>
        <p:grpSpPr bwMode="auto">
          <a:xfrm>
            <a:off x="777200" y="2492896"/>
            <a:ext cx="4865878" cy="2973190"/>
            <a:chOff x="6931323" y="2608336"/>
            <a:chExt cx="4500246" cy="2972408"/>
          </a:xfrm>
        </p:grpSpPr>
        <p:grpSp>
          <p:nvGrpSpPr>
            <p:cNvPr id="37894" name="组合 14"/>
            <p:cNvGrpSpPr>
              <a:grpSpLocks/>
            </p:cNvGrpSpPr>
            <p:nvPr/>
          </p:nvGrpSpPr>
          <p:grpSpPr bwMode="auto">
            <a:xfrm>
              <a:off x="6931323" y="2608336"/>
              <a:ext cx="4500246" cy="718135"/>
              <a:chOff x="3936148" y="1692543"/>
              <a:chExt cx="4500246" cy="718135"/>
            </a:xfrm>
          </p:grpSpPr>
          <p:sp>
            <p:nvSpPr>
              <p:cNvPr id="55" name="文本框 66">
                <a:extLst/>
              </p:cNvPr>
              <p:cNvSpPr txBox="1">
                <a:spLocks noChangeArrowheads="1"/>
              </p:cNvSpPr>
              <p:nvPr/>
            </p:nvSpPr>
            <p:spPr bwMode="auto">
              <a:xfrm>
                <a:off x="3966308" y="1692543"/>
                <a:ext cx="4258964" cy="461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spcBef>
                    <a:spcPts val="0"/>
                  </a:spcBef>
                  <a:spcAft>
                    <a:spcPts val="0"/>
                  </a:spcAft>
                  <a:defRPr/>
                </a:pPr>
                <a:endParaRPr lang="zh-CN" altLang="en-US" sz="2400" b="1" kern="0">
                  <a:solidFill>
                    <a:srgbClr val="4F4F4F"/>
                  </a:solidFill>
                  <a:latin typeface="+mn-lt"/>
                  <a:ea typeface="+mn-ea"/>
                  <a:cs typeface="+mn-ea"/>
                  <a:sym typeface="+mn-lt"/>
                </a:endParaRPr>
              </a:p>
            </p:txBody>
          </p:sp>
          <p:sp>
            <p:nvSpPr>
              <p:cNvPr id="56" name="矩形 55">
                <a:extLst/>
              </p:cNvPr>
              <p:cNvSpPr/>
              <p:nvPr/>
            </p:nvSpPr>
            <p:spPr>
              <a:xfrm>
                <a:off x="3936148" y="2133752"/>
                <a:ext cx="4500246" cy="276926"/>
              </a:xfrm>
              <a:prstGeom prst="rect">
                <a:avLst/>
              </a:prstGeom>
            </p:spPr>
            <p:txBody>
              <a:bodyPr>
                <a:spAutoFit/>
              </a:bodyPr>
              <a:lstStyle/>
              <a:p>
                <a:pPr eaLnBrk="1" fontAlgn="auto" hangingPunct="1">
                  <a:spcBef>
                    <a:spcPts val="0"/>
                  </a:spcBef>
                  <a:spcAft>
                    <a:spcPts val="0"/>
                  </a:spcAft>
                  <a:defRPr/>
                </a:pPr>
                <a:endParaRPr lang="zh-CN" altLang="en-US" sz="1200" kern="0">
                  <a:solidFill>
                    <a:srgbClr val="4F4F4F"/>
                  </a:solidFill>
                  <a:latin typeface="+mn-lt"/>
                  <a:ea typeface="+mn-ea"/>
                  <a:cs typeface="+mn-ea"/>
                  <a:sym typeface="+mn-lt"/>
                </a:endParaRPr>
              </a:p>
            </p:txBody>
          </p:sp>
        </p:grpSp>
        <p:sp>
          <p:nvSpPr>
            <p:cNvPr id="53" name="矩形 3">
              <a:extLst/>
            </p:cNvPr>
            <p:cNvSpPr>
              <a:spLocks noChangeArrowheads="1"/>
            </p:cNvSpPr>
            <p:nvPr/>
          </p:nvSpPr>
          <p:spPr bwMode="auto">
            <a:xfrm>
              <a:off x="6931323" y="4487442"/>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sp>
          <p:nvSpPr>
            <p:cNvPr id="54" name="矩形 3">
              <a:extLst/>
            </p:cNvPr>
            <p:cNvSpPr>
              <a:spLocks noChangeArrowheads="1"/>
            </p:cNvSpPr>
            <p:nvPr/>
          </p:nvSpPr>
          <p:spPr bwMode="auto">
            <a:xfrm>
              <a:off x="6931323" y="5273048"/>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grpSp>
      <p:pic>
        <p:nvPicPr>
          <p:cNvPr id="4" name="图片 3">
            <a:extLst>
              <a:ext uri="{FF2B5EF4-FFF2-40B4-BE49-F238E27FC236}">
                <a16:creationId xmlns:a16="http://schemas.microsoft.com/office/drawing/2014/main" id="{ACC7F8E5-A67D-4B23-80A9-D27F371F65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3917" y="2279923"/>
            <a:ext cx="1867549" cy="1867549"/>
          </a:xfrm>
          <a:prstGeom prst="rect">
            <a:avLst/>
          </a:prstGeom>
        </p:spPr>
      </p:pic>
      <p:pic>
        <p:nvPicPr>
          <p:cNvPr id="7" name="图片 6">
            <a:extLst>
              <a:ext uri="{FF2B5EF4-FFF2-40B4-BE49-F238E27FC236}">
                <a16:creationId xmlns:a16="http://schemas.microsoft.com/office/drawing/2014/main" id="{BAFD8D0C-3BDA-4AA4-9086-E0A5BDD86C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0663" y="1207011"/>
            <a:ext cx="1485056" cy="1485056"/>
          </a:xfrm>
          <a:prstGeom prst="rect">
            <a:avLst/>
          </a:prstGeom>
        </p:spPr>
      </p:pic>
      <p:pic>
        <p:nvPicPr>
          <p:cNvPr id="9" name="图片 8">
            <a:extLst>
              <a:ext uri="{FF2B5EF4-FFF2-40B4-BE49-F238E27FC236}">
                <a16:creationId xmlns:a16="http://schemas.microsoft.com/office/drawing/2014/main" id="{A9ECFBDB-CF9E-49C7-8D57-F429E5C3BF0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81611" y="3903054"/>
            <a:ext cx="1235542" cy="1235542"/>
          </a:xfrm>
          <a:prstGeom prst="rect">
            <a:avLst/>
          </a:prstGeom>
        </p:spPr>
      </p:pic>
      <p:pic>
        <p:nvPicPr>
          <p:cNvPr id="13" name="图片 12">
            <a:extLst>
              <a:ext uri="{FF2B5EF4-FFF2-40B4-BE49-F238E27FC236}">
                <a16:creationId xmlns:a16="http://schemas.microsoft.com/office/drawing/2014/main" id="{2B7729F2-A88B-4844-9E4E-E9C32ECE2EB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32351" y="5456430"/>
            <a:ext cx="1175473" cy="1179265"/>
          </a:xfrm>
          <a:prstGeom prst="rect">
            <a:avLst/>
          </a:prstGeom>
        </p:spPr>
      </p:pic>
      <p:graphicFrame>
        <p:nvGraphicFramePr>
          <p:cNvPr id="18" name="表格 17">
            <a:extLst>
              <a:ext uri="{FF2B5EF4-FFF2-40B4-BE49-F238E27FC236}">
                <a16:creationId xmlns:a16="http://schemas.microsoft.com/office/drawing/2014/main" id="{0E8EF0C4-1C06-4175-9C5A-4F1527E38650}"/>
              </a:ext>
            </a:extLst>
          </p:cNvPr>
          <p:cNvGraphicFramePr>
            <a:graphicFrameLocks noGrp="1"/>
          </p:cNvGraphicFramePr>
          <p:nvPr>
            <p:extLst>
              <p:ext uri="{D42A27DB-BD31-4B8C-83A1-F6EECF244321}">
                <p14:modId xmlns:p14="http://schemas.microsoft.com/office/powerpoint/2010/main" val="529676081"/>
              </p:ext>
            </p:extLst>
          </p:nvPr>
        </p:nvGraphicFramePr>
        <p:xfrm>
          <a:off x="2386258" y="1234366"/>
          <a:ext cx="9686407" cy="5451336"/>
        </p:xfrm>
        <a:graphic>
          <a:graphicData uri="http://schemas.openxmlformats.org/drawingml/2006/table">
            <a:tbl>
              <a:tblPr/>
              <a:tblGrid>
                <a:gridCol w="1519437">
                  <a:extLst>
                    <a:ext uri="{9D8B030D-6E8A-4147-A177-3AD203B41FA5}">
                      <a16:colId xmlns:a16="http://schemas.microsoft.com/office/drawing/2014/main" val="1409749966"/>
                    </a:ext>
                  </a:extLst>
                </a:gridCol>
                <a:gridCol w="1614241">
                  <a:extLst>
                    <a:ext uri="{9D8B030D-6E8A-4147-A177-3AD203B41FA5}">
                      <a16:colId xmlns:a16="http://schemas.microsoft.com/office/drawing/2014/main" val="3839762469"/>
                    </a:ext>
                  </a:extLst>
                </a:gridCol>
                <a:gridCol w="1224136">
                  <a:extLst>
                    <a:ext uri="{9D8B030D-6E8A-4147-A177-3AD203B41FA5}">
                      <a16:colId xmlns:a16="http://schemas.microsoft.com/office/drawing/2014/main" val="2675327900"/>
                    </a:ext>
                  </a:extLst>
                </a:gridCol>
                <a:gridCol w="4012886">
                  <a:extLst>
                    <a:ext uri="{9D8B030D-6E8A-4147-A177-3AD203B41FA5}">
                      <a16:colId xmlns:a16="http://schemas.microsoft.com/office/drawing/2014/main" val="4063091830"/>
                    </a:ext>
                  </a:extLst>
                </a:gridCol>
                <a:gridCol w="1315707">
                  <a:extLst>
                    <a:ext uri="{9D8B030D-6E8A-4147-A177-3AD203B41FA5}">
                      <a16:colId xmlns:a16="http://schemas.microsoft.com/office/drawing/2014/main" val="3817107292"/>
                    </a:ext>
                  </a:extLst>
                </a:gridCol>
              </a:tblGrid>
              <a:tr h="1362834">
                <a:tc>
                  <a:txBody>
                    <a:bodyPr/>
                    <a:lstStyle/>
                    <a:p>
                      <a:pPr algn="ctr" latinLnBrk="1"/>
                      <a:r>
                        <a:rPr lang="zh-CN" altLang="en-US" sz="1600" b="1">
                          <a:solidFill>
                            <a:srgbClr val="FFC000"/>
                          </a:solidFill>
                          <a:effectLst/>
                        </a:rPr>
                        <a:t>⭐</a:t>
                      </a:r>
                      <a:r>
                        <a:rPr lang="zh-CN" altLang="en-US" sz="1600" b="1">
                          <a:effectLst/>
                        </a:rPr>
                        <a:t>碳酸镧</a:t>
                      </a:r>
                      <a:endParaRPr lang="zh-CN" altLang="en-US" sz="1600">
                        <a:effectLst/>
                      </a:endParaRPr>
                    </a:p>
                  </a:txBody>
                  <a:tcPr marL="46095" marR="46095" marT="46095" marB="46095"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7FAFF"/>
                    </a:solidFill>
                  </a:tcPr>
                </a:tc>
                <a:tc>
                  <a:txBody>
                    <a:bodyPr/>
                    <a:lstStyle/>
                    <a:p>
                      <a:pPr marL="285750" indent="-285750" latinLnBrk="1">
                        <a:buFont typeface="Arial" panose="020B0604020202020204" pitchFamily="34" charset="0"/>
                        <a:buChar char="•"/>
                      </a:pPr>
                      <a:r>
                        <a:rPr lang="zh-CN" altLang="en-US" sz="1600">
                          <a:effectLst/>
                        </a:rPr>
                        <a:t>福斯利诺</a:t>
                      </a:r>
                    </a:p>
                    <a:p>
                      <a:pPr marL="285750" indent="-285750" latinLnBrk="1">
                        <a:buFont typeface="Arial" panose="020B0604020202020204" pitchFamily="34" charset="0"/>
                        <a:buChar char="•"/>
                      </a:pPr>
                      <a:r>
                        <a:rPr lang="zh-CN" altLang="en-US" sz="1600">
                          <a:effectLst/>
                        </a:rPr>
                        <a:t>乐宠克磷</a:t>
                      </a:r>
                    </a:p>
                    <a:p>
                      <a:pPr marL="285750" indent="-285750" latinLnBrk="1">
                        <a:buFont typeface="Arial" panose="020B0604020202020204" pitchFamily="34" charset="0"/>
                        <a:buChar char="•"/>
                      </a:pPr>
                      <a:r>
                        <a:rPr lang="zh-CN" altLang="en-US" sz="1600">
                          <a:effectLst/>
                        </a:rPr>
                        <a:t>碳酸镧粉</a:t>
                      </a:r>
                    </a:p>
                  </a:txBody>
                  <a:tcPr marL="46095" marR="46095" marT="46095" marB="46095"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7FAFF"/>
                    </a:solidFill>
                  </a:tcPr>
                </a:tc>
                <a:tc>
                  <a:txBody>
                    <a:bodyPr/>
                    <a:lstStyle/>
                    <a:p>
                      <a:pPr algn="l" latinLnBrk="1"/>
                      <a:r>
                        <a:rPr lang="zh-CN" altLang="en-US" sz="1600">
                          <a:effectLst/>
                        </a:rPr>
                        <a:t>效果最强，无味好喂。</a:t>
                      </a:r>
                    </a:p>
                  </a:txBody>
                  <a:tcPr marL="46095" marR="46095" marT="46095" marB="46095"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7FAFF"/>
                    </a:solidFill>
                  </a:tcPr>
                </a:tc>
                <a:tc>
                  <a:txBody>
                    <a:bodyPr/>
                    <a:lstStyle/>
                    <a:p>
                      <a:pPr algn="l" latinLnBrk="1"/>
                      <a:r>
                        <a:rPr lang="zh-CN" altLang="en-US" sz="1400">
                          <a:effectLst/>
                        </a:rPr>
                        <a:t>可能便秘和呕吐。</a:t>
                      </a:r>
                      <a:endParaRPr lang="en-US" altLang="zh-CN" sz="1400">
                        <a:effectLst/>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zh-CN" altLang="en-US" sz="1400">
                          <a:effectLst/>
                        </a:rPr>
                        <a:t>长期会造成血管内钙积聚，心脏病猫慎用。对已经有消化系统疾病、习惯性便秘、患有糖尿病的猫，和使用氨氯地的猫来说，有几率造成副作用。</a:t>
                      </a:r>
                    </a:p>
                  </a:txBody>
                  <a:tcPr marL="46095" marR="46095" marT="46095" marB="46095"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7FAFF"/>
                    </a:solidFill>
                  </a:tcPr>
                </a:tc>
                <a:tc>
                  <a:txBody>
                    <a:bodyPr/>
                    <a:lstStyle/>
                    <a:p>
                      <a:pPr algn="r" latinLnBrk="1"/>
                      <a:r>
                        <a:rPr lang="en-US" altLang="zh-CN" sz="1200" b="1">
                          <a:effectLst>
                            <a:outerShdw blurRad="38100" dist="38100" dir="2700000" algn="tl">
                              <a:srgbClr val="000000">
                                <a:alpha val="43137"/>
                              </a:srgbClr>
                            </a:outerShdw>
                          </a:effectLst>
                          <a:latin typeface="+mj-ea"/>
                          <a:ea typeface="+mj-ea"/>
                        </a:rPr>
                        <a:t>10.75</a:t>
                      </a:r>
                      <a:r>
                        <a:rPr lang="zh-CN" altLang="en-US" sz="1200" b="1">
                          <a:effectLst>
                            <a:outerShdw blurRad="38100" dist="38100" dir="2700000" algn="tl">
                              <a:srgbClr val="000000">
                                <a:alpha val="43137"/>
                              </a:srgbClr>
                            </a:outerShdw>
                          </a:effectLst>
                          <a:latin typeface="+mj-ea"/>
                          <a:ea typeface="+mj-ea"/>
                        </a:rPr>
                        <a:t>元</a:t>
                      </a:r>
                      <a:r>
                        <a:rPr lang="en-US" altLang="zh-CN" sz="1200" b="1">
                          <a:effectLst>
                            <a:outerShdw blurRad="38100" dist="38100" dir="2700000" algn="tl">
                              <a:srgbClr val="000000">
                                <a:alpha val="43137"/>
                              </a:srgbClr>
                            </a:outerShdw>
                          </a:effectLst>
                          <a:latin typeface="+mj-ea"/>
                          <a:ea typeface="+mj-ea"/>
                        </a:rPr>
                        <a:t>/</a:t>
                      </a:r>
                      <a:r>
                        <a:rPr lang="zh-CN" altLang="en-US" sz="1200" b="1">
                          <a:effectLst>
                            <a:outerShdw blurRad="38100" dist="38100" dir="2700000" algn="tl">
                              <a:srgbClr val="000000">
                                <a:alpha val="43137"/>
                              </a:srgbClr>
                            </a:outerShdw>
                          </a:effectLst>
                          <a:latin typeface="+mj-ea"/>
                          <a:ea typeface="+mj-ea"/>
                        </a:rPr>
                        <a:t>天</a:t>
                      </a:r>
                    </a:p>
                  </a:txBody>
                  <a:tcPr marL="46095" marR="46095" marT="46095" marB="46095"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7FAFF"/>
                    </a:solidFill>
                  </a:tcPr>
                </a:tc>
                <a:extLst>
                  <a:ext uri="{0D108BD9-81ED-4DB2-BD59-A6C34878D82A}">
                    <a16:rowId xmlns:a16="http://schemas.microsoft.com/office/drawing/2014/main" val="579585098"/>
                  </a:ext>
                </a:extLst>
              </a:tr>
              <a:tr h="1362834">
                <a:tc>
                  <a:txBody>
                    <a:bodyPr/>
                    <a:lstStyle/>
                    <a:p>
                      <a:pPr algn="ctr" latinLnBrk="1"/>
                      <a:r>
                        <a:rPr lang="zh-CN" altLang="en-US" sz="1600" b="1">
                          <a:solidFill>
                            <a:srgbClr val="FFC000"/>
                          </a:solidFill>
                          <a:effectLst/>
                        </a:rPr>
                        <a:t>⭐</a:t>
                      </a:r>
                      <a:r>
                        <a:rPr lang="zh-CN" altLang="en-US" sz="1600" b="1">
                          <a:effectLst/>
                        </a:rPr>
                        <a:t>柠檬酸铁</a:t>
                      </a:r>
                      <a:endParaRPr lang="zh-CN" altLang="en-US" sz="1600">
                        <a:effectLst/>
                      </a:endParaRPr>
                    </a:p>
                  </a:txBody>
                  <a:tcPr marL="46095" marR="46095" marT="46095" marB="46095"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7FAFF"/>
                    </a:solidFill>
                  </a:tcPr>
                </a:tc>
                <a:tc>
                  <a:txBody>
                    <a:bodyPr/>
                    <a:lstStyle/>
                    <a:p>
                      <a:pPr latinLnBrk="1"/>
                      <a:r>
                        <a:rPr lang="zh-CN" altLang="en-US" sz="1600">
                          <a:effectLst/>
                        </a:rPr>
                        <a:t>  活肾</a:t>
                      </a:r>
                      <a:r>
                        <a:rPr lang="en-US" altLang="zh-CN" sz="1600">
                          <a:effectLst/>
                        </a:rPr>
                        <a:t>De-phos</a:t>
                      </a:r>
                    </a:p>
                  </a:txBody>
                  <a:tcPr marL="46095" marR="46095" marT="46095" marB="46095"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7FAFF"/>
                    </a:solidFill>
                  </a:tcPr>
                </a:tc>
                <a:tc>
                  <a:txBody>
                    <a:bodyPr/>
                    <a:lstStyle/>
                    <a:p>
                      <a:pPr algn="l" latinLnBrk="1"/>
                      <a:r>
                        <a:rPr lang="zh-CN" altLang="en-US" sz="1600">
                          <a:effectLst/>
                        </a:rPr>
                        <a:t>效果次于碳酸镧，不难吃。</a:t>
                      </a:r>
                    </a:p>
                  </a:txBody>
                  <a:tcPr marL="46095" marR="46095" marT="46095" marB="46095"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7FAFF"/>
                    </a:solidFill>
                  </a:tcPr>
                </a:tc>
                <a:tc>
                  <a:txBody>
                    <a:bodyPr/>
                    <a:lstStyle/>
                    <a:p>
                      <a:pPr algn="l" latinLnBrk="1"/>
                      <a:r>
                        <a:rPr lang="zh-CN" altLang="en-US" sz="1400">
                          <a:effectLst/>
                        </a:rPr>
                        <a:t>服药后可能还需要监测血液中的铁含量。缺点是数据过少。</a:t>
                      </a:r>
                    </a:p>
                  </a:txBody>
                  <a:tcPr marL="46095" marR="46095" marT="46095" marB="46095"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7FAFF"/>
                    </a:solidFill>
                  </a:tcPr>
                </a:tc>
                <a:tc>
                  <a:txBody>
                    <a:bodyPr/>
                    <a:lstStyle/>
                    <a:p>
                      <a:pPr algn="r" latinLnBrk="1"/>
                      <a:r>
                        <a:rPr lang="en-US" altLang="zh-CN" sz="1200" b="1">
                          <a:effectLst>
                            <a:outerShdw blurRad="38100" dist="38100" dir="2700000" algn="tl">
                              <a:srgbClr val="000000">
                                <a:alpha val="43137"/>
                              </a:srgbClr>
                            </a:outerShdw>
                          </a:effectLst>
                          <a:latin typeface="+mj-ea"/>
                          <a:ea typeface="+mj-ea"/>
                        </a:rPr>
                        <a:t>1.3-2.6</a:t>
                      </a:r>
                      <a:r>
                        <a:rPr lang="zh-CN" altLang="en-US" sz="1200" b="1">
                          <a:effectLst>
                            <a:outerShdw blurRad="38100" dist="38100" dir="2700000" algn="tl">
                              <a:srgbClr val="000000">
                                <a:alpha val="43137"/>
                              </a:srgbClr>
                            </a:outerShdw>
                          </a:effectLst>
                          <a:latin typeface="+mj-ea"/>
                          <a:ea typeface="+mj-ea"/>
                        </a:rPr>
                        <a:t>元</a:t>
                      </a:r>
                      <a:r>
                        <a:rPr lang="en-US" altLang="zh-CN" sz="1200" b="1">
                          <a:effectLst>
                            <a:outerShdw blurRad="38100" dist="38100" dir="2700000" algn="tl">
                              <a:srgbClr val="000000">
                                <a:alpha val="43137"/>
                              </a:srgbClr>
                            </a:outerShdw>
                          </a:effectLst>
                          <a:latin typeface="+mj-ea"/>
                          <a:ea typeface="+mj-ea"/>
                        </a:rPr>
                        <a:t>/</a:t>
                      </a:r>
                      <a:r>
                        <a:rPr lang="zh-CN" altLang="en-US" sz="1200" b="1">
                          <a:effectLst>
                            <a:outerShdw blurRad="38100" dist="38100" dir="2700000" algn="tl">
                              <a:srgbClr val="000000">
                                <a:alpha val="43137"/>
                              </a:srgbClr>
                            </a:outerShdw>
                          </a:effectLst>
                          <a:latin typeface="+mj-ea"/>
                          <a:ea typeface="+mj-ea"/>
                        </a:rPr>
                        <a:t>天？</a:t>
                      </a:r>
                    </a:p>
                  </a:txBody>
                  <a:tcPr marL="46095" marR="46095" marT="46095" marB="46095"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7FAFF"/>
                    </a:solidFill>
                  </a:tcPr>
                </a:tc>
                <a:extLst>
                  <a:ext uri="{0D108BD9-81ED-4DB2-BD59-A6C34878D82A}">
                    <a16:rowId xmlns:a16="http://schemas.microsoft.com/office/drawing/2014/main" val="4199741569"/>
                  </a:ext>
                </a:extLst>
              </a:tr>
              <a:tr h="1362834">
                <a:tc>
                  <a:txBody>
                    <a:bodyPr/>
                    <a:lstStyle/>
                    <a:p>
                      <a:pPr algn="ctr" latinLnBrk="1"/>
                      <a:r>
                        <a:rPr lang="zh-CN" altLang="en-US" sz="1600" b="1">
                          <a:effectLst/>
                        </a:rPr>
                        <a:t>司维拉姆</a:t>
                      </a:r>
                      <a:endParaRPr lang="zh-CN" altLang="en-US" sz="1600">
                        <a:effectLst/>
                      </a:endParaRPr>
                    </a:p>
                  </a:txBody>
                  <a:tcPr marL="46095" marR="46095" marT="46095" marB="46095"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7FAFF"/>
                    </a:solidFill>
                  </a:tcPr>
                </a:tc>
                <a:tc>
                  <a:txBody>
                    <a:bodyPr/>
                    <a:lstStyle/>
                    <a:p>
                      <a:pPr latinLnBrk="1"/>
                      <a:r>
                        <a:rPr lang="zh-CN" altLang="en-US" sz="1600">
                          <a:effectLst/>
                        </a:rPr>
                        <a:t>  诺维乐</a:t>
                      </a:r>
                    </a:p>
                  </a:txBody>
                  <a:tcPr marL="46095" marR="46095" marT="46095" marB="46095"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7FAFF"/>
                    </a:solidFill>
                  </a:tcPr>
                </a:tc>
                <a:tc>
                  <a:txBody>
                    <a:bodyPr/>
                    <a:lstStyle/>
                    <a:p>
                      <a:pPr algn="l" latinLnBrk="1"/>
                      <a:r>
                        <a:rPr lang="zh-CN" altLang="en-US" sz="1600">
                          <a:effectLst/>
                        </a:rPr>
                        <a:t>无奈替代品</a:t>
                      </a:r>
                    </a:p>
                  </a:txBody>
                  <a:tcPr marL="46095" marR="46095" marT="46095" marB="46095"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7FAFF"/>
                    </a:solidFill>
                  </a:tcPr>
                </a:tc>
                <a:tc>
                  <a:txBody>
                    <a:bodyPr/>
                    <a:lstStyle/>
                    <a:p>
                      <a:pPr algn="l" latinLnBrk="1"/>
                      <a:r>
                        <a:rPr lang="zh-CN" altLang="en-US" sz="1400">
                          <a:effectLst/>
                        </a:rPr>
                        <a:t>效果不如碳酸镧也不如柠檬酸铁。给猫使用历史短。有几率造成凝血问题。一样有导致便秘的可能。</a:t>
                      </a:r>
                    </a:p>
                  </a:txBody>
                  <a:tcPr marL="46095" marR="46095" marT="46095" marB="46095"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7FAFF"/>
                    </a:solidFill>
                  </a:tcPr>
                </a:tc>
                <a:tc>
                  <a:txBody>
                    <a:bodyPr/>
                    <a:lstStyle/>
                    <a:p>
                      <a:pPr algn="r" latinLnBrk="1"/>
                      <a:r>
                        <a:rPr lang="en-US" altLang="zh-CN" sz="1200" b="1">
                          <a:effectLst>
                            <a:outerShdw blurRad="38100" dist="38100" dir="2700000" algn="tl">
                              <a:srgbClr val="000000">
                                <a:alpha val="43137"/>
                              </a:srgbClr>
                            </a:outerShdw>
                          </a:effectLst>
                          <a:latin typeface="+mj-ea"/>
                          <a:ea typeface="+mj-ea"/>
                        </a:rPr>
                        <a:t>7.3</a:t>
                      </a:r>
                      <a:r>
                        <a:rPr lang="zh-CN" altLang="en-US" sz="1200" b="1">
                          <a:effectLst>
                            <a:outerShdw blurRad="38100" dist="38100" dir="2700000" algn="tl">
                              <a:srgbClr val="000000">
                                <a:alpha val="43137"/>
                              </a:srgbClr>
                            </a:outerShdw>
                          </a:effectLst>
                          <a:latin typeface="+mj-ea"/>
                          <a:ea typeface="+mj-ea"/>
                        </a:rPr>
                        <a:t>元到</a:t>
                      </a:r>
                      <a:r>
                        <a:rPr lang="en-US" altLang="zh-CN" sz="1200" b="1">
                          <a:effectLst>
                            <a:outerShdw blurRad="38100" dist="38100" dir="2700000" algn="tl">
                              <a:srgbClr val="000000">
                                <a:alpha val="43137"/>
                              </a:srgbClr>
                            </a:outerShdw>
                          </a:effectLst>
                          <a:latin typeface="+mj-ea"/>
                          <a:ea typeface="+mj-ea"/>
                        </a:rPr>
                        <a:t>12</a:t>
                      </a:r>
                      <a:r>
                        <a:rPr lang="zh-CN" altLang="en-US" sz="1200" b="1">
                          <a:effectLst>
                            <a:outerShdw blurRad="38100" dist="38100" dir="2700000" algn="tl">
                              <a:srgbClr val="000000">
                                <a:alpha val="43137"/>
                              </a:srgbClr>
                            </a:outerShdw>
                          </a:effectLst>
                          <a:latin typeface="+mj-ea"/>
                          <a:ea typeface="+mj-ea"/>
                        </a:rPr>
                        <a:t>元</a:t>
                      </a:r>
                      <a:r>
                        <a:rPr lang="en-US" altLang="zh-CN" sz="1200" b="1">
                          <a:effectLst>
                            <a:outerShdw blurRad="38100" dist="38100" dir="2700000" algn="tl">
                              <a:srgbClr val="000000">
                                <a:alpha val="43137"/>
                              </a:srgbClr>
                            </a:outerShdw>
                          </a:effectLst>
                          <a:latin typeface="+mj-ea"/>
                          <a:ea typeface="+mj-ea"/>
                        </a:rPr>
                        <a:t>/</a:t>
                      </a:r>
                      <a:r>
                        <a:rPr lang="zh-CN" altLang="en-US" sz="1200" b="1">
                          <a:effectLst>
                            <a:outerShdw blurRad="38100" dist="38100" dir="2700000" algn="tl">
                              <a:srgbClr val="000000">
                                <a:alpha val="43137"/>
                              </a:srgbClr>
                            </a:outerShdw>
                          </a:effectLst>
                          <a:latin typeface="+mj-ea"/>
                          <a:ea typeface="+mj-ea"/>
                        </a:rPr>
                        <a:t>天</a:t>
                      </a:r>
                    </a:p>
                  </a:txBody>
                  <a:tcPr marL="46095" marR="46095" marT="46095" marB="46095"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7FAFF"/>
                    </a:solidFill>
                  </a:tcPr>
                </a:tc>
                <a:extLst>
                  <a:ext uri="{0D108BD9-81ED-4DB2-BD59-A6C34878D82A}">
                    <a16:rowId xmlns:a16="http://schemas.microsoft.com/office/drawing/2014/main" val="2190328300"/>
                  </a:ext>
                </a:extLst>
              </a:tr>
              <a:tr h="1362834">
                <a:tc>
                  <a:txBody>
                    <a:bodyPr/>
                    <a:lstStyle/>
                    <a:p>
                      <a:pPr algn="ctr" latinLnBrk="1"/>
                      <a:r>
                        <a:rPr lang="zh-CN" altLang="en-US" sz="1600" b="1">
                          <a:effectLst/>
                        </a:rPr>
                        <a:t>含钙磷结合剂</a:t>
                      </a:r>
                      <a:endParaRPr lang="zh-CN" altLang="en-US" sz="1600">
                        <a:effectLst/>
                      </a:endParaRPr>
                    </a:p>
                  </a:txBody>
                  <a:tcPr marL="46095" marR="46095" marT="46095" marB="46095"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7FAFF"/>
                    </a:solidFill>
                  </a:tcPr>
                </a:tc>
                <a:tc>
                  <a:txBody>
                    <a:bodyPr/>
                    <a:lstStyle/>
                    <a:p>
                      <a:pPr marL="285750" indent="-285750" latinLnBrk="1">
                        <a:buFont typeface="Arial" panose="020B0604020202020204" pitchFamily="34" charset="0"/>
                        <a:buChar char="•"/>
                      </a:pPr>
                      <a:r>
                        <a:rPr lang="zh-CN" altLang="en-US" sz="1600">
                          <a:effectLst/>
                        </a:rPr>
                        <a:t>肾康</a:t>
                      </a:r>
                    </a:p>
                    <a:p>
                      <a:pPr marL="285750" indent="-285750" latinLnBrk="1">
                        <a:buFont typeface="Arial" panose="020B0604020202020204" pitchFamily="34" charset="0"/>
                        <a:buChar char="•"/>
                      </a:pPr>
                      <a:r>
                        <a:rPr lang="zh-CN" altLang="en-US" sz="1600">
                          <a:effectLst/>
                        </a:rPr>
                        <a:t>醋酸钙</a:t>
                      </a:r>
                    </a:p>
                    <a:p>
                      <a:pPr marL="285750" indent="-285750" latinLnBrk="1">
                        <a:buFont typeface="Arial" panose="020B0604020202020204" pitchFamily="34" charset="0"/>
                        <a:buChar char="•"/>
                      </a:pPr>
                      <a:r>
                        <a:rPr lang="zh-CN" altLang="en-US" sz="1600">
                          <a:effectLst/>
                        </a:rPr>
                        <a:t>碳酸钙</a:t>
                      </a:r>
                    </a:p>
                  </a:txBody>
                  <a:tcPr marL="46095" marR="46095" marT="46095" marB="46095"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7FAFF"/>
                    </a:solidFill>
                  </a:tcPr>
                </a:tc>
                <a:tc>
                  <a:txBody>
                    <a:bodyPr/>
                    <a:lstStyle/>
                    <a:p>
                      <a:pPr algn="l" latinLnBrk="1"/>
                      <a:r>
                        <a:rPr lang="zh-CN" altLang="en-US" sz="1600">
                          <a:effectLst/>
                        </a:rPr>
                        <a:t>最容易买</a:t>
                      </a:r>
                    </a:p>
                  </a:txBody>
                  <a:tcPr marL="46095" marR="46095" marT="46095" marB="46095"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7FAFF"/>
                    </a:solidFill>
                  </a:tcPr>
                </a:tc>
                <a:tc>
                  <a:txBody>
                    <a:bodyPr/>
                    <a:lstStyle/>
                    <a:p>
                      <a:pPr algn="l" latinLnBrk="1"/>
                      <a:r>
                        <a:rPr lang="zh-CN" altLang="en-US" sz="1400">
                          <a:effectLst/>
                        </a:rPr>
                        <a:t>效力最差，不如含铝类产品，也不如碳酸镧。可能导致血钙升高。</a:t>
                      </a:r>
                    </a:p>
                  </a:txBody>
                  <a:tcPr marL="46095" marR="46095" marT="46095" marB="46095"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7FAFF"/>
                    </a:solidFill>
                  </a:tcPr>
                </a:tc>
                <a:tc>
                  <a:txBody>
                    <a:bodyPr/>
                    <a:lstStyle/>
                    <a:p>
                      <a:pPr algn="r" latinLnBrk="1"/>
                      <a:r>
                        <a:rPr lang="en-US" altLang="zh-CN" sz="1200" b="1">
                          <a:effectLst>
                            <a:outerShdw blurRad="38100" dist="38100" dir="2700000" algn="tl">
                              <a:srgbClr val="000000">
                                <a:alpha val="43137"/>
                              </a:srgbClr>
                            </a:outerShdw>
                          </a:effectLst>
                          <a:latin typeface="+mj-ea"/>
                          <a:ea typeface="+mj-ea"/>
                        </a:rPr>
                        <a:t>2.7</a:t>
                      </a:r>
                      <a:r>
                        <a:rPr lang="zh-CN" altLang="en-US" sz="1200" b="1">
                          <a:effectLst>
                            <a:outerShdw blurRad="38100" dist="38100" dir="2700000" algn="tl">
                              <a:srgbClr val="000000">
                                <a:alpha val="43137"/>
                              </a:srgbClr>
                            </a:outerShdw>
                          </a:effectLst>
                          <a:latin typeface="+mj-ea"/>
                          <a:ea typeface="+mj-ea"/>
                        </a:rPr>
                        <a:t>元到</a:t>
                      </a:r>
                      <a:r>
                        <a:rPr lang="en-US" altLang="zh-CN" sz="1200" b="1">
                          <a:effectLst>
                            <a:outerShdw blurRad="38100" dist="38100" dir="2700000" algn="tl">
                              <a:srgbClr val="000000">
                                <a:alpha val="43137"/>
                              </a:srgbClr>
                            </a:outerShdw>
                          </a:effectLst>
                          <a:latin typeface="+mj-ea"/>
                          <a:ea typeface="+mj-ea"/>
                        </a:rPr>
                        <a:t>3</a:t>
                      </a:r>
                      <a:r>
                        <a:rPr lang="zh-CN" altLang="en-US" sz="1200" b="1">
                          <a:effectLst>
                            <a:outerShdw blurRad="38100" dist="38100" dir="2700000" algn="tl">
                              <a:srgbClr val="000000">
                                <a:alpha val="43137"/>
                              </a:srgbClr>
                            </a:outerShdw>
                          </a:effectLst>
                          <a:latin typeface="+mj-ea"/>
                          <a:ea typeface="+mj-ea"/>
                        </a:rPr>
                        <a:t>元</a:t>
                      </a:r>
                      <a:r>
                        <a:rPr lang="en-US" altLang="zh-CN" sz="1200" b="1">
                          <a:effectLst>
                            <a:outerShdw blurRad="38100" dist="38100" dir="2700000" algn="tl">
                              <a:srgbClr val="000000">
                                <a:alpha val="43137"/>
                              </a:srgbClr>
                            </a:outerShdw>
                          </a:effectLst>
                          <a:latin typeface="+mj-ea"/>
                          <a:ea typeface="+mj-ea"/>
                        </a:rPr>
                        <a:t>/</a:t>
                      </a:r>
                      <a:r>
                        <a:rPr lang="zh-CN" altLang="en-US" sz="1200" b="1">
                          <a:effectLst>
                            <a:outerShdw blurRad="38100" dist="38100" dir="2700000" algn="tl">
                              <a:srgbClr val="000000">
                                <a:alpha val="43137"/>
                              </a:srgbClr>
                            </a:outerShdw>
                          </a:effectLst>
                          <a:latin typeface="+mj-ea"/>
                          <a:ea typeface="+mj-ea"/>
                        </a:rPr>
                        <a:t>天</a:t>
                      </a:r>
                    </a:p>
                  </a:txBody>
                  <a:tcPr marL="46095" marR="46095" marT="46095" marB="46095"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7FAFF"/>
                    </a:solidFill>
                  </a:tcPr>
                </a:tc>
                <a:extLst>
                  <a:ext uri="{0D108BD9-81ED-4DB2-BD59-A6C34878D82A}">
                    <a16:rowId xmlns:a16="http://schemas.microsoft.com/office/drawing/2014/main" val="1617076039"/>
                  </a:ext>
                </a:extLst>
              </a:tr>
            </a:tbl>
          </a:graphicData>
        </a:graphic>
      </p:graphicFrame>
    </p:spTree>
    <p:extLst>
      <p:ext uri="{BB962C8B-B14F-4D97-AF65-F5344CB8AC3E}">
        <p14:creationId xmlns:p14="http://schemas.microsoft.com/office/powerpoint/2010/main" val="7298434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p:cNvPr>
          <p:cNvGrpSpPr/>
          <p:nvPr/>
        </p:nvGrpSpPr>
        <p:grpSpPr>
          <a:xfrm>
            <a:off x="4871863" y="0"/>
            <a:ext cx="7320137" cy="1035882"/>
            <a:chOff x="8112223" y="330677"/>
            <a:chExt cx="4194115" cy="1035882"/>
          </a:xfrm>
          <a:effectLst>
            <a:outerShdw blurRad="50800" dist="38100" dir="5400000" algn="t" rotWithShape="0">
              <a:prstClr val="black">
                <a:alpha val="40000"/>
              </a:prstClr>
            </a:outerShdw>
          </a:effectLst>
        </p:grpSpPr>
        <p:sp>
          <p:nvSpPr>
            <p:cNvPr id="27"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8281096" y="330677"/>
              <a:ext cx="4013203" cy="985057"/>
              <a:chOff x="-461843" y="2729730"/>
              <a:chExt cx="4727020" cy="1377463"/>
            </a:xfrm>
          </p:grpSpPr>
          <p:sp>
            <p:nvSpPr>
              <p:cNvPr id="29"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1402351" y="2972777"/>
                <a:ext cx="2862826" cy="811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latin typeface="+mn-lt"/>
                    <a:ea typeface="+mn-ea"/>
                    <a:cs typeface="+mn-ea"/>
                    <a:sym typeface="+mn-lt"/>
                  </a:rPr>
                  <a:t>磷结合剂？毒素结合剂？</a:t>
                </a:r>
                <a:endParaRPr lang="en-US" altLang="zh-CN" sz="2400" b="1">
                  <a:solidFill>
                    <a:srgbClr val="010101"/>
                  </a:solidFill>
                  <a:latin typeface="+mn-lt"/>
                  <a:ea typeface="+mn-ea"/>
                  <a:cs typeface="+mn-ea"/>
                  <a:sym typeface="+mn-lt"/>
                </a:endParaRPr>
              </a:p>
            </p:txBody>
          </p:sp>
          <p:cxnSp>
            <p:nvCxnSpPr>
              <p:cNvPr id="31" name="直接连接符 30">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506334" y="3461620"/>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grpSp>
        <p:nvGrpSpPr>
          <p:cNvPr id="37893" name="组合 1"/>
          <p:cNvGrpSpPr>
            <a:grpSpLocks/>
          </p:cNvGrpSpPr>
          <p:nvPr/>
        </p:nvGrpSpPr>
        <p:grpSpPr bwMode="auto">
          <a:xfrm>
            <a:off x="777200" y="2492896"/>
            <a:ext cx="4865878" cy="2973190"/>
            <a:chOff x="6931323" y="2608336"/>
            <a:chExt cx="4500246" cy="2972408"/>
          </a:xfrm>
        </p:grpSpPr>
        <p:grpSp>
          <p:nvGrpSpPr>
            <p:cNvPr id="37894" name="组合 14"/>
            <p:cNvGrpSpPr>
              <a:grpSpLocks/>
            </p:cNvGrpSpPr>
            <p:nvPr/>
          </p:nvGrpSpPr>
          <p:grpSpPr bwMode="auto">
            <a:xfrm>
              <a:off x="6931323" y="2608336"/>
              <a:ext cx="4500246" cy="718135"/>
              <a:chOff x="3936148" y="1692543"/>
              <a:chExt cx="4500246" cy="718135"/>
            </a:xfrm>
          </p:grpSpPr>
          <p:sp>
            <p:nvSpPr>
              <p:cNvPr id="55" name="文本框 66">
                <a:extLst/>
              </p:cNvPr>
              <p:cNvSpPr txBox="1">
                <a:spLocks noChangeArrowheads="1"/>
              </p:cNvSpPr>
              <p:nvPr/>
            </p:nvSpPr>
            <p:spPr bwMode="auto">
              <a:xfrm>
                <a:off x="3966308" y="1692543"/>
                <a:ext cx="4258964" cy="461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spcBef>
                    <a:spcPts val="0"/>
                  </a:spcBef>
                  <a:spcAft>
                    <a:spcPts val="0"/>
                  </a:spcAft>
                  <a:defRPr/>
                </a:pPr>
                <a:endParaRPr lang="zh-CN" altLang="en-US" sz="2400" b="1" kern="0">
                  <a:solidFill>
                    <a:srgbClr val="4F4F4F"/>
                  </a:solidFill>
                  <a:latin typeface="+mn-lt"/>
                  <a:ea typeface="+mn-ea"/>
                  <a:cs typeface="+mn-ea"/>
                  <a:sym typeface="+mn-lt"/>
                </a:endParaRPr>
              </a:p>
            </p:txBody>
          </p:sp>
          <p:sp>
            <p:nvSpPr>
              <p:cNvPr id="56" name="矩形 55">
                <a:extLst/>
              </p:cNvPr>
              <p:cNvSpPr/>
              <p:nvPr/>
            </p:nvSpPr>
            <p:spPr>
              <a:xfrm>
                <a:off x="3936148" y="2133752"/>
                <a:ext cx="4500246" cy="276926"/>
              </a:xfrm>
              <a:prstGeom prst="rect">
                <a:avLst/>
              </a:prstGeom>
            </p:spPr>
            <p:txBody>
              <a:bodyPr>
                <a:spAutoFit/>
              </a:bodyPr>
              <a:lstStyle/>
              <a:p>
                <a:pPr eaLnBrk="1" fontAlgn="auto" hangingPunct="1">
                  <a:spcBef>
                    <a:spcPts val="0"/>
                  </a:spcBef>
                  <a:spcAft>
                    <a:spcPts val="0"/>
                  </a:spcAft>
                  <a:defRPr/>
                </a:pPr>
                <a:endParaRPr lang="zh-CN" altLang="en-US" sz="1200" kern="0">
                  <a:solidFill>
                    <a:srgbClr val="4F4F4F"/>
                  </a:solidFill>
                  <a:latin typeface="+mn-lt"/>
                  <a:ea typeface="+mn-ea"/>
                  <a:cs typeface="+mn-ea"/>
                  <a:sym typeface="+mn-lt"/>
                </a:endParaRPr>
              </a:p>
            </p:txBody>
          </p:sp>
        </p:grpSp>
        <p:sp>
          <p:nvSpPr>
            <p:cNvPr id="53" name="矩形 3">
              <a:extLst/>
            </p:cNvPr>
            <p:cNvSpPr>
              <a:spLocks noChangeArrowheads="1"/>
            </p:cNvSpPr>
            <p:nvPr/>
          </p:nvSpPr>
          <p:spPr bwMode="auto">
            <a:xfrm>
              <a:off x="6931323" y="4487442"/>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sp>
          <p:nvSpPr>
            <p:cNvPr id="54" name="矩形 3">
              <a:extLst/>
            </p:cNvPr>
            <p:cNvSpPr>
              <a:spLocks noChangeArrowheads="1"/>
            </p:cNvSpPr>
            <p:nvPr/>
          </p:nvSpPr>
          <p:spPr bwMode="auto">
            <a:xfrm>
              <a:off x="6931323" y="5273048"/>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grpSp>
      <p:sp>
        <p:nvSpPr>
          <p:cNvPr id="19" name="文本框 18">
            <a:extLst>
              <a:ext uri="{FF2B5EF4-FFF2-40B4-BE49-F238E27FC236}">
                <a16:creationId xmlns:a16="http://schemas.microsoft.com/office/drawing/2014/main" id="{AEE01461-EC3B-414C-A38D-6413179E4729}"/>
              </a:ext>
            </a:extLst>
          </p:cNvPr>
          <p:cNvSpPr txBox="1"/>
          <p:nvPr/>
        </p:nvSpPr>
        <p:spPr>
          <a:xfrm>
            <a:off x="6548445" y="3093808"/>
            <a:ext cx="3600400" cy="2926486"/>
          </a:xfrm>
          <a:prstGeom prst="rect">
            <a:avLst/>
          </a:prstGeom>
          <a:noFill/>
        </p:spPr>
        <p:txBody>
          <a:bodyPr wrap="square" rtlCol="0">
            <a:spAutoFit/>
          </a:bodyPr>
          <a:lstStyle/>
          <a:p>
            <a:endParaRPr lang="zh-CN" altLang="en-US"/>
          </a:p>
        </p:txBody>
      </p:sp>
      <p:sp>
        <p:nvSpPr>
          <p:cNvPr id="21" name="矩形 20">
            <a:extLst>
              <a:ext uri="{FF2B5EF4-FFF2-40B4-BE49-F238E27FC236}">
                <a16:creationId xmlns:a16="http://schemas.microsoft.com/office/drawing/2014/main" id="{A86FF38E-0216-4C42-BDE9-7C86E5D2319E}"/>
              </a:ext>
            </a:extLst>
          </p:cNvPr>
          <p:cNvSpPr/>
          <p:nvPr/>
        </p:nvSpPr>
        <p:spPr>
          <a:xfrm>
            <a:off x="3982181" y="4263746"/>
            <a:ext cx="7929955" cy="1477328"/>
          </a:xfrm>
          <a:prstGeom prst="rect">
            <a:avLst/>
          </a:prstGeom>
        </p:spPr>
        <p:txBody>
          <a:bodyPr wrap="square">
            <a:spAutoFit/>
          </a:bodyPr>
          <a:lstStyle/>
          <a:p>
            <a:pPr marL="285750" indent="-285750" algn="just">
              <a:buFont typeface="Wingdings" panose="05000000000000000000" pitchFamily="2" charset="2"/>
              <a:buChar char="l"/>
            </a:pPr>
            <a:r>
              <a:rPr lang="zh-CN" altLang="en-US" b="1">
                <a:solidFill>
                  <a:srgbClr val="333333"/>
                </a:solidFill>
                <a:latin typeface="微软雅黑" panose="020B0503020204020204" pitchFamily="34" charset="-122"/>
                <a:ea typeface="微软雅黑" panose="020B0503020204020204" pitchFamily="34" charset="-122"/>
              </a:rPr>
              <a:t>不合适高血钙的猫。</a:t>
            </a:r>
            <a:endParaRPr lang="en-US" altLang="zh-CN" b="1">
              <a:solidFill>
                <a:srgbClr val="333333"/>
              </a:solidFill>
              <a:latin typeface="微软雅黑" panose="020B0503020204020204" pitchFamily="34" charset="-122"/>
              <a:ea typeface="微软雅黑" panose="020B0503020204020204" pitchFamily="34" charset="-122"/>
            </a:endParaRPr>
          </a:p>
          <a:p>
            <a:pPr marL="285750" indent="-285750" algn="just">
              <a:buFont typeface="Wingdings" panose="05000000000000000000" pitchFamily="2" charset="2"/>
              <a:buChar char="l"/>
            </a:pPr>
            <a:r>
              <a:rPr lang="zh-CN" altLang="en-US">
                <a:solidFill>
                  <a:srgbClr val="333333"/>
                </a:solidFill>
                <a:latin typeface="微软雅黑" panose="020B0503020204020204" pitchFamily="34" charset="-122"/>
                <a:ea typeface="微软雅黑" panose="020B0503020204020204" pitchFamily="34" charset="-122"/>
              </a:rPr>
              <a:t>磷结合能力过差，合适血磷不超过</a:t>
            </a:r>
            <a:r>
              <a:rPr lang="en-US" altLang="zh-CN">
                <a:solidFill>
                  <a:srgbClr val="333333"/>
                </a:solidFill>
                <a:latin typeface="微软雅黑" panose="020B0503020204020204" pitchFamily="34" charset="-122"/>
                <a:ea typeface="微软雅黑" panose="020B0503020204020204" pitchFamily="34" charset="-122"/>
              </a:rPr>
              <a:t>1.6mmol/L</a:t>
            </a:r>
            <a:r>
              <a:rPr lang="zh-CN" altLang="en-US">
                <a:solidFill>
                  <a:srgbClr val="333333"/>
                </a:solidFill>
                <a:latin typeface="微软雅黑" panose="020B0503020204020204" pitchFamily="34" charset="-122"/>
                <a:ea typeface="微软雅黑" panose="020B0503020204020204" pitchFamily="34" charset="-122"/>
              </a:rPr>
              <a:t>的猫。</a:t>
            </a:r>
            <a:endParaRPr lang="en-US" altLang="zh-CN">
              <a:solidFill>
                <a:srgbClr val="333333"/>
              </a:solidFill>
              <a:latin typeface="微软雅黑" panose="020B0503020204020204" pitchFamily="34" charset="-122"/>
              <a:ea typeface="微软雅黑" panose="020B0503020204020204" pitchFamily="34" charset="-122"/>
            </a:endParaRPr>
          </a:p>
          <a:p>
            <a:pPr marL="285750" indent="-285750" algn="just">
              <a:buFont typeface="Wingdings" panose="05000000000000000000" pitchFamily="2" charset="2"/>
              <a:buChar char="l"/>
            </a:pPr>
            <a:r>
              <a:rPr lang="zh-CN" altLang="en-US">
                <a:solidFill>
                  <a:srgbClr val="333333"/>
                </a:solidFill>
                <a:latin typeface="微软雅黑" panose="020B0503020204020204" pitchFamily="34" charset="-122"/>
                <a:ea typeface="微软雅黑" panose="020B0503020204020204" pitchFamily="34" charset="-122"/>
              </a:rPr>
              <a:t>毒素结合能力来自其中的壳聚糖，不如单独补充。</a:t>
            </a:r>
            <a:endParaRPr lang="en-US" altLang="zh-CN">
              <a:solidFill>
                <a:srgbClr val="333333"/>
              </a:solidFill>
              <a:latin typeface="微软雅黑" panose="020B0503020204020204" pitchFamily="34" charset="-122"/>
              <a:ea typeface="微软雅黑" panose="020B0503020204020204" pitchFamily="34" charset="-122"/>
            </a:endParaRPr>
          </a:p>
          <a:p>
            <a:pPr marL="285750" indent="-285750" algn="just">
              <a:buFont typeface="Wingdings" panose="05000000000000000000" pitchFamily="2" charset="2"/>
              <a:buChar char="l"/>
            </a:pPr>
            <a:r>
              <a:rPr lang="zh-CN" altLang="en-US">
                <a:solidFill>
                  <a:srgbClr val="333333"/>
                </a:solidFill>
                <a:latin typeface="微软雅黑" panose="020B0503020204020204" pitchFamily="34" charset="-122"/>
                <a:ea typeface="微软雅黑" panose="020B0503020204020204" pitchFamily="34" charset="-122"/>
              </a:rPr>
              <a:t>服用抗酸药时不合适使用，会导致效果降低。</a:t>
            </a:r>
            <a:endParaRPr lang="en-US" altLang="zh-CN">
              <a:solidFill>
                <a:srgbClr val="333333"/>
              </a:solidFill>
              <a:latin typeface="微软雅黑" panose="020B0503020204020204" pitchFamily="34" charset="-122"/>
              <a:ea typeface="微软雅黑" panose="020B0503020204020204" pitchFamily="34" charset="-122"/>
            </a:endParaRPr>
          </a:p>
          <a:p>
            <a:pPr marL="285750" indent="-285750" algn="just">
              <a:buFont typeface="Wingdings" panose="05000000000000000000" pitchFamily="2" charset="2"/>
              <a:buChar char="l"/>
            </a:pPr>
            <a:r>
              <a:rPr lang="zh-CN" altLang="en-US" b="0" i="0">
                <a:solidFill>
                  <a:srgbClr val="333333"/>
                </a:solidFill>
                <a:effectLst/>
                <a:latin typeface="微软雅黑" panose="020B0503020204020204" pitchFamily="34" charset="-122"/>
                <a:ea typeface="微软雅黑" panose="020B0503020204020204" pitchFamily="34" charset="-122"/>
              </a:rPr>
              <a:t>性价比偏低的产品。</a:t>
            </a:r>
          </a:p>
        </p:txBody>
      </p:sp>
      <p:pic>
        <p:nvPicPr>
          <p:cNvPr id="3" name="图片 2">
            <a:extLst>
              <a:ext uri="{FF2B5EF4-FFF2-40B4-BE49-F238E27FC236}">
                <a16:creationId xmlns:a16="http://schemas.microsoft.com/office/drawing/2014/main" id="{B2C1CC4E-BA94-473B-B13B-EFF7B9C344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0443" y="2196034"/>
            <a:ext cx="2952750" cy="2962275"/>
          </a:xfrm>
          <a:prstGeom prst="rect">
            <a:avLst/>
          </a:prstGeom>
        </p:spPr>
      </p:pic>
      <p:sp>
        <p:nvSpPr>
          <p:cNvPr id="4" name="文本框 3">
            <a:extLst>
              <a:ext uri="{FF2B5EF4-FFF2-40B4-BE49-F238E27FC236}">
                <a16:creationId xmlns:a16="http://schemas.microsoft.com/office/drawing/2014/main" id="{98963A0B-1DDF-4AE8-AD27-ED6EC6D3AEB9}"/>
              </a:ext>
            </a:extLst>
          </p:cNvPr>
          <p:cNvSpPr txBox="1"/>
          <p:nvPr/>
        </p:nvSpPr>
        <p:spPr>
          <a:xfrm>
            <a:off x="4151784" y="2492896"/>
            <a:ext cx="5904656" cy="923330"/>
          </a:xfrm>
          <a:prstGeom prst="rect">
            <a:avLst/>
          </a:prstGeom>
          <a:noFill/>
        </p:spPr>
        <p:txBody>
          <a:bodyPr wrap="square" rtlCol="0">
            <a:spAutoFit/>
          </a:bodyPr>
          <a:lstStyle/>
          <a:p>
            <a:r>
              <a:rPr lang="zh-CN" altLang="en-US" b="1">
                <a:latin typeface="+mj-ea"/>
                <a:ea typeface="+mj-ea"/>
              </a:rPr>
              <a:t>主要原料是乳糖，碳酸钙（</a:t>
            </a:r>
            <a:r>
              <a:rPr lang="en-US" altLang="zh-CN" b="1">
                <a:latin typeface="+mj-ea"/>
                <a:ea typeface="+mj-ea"/>
              </a:rPr>
              <a:t>10%</a:t>
            </a:r>
            <a:r>
              <a:rPr lang="zh-CN" altLang="en-US" b="1">
                <a:latin typeface="+mj-ea"/>
                <a:ea typeface="+mj-ea"/>
              </a:rPr>
              <a:t>），壳聚糖（</a:t>
            </a:r>
            <a:r>
              <a:rPr lang="en-US" altLang="zh-CN" b="1">
                <a:latin typeface="+mj-ea"/>
                <a:ea typeface="+mj-ea"/>
              </a:rPr>
              <a:t>chitosan</a:t>
            </a:r>
            <a:r>
              <a:rPr lang="zh-CN" altLang="en-US" b="1">
                <a:latin typeface="+mj-ea"/>
                <a:ea typeface="+mj-ea"/>
              </a:rPr>
              <a:t>，</a:t>
            </a:r>
            <a:r>
              <a:rPr lang="en-US" altLang="zh-CN" b="1">
                <a:latin typeface="+mj-ea"/>
                <a:ea typeface="+mj-ea"/>
              </a:rPr>
              <a:t>8%</a:t>
            </a:r>
            <a:r>
              <a:rPr lang="zh-CN" altLang="en-US" b="1">
                <a:latin typeface="+mj-ea"/>
                <a:ea typeface="+mj-ea"/>
              </a:rPr>
              <a:t>）。构成较廉价。多款产品与此配方雷同，如威霸肾康，摩登狗肾康等。</a:t>
            </a:r>
          </a:p>
        </p:txBody>
      </p:sp>
      <p:sp>
        <p:nvSpPr>
          <p:cNvPr id="5" name="文本框 4">
            <a:extLst>
              <a:ext uri="{FF2B5EF4-FFF2-40B4-BE49-F238E27FC236}">
                <a16:creationId xmlns:a16="http://schemas.microsoft.com/office/drawing/2014/main" id="{48D59AAB-31AD-4E45-A027-B78180DBC380}"/>
              </a:ext>
            </a:extLst>
          </p:cNvPr>
          <p:cNvSpPr txBox="1"/>
          <p:nvPr/>
        </p:nvSpPr>
        <p:spPr>
          <a:xfrm>
            <a:off x="983432" y="1222453"/>
            <a:ext cx="3323136" cy="707886"/>
          </a:xfrm>
          <a:prstGeom prst="rect">
            <a:avLst/>
          </a:prstGeom>
          <a:noFill/>
        </p:spPr>
        <p:txBody>
          <a:bodyPr wrap="square" rtlCol="0">
            <a:spAutoFit/>
          </a:bodyPr>
          <a:lstStyle/>
          <a:p>
            <a:r>
              <a:rPr lang="zh-CN" altLang="en-US" sz="4000" b="1"/>
              <a:t>威隆肾康</a:t>
            </a:r>
          </a:p>
        </p:txBody>
      </p:sp>
    </p:spTree>
    <p:extLst>
      <p:ext uri="{BB962C8B-B14F-4D97-AF65-F5344CB8AC3E}">
        <p14:creationId xmlns:p14="http://schemas.microsoft.com/office/powerpoint/2010/main" val="40712157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p:cNvPr>
          <p:cNvGrpSpPr/>
          <p:nvPr/>
        </p:nvGrpSpPr>
        <p:grpSpPr>
          <a:xfrm>
            <a:off x="4871863" y="0"/>
            <a:ext cx="7320137" cy="1035882"/>
            <a:chOff x="8112223" y="330677"/>
            <a:chExt cx="4194115" cy="1035882"/>
          </a:xfrm>
          <a:effectLst>
            <a:outerShdw blurRad="50800" dist="38100" dir="5400000" algn="t" rotWithShape="0">
              <a:prstClr val="black">
                <a:alpha val="40000"/>
              </a:prstClr>
            </a:outerShdw>
          </a:effectLst>
        </p:grpSpPr>
        <p:sp>
          <p:nvSpPr>
            <p:cNvPr id="27"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8281096" y="330677"/>
              <a:ext cx="4013203" cy="985057"/>
              <a:chOff x="-461843" y="2729730"/>
              <a:chExt cx="4727020" cy="1377463"/>
            </a:xfrm>
          </p:grpSpPr>
          <p:sp>
            <p:nvSpPr>
              <p:cNvPr id="29"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1402351" y="2972777"/>
                <a:ext cx="2862826" cy="811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latin typeface="+mn-lt"/>
                    <a:ea typeface="+mn-ea"/>
                    <a:cs typeface="+mn-ea"/>
                    <a:sym typeface="+mn-lt"/>
                  </a:rPr>
                  <a:t>最强最贵碳酸镧</a:t>
                </a:r>
                <a:endParaRPr lang="en-US" altLang="zh-CN" sz="2400" b="1">
                  <a:solidFill>
                    <a:srgbClr val="010101"/>
                  </a:solidFill>
                  <a:latin typeface="+mn-lt"/>
                  <a:ea typeface="+mn-ea"/>
                  <a:cs typeface="+mn-ea"/>
                  <a:sym typeface="+mn-lt"/>
                </a:endParaRPr>
              </a:p>
            </p:txBody>
          </p:sp>
          <p:cxnSp>
            <p:nvCxnSpPr>
              <p:cNvPr id="31" name="直接连接符 30">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506334" y="3461620"/>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grpSp>
        <p:nvGrpSpPr>
          <p:cNvPr id="37893" name="组合 1"/>
          <p:cNvGrpSpPr>
            <a:grpSpLocks/>
          </p:cNvGrpSpPr>
          <p:nvPr/>
        </p:nvGrpSpPr>
        <p:grpSpPr bwMode="auto">
          <a:xfrm>
            <a:off x="777200" y="2492896"/>
            <a:ext cx="4865878" cy="2973190"/>
            <a:chOff x="6931323" y="2608336"/>
            <a:chExt cx="4500246" cy="2972408"/>
          </a:xfrm>
        </p:grpSpPr>
        <p:grpSp>
          <p:nvGrpSpPr>
            <p:cNvPr id="37894" name="组合 14"/>
            <p:cNvGrpSpPr>
              <a:grpSpLocks/>
            </p:cNvGrpSpPr>
            <p:nvPr/>
          </p:nvGrpSpPr>
          <p:grpSpPr bwMode="auto">
            <a:xfrm>
              <a:off x="6931323" y="2608336"/>
              <a:ext cx="4500246" cy="718135"/>
              <a:chOff x="3936148" y="1692543"/>
              <a:chExt cx="4500246" cy="718135"/>
            </a:xfrm>
          </p:grpSpPr>
          <p:sp>
            <p:nvSpPr>
              <p:cNvPr id="55" name="文本框 66">
                <a:extLst/>
              </p:cNvPr>
              <p:cNvSpPr txBox="1">
                <a:spLocks noChangeArrowheads="1"/>
              </p:cNvSpPr>
              <p:nvPr/>
            </p:nvSpPr>
            <p:spPr bwMode="auto">
              <a:xfrm>
                <a:off x="3966308" y="1692543"/>
                <a:ext cx="4258964" cy="461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spcBef>
                    <a:spcPts val="0"/>
                  </a:spcBef>
                  <a:spcAft>
                    <a:spcPts val="0"/>
                  </a:spcAft>
                  <a:defRPr/>
                </a:pPr>
                <a:endParaRPr lang="zh-CN" altLang="en-US" sz="2400" b="1" kern="0">
                  <a:solidFill>
                    <a:srgbClr val="4F4F4F"/>
                  </a:solidFill>
                  <a:latin typeface="+mn-lt"/>
                  <a:ea typeface="+mn-ea"/>
                  <a:cs typeface="+mn-ea"/>
                  <a:sym typeface="+mn-lt"/>
                </a:endParaRPr>
              </a:p>
            </p:txBody>
          </p:sp>
          <p:sp>
            <p:nvSpPr>
              <p:cNvPr id="56" name="矩形 55">
                <a:extLst/>
              </p:cNvPr>
              <p:cNvSpPr/>
              <p:nvPr/>
            </p:nvSpPr>
            <p:spPr>
              <a:xfrm>
                <a:off x="3936148" y="2133752"/>
                <a:ext cx="4500246" cy="276926"/>
              </a:xfrm>
              <a:prstGeom prst="rect">
                <a:avLst/>
              </a:prstGeom>
            </p:spPr>
            <p:txBody>
              <a:bodyPr>
                <a:spAutoFit/>
              </a:bodyPr>
              <a:lstStyle/>
              <a:p>
                <a:pPr eaLnBrk="1" fontAlgn="auto" hangingPunct="1">
                  <a:spcBef>
                    <a:spcPts val="0"/>
                  </a:spcBef>
                  <a:spcAft>
                    <a:spcPts val="0"/>
                  </a:spcAft>
                  <a:defRPr/>
                </a:pPr>
                <a:endParaRPr lang="zh-CN" altLang="en-US" sz="1200" kern="0">
                  <a:solidFill>
                    <a:srgbClr val="4F4F4F"/>
                  </a:solidFill>
                  <a:latin typeface="+mn-lt"/>
                  <a:ea typeface="+mn-ea"/>
                  <a:cs typeface="+mn-ea"/>
                  <a:sym typeface="+mn-lt"/>
                </a:endParaRPr>
              </a:p>
            </p:txBody>
          </p:sp>
        </p:grpSp>
        <p:sp>
          <p:nvSpPr>
            <p:cNvPr id="53" name="矩形 3">
              <a:extLst/>
            </p:cNvPr>
            <p:cNvSpPr>
              <a:spLocks noChangeArrowheads="1"/>
            </p:cNvSpPr>
            <p:nvPr/>
          </p:nvSpPr>
          <p:spPr bwMode="auto">
            <a:xfrm>
              <a:off x="6931323" y="4487442"/>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sp>
          <p:nvSpPr>
            <p:cNvPr id="54" name="矩形 3">
              <a:extLst/>
            </p:cNvPr>
            <p:cNvSpPr>
              <a:spLocks noChangeArrowheads="1"/>
            </p:cNvSpPr>
            <p:nvPr/>
          </p:nvSpPr>
          <p:spPr bwMode="auto">
            <a:xfrm>
              <a:off x="6931323" y="5273048"/>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grpSp>
      <p:pic>
        <p:nvPicPr>
          <p:cNvPr id="7" name="图片 6">
            <a:extLst>
              <a:ext uri="{FF2B5EF4-FFF2-40B4-BE49-F238E27FC236}">
                <a16:creationId xmlns:a16="http://schemas.microsoft.com/office/drawing/2014/main" id="{BAFD8D0C-3BDA-4AA4-9086-E0A5BDD86C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7338" y="2093391"/>
            <a:ext cx="3526583" cy="3218806"/>
          </a:xfrm>
          <a:prstGeom prst="rect">
            <a:avLst/>
          </a:prstGeom>
        </p:spPr>
      </p:pic>
      <p:sp>
        <p:nvSpPr>
          <p:cNvPr id="19" name="文本框 18">
            <a:extLst>
              <a:ext uri="{FF2B5EF4-FFF2-40B4-BE49-F238E27FC236}">
                <a16:creationId xmlns:a16="http://schemas.microsoft.com/office/drawing/2014/main" id="{AEE01461-EC3B-414C-A38D-6413179E4729}"/>
              </a:ext>
            </a:extLst>
          </p:cNvPr>
          <p:cNvSpPr txBox="1"/>
          <p:nvPr/>
        </p:nvSpPr>
        <p:spPr>
          <a:xfrm>
            <a:off x="6548445" y="3093808"/>
            <a:ext cx="3600400" cy="2926486"/>
          </a:xfrm>
          <a:prstGeom prst="rect">
            <a:avLst/>
          </a:prstGeom>
          <a:noFill/>
        </p:spPr>
        <p:txBody>
          <a:bodyPr wrap="square" rtlCol="0">
            <a:spAutoFit/>
          </a:bodyPr>
          <a:lstStyle/>
          <a:p>
            <a:endParaRPr lang="zh-CN" altLang="en-US"/>
          </a:p>
        </p:txBody>
      </p:sp>
      <p:graphicFrame>
        <p:nvGraphicFramePr>
          <p:cNvPr id="20" name="表格 19">
            <a:extLst>
              <a:ext uri="{FF2B5EF4-FFF2-40B4-BE49-F238E27FC236}">
                <a16:creationId xmlns:a16="http://schemas.microsoft.com/office/drawing/2014/main" id="{845E1207-DBDF-4A96-8670-EDDACD50355D}"/>
              </a:ext>
            </a:extLst>
          </p:cNvPr>
          <p:cNvGraphicFramePr>
            <a:graphicFrameLocks noGrp="1"/>
          </p:cNvGraphicFramePr>
          <p:nvPr>
            <p:extLst>
              <p:ext uri="{D42A27DB-BD31-4B8C-83A1-F6EECF244321}">
                <p14:modId xmlns:p14="http://schemas.microsoft.com/office/powerpoint/2010/main" val="701721878"/>
              </p:ext>
            </p:extLst>
          </p:nvPr>
        </p:nvGraphicFramePr>
        <p:xfrm>
          <a:off x="4223793" y="1668630"/>
          <a:ext cx="7093324" cy="2324100"/>
        </p:xfrm>
        <a:graphic>
          <a:graphicData uri="http://schemas.openxmlformats.org/drawingml/2006/table">
            <a:tbl>
              <a:tblPr/>
              <a:tblGrid>
                <a:gridCol w="2403767">
                  <a:extLst>
                    <a:ext uri="{9D8B030D-6E8A-4147-A177-3AD203B41FA5}">
                      <a16:colId xmlns:a16="http://schemas.microsoft.com/office/drawing/2014/main" val="1420404709"/>
                    </a:ext>
                  </a:extLst>
                </a:gridCol>
                <a:gridCol w="4689557">
                  <a:extLst>
                    <a:ext uri="{9D8B030D-6E8A-4147-A177-3AD203B41FA5}">
                      <a16:colId xmlns:a16="http://schemas.microsoft.com/office/drawing/2014/main" val="1316277034"/>
                    </a:ext>
                  </a:extLst>
                </a:gridCol>
              </a:tblGrid>
              <a:tr h="0">
                <a:tc gridSpan="2">
                  <a:txBody>
                    <a:bodyPr/>
                    <a:lstStyle/>
                    <a:p>
                      <a:pPr latinLnBrk="1"/>
                      <a:r>
                        <a:rPr lang="zh-CN" altLang="en-US" b="1">
                          <a:effectLst/>
                        </a:rPr>
                        <a:t>碳酸镧用量建议（</a:t>
                      </a:r>
                      <a:r>
                        <a:rPr lang="en-US" b="1">
                          <a:effectLst/>
                        </a:rPr>
                        <a:t>by Helen Fitzsimons </a:t>
                      </a:r>
                      <a:r>
                        <a:rPr lang="en-US" altLang="zh-CN" b="1">
                          <a:effectLst/>
                        </a:rPr>
                        <a:t>from felinecrf.org</a:t>
                      </a:r>
                      <a:r>
                        <a:rPr lang="en-US" b="1">
                          <a:effectLst/>
                        </a:rPr>
                        <a:t>）</a:t>
                      </a:r>
                      <a:endParaRPr lang="en-US">
                        <a:effectLst/>
                      </a:endParaRPr>
                    </a:p>
                  </a:txBody>
                  <a:tcPr marL="95250" marR="95250" marT="95250" marB="95250"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CFCFC"/>
                    </a:solidFill>
                  </a:tcPr>
                </a:tc>
                <a:tc hMerge="1">
                  <a:txBody>
                    <a:bodyPr/>
                    <a:lstStyle/>
                    <a:p>
                      <a:endParaRPr lang="zh-CN" altLang="en-US"/>
                    </a:p>
                  </a:txBody>
                  <a:tcPr/>
                </a:tc>
                <a:extLst>
                  <a:ext uri="{0D108BD9-81ED-4DB2-BD59-A6C34878D82A}">
                    <a16:rowId xmlns:a16="http://schemas.microsoft.com/office/drawing/2014/main" val="3860941516"/>
                  </a:ext>
                </a:extLst>
              </a:tr>
              <a:tr h="0">
                <a:tc>
                  <a:txBody>
                    <a:bodyPr/>
                    <a:lstStyle/>
                    <a:p>
                      <a:pPr latinLnBrk="1"/>
                      <a:r>
                        <a:rPr lang="zh-CN" altLang="en-US">
                          <a:effectLst/>
                        </a:rPr>
                        <a:t>猫血磷指标（</a:t>
                      </a:r>
                      <a:r>
                        <a:rPr lang="en-US" altLang="zh-CN">
                          <a:effectLst/>
                        </a:rPr>
                        <a:t>mmol/L</a:t>
                      </a:r>
                      <a:r>
                        <a:rPr lang="zh-CN" altLang="en-US">
                          <a:effectLst/>
                        </a:rPr>
                        <a:t>）</a:t>
                      </a:r>
                    </a:p>
                  </a:txBody>
                  <a:tcPr marL="95250" marR="95250" marT="95250" marB="95250"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7FAFF"/>
                    </a:solidFill>
                  </a:tcPr>
                </a:tc>
                <a:tc>
                  <a:txBody>
                    <a:bodyPr/>
                    <a:lstStyle/>
                    <a:p>
                      <a:pPr latinLnBrk="1"/>
                      <a:r>
                        <a:rPr lang="zh-CN" altLang="en-US">
                          <a:effectLst/>
                        </a:rPr>
                        <a:t>碳酸镧用量（全天）</a:t>
                      </a:r>
                    </a:p>
                  </a:txBody>
                  <a:tcPr marL="95250" marR="95250" marT="95250" marB="95250"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7FAFF"/>
                    </a:solidFill>
                  </a:tcPr>
                </a:tc>
                <a:extLst>
                  <a:ext uri="{0D108BD9-81ED-4DB2-BD59-A6C34878D82A}">
                    <a16:rowId xmlns:a16="http://schemas.microsoft.com/office/drawing/2014/main" val="1314937687"/>
                  </a:ext>
                </a:extLst>
              </a:tr>
              <a:tr h="0">
                <a:tc>
                  <a:txBody>
                    <a:bodyPr/>
                    <a:lstStyle/>
                    <a:p>
                      <a:pPr latinLnBrk="1"/>
                      <a:r>
                        <a:rPr lang="zh-CN" altLang="en-US">
                          <a:effectLst/>
                        </a:rPr>
                        <a:t>低于</a:t>
                      </a:r>
                      <a:r>
                        <a:rPr lang="en-US" altLang="zh-CN">
                          <a:effectLst/>
                        </a:rPr>
                        <a:t>1.90</a:t>
                      </a:r>
                    </a:p>
                  </a:txBody>
                  <a:tcPr marL="95250" marR="95250" marT="95250" marB="95250"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CFCFC"/>
                    </a:solidFill>
                  </a:tcPr>
                </a:tc>
                <a:tc>
                  <a:txBody>
                    <a:bodyPr/>
                    <a:lstStyle/>
                    <a:p>
                      <a:pPr latinLnBrk="1"/>
                      <a:r>
                        <a:rPr lang="en-US">
                          <a:effectLst/>
                        </a:rPr>
                        <a:t>30mg/kg</a:t>
                      </a:r>
                    </a:p>
                  </a:txBody>
                  <a:tcPr marL="95250" marR="95250" marT="95250" marB="95250"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CFCFC"/>
                    </a:solidFill>
                  </a:tcPr>
                </a:tc>
                <a:extLst>
                  <a:ext uri="{0D108BD9-81ED-4DB2-BD59-A6C34878D82A}">
                    <a16:rowId xmlns:a16="http://schemas.microsoft.com/office/drawing/2014/main" val="2785783198"/>
                  </a:ext>
                </a:extLst>
              </a:tr>
              <a:tr h="0">
                <a:tc>
                  <a:txBody>
                    <a:bodyPr/>
                    <a:lstStyle/>
                    <a:p>
                      <a:pPr latinLnBrk="1"/>
                      <a:r>
                        <a:rPr lang="zh-CN" altLang="en-US">
                          <a:effectLst/>
                        </a:rPr>
                        <a:t>介于</a:t>
                      </a:r>
                      <a:r>
                        <a:rPr lang="en-US" altLang="zh-CN">
                          <a:effectLst/>
                        </a:rPr>
                        <a:t>1.90-2.25</a:t>
                      </a:r>
                      <a:r>
                        <a:rPr lang="zh-CN" altLang="en-US">
                          <a:effectLst/>
                        </a:rPr>
                        <a:t>之间</a:t>
                      </a:r>
                    </a:p>
                  </a:txBody>
                  <a:tcPr marL="95250" marR="95250" marT="95250" marB="95250"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7FAFF"/>
                    </a:solidFill>
                  </a:tcPr>
                </a:tc>
                <a:tc>
                  <a:txBody>
                    <a:bodyPr/>
                    <a:lstStyle/>
                    <a:p>
                      <a:pPr latinLnBrk="1"/>
                      <a:r>
                        <a:rPr lang="en-US">
                          <a:effectLst/>
                        </a:rPr>
                        <a:t>60mg/kg</a:t>
                      </a:r>
                    </a:p>
                  </a:txBody>
                  <a:tcPr marL="95250" marR="95250" marT="95250" marB="95250"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7FAFF"/>
                    </a:solidFill>
                  </a:tcPr>
                </a:tc>
                <a:extLst>
                  <a:ext uri="{0D108BD9-81ED-4DB2-BD59-A6C34878D82A}">
                    <a16:rowId xmlns:a16="http://schemas.microsoft.com/office/drawing/2014/main" val="1631952924"/>
                  </a:ext>
                </a:extLst>
              </a:tr>
              <a:tr h="0">
                <a:tc>
                  <a:txBody>
                    <a:bodyPr/>
                    <a:lstStyle/>
                    <a:p>
                      <a:pPr latinLnBrk="1"/>
                      <a:r>
                        <a:rPr lang="zh-CN" altLang="en-US">
                          <a:effectLst/>
                        </a:rPr>
                        <a:t>高于</a:t>
                      </a:r>
                      <a:r>
                        <a:rPr lang="en-US" altLang="zh-CN">
                          <a:effectLst/>
                        </a:rPr>
                        <a:t>2.25</a:t>
                      </a:r>
                    </a:p>
                  </a:txBody>
                  <a:tcPr marL="95250" marR="95250" marT="95250" marB="95250"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CFCFC"/>
                    </a:solidFill>
                  </a:tcPr>
                </a:tc>
                <a:tc>
                  <a:txBody>
                    <a:bodyPr/>
                    <a:lstStyle/>
                    <a:p>
                      <a:pPr latinLnBrk="1"/>
                      <a:r>
                        <a:rPr lang="en-US">
                          <a:effectLst/>
                        </a:rPr>
                        <a:t>90mg/kg</a:t>
                      </a:r>
                    </a:p>
                  </a:txBody>
                  <a:tcPr marL="95250" marR="95250" marT="95250" marB="95250"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CFCFC"/>
                    </a:solidFill>
                  </a:tcPr>
                </a:tc>
                <a:extLst>
                  <a:ext uri="{0D108BD9-81ED-4DB2-BD59-A6C34878D82A}">
                    <a16:rowId xmlns:a16="http://schemas.microsoft.com/office/drawing/2014/main" val="3218339114"/>
                  </a:ext>
                </a:extLst>
              </a:tr>
            </a:tbl>
          </a:graphicData>
        </a:graphic>
      </p:graphicFrame>
      <p:sp>
        <p:nvSpPr>
          <p:cNvPr id="21" name="矩形 20">
            <a:extLst>
              <a:ext uri="{FF2B5EF4-FFF2-40B4-BE49-F238E27FC236}">
                <a16:creationId xmlns:a16="http://schemas.microsoft.com/office/drawing/2014/main" id="{A86FF38E-0216-4C42-BDE9-7C86E5D2319E}"/>
              </a:ext>
            </a:extLst>
          </p:cNvPr>
          <p:cNvSpPr/>
          <p:nvPr/>
        </p:nvSpPr>
        <p:spPr>
          <a:xfrm>
            <a:off x="3982182" y="4263746"/>
            <a:ext cx="7334936" cy="1754326"/>
          </a:xfrm>
          <a:prstGeom prst="rect">
            <a:avLst/>
          </a:prstGeom>
        </p:spPr>
        <p:txBody>
          <a:bodyPr wrap="square">
            <a:spAutoFit/>
          </a:bodyPr>
          <a:lstStyle/>
          <a:p>
            <a:pPr marL="285750" indent="-285750" algn="just">
              <a:buFont typeface="Wingdings" panose="05000000000000000000" pitchFamily="2" charset="2"/>
              <a:buChar char="l"/>
            </a:pPr>
            <a:r>
              <a:rPr lang="zh-CN" altLang="en-US" b="1">
                <a:solidFill>
                  <a:srgbClr val="333333"/>
                </a:solidFill>
                <a:latin typeface="微软雅黑" panose="020B0503020204020204" pitchFamily="34" charset="-122"/>
                <a:ea typeface="微软雅黑" panose="020B0503020204020204" pitchFamily="34" charset="-122"/>
              </a:rPr>
              <a:t>拜有利（</a:t>
            </a:r>
            <a:r>
              <a:rPr lang="en-US" altLang="zh-CN" b="1">
                <a:solidFill>
                  <a:srgbClr val="333333"/>
                </a:solidFill>
                <a:latin typeface="微软雅黑" panose="020B0503020204020204" pitchFamily="34" charset="-122"/>
                <a:ea typeface="微软雅黑" panose="020B0503020204020204" pitchFamily="34" charset="-122"/>
              </a:rPr>
              <a:t>Baytril</a:t>
            </a:r>
            <a:r>
              <a:rPr lang="zh-CN" altLang="en-US" b="1">
                <a:solidFill>
                  <a:srgbClr val="333333"/>
                </a:solidFill>
                <a:latin typeface="微软雅黑" panose="020B0503020204020204" pitchFamily="34" charset="-122"/>
                <a:ea typeface="微软雅黑" panose="020B0503020204020204" pitchFamily="34" charset="-122"/>
              </a:rPr>
              <a:t>）</a:t>
            </a:r>
            <a:r>
              <a:rPr lang="zh-CN" altLang="en-US">
                <a:solidFill>
                  <a:srgbClr val="333333"/>
                </a:solidFill>
                <a:latin typeface="微软雅黑" panose="020B0503020204020204" pitchFamily="34" charset="-122"/>
                <a:ea typeface="微软雅黑" panose="020B0503020204020204" pitchFamily="34" charset="-122"/>
              </a:rPr>
              <a:t>和</a:t>
            </a:r>
            <a:r>
              <a:rPr lang="en-US" altLang="zh-CN" b="1">
                <a:solidFill>
                  <a:srgbClr val="333333"/>
                </a:solidFill>
                <a:latin typeface="微软雅黑" panose="020B0503020204020204" pitchFamily="34" charset="-122"/>
                <a:ea typeface="微软雅黑" panose="020B0503020204020204" pitchFamily="34" charset="-122"/>
              </a:rPr>
              <a:t>F5</a:t>
            </a:r>
            <a:r>
              <a:rPr lang="zh-CN" altLang="en-US" b="1">
                <a:solidFill>
                  <a:srgbClr val="333333"/>
                </a:solidFill>
                <a:latin typeface="微软雅黑" panose="020B0503020204020204" pitchFamily="34" charset="-122"/>
                <a:ea typeface="微软雅黑" panose="020B0503020204020204" pitchFamily="34" charset="-122"/>
              </a:rPr>
              <a:t>（贝那普利）</a:t>
            </a:r>
            <a:r>
              <a:rPr lang="zh-CN" altLang="en-US">
                <a:solidFill>
                  <a:srgbClr val="333333"/>
                </a:solidFill>
                <a:latin typeface="微软雅黑" panose="020B0503020204020204" pitchFamily="34" charset="-122"/>
                <a:ea typeface="微软雅黑" panose="020B0503020204020204" pitchFamily="34" charset="-122"/>
              </a:rPr>
              <a:t>最好和碳酸镧隔开</a:t>
            </a:r>
            <a:r>
              <a:rPr lang="en-US" altLang="zh-CN">
                <a:solidFill>
                  <a:srgbClr val="333333"/>
                </a:solidFill>
                <a:latin typeface="微软雅黑" panose="020B0503020204020204" pitchFamily="34" charset="-122"/>
                <a:ea typeface="微软雅黑" panose="020B0503020204020204" pitchFamily="34" charset="-122"/>
              </a:rPr>
              <a:t>1-3</a:t>
            </a:r>
            <a:r>
              <a:rPr lang="zh-CN" altLang="en-US">
                <a:solidFill>
                  <a:srgbClr val="333333"/>
                </a:solidFill>
                <a:latin typeface="微软雅黑" panose="020B0503020204020204" pitchFamily="34" charset="-122"/>
                <a:ea typeface="微软雅黑" panose="020B0503020204020204" pitchFamily="34" charset="-122"/>
              </a:rPr>
              <a:t>小时再服用</a:t>
            </a:r>
          </a:p>
          <a:p>
            <a:pPr marL="285750" indent="-285750" algn="just">
              <a:buFont typeface="Wingdings" panose="05000000000000000000" pitchFamily="2" charset="2"/>
              <a:buChar char="l"/>
            </a:pPr>
            <a:r>
              <a:rPr lang="zh-CN" altLang="en-US">
                <a:solidFill>
                  <a:srgbClr val="333333"/>
                </a:solidFill>
                <a:latin typeface="微软雅黑" panose="020B0503020204020204" pitchFamily="34" charset="-122"/>
                <a:ea typeface="微软雅黑" panose="020B0503020204020204" pitchFamily="34" charset="-122"/>
              </a:rPr>
              <a:t>治疗胃酸过多的法莫替丁、雷尼替丁及奥美拉唑会让碳酸镧效力变差，不要同时吃</a:t>
            </a:r>
          </a:p>
          <a:p>
            <a:pPr marL="285750" indent="-285750" algn="just">
              <a:buFont typeface="Wingdings" panose="05000000000000000000" pitchFamily="2" charset="2"/>
              <a:buChar char="l"/>
            </a:pPr>
            <a:r>
              <a:rPr lang="zh-CN" altLang="en-US">
                <a:solidFill>
                  <a:srgbClr val="333333"/>
                </a:solidFill>
                <a:latin typeface="微软雅黑" panose="020B0503020204020204" pitchFamily="34" charset="-122"/>
                <a:ea typeface="微软雅黑" panose="020B0503020204020204" pitchFamily="34" charset="-122"/>
              </a:rPr>
              <a:t>碳酸镧会削弱铁制剂的效力</a:t>
            </a:r>
          </a:p>
          <a:p>
            <a:pPr marL="285750" indent="-285750" algn="just">
              <a:buFont typeface="Wingdings" panose="05000000000000000000" pitchFamily="2" charset="2"/>
              <a:buChar char="l"/>
            </a:pPr>
            <a:r>
              <a:rPr lang="zh-CN" altLang="en-US">
                <a:solidFill>
                  <a:srgbClr val="333333"/>
                </a:solidFill>
                <a:latin typeface="微软雅黑" panose="020B0503020204020204" pitchFamily="34" charset="-122"/>
                <a:ea typeface="微软雅黑" panose="020B0503020204020204" pitchFamily="34" charset="-122"/>
              </a:rPr>
              <a:t>激素类药物忌与碳酸镧同时用</a:t>
            </a:r>
            <a:endParaRPr lang="en-US" altLang="zh-CN">
              <a:solidFill>
                <a:srgbClr val="333333"/>
              </a:solidFill>
              <a:latin typeface="微软雅黑" panose="020B0503020204020204" pitchFamily="34" charset="-122"/>
              <a:ea typeface="微软雅黑" panose="020B0503020204020204" pitchFamily="34" charset="-122"/>
            </a:endParaRPr>
          </a:p>
        </p:txBody>
      </p:sp>
      <p:sp>
        <p:nvSpPr>
          <p:cNvPr id="36" name="文本框 35">
            <a:extLst>
              <a:ext uri="{FF2B5EF4-FFF2-40B4-BE49-F238E27FC236}">
                <a16:creationId xmlns:a16="http://schemas.microsoft.com/office/drawing/2014/main" id="{25C6733A-54B5-445A-8599-013EF488AECA}"/>
              </a:ext>
            </a:extLst>
          </p:cNvPr>
          <p:cNvSpPr txBox="1"/>
          <p:nvPr/>
        </p:nvSpPr>
        <p:spPr>
          <a:xfrm>
            <a:off x="213051" y="1617857"/>
            <a:ext cx="3323136" cy="707886"/>
          </a:xfrm>
          <a:prstGeom prst="rect">
            <a:avLst/>
          </a:prstGeom>
          <a:noFill/>
        </p:spPr>
        <p:txBody>
          <a:bodyPr wrap="square" rtlCol="0">
            <a:spAutoFit/>
          </a:bodyPr>
          <a:lstStyle/>
          <a:p>
            <a:r>
              <a:rPr lang="zh-CN" altLang="en-US" sz="4000" b="1"/>
              <a:t>福斯利诺</a:t>
            </a:r>
            <a:endParaRPr lang="en-US" altLang="zh-CN" sz="4000" b="1"/>
          </a:p>
        </p:txBody>
      </p:sp>
      <p:sp>
        <p:nvSpPr>
          <p:cNvPr id="22" name="矩形 21">
            <a:extLst>
              <a:ext uri="{FF2B5EF4-FFF2-40B4-BE49-F238E27FC236}">
                <a16:creationId xmlns:a16="http://schemas.microsoft.com/office/drawing/2014/main" id="{8C1F9002-8458-4046-B00F-B1C89C4E0A6E}"/>
              </a:ext>
            </a:extLst>
          </p:cNvPr>
          <p:cNvSpPr/>
          <p:nvPr/>
        </p:nvSpPr>
        <p:spPr>
          <a:xfrm>
            <a:off x="2356777" y="1810568"/>
            <a:ext cx="1507144" cy="461665"/>
          </a:xfrm>
          <a:prstGeom prst="rect">
            <a:avLst/>
          </a:prstGeom>
        </p:spPr>
        <p:txBody>
          <a:bodyPr wrap="none">
            <a:spAutoFit/>
          </a:bodyPr>
          <a:lstStyle/>
          <a:p>
            <a:r>
              <a:rPr lang="en-US" altLang="zh-CN" sz="2400" b="1"/>
              <a:t>/</a:t>
            </a:r>
            <a:r>
              <a:rPr lang="zh-CN" altLang="en-US" sz="2400" b="1"/>
              <a:t>乐宠克磷</a:t>
            </a:r>
            <a:endParaRPr lang="zh-CN" altLang="en-US" b="1"/>
          </a:p>
        </p:txBody>
      </p:sp>
    </p:spTree>
    <p:extLst>
      <p:ext uri="{BB962C8B-B14F-4D97-AF65-F5344CB8AC3E}">
        <p14:creationId xmlns:p14="http://schemas.microsoft.com/office/powerpoint/2010/main" val="243396234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0" name="箭头: 五边形 6">
            <a:extLst/>
          </p:cNvPr>
          <p:cNvSpPr/>
          <p:nvPr/>
        </p:nvSpPr>
        <p:spPr>
          <a:xfrm rot="10800000" flipH="1">
            <a:off x="0" y="404813"/>
            <a:ext cx="9264352" cy="1344612"/>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grpSp>
        <p:nvGrpSpPr>
          <p:cNvPr id="30724" name="组合 22"/>
          <p:cNvGrpSpPr>
            <a:grpSpLocks/>
          </p:cNvGrpSpPr>
          <p:nvPr/>
        </p:nvGrpSpPr>
        <p:grpSpPr bwMode="auto">
          <a:xfrm>
            <a:off x="196850" y="404813"/>
            <a:ext cx="5779784" cy="1134998"/>
            <a:chOff x="-101400" y="2876417"/>
            <a:chExt cx="5114992" cy="1134983"/>
          </a:xfrm>
        </p:grpSpPr>
        <p:sp>
          <p:nvSpPr>
            <p:cNvPr id="20494" name="文本框 13">
              <a:extLst/>
            </p:cNvPr>
            <p:cNvSpPr txBox="1">
              <a:spLocks noChangeArrowheads="1"/>
            </p:cNvSpPr>
            <p:nvPr/>
          </p:nvSpPr>
          <p:spPr bwMode="auto">
            <a:xfrm>
              <a:off x="-101400" y="2876417"/>
              <a:ext cx="1343136" cy="825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600" b="1">
                  <a:solidFill>
                    <a:srgbClr val="010101"/>
                  </a:solidFill>
                  <a:latin typeface="+mn-lt"/>
                  <a:ea typeface="+mn-ea"/>
                  <a:cs typeface="+mn-ea"/>
                  <a:sym typeface="+mn-lt"/>
                </a:rPr>
                <a:t>PART</a:t>
              </a:r>
            </a:p>
          </p:txBody>
        </p:sp>
        <p:sp>
          <p:nvSpPr>
            <p:cNvPr id="20495" name="文本框 14">
              <a:extLst/>
            </p:cNvPr>
            <p:cNvSpPr txBox="1">
              <a:spLocks noChangeArrowheads="1"/>
            </p:cNvSpPr>
            <p:nvPr/>
          </p:nvSpPr>
          <p:spPr bwMode="auto">
            <a:xfrm>
              <a:off x="2150733" y="3430993"/>
              <a:ext cx="2862859" cy="580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endParaRPr lang="en-US" altLang="zh-CN" sz="2400">
                <a:solidFill>
                  <a:srgbClr val="010101"/>
                </a:solidFill>
                <a:latin typeface="+mn-lt"/>
                <a:ea typeface="+mn-ea"/>
                <a:cs typeface="+mn-ea"/>
                <a:sym typeface="+mn-lt"/>
              </a:endParaRPr>
            </a:p>
          </p:txBody>
        </p:sp>
        <p:cxnSp>
          <p:nvCxnSpPr>
            <p:cNvPr id="24" name="直接连接符 23">
              <a:extLst/>
            </p:cNvPr>
            <p:cNvCxnSpPr>
              <a:cxnSpLocks/>
            </p:cNvCxnSpPr>
            <p:nvPr/>
          </p:nvCxnSpPr>
          <p:spPr>
            <a:xfrm flipH="1">
              <a:off x="489901" y="3171688"/>
              <a:ext cx="1074241" cy="722302"/>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0497" name="矩形 20">
              <a:extLst/>
            </p:cNvPr>
            <p:cNvSpPr>
              <a:spLocks noChangeArrowheads="1"/>
            </p:cNvSpPr>
            <p:nvPr/>
          </p:nvSpPr>
          <p:spPr bwMode="auto">
            <a:xfrm>
              <a:off x="618328" y="3473309"/>
              <a:ext cx="1824424" cy="52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lvl="1">
                <a:lnSpc>
                  <a:spcPct val="100000"/>
                </a:lnSpc>
                <a:spcBef>
                  <a:spcPct val="0"/>
                </a:spcBef>
                <a:buFontTx/>
                <a:buNone/>
                <a:defRPr/>
              </a:pPr>
              <a:r>
                <a:rPr lang="en-US" altLang="zh-CN" sz="2800" b="1">
                  <a:solidFill>
                    <a:srgbClr val="010101"/>
                  </a:solidFill>
                  <a:latin typeface="+mn-lt"/>
                  <a:ea typeface="+mn-ea"/>
                  <a:cs typeface="+mn-ea"/>
                  <a:sym typeface="+mn-lt"/>
                </a:rPr>
                <a:t>THREE</a:t>
              </a:r>
              <a:endParaRPr lang="zh-CN" altLang="en-US" sz="1400">
                <a:latin typeface="+mn-lt"/>
                <a:ea typeface="+mn-ea"/>
                <a:cs typeface="+mn-ea"/>
                <a:sym typeface="+mn-lt"/>
              </a:endParaRPr>
            </a:p>
          </p:txBody>
        </p:sp>
      </p:grpSp>
      <p:sp>
        <p:nvSpPr>
          <p:cNvPr id="8" name="文本框 7"/>
          <p:cNvSpPr txBox="1"/>
          <p:nvPr/>
        </p:nvSpPr>
        <p:spPr>
          <a:xfrm>
            <a:off x="254618" y="2470092"/>
            <a:ext cx="5683126" cy="615553"/>
          </a:xfrm>
          <a:prstGeom prst="rect">
            <a:avLst/>
          </a:prstGeom>
          <a:noFill/>
        </p:spPr>
        <p:txBody>
          <a:bodyPr wrap="square" numCol="2" rtlCol="0">
            <a:spAutoFit/>
          </a:bodyPr>
          <a:lstStyle/>
          <a:p>
            <a:pPr lvl="1"/>
            <a:endParaRPr lang="en-US" altLang="zh-CN" sz="1600" b="1">
              <a:solidFill>
                <a:schemeClr val="tx1">
                  <a:lumMod val="75000"/>
                  <a:lumOff val="25000"/>
                </a:schemeClr>
              </a:solidFill>
              <a:effectLst>
                <a:outerShdw blurRad="38100" dist="38100" dir="2700000" algn="tl">
                  <a:srgbClr val="000000">
                    <a:alpha val="43137"/>
                  </a:srgbClr>
                </a:outerShdw>
              </a:effectLst>
              <a:latin typeface="+mj-ea"/>
            </a:endParaRPr>
          </a:p>
          <a:p>
            <a:endParaRPr lang="zh-CN" altLang="en-US"/>
          </a:p>
        </p:txBody>
      </p:sp>
      <p:sp>
        <p:nvSpPr>
          <p:cNvPr id="2" name="文本框 1"/>
          <p:cNvSpPr txBox="1"/>
          <p:nvPr/>
        </p:nvSpPr>
        <p:spPr>
          <a:xfrm>
            <a:off x="2953041" y="1146051"/>
            <a:ext cx="6539679" cy="461665"/>
          </a:xfrm>
          <a:prstGeom prst="rect">
            <a:avLst/>
          </a:prstGeom>
          <a:noFill/>
        </p:spPr>
        <p:txBody>
          <a:bodyPr wrap="square" rtlCol="0">
            <a:spAutoFit/>
          </a:bodyPr>
          <a:lstStyle/>
          <a:p>
            <a:r>
              <a:rPr lang="zh-CN" altLang="en-US" sz="2400" b="1">
                <a:solidFill>
                  <a:schemeClr val="tx2">
                    <a:lumMod val="75000"/>
                  </a:schemeClr>
                </a:solidFill>
                <a:latin typeface="+mj-ea"/>
                <a:ea typeface="+mj-ea"/>
              </a:rPr>
              <a:t>高血钙 </a:t>
            </a:r>
            <a:r>
              <a:rPr lang="en-US" altLang="zh-CN" sz="2400" b="1">
                <a:solidFill>
                  <a:schemeClr val="tx2">
                    <a:lumMod val="75000"/>
                  </a:schemeClr>
                </a:solidFill>
                <a:latin typeface="+mj-ea"/>
                <a:ea typeface="+mj-ea"/>
              </a:rPr>
              <a:t>Hyperphosphataemia</a:t>
            </a:r>
            <a:endParaRPr lang="zh-CN" altLang="en-US" sz="2400" b="1">
              <a:solidFill>
                <a:schemeClr val="tx2">
                  <a:lumMod val="75000"/>
                </a:schemeClr>
              </a:solidFill>
              <a:latin typeface="+mj-ea"/>
              <a:ea typeface="+mj-ea"/>
            </a:endParaRPr>
          </a:p>
        </p:txBody>
      </p:sp>
      <p:sp>
        <p:nvSpPr>
          <p:cNvPr id="4" name="文本框 3"/>
          <p:cNvSpPr txBox="1"/>
          <p:nvPr/>
        </p:nvSpPr>
        <p:spPr>
          <a:xfrm>
            <a:off x="2897878" y="620688"/>
            <a:ext cx="3078756" cy="461665"/>
          </a:xfrm>
          <a:prstGeom prst="rect">
            <a:avLst/>
          </a:prstGeom>
          <a:noFill/>
        </p:spPr>
        <p:txBody>
          <a:bodyPr wrap="square" rtlCol="0">
            <a:spAutoFit/>
          </a:bodyPr>
          <a:lstStyle/>
          <a:p>
            <a:r>
              <a:rPr lang="zh-CN" altLang="en-US" sz="2400" b="1">
                <a:solidFill>
                  <a:schemeClr val="bg1"/>
                </a:solidFill>
                <a:effectLst>
                  <a:outerShdw blurRad="38100" dist="38100" dir="2700000" algn="tl">
                    <a:srgbClr val="000000">
                      <a:alpha val="43137"/>
                    </a:srgbClr>
                  </a:outerShdw>
                </a:effectLst>
                <a:latin typeface="+mj-ea"/>
                <a:ea typeface="+mj-ea"/>
              </a:rPr>
              <a:t>猫慢性肾病治疗</a:t>
            </a:r>
          </a:p>
        </p:txBody>
      </p:sp>
      <p:sp>
        <p:nvSpPr>
          <p:cNvPr id="21" name="矩形 20">
            <a:extLst>
              <a:ext uri="{FF2B5EF4-FFF2-40B4-BE49-F238E27FC236}">
                <a16:creationId xmlns:a16="http://schemas.microsoft.com/office/drawing/2014/main" id="{665B92FC-B9E6-4B02-BC89-8774CC40B9EB}"/>
              </a:ext>
            </a:extLst>
          </p:cNvPr>
          <p:cNvSpPr/>
          <p:nvPr/>
        </p:nvSpPr>
        <p:spPr>
          <a:xfrm>
            <a:off x="0" y="1758182"/>
            <a:ext cx="3355182" cy="50998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sp>
        <p:nvSpPr>
          <p:cNvPr id="22" name="文本框 21">
            <a:extLst>
              <a:ext uri="{FF2B5EF4-FFF2-40B4-BE49-F238E27FC236}">
                <a16:creationId xmlns:a16="http://schemas.microsoft.com/office/drawing/2014/main" id="{3D9C8E33-59E3-4A85-AB15-41BDBA1BF45C}"/>
              </a:ext>
            </a:extLst>
          </p:cNvPr>
          <p:cNvSpPr txBox="1"/>
          <p:nvPr/>
        </p:nvSpPr>
        <p:spPr>
          <a:xfrm>
            <a:off x="700906" y="2788895"/>
            <a:ext cx="2370758" cy="461665"/>
          </a:xfrm>
          <a:prstGeom prst="rect">
            <a:avLst/>
          </a:prstGeom>
          <a:noFill/>
        </p:spPr>
        <p:txBody>
          <a:bodyPr wrap="square" rtlCol="0">
            <a:spAutoFit/>
          </a:bodyPr>
          <a:lstStyle/>
          <a:p>
            <a:r>
              <a:rPr lang="zh-CN" altLang="en-US" sz="2400" b="1">
                <a:solidFill>
                  <a:schemeClr val="tx2">
                    <a:lumMod val="75000"/>
                  </a:schemeClr>
                </a:solidFill>
                <a:latin typeface="+mj-ea"/>
                <a:ea typeface="+mj-ea"/>
              </a:rPr>
              <a:t>血钙（</a:t>
            </a:r>
            <a:r>
              <a:rPr lang="en-US" altLang="zh-CN" sz="2400" b="1">
                <a:solidFill>
                  <a:schemeClr val="tx2">
                    <a:lumMod val="75000"/>
                  </a:schemeClr>
                </a:solidFill>
                <a:effectLst>
                  <a:outerShdw blurRad="38100" dist="38100" dir="2700000" algn="tl">
                    <a:srgbClr val="000000">
                      <a:alpha val="43137"/>
                    </a:srgbClr>
                  </a:outerShdw>
                </a:effectLst>
                <a:latin typeface="+mj-ea"/>
                <a:ea typeface="+mj-ea"/>
              </a:rPr>
              <a:t>Ca</a:t>
            </a:r>
            <a:r>
              <a:rPr lang="zh-CN" altLang="en-US" sz="2400" b="1">
                <a:solidFill>
                  <a:schemeClr val="tx2">
                    <a:lumMod val="75000"/>
                  </a:schemeClr>
                </a:solidFill>
                <a:latin typeface="+mj-ea"/>
                <a:ea typeface="+mj-ea"/>
              </a:rPr>
              <a:t>）</a:t>
            </a:r>
          </a:p>
        </p:txBody>
      </p:sp>
      <p:sp>
        <p:nvSpPr>
          <p:cNvPr id="23" name="文本框 22">
            <a:extLst>
              <a:ext uri="{FF2B5EF4-FFF2-40B4-BE49-F238E27FC236}">
                <a16:creationId xmlns:a16="http://schemas.microsoft.com/office/drawing/2014/main" id="{040776E4-D042-4527-BDB0-48A53727E301}"/>
              </a:ext>
            </a:extLst>
          </p:cNvPr>
          <p:cNvSpPr txBox="1"/>
          <p:nvPr/>
        </p:nvSpPr>
        <p:spPr>
          <a:xfrm>
            <a:off x="390659" y="3717032"/>
            <a:ext cx="2287810" cy="1477328"/>
          </a:xfrm>
          <a:prstGeom prst="rect">
            <a:avLst/>
          </a:prstGeom>
          <a:noFill/>
        </p:spPr>
        <p:txBody>
          <a:bodyPr wrap="square" rtlCol="0">
            <a:spAutoFit/>
          </a:bodyPr>
          <a:lstStyle/>
          <a:p>
            <a:pPr marL="285750" lvl="1" indent="-285750">
              <a:buFont typeface="Wingdings" panose="05000000000000000000" pitchFamily="2" charset="2"/>
              <a:buChar char="u"/>
            </a:pPr>
            <a:r>
              <a:rPr lang="zh-CN" altLang="en-US" b="1">
                <a:solidFill>
                  <a:schemeClr val="tx1">
                    <a:lumMod val="75000"/>
                    <a:lumOff val="25000"/>
                  </a:schemeClr>
                </a:solidFill>
                <a:effectLst>
                  <a:outerShdw blurRad="38100" dist="38100" dir="2700000" algn="tl">
                    <a:srgbClr val="000000">
                      <a:alpha val="43137"/>
                    </a:srgbClr>
                  </a:outerShdw>
                </a:effectLst>
                <a:latin typeface="+mj-ea"/>
                <a:ea typeface="+mj-ea"/>
              </a:rPr>
              <a:t>单位</a:t>
            </a:r>
            <a:r>
              <a:rPr lang="en-US" altLang="zh-CN" b="1">
                <a:solidFill>
                  <a:schemeClr val="tx1">
                    <a:lumMod val="75000"/>
                    <a:lumOff val="25000"/>
                  </a:schemeClr>
                </a:solidFill>
                <a:effectLst>
                  <a:outerShdw blurRad="38100" dist="38100" dir="2700000" algn="tl">
                    <a:srgbClr val="000000">
                      <a:alpha val="43137"/>
                    </a:srgbClr>
                  </a:outerShdw>
                </a:effectLst>
                <a:latin typeface="+mj-ea"/>
                <a:ea typeface="+mj-ea"/>
              </a:rPr>
              <a:t>mmol/L</a:t>
            </a:r>
            <a:r>
              <a:rPr lang="zh-CN" altLang="en-US" b="1">
                <a:solidFill>
                  <a:schemeClr val="tx1">
                    <a:lumMod val="75000"/>
                    <a:lumOff val="25000"/>
                  </a:schemeClr>
                </a:solidFill>
                <a:effectLst>
                  <a:outerShdw blurRad="38100" dist="38100" dir="2700000" algn="tl">
                    <a:srgbClr val="000000">
                      <a:alpha val="43137"/>
                    </a:srgbClr>
                  </a:outerShdw>
                </a:effectLst>
                <a:latin typeface="+mj-ea"/>
                <a:ea typeface="+mj-ea"/>
              </a:rPr>
              <a:t>时，血钙</a:t>
            </a:r>
            <a:r>
              <a:rPr lang="en-US" altLang="zh-CN" b="1">
                <a:solidFill>
                  <a:schemeClr val="tx1">
                    <a:lumMod val="75000"/>
                    <a:lumOff val="25000"/>
                  </a:schemeClr>
                </a:solidFill>
                <a:effectLst>
                  <a:outerShdw blurRad="38100" dist="38100" dir="2700000" algn="tl">
                    <a:srgbClr val="000000">
                      <a:alpha val="43137"/>
                    </a:srgbClr>
                  </a:outerShdw>
                </a:effectLst>
                <a:latin typeface="+mj-ea"/>
                <a:ea typeface="+mj-ea"/>
              </a:rPr>
              <a:t>x</a:t>
            </a:r>
            <a:r>
              <a:rPr lang="zh-CN" altLang="en-US" b="1">
                <a:solidFill>
                  <a:schemeClr val="tx1">
                    <a:lumMod val="75000"/>
                    <a:lumOff val="25000"/>
                  </a:schemeClr>
                </a:solidFill>
                <a:effectLst>
                  <a:outerShdw blurRad="38100" dist="38100" dir="2700000" algn="tl">
                    <a:srgbClr val="000000">
                      <a:alpha val="43137"/>
                    </a:srgbClr>
                  </a:outerShdw>
                </a:effectLst>
                <a:latin typeface="+mj-ea"/>
                <a:ea typeface="+mj-ea"/>
              </a:rPr>
              <a:t>血磷超过</a:t>
            </a:r>
            <a:r>
              <a:rPr lang="en-US" altLang="zh-CN" b="1">
                <a:solidFill>
                  <a:schemeClr val="tx1">
                    <a:lumMod val="75000"/>
                    <a:lumOff val="25000"/>
                  </a:schemeClr>
                </a:solidFill>
                <a:effectLst>
                  <a:outerShdw blurRad="38100" dist="38100" dir="2700000" algn="tl">
                    <a:srgbClr val="000000">
                      <a:alpha val="43137"/>
                    </a:srgbClr>
                  </a:outerShdw>
                </a:effectLst>
                <a:latin typeface="+mj-ea"/>
                <a:ea typeface="+mj-ea"/>
              </a:rPr>
              <a:t>5</a:t>
            </a:r>
          </a:p>
          <a:p>
            <a:pPr marL="0" lvl="1"/>
            <a:endParaRPr lang="en-US" altLang="zh-CN" b="1">
              <a:solidFill>
                <a:schemeClr val="tx1">
                  <a:lumMod val="75000"/>
                  <a:lumOff val="25000"/>
                </a:schemeClr>
              </a:solidFill>
              <a:effectLst>
                <a:outerShdw blurRad="38100" dist="38100" dir="2700000" algn="tl">
                  <a:srgbClr val="000000">
                    <a:alpha val="43137"/>
                  </a:srgbClr>
                </a:outerShdw>
              </a:effectLst>
              <a:latin typeface="+mj-ea"/>
              <a:ea typeface="+mj-ea"/>
            </a:endParaRPr>
          </a:p>
          <a:p>
            <a:pPr marL="285750" lvl="1" indent="-285750">
              <a:buFont typeface="Wingdings" panose="05000000000000000000" pitchFamily="2" charset="2"/>
              <a:buChar char="u"/>
            </a:pPr>
            <a:r>
              <a:rPr lang="zh-CN" altLang="en-US" b="1">
                <a:solidFill>
                  <a:schemeClr val="tx1">
                    <a:lumMod val="75000"/>
                    <a:lumOff val="25000"/>
                  </a:schemeClr>
                </a:solidFill>
                <a:effectLst>
                  <a:outerShdw blurRad="38100" dist="38100" dir="2700000" algn="tl">
                    <a:srgbClr val="000000">
                      <a:alpha val="43137"/>
                    </a:srgbClr>
                  </a:outerShdw>
                </a:effectLst>
                <a:latin typeface="+mj-ea"/>
                <a:ea typeface="+mj-ea"/>
              </a:rPr>
              <a:t>单位</a:t>
            </a:r>
            <a:r>
              <a:rPr lang="en-US" altLang="zh-CN" b="1">
                <a:solidFill>
                  <a:schemeClr val="tx1">
                    <a:lumMod val="75000"/>
                    <a:lumOff val="25000"/>
                  </a:schemeClr>
                </a:solidFill>
                <a:effectLst>
                  <a:outerShdw blurRad="38100" dist="38100" dir="2700000" algn="tl">
                    <a:srgbClr val="000000">
                      <a:alpha val="43137"/>
                    </a:srgbClr>
                  </a:outerShdw>
                </a:effectLst>
                <a:latin typeface="+mj-ea"/>
                <a:ea typeface="+mj-ea"/>
              </a:rPr>
              <a:t>mg/dl</a:t>
            </a:r>
            <a:r>
              <a:rPr lang="zh-CN" altLang="en-US" b="1">
                <a:solidFill>
                  <a:schemeClr val="tx1">
                    <a:lumMod val="75000"/>
                    <a:lumOff val="25000"/>
                  </a:schemeClr>
                </a:solidFill>
                <a:effectLst>
                  <a:outerShdw blurRad="38100" dist="38100" dir="2700000" algn="tl">
                    <a:srgbClr val="000000">
                      <a:alpha val="43137"/>
                    </a:srgbClr>
                  </a:outerShdw>
                </a:effectLst>
                <a:latin typeface="+mj-ea"/>
                <a:ea typeface="+mj-ea"/>
              </a:rPr>
              <a:t>时血钙</a:t>
            </a:r>
            <a:r>
              <a:rPr lang="en-US" altLang="zh-CN" b="1">
                <a:solidFill>
                  <a:schemeClr val="tx1">
                    <a:lumMod val="75000"/>
                    <a:lumOff val="25000"/>
                  </a:schemeClr>
                </a:solidFill>
                <a:effectLst>
                  <a:outerShdw blurRad="38100" dist="38100" dir="2700000" algn="tl">
                    <a:srgbClr val="000000">
                      <a:alpha val="43137"/>
                    </a:srgbClr>
                  </a:outerShdw>
                </a:effectLst>
                <a:latin typeface="+mj-ea"/>
                <a:ea typeface="+mj-ea"/>
              </a:rPr>
              <a:t>x</a:t>
            </a:r>
            <a:r>
              <a:rPr lang="zh-CN" altLang="en-US" b="1">
                <a:solidFill>
                  <a:schemeClr val="tx1">
                    <a:lumMod val="75000"/>
                    <a:lumOff val="25000"/>
                  </a:schemeClr>
                </a:solidFill>
                <a:effectLst>
                  <a:outerShdw blurRad="38100" dist="38100" dir="2700000" algn="tl">
                    <a:srgbClr val="000000">
                      <a:alpha val="43137"/>
                    </a:srgbClr>
                  </a:outerShdw>
                </a:effectLst>
                <a:latin typeface="+mj-ea"/>
                <a:ea typeface="+mj-ea"/>
              </a:rPr>
              <a:t>血磷超过</a:t>
            </a:r>
            <a:r>
              <a:rPr lang="en-US" altLang="zh-CN" b="1">
                <a:solidFill>
                  <a:schemeClr val="tx1">
                    <a:lumMod val="75000"/>
                    <a:lumOff val="25000"/>
                  </a:schemeClr>
                </a:solidFill>
                <a:effectLst>
                  <a:outerShdw blurRad="38100" dist="38100" dir="2700000" algn="tl">
                    <a:srgbClr val="000000">
                      <a:alpha val="43137"/>
                    </a:srgbClr>
                  </a:outerShdw>
                </a:effectLst>
                <a:latin typeface="+mj-ea"/>
                <a:ea typeface="+mj-ea"/>
              </a:rPr>
              <a:t>60</a:t>
            </a:r>
            <a:endParaRPr lang="zh-CN" altLang="en-US"/>
          </a:p>
        </p:txBody>
      </p:sp>
      <p:sp>
        <p:nvSpPr>
          <p:cNvPr id="17" name="文本框 16">
            <a:extLst>
              <a:ext uri="{FF2B5EF4-FFF2-40B4-BE49-F238E27FC236}">
                <a16:creationId xmlns:a16="http://schemas.microsoft.com/office/drawing/2014/main" id="{35020D44-0260-4471-B012-866D6900EED5}"/>
              </a:ext>
            </a:extLst>
          </p:cNvPr>
          <p:cNvSpPr txBox="1"/>
          <p:nvPr/>
        </p:nvSpPr>
        <p:spPr>
          <a:xfrm>
            <a:off x="590105" y="5290743"/>
            <a:ext cx="1888917" cy="1200329"/>
          </a:xfrm>
          <a:prstGeom prst="rect">
            <a:avLst/>
          </a:prstGeom>
          <a:noFill/>
        </p:spPr>
        <p:txBody>
          <a:bodyPr wrap="square" rtlCol="0">
            <a:spAutoFit/>
          </a:bodyPr>
          <a:lstStyle/>
          <a:p>
            <a:pPr eaLnBrk="1" fontAlgn="t" hangingPunct="1"/>
            <a:r>
              <a:rPr lang="zh-CN" altLang="en-US" b="1">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有可能引起组织钙化，器官损伤</a:t>
            </a:r>
            <a:endParaRPr lang="zh-CN" altLang="zh-CN">
              <a:latin typeface="+mj-ea"/>
              <a:ea typeface="+mj-ea"/>
            </a:endParaRPr>
          </a:p>
          <a:p>
            <a:endParaRPr lang="en-US" altLang="zh-CN"/>
          </a:p>
          <a:p>
            <a:endParaRPr lang="en-US" altLang="zh-CN"/>
          </a:p>
        </p:txBody>
      </p:sp>
      <p:sp>
        <p:nvSpPr>
          <p:cNvPr id="5" name="文本框 4">
            <a:extLst>
              <a:ext uri="{FF2B5EF4-FFF2-40B4-BE49-F238E27FC236}">
                <a16:creationId xmlns:a16="http://schemas.microsoft.com/office/drawing/2014/main" id="{FCB55CFF-B57F-4F21-9374-FEFEB5BF7C04}"/>
              </a:ext>
            </a:extLst>
          </p:cNvPr>
          <p:cNvSpPr txBox="1"/>
          <p:nvPr/>
        </p:nvSpPr>
        <p:spPr>
          <a:xfrm>
            <a:off x="4653880" y="6427175"/>
            <a:ext cx="5396086" cy="369332"/>
          </a:xfrm>
          <a:prstGeom prst="rect">
            <a:avLst/>
          </a:prstGeom>
          <a:noFill/>
        </p:spPr>
        <p:txBody>
          <a:bodyPr wrap="square" rtlCol="0">
            <a:spAutoFit/>
          </a:bodyPr>
          <a:lstStyle/>
          <a:p>
            <a:r>
              <a:rPr lang="zh-CN" altLang="en-US" b="1">
                <a:solidFill>
                  <a:srgbClr val="FFFF00"/>
                </a:solidFill>
              </a:rPr>
              <a:t>高血钙的原因有时不得而知，即自发性高血钙。</a:t>
            </a:r>
          </a:p>
        </p:txBody>
      </p:sp>
      <p:sp>
        <p:nvSpPr>
          <p:cNvPr id="6" name="文本框 5">
            <a:extLst>
              <a:ext uri="{FF2B5EF4-FFF2-40B4-BE49-F238E27FC236}">
                <a16:creationId xmlns:a16="http://schemas.microsoft.com/office/drawing/2014/main" id="{59823A91-B1F1-4FBB-8B9E-336B014A1841}"/>
              </a:ext>
            </a:extLst>
          </p:cNvPr>
          <p:cNvSpPr txBox="1"/>
          <p:nvPr/>
        </p:nvSpPr>
        <p:spPr>
          <a:xfrm>
            <a:off x="4359162" y="2470092"/>
            <a:ext cx="6696744" cy="3231654"/>
          </a:xfrm>
          <a:prstGeom prst="rect">
            <a:avLst/>
          </a:prstGeom>
          <a:noFill/>
        </p:spPr>
        <p:txBody>
          <a:bodyPr wrap="square" rtlCol="0">
            <a:spAutoFit/>
          </a:bodyPr>
          <a:lstStyle/>
          <a:p>
            <a:r>
              <a:rPr lang="zh-CN" altLang="en-US" sz="2400" b="1">
                <a:solidFill>
                  <a:schemeClr val="bg1">
                    <a:lumMod val="95000"/>
                  </a:schemeClr>
                </a:solidFill>
                <a:latin typeface="+mj-ea"/>
                <a:ea typeface="+mj-ea"/>
              </a:rPr>
              <a:t>高血钙</a:t>
            </a:r>
            <a:endParaRPr lang="en-US" altLang="zh-CN" sz="2400" b="1">
              <a:solidFill>
                <a:schemeClr val="bg1">
                  <a:lumMod val="95000"/>
                </a:schemeClr>
              </a:solidFill>
              <a:latin typeface="+mj-ea"/>
              <a:ea typeface="+mj-ea"/>
            </a:endParaRPr>
          </a:p>
          <a:p>
            <a:endParaRPr lang="en-US" altLang="zh-CN" sz="2400" b="1">
              <a:solidFill>
                <a:schemeClr val="bg1">
                  <a:lumMod val="95000"/>
                </a:schemeClr>
              </a:solidFill>
              <a:latin typeface="+mj-ea"/>
              <a:ea typeface="+mj-ea"/>
            </a:endParaRPr>
          </a:p>
          <a:p>
            <a:r>
              <a:rPr lang="zh-CN" altLang="en-US" sz="2400" b="1">
                <a:solidFill>
                  <a:schemeClr val="bg1">
                    <a:lumMod val="95000"/>
                  </a:schemeClr>
                </a:solidFill>
                <a:latin typeface="+mj-ea"/>
                <a:ea typeface="+mj-ea"/>
              </a:rPr>
              <a:t>血钙≥</a:t>
            </a:r>
            <a:r>
              <a:rPr lang="en-US" altLang="zh-CN" sz="2400" b="1">
                <a:solidFill>
                  <a:schemeClr val="bg1">
                    <a:lumMod val="95000"/>
                  </a:schemeClr>
                </a:solidFill>
                <a:latin typeface="+mj-ea"/>
                <a:ea typeface="+mj-ea"/>
              </a:rPr>
              <a:t>2.75mmol/L  </a:t>
            </a:r>
            <a:r>
              <a:rPr lang="zh-CN" altLang="en-US" sz="2400" b="1">
                <a:solidFill>
                  <a:schemeClr val="bg1">
                    <a:lumMod val="95000"/>
                  </a:schemeClr>
                </a:solidFill>
                <a:latin typeface="+mj-ea"/>
                <a:ea typeface="+mj-ea"/>
              </a:rPr>
              <a:t>高血钙，无症状</a:t>
            </a:r>
            <a:endParaRPr lang="en-US" altLang="zh-CN" sz="2400" b="1">
              <a:solidFill>
                <a:schemeClr val="bg1">
                  <a:lumMod val="95000"/>
                </a:schemeClr>
              </a:solidFill>
              <a:latin typeface="+mj-ea"/>
              <a:ea typeface="+mj-ea"/>
            </a:endParaRPr>
          </a:p>
          <a:p>
            <a:endParaRPr lang="en-US" altLang="zh-CN" sz="2400" b="1">
              <a:solidFill>
                <a:schemeClr val="bg1">
                  <a:lumMod val="95000"/>
                </a:schemeClr>
              </a:solidFill>
              <a:latin typeface="+mj-ea"/>
              <a:ea typeface="+mj-ea"/>
            </a:endParaRPr>
          </a:p>
          <a:p>
            <a:r>
              <a:rPr lang="zh-CN" altLang="en-US" sz="2400" b="1">
                <a:solidFill>
                  <a:schemeClr val="bg1">
                    <a:lumMod val="95000"/>
                  </a:schemeClr>
                </a:solidFill>
                <a:latin typeface="+mj-ea"/>
                <a:ea typeface="+mj-ea"/>
              </a:rPr>
              <a:t>血钙≥</a:t>
            </a:r>
            <a:r>
              <a:rPr lang="en-US" altLang="zh-CN" sz="2400" b="1">
                <a:solidFill>
                  <a:schemeClr val="bg1">
                    <a:lumMod val="95000"/>
                  </a:schemeClr>
                </a:solidFill>
                <a:latin typeface="+mj-ea"/>
                <a:ea typeface="+mj-ea"/>
              </a:rPr>
              <a:t>3.75mmol/L  </a:t>
            </a:r>
            <a:r>
              <a:rPr lang="zh-CN" altLang="en-US" sz="2400" b="1">
                <a:solidFill>
                  <a:schemeClr val="bg1">
                    <a:lumMod val="95000"/>
                  </a:schemeClr>
                </a:solidFill>
                <a:latin typeface="+mj-ea"/>
                <a:ea typeface="+mj-ea"/>
              </a:rPr>
              <a:t>便秘，食欲差，老睡觉</a:t>
            </a:r>
            <a:endParaRPr lang="en-US" altLang="zh-CN" sz="2400" b="1">
              <a:solidFill>
                <a:schemeClr val="bg1">
                  <a:lumMod val="95000"/>
                </a:schemeClr>
              </a:solidFill>
              <a:latin typeface="+mj-ea"/>
              <a:ea typeface="+mj-ea"/>
            </a:endParaRPr>
          </a:p>
          <a:p>
            <a:endParaRPr lang="en-US" altLang="zh-CN" sz="2400" b="1">
              <a:solidFill>
                <a:schemeClr val="bg1">
                  <a:lumMod val="95000"/>
                </a:schemeClr>
              </a:solidFill>
              <a:latin typeface="+mj-ea"/>
              <a:ea typeface="+mj-ea"/>
            </a:endParaRPr>
          </a:p>
          <a:p>
            <a:r>
              <a:rPr lang="zh-CN" altLang="en-US" sz="2400" b="1">
                <a:solidFill>
                  <a:schemeClr val="bg1">
                    <a:lumMod val="95000"/>
                  </a:schemeClr>
                </a:solidFill>
                <a:latin typeface="+mj-ea"/>
                <a:ea typeface="+mj-ea"/>
              </a:rPr>
              <a:t>血钙≥</a:t>
            </a:r>
            <a:r>
              <a:rPr lang="en-US" altLang="zh-CN" sz="2400" b="1">
                <a:solidFill>
                  <a:schemeClr val="bg1">
                    <a:lumMod val="95000"/>
                  </a:schemeClr>
                </a:solidFill>
                <a:latin typeface="+mj-ea"/>
                <a:ea typeface="+mj-ea"/>
              </a:rPr>
              <a:t>5.0mmol/L </a:t>
            </a:r>
            <a:r>
              <a:rPr lang="zh-CN" altLang="en-US" sz="2400" b="1">
                <a:solidFill>
                  <a:schemeClr val="bg1">
                    <a:lumMod val="95000"/>
                  </a:schemeClr>
                </a:solidFill>
                <a:latin typeface="+mj-ea"/>
                <a:ea typeface="+mj-ea"/>
              </a:rPr>
              <a:t>死亡</a:t>
            </a:r>
            <a:endParaRPr lang="en-US" altLang="zh-CN" sz="2400" b="1">
              <a:solidFill>
                <a:schemeClr val="bg1">
                  <a:lumMod val="95000"/>
                </a:schemeClr>
              </a:solidFill>
              <a:latin typeface="+mj-ea"/>
              <a:ea typeface="+mj-ea"/>
            </a:endParaRPr>
          </a:p>
          <a:p>
            <a:endParaRPr lang="en-US" altLang="zh-CN"/>
          </a:p>
          <a:p>
            <a:endParaRPr lang="zh-CN" altLang="en-US"/>
          </a:p>
        </p:txBody>
      </p:sp>
    </p:spTree>
    <p:extLst>
      <p:ext uri="{BB962C8B-B14F-4D97-AF65-F5344CB8AC3E}">
        <p14:creationId xmlns:p14="http://schemas.microsoft.com/office/powerpoint/2010/main" val="9476627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p:cNvPr>
          <p:cNvGrpSpPr/>
          <p:nvPr/>
        </p:nvGrpSpPr>
        <p:grpSpPr>
          <a:xfrm>
            <a:off x="4871863" y="0"/>
            <a:ext cx="7320137" cy="1035882"/>
            <a:chOff x="8112223" y="330677"/>
            <a:chExt cx="4194115" cy="1035882"/>
          </a:xfrm>
          <a:effectLst>
            <a:outerShdw blurRad="50800" dist="38100" dir="5400000" algn="t" rotWithShape="0">
              <a:prstClr val="black">
                <a:alpha val="40000"/>
              </a:prstClr>
            </a:outerShdw>
          </a:effectLst>
        </p:grpSpPr>
        <p:sp>
          <p:nvSpPr>
            <p:cNvPr id="27"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8281096" y="330677"/>
              <a:ext cx="3973218" cy="985057"/>
              <a:chOff x="-461843" y="2729730"/>
              <a:chExt cx="4679923" cy="1377463"/>
            </a:xfrm>
          </p:grpSpPr>
          <p:sp>
            <p:nvSpPr>
              <p:cNvPr id="29"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1355254" y="3048121"/>
                <a:ext cx="2862826" cy="81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latin typeface="+mn-lt"/>
                    <a:ea typeface="+mn-ea"/>
                    <a:cs typeface="+mn-ea"/>
                    <a:sym typeface="+mn-lt"/>
                  </a:rPr>
                  <a:t>猫高血钙治疗</a:t>
                </a:r>
                <a:endParaRPr lang="en-US" altLang="zh-CN" sz="2400" b="1">
                  <a:solidFill>
                    <a:srgbClr val="010101"/>
                  </a:solidFill>
                  <a:latin typeface="+mn-lt"/>
                  <a:ea typeface="+mn-ea"/>
                  <a:cs typeface="+mn-ea"/>
                  <a:sym typeface="+mn-lt"/>
                </a:endParaRPr>
              </a:p>
            </p:txBody>
          </p:sp>
          <p:cxnSp>
            <p:nvCxnSpPr>
              <p:cNvPr id="31" name="直接连接符 30">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506334" y="3461620"/>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grpSp>
        <p:nvGrpSpPr>
          <p:cNvPr id="37893" name="组合 1"/>
          <p:cNvGrpSpPr>
            <a:grpSpLocks/>
          </p:cNvGrpSpPr>
          <p:nvPr/>
        </p:nvGrpSpPr>
        <p:grpSpPr bwMode="auto">
          <a:xfrm>
            <a:off x="777200" y="2492896"/>
            <a:ext cx="4865878" cy="2973190"/>
            <a:chOff x="6931323" y="2608336"/>
            <a:chExt cx="4500246" cy="2972408"/>
          </a:xfrm>
        </p:grpSpPr>
        <p:grpSp>
          <p:nvGrpSpPr>
            <p:cNvPr id="37894" name="组合 14"/>
            <p:cNvGrpSpPr>
              <a:grpSpLocks/>
            </p:cNvGrpSpPr>
            <p:nvPr/>
          </p:nvGrpSpPr>
          <p:grpSpPr bwMode="auto">
            <a:xfrm>
              <a:off x="6931323" y="2608336"/>
              <a:ext cx="4500246" cy="718135"/>
              <a:chOff x="3936148" y="1692543"/>
              <a:chExt cx="4500246" cy="718135"/>
            </a:xfrm>
          </p:grpSpPr>
          <p:sp>
            <p:nvSpPr>
              <p:cNvPr id="55" name="文本框 66">
                <a:extLst/>
              </p:cNvPr>
              <p:cNvSpPr txBox="1">
                <a:spLocks noChangeArrowheads="1"/>
              </p:cNvSpPr>
              <p:nvPr/>
            </p:nvSpPr>
            <p:spPr bwMode="auto">
              <a:xfrm>
                <a:off x="3966308" y="1692543"/>
                <a:ext cx="4258964" cy="461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spcBef>
                    <a:spcPts val="0"/>
                  </a:spcBef>
                  <a:spcAft>
                    <a:spcPts val="0"/>
                  </a:spcAft>
                  <a:defRPr/>
                </a:pPr>
                <a:endParaRPr lang="zh-CN" altLang="en-US" sz="2400" b="1" kern="0">
                  <a:solidFill>
                    <a:srgbClr val="4F4F4F"/>
                  </a:solidFill>
                  <a:latin typeface="+mn-lt"/>
                  <a:ea typeface="+mn-ea"/>
                  <a:cs typeface="+mn-ea"/>
                  <a:sym typeface="+mn-lt"/>
                </a:endParaRPr>
              </a:p>
            </p:txBody>
          </p:sp>
          <p:sp>
            <p:nvSpPr>
              <p:cNvPr id="56" name="矩形 55">
                <a:extLst/>
              </p:cNvPr>
              <p:cNvSpPr/>
              <p:nvPr/>
            </p:nvSpPr>
            <p:spPr>
              <a:xfrm>
                <a:off x="3936148" y="2133752"/>
                <a:ext cx="4500246" cy="276926"/>
              </a:xfrm>
              <a:prstGeom prst="rect">
                <a:avLst/>
              </a:prstGeom>
            </p:spPr>
            <p:txBody>
              <a:bodyPr>
                <a:spAutoFit/>
              </a:bodyPr>
              <a:lstStyle/>
              <a:p>
                <a:pPr eaLnBrk="1" fontAlgn="auto" hangingPunct="1">
                  <a:spcBef>
                    <a:spcPts val="0"/>
                  </a:spcBef>
                  <a:spcAft>
                    <a:spcPts val="0"/>
                  </a:spcAft>
                  <a:defRPr/>
                </a:pPr>
                <a:endParaRPr lang="zh-CN" altLang="en-US" sz="1200" kern="0">
                  <a:solidFill>
                    <a:srgbClr val="4F4F4F"/>
                  </a:solidFill>
                  <a:latin typeface="+mn-lt"/>
                  <a:ea typeface="+mn-ea"/>
                  <a:cs typeface="+mn-ea"/>
                  <a:sym typeface="+mn-lt"/>
                </a:endParaRPr>
              </a:p>
            </p:txBody>
          </p:sp>
        </p:grpSp>
        <p:sp>
          <p:nvSpPr>
            <p:cNvPr id="53" name="矩形 3">
              <a:extLst/>
            </p:cNvPr>
            <p:cNvSpPr>
              <a:spLocks noChangeArrowheads="1"/>
            </p:cNvSpPr>
            <p:nvPr/>
          </p:nvSpPr>
          <p:spPr bwMode="auto">
            <a:xfrm>
              <a:off x="6931323" y="4487442"/>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sp>
          <p:nvSpPr>
            <p:cNvPr id="54" name="矩形 3">
              <a:extLst/>
            </p:cNvPr>
            <p:cNvSpPr>
              <a:spLocks noChangeArrowheads="1"/>
            </p:cNvSpPr>
            <p:nvPr/>
          </p:nvSpPr>
          <p:spPr bwMode="auto">
            <a:xfrm>
              <a:off x="6931323" y="5273048"/>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grpSp>
      <p:sp>
        <p:nvSpPr>
          <p:cNvPr id="19" name="文本框 18">
            <a:extLst>
              <a:ext uri="{FF2B5EF4-FFF2-40B4-BE49-F238E27FC236}">
                <a16:creationId xmlns:a16="http://schemas.microsoft.com/office/drawing/2014/main" id="{AEE01461-EC3B-414C-A38D-6413179E4729}"/>
              </a:ext>
            </a:extLst>
          </p:cNvPr>
          <p:cNvSpPr txBox="1"/>
          <p:nvPr/>
        </p:nvSpPr>
        <p:spPr>
          <a:xfrm>
            <a:off x="6479416" y="2691339"/>
            <a:ext cx="3600400" cy="2926486"/>
          </a:xfrm>
          <a:prstGeom prst="rect">
            <a:avLst/>
          </a:prstGeom>
          <a:noFill/>
        </p:spPr>
        <p:txBody>
          <a:bodyPr wrap="square" rtlCol="0">
            <a:spAutoFit/>
          </a:bodyPr>
          <a:lstStyle/>
          <a:p>
            <a:endParaRPr lang="zh-CN" altLang="en-US"/>
          </a:p>
        </p:txBody>
      </p:sp>
      <p:sp>
        <p:nvSpPr>
          <p:cNvPr id="5" name="文本框 4">
            <a:extLst>
              <a:ext uri="{FF2B5EF4-FFF2-40B4-BE49-F238E27FC236}">
                <a16:creationId xmlns:a16="http://schemas.microsoft.com/office/drawing/2014/main" id="{48D59AAB-31AD-4E45-A027-B78180DBC380}"/>
              </a:ext>
            </a:extLst>
          </p:cNvPr>
          <p:cNvSpPr txBox="1"/>
          <p:nvPr/>
        </p:nvSpPr>
        <p:spPr>
          <a:xfrm>
            <a:off x="2532907" y="3047416"/>
            <a:ext cx="3323136" cy="1323439"/>
          </a:xfrm>
          <a:prstGeom prst="rect">
            <a:avLst/>
          </a:prstGeom>
          <a:noFill/>
        </p:spPr>
        <p:txBody>
          <a:bodyPr wrap="square" rtlCol="0">
            <a:spAutoFit/>
          </a:bodyPr>
          <a:lstStyle/>
          <a:p>
            <a:r>
              <a:rPr lang="zh-CN" altLang="en-US" sz="4000" b="1"/>
              <a:t>高血钙治疗</a:t>
            </a:r>
            <a:endParaRPr lang="en-US" altLang="zh-CN" sz="4000" b="1"/>
          </a:p>
          <a:p>
            <a:r>
              <a:rPr lang="zh-CN" altLang="en-US" sz="4000" b="1"/>
              <a:t>基础疗法</a:t>
            </a:r>
          </a:p>
        </p:txBody>
      </p:sp>
      <p:sp>
        <p:nvSpPr>
          <p:cNvPr id="20" name="文本框 19">
            <a:extLst>
              <a:ext uri="{FF2B5EF4-FFF2-40B4-BE49-F238E27FC236}">
                <a16:creationId xmlns:a16="http://schemas.microsoft.com/office/drawing/2014/main" id="{D87A80B3-FA72-4CDE-A1FD-B5CE5EB3F44C}"/>
              </a:ext>
            </a:extLst>
          </p:cNvPr>
          <p:cNvSpPr txBox="1"/>
          <p:nvPr/>
        </p:nvSpPr>
        <p:spPr>
          <a:xfrm>
            <a:off x="6236478" y="3002484"/>
            <a:ext cx="7975187" cy="2215991"/>
          </a:xfrm>
          <a:prstGeom prst="rect">
            <a:avLst/>
          </a:prstGeom>
          <a:noFill/>
        </p:spPr>
        <p:txBody>
          <a:bodyPr wrap="square" rtlCol="0">
            <a:spAutoFit/>
          </a:bodyPr>
          <a:lstStyle/>
          <a:p>
            <a:pPr marL="800100" lvl="1" indent="-342900">
              <a:buFont typeface="Wingdings" panose="05000000000000000000" pitchFamily="2" charset="2"/>
              <a:buChar char="n"/>
            </a:pPr>
            <a:r>
              <a:rPr lang="zh-CN" altLang="en-US" b="1">
                <a:solidFill>
                  <a:schemeClr val="tx1">
                    <a:lumMod val="85000"/>
                    <a:lumOff val="15000"/>
                  </a:schemeClr>
                </a:solidFill>
                <a:effectLst>
                  <a:outerShdw blurRad="38100" dist="38100" dir="2700000" algn="tl">
                    <a:srgbClr val="000000">
                      <a:alpha val="43137"/>
                    </a:srgbClr>
                  </a:outerShdw>
                </a:effectLst>
                <a:latin typeface="+mj-ea"/>
                <a:ea typeface="+mj-ea"/>
              </a:rPr>
              <a:t>生理盐水补液</a:t>
            </a: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b="1">
                <a:solidFill>
                  <a:schemeClr val="tx1">
                    <a:lumMod val="85000"/>
                    <a:lumOff val="15000"/>
                  </a:schemeClr>
                </a:solidFill>
                <a:effectLst>
                  <a:outerShdw blurRad="38100" dist="38100" dir="2700000" algn="tl">
                    <a:srgbClr val="000000">
                      <a:alpha val="43137"/>
                    </a:srgbClr>
                  </a:outerShdw>
                </a:effectLst>
                <a:latin typeface="+mj-ea"/>
                <a:ea typeface="+mj-ea"/>
              </a:rPr>
              <a:t>速尿</a:t>
            </a: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b="1">
                <a:solidFill>
                  <a:schemeClr val="tx1">
                    <a:lumMod val="85000"/>
                    <a:lumOff val="15000"/>
                  </a:schemeClr>
                </a:solidFill>
                <a:effectLst>
                  <a:outerShdw blurRad="38100" dist="38100" dir="2700000" algn="tl">
                    <a:srgbClr val="000000">
                      <a:alpha val="43137"/>
                    </a:srgbClr>
                  </a:outerShdw>
                </a:effectLst>
                <a:latin typeface="+mj-ea"/>
                <a:ea typeface="+mj-ea"/>
              </a:rPr>
              <a:t>钙、磷都高则用磷结合剂</a:t>
            </a: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b="1">
                <a:solidFill>
                  <a:schemeClr val="tx1">
                    <a:lumMod val="85000"/>
                    <a:lumOff val="15000"/>
                  </a:schemeClr>
                </a:solidFill>
                <a:effectLst>
                  <a:outerShdw blurRad="38100" dist="38100" dir="2700000" algn="tl">
                    <a:srgbClr val="000000">
                      <a:alpha val="43137"/>
                    </a:srgbClr>
                  </a:outerShdw>
                </a:effectLst>
                <a:latin typeface="+mj-ea"/>
                <a:ea typeface="+mj-ea"/>
              </a:rPr>
              <a:t>减少维生素</a:t>
            </a:r>
            <a:r>
              <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rPr>
              <a:t>D</a:t>
            </a:r>
            <a:r>
              <a:rPr lang="zh-CN" altLang="en-US" b="1">
                <a:solidFill>
                  <a:schemeClr val="tx1">
                    <a:lumMod val="85000"/>
                    <a:lumOff val="15000"/>
                  </a:schemeClr>
                </a:solidFill>
                <a:effectLst>
                  <a:outerShdw blurRad="38100" dist="38100" dir="2700000" algn="tl">
                    <a:srgbClr val="000000">
                      <a:alpha val="43137"/>
                    </a:srgbClr>
                  </a:outerShdw>
                </a:effectLst>
                <a:latin typeface="+mj-ea"/>
                <a:ea typeface="+mj-ea"/>
              </a:rPr>
              <a:t>摄入</a:t>
            </a: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b="1">
                <a:solidFill>
                  <a:schemeClr val="tx1">
                    <a:lumMod val="85000"/>
                    <a:lumOff val="15000"/>
                  </a:schemeClr>
                </a:solidFill>
                <a:effectLst>
                  <a:outerShdw blurRad="38100" dist="38100" dir="2700000" algn="tl">
                    <a:srgbClr val="000000">
                      <a:alpha val="43137"/>
                    </a:srgbClr>
                  </a:outerShdw>
                </a:effectLst>
                <a:latin typeface="+mj-ea"/>
                <a:ea typeface="+mj-ea"/>
              </a:rPr>
              <a:t>提供高纤维饮食</a:t>
            </a:r>
            <a:endParaRPr lang="en-US" altLang="zh-CN" sz="1100" b="1">
              <a:solidFill>
                <a:schemeClr val="tx1">
                  <a:lumMod val="85000"/>
                  <a:lumOff val="15000"/>
                </a:schemeClr>
              </a:solidFill>
              <a:effectLst>
                <a:outerShdw blurRad="38100" dist="38100" dir="2700000" algn="tl">
                  <a:srgbClr val="000000">
                    <a:alpha val="43137"/>
                  </a:srgbClr>
                </a:outerShdw>
              </a:effectLst>
              <a:latin typeface="+mj-ea"/>
              <a:ea typeface="+mj-ea"/>
            </a:endParaRPr>
          </a:p>
          <a:p>
            <a:pPr lvl="1"/>
            <a:r>
              <a:rPr lang="en-US" altLang="zh-CN" sz="1600" b="1">
                <a:solidFill>
                  <a:schemeClr val="bg1">
                    <a:lumMod val="95000"/>
                  </a:schemeClr>
                </a:solidFill>
                <a:effectLst>
                  <a:outerShdw blurRad="38100" dist="38100" dir="2700000" algn="tl">
                    <a:srgbClr val="000000">
                      <a:alpha val="43137"/>
                    </a:srgbClr>
                  </a:outerShdw>
                </a:effectLst>
                <a:latin typeface="+mj-ea"/>
                <a:ea typeface="+mj-ea"/>
              </a:rPr>
              <a:t>    </a:t>
            </a:r>
          </a:p>
          <a:p>
            <a:pPr lvl="1"/>
            <a:endParaRPr lang="en-US" altLang="zh-CN" sz="1600" b="1">
              <a:solidFill>
                <a:schemeClr val="bg1">
                  <a:lumMod val="95000"/>
                </a:schemeClr>
              </a:solidFill>
              <a:effectLst>
                <a:outerShdw blurRad="38100" dist="38100" dir="2700000" algn="tl">
                  <a:srgbClr val="000000">
                    <a:alpha val="43137"/>
                  </a:srgbClr>
                </a:outerShdw>
              </a:effectLst>
              <a:latin typeface="+mj-ea"/>
              <a:ea typeface="+mj-ea"/>
            </a:endParaRPr>
          </a:p>
          <a:p>
            <a:pPr lvl="1"/>
            <a:endParaRPr lang="en-US" altLang="zh-CN" sz="1600" b="1">
              <a:solidFill>
                <a:schemeClr val="bg1"/>
              </a:solidFill>
              <a:effectLst>
                <a:outerShdw blurRad="38100" dist="38100" dir="2700000" algn="tl">
                  <a:srgbClr val="000000">
                    <a:alpha val="43137"/>
                  </a:srgbClr>
                </a:outerShdw>
              </a:effectLst>
              <a:latin typeface="+mj-ea"/>
              <a:ea typeface="+mj-ea"/>
            </a:endParaRPr>
          </a:p>
        </p:txBody>
      </p:sp>
      <p:sp>
        <p:nvSpPr>
          <p:cNvPr id="22" name="文本框 21">
            <a:extLst>
              <a:ext uri="{FF2B5EF4-FFF2-40B4-BE49-F238E27FC236}">
                <a16:creationId xmlns:a16="http://schemas.microsoft.com/office/drawing/2014/main" id="{8680B877-2955-48DE-9D87-E34A49E6BB54}"/>
              </a:ext>
            </a:extLst>
          </p:cNvPr>
          <p:cNvSpPr txBox="1"/>
          <p:nvPr/>
        </p:nvSpPr>
        <p:spPr>
          <a:xfrm>
            <a:off x="3466675" y="1663473"/>
            <a:ext cx="7975187" cy="584775"/>
          </a:xfrm>
          <a:prstGeom prst="rect">
            <a:avLst/>
          </a:prstGeom>
          <a:noFill/>
        </p:spPr>
        <p:txBody>
          <a:bodyPr wrap="square" rtlCol="0">
            <a:spAutoFit/>
          </a:bodyPr>
          <a:lstStyle/>
          <a:p>
            <a:pPr lvl="1"/>
            <a:endParaRPr lang="en-US" altLang="zh-CN" sz="1600" b="1">
              <a:solidFill>
                <a:schemeClr val="bg1">
                  <a:lumMod val="95000"/>
                </a:schemeClr>
              </a:solidFill>
              <a:effectLst>
                <a:outerShdw blurRad="38100" dist="38100" dir="2700000" algn="tl">
                  <a:srgbClr val="000000">
                    <a:alpha val="43137"/>
                  </a:srgbClr>
                </a:outerShdw>
              </a:effectLst>
              <a:latin typeface="+mj-ea"/>
              <a:ea typeface="+mj-ea"/>
            </a:endParaRPr>
          </a:p>
          <a:p>
            <a:pPr lvl="1"/>
            <a:endParaRPr lang="en-US" altLang="zh-CN" sz="1600" b="1">
              <a:solidFill>
                <a:schemeClr val="bg1"/>
              </a:solidFill>
              <a:effectLst>
                <a:outerShdw blurRad="38100" dist="38100" dir="2700000" algn="tl">
                  <a:srgbClr val="000000">
                    <a:alpha val="43137"/>
                  </a:srgbClr>
                </a:outerShdw>
              </a:effectLst>
              <a:latin typeface="+mj-ea"/>
              <a:ea typeface="+mj-ea"/>
            </a:endParaRPr>
          </a:p>
        </p:txBody>
      </p:sp>
      <p:cxnSp>
        <p:nvCxnSpPr>
          <p:cNvPr id="23" name="直接连接符 22">
            <a:extLst>
              <a:ext uri="{FF2B5EF4-FFF2-40B4-BE49-F238E27FC236}">
                <a16:creationId xmlns:a16="http://schemas.microsoft.com/office/drawing/2014/main" id="{A6ED08FA-2943-4D08-91B5-062B4352A4BC}"/>
              </a:ext>
            </a:extLst>
          </p:cNvPr>
          <p:cNvCxnSpPr/>
          <p:nvPr/>
        </p:nvCxnSpPr>
        <p:spPr>
          <a:xfrm flipH="1">
            <a:off x="5936474" y="3197310"/>
            <a:ext cx="19050" cy="1079500"/>
          </a:xfrm>
          <a:prstGeom prst="line">
            <a:avLst/>
          </a:prstGeom>
          <a:ln w="50800">
            <a:solidFill>
              <a:srgbClr val="4F4F4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837942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p:cNvPr>
          <p:cNvGrpSpPr/>
          <p:nvPr/>
        </p:nvGrpSpPr>
        <p:grpSpPr>
          <a:xfrm>
            <a:off x="4892286" y="4641"/>
            <a:ext cx="7320137" cy="1035882"/>
            <a:chOff x="8112223" y="330677"/>
            <a:chExt cx="4194115" cy="1035882"/>
          </a:xfrm>
          <a:effectLst>
            <a:outerShdw blurRad="50800" dist="38100" dir="5400000" algn="t" rotWithShape="0">
              <a:prstClr val="black">
                <a:alpha val="40000"/>
              </a:prstClr>
            </a:outerShdw>
          </a:effectLst>
        </p:grpSpPr>
        <p:sp>
          <p:nvSpPr>
            <p:cNvPr id="27"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8281096" y="330677"/>
              <a:ext cx="3973218" cy="985057"/>
              <a:chOff x="-461843" y="2729730"/>
              <a:chExt cx="4679923" cy="1377463"/>
            </a:xfrm>
          </p:grpSpPr>
          <p:sp>
            <p:nvSpPr>
              <p:cNvPr id="29"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1355254" y="3048121"/>
                <a:ext cx="2862826" cy="81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latin typeface="+mn-lt"/>
                    <a:ea typeface="+mn-ea"/>
                    <a:cs typeface="+mn-ea"/>
                    <a:sym typeface="+mn-lt"/>
                  </a:rPr>
                  <a:t>猫高血钙治疗</a:t>
                </a:r>
                <a:endParaRPr lang="en-US" altLang="zh-CN" sz="2400" b="1">
                  <a:solidFill>
                    <a:srgbClr val="010101"/>
                  </a:solidFill>
                  <a:latin typeface="+mn-lt"/>
                  <a:ea typeface="+mn-ea"/>
                  <a:cs typeface="+mn-ea"/>
                  <a:sym typeface="+mn-lt"/>
                </a:endParaRPr>
              </a:p>
            </p:txBody>
          </p:sp>
          <p:cxnSp>
            <p:nvCxnSpPr>
              <p:cNvPr id="31" name="直接连接符 30">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506334" y="3461620"/>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grpSp>
        <p:nvGrpSpPr>
          <p:cNvPr id="37893" name="组合 1"/>
          <p:cNvGrpSpPr>
            <a:grpSpLocks/>
          </p:cNvGrpSpPr>
          <p:nvPr/>
        </p:nvGrpSpPr>
        <p:grpSpPr bwMode="auto">
          <a:xfrm>
            <a:off x="777200" y="2492896"/>
            <a:ext cx="4865878" cy="2973190"/>
            <a:chOff x="6931323" y="2608336"/>
            <a:chExt cx="4500246" cy="2972408"/>
          </a:xfrm>
        </p:grpSpPr>
        <p:grpSp>
          <p:nvGrpSpPr>
            <p:cNvPr id="37894" name="组合 14"/>
            <p:cNvGrpSpPr>
              <a:grpSpLocks/>
            </p:cNvGrpSpPr>
            <p:nvPr/>
          </p:nvGrpSpPr>
          <p:grpSpPr bwMode="auto">
            <a:xfrm>
              <a:off x="6931323" y="2608336"/>
              <a:ext cx="4500246" cy="718135"/>
              <a:chOff x="3936148" y="1692543"/>
              <a:chExt cx="4500246" cy="718135"/>
            </a:xfrm>
          </p:grpSpPr>
          <p:sp>
            <p:nvSpPr>
              <p:cNvPr id="55" name="文本框 66">
                <a:extLst/>
              </p:cNvPr>
              <p:cNvSpPr txBox="1">
                <a:spLocks noChangeArrowheads="1"/>
              </p:cNvSpPr>
              <p:nvPr/>
            </p:nvSpPr>
            <p:spPr bwMode="auto">
              <a:xfrm>
                <a:off x="3966308" y="1692543"/>
                <a:ext cx="4258964" cy="461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spcBef>
                    <a:spcPts val="0"/>
                  </a:spcBef>
                  <a:spcAft>
                    <a:spcPts val="0"/>
                  </a:spcAft>
                  <a:defRPr/>
                </a:pPr>
                <a:endParaRPr lang="zh-CN" altLang="en-US" sz="2400" b="1" kern="0">
                  <a:solidFill>
                    <a:srgbClr val="4F4F4F"/>
                  </a:solidFill>
                  <a:latin typeface="+mn-lt"/>
                  <a:ea typeface="+mn-ea"/>
                  <a:cs typeface="+mn-ea"/>
                  <a:sym typeface="+mn-lt"/>
                </a:endParaRPr>
              </a:p>
            </p:txBody>
          </p:sp>
          <p:sp>
            <p:nvSpPr>
              <p:cNvPr id="56" name="矩形 55">
                <a:extLst/>
              </p:cNvPr>
              <p:cNvSpPr/>
              <p:nvPr/>
            </p:nvSpPr>
            <p:spPr>
              <a:xfrm>
                <a:off x="3936148" y="2133752"/>
                <a:ext cx="4500246" cy="276926"/>
              </a:xfrm>
              <a:prstGeom prst="rect">
                <a:avLst/>
              </a:prstGeom>
            </p:spPr>
            <p:txBody>
              <a:bodyPr>
                <a:spAutoFit/>
              </a:bodyPr>
              <a:lstStyle/>
              <a:p>
                <a:pPr eaLnBrk="1" fontAlgn="auto" hangingPunct="1">
                  <a:spcBef>
                    <a:spcPts val="0"/>
                  </a:spcBef>
                  <a:spcAft>
                    <a:spcPts val="0"/>
                  </a:spcAft>
                  <a:defRPr/>
                </a:pPr>
                <a:endParaRPr lang="zh-CN" altLang="en-US" sz="1200" kern="0">
                  <a:solidFill>
                    <a:srgbClr val="4F4F4F"/>
                  </a:solidFill>
                  <a:latin typeface="+mn-lt"/>
                  <a:ea typeface="+mn-ea"/>
                  <a:cs typeface="+mn-ea"/>
                  <a:sym typeface="+mn-lt"/>
                </a:endParaRPr>
              </a:p>
            </p:txBody>
          </p:sp>
        </p:grpSp>
        <p:sp>
          <p:nvSpPr>
            <p:cNvPr id="53" name="矩形 3">
              <a:extLst/>
            </p:cNvPr>
            <p:cNvSpPr>
              <a:spLocks noChangeArrowheads="1"/>
            </p:cNvSpPr>
            <p:nvPr/>
          </p:nvSpPr>
          <p:spPr bwMode="auto">
            <a:xfrm>
              <a:off x="6931323" y="4487442"/>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sp>
          <p:nvSpPr>
            <p:cNvPr id="54" name="矩形 3">
              <a:extLst/>
            </p:cNvPr>
            <p:cNvSpPr>
              <a:spLocks noChangeArrowheads="1"/>
            </p:cNvSpPr>
            <p:nvPr/>
          </p:nvSpPr>
          <p:spPr bwMode="auto">
            <a:xfrm>
              <a:off x="6931323" y="5273048"/>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grpSp>
      <p:sp>
        <p:nvSpPr>
          <p:cNvPr id="19" name="文本框 18">
            <a:extLst>
              <a:ext uri="{FF2B5EF4-FFF2-40B4-BE49-F238E27FC236}">
                <a16:creationId xmlns:a16="http://schemas.microsoft.com/office/drawing/2014/main" id="{AEE01461-EC3B-414C-A38D-6413179E4729}"/>
              </a:ext>
            </a:extLst>
          </p:cNvPr>
          <p:cNvSpPr txBox="1"/>
          <p:nvPr/>
        </p:nvSpPr>
        <p:spPr>
          <a:xfrm>
            <a:off x="6452593" y="3339312"/>
            <a:ext cx="3600400" cy="2926486"/>
          </a:xfrm>
          <a:prstGeom prst="rect">
            <a:avLst/>
          </a:prstGeom>
          <a:noFill/>
        </p:spPr>
        <p:txBody>
          <a:bodyPr wrap="square" rtlCol="0">
            <a:spAutoFit/>
          </a:bodyPr>
          <a:lstStyle/>
          <a:p>
            <a:endParaRPr lang="zh-CN" altLang="en-US"/>
          </a:p>
        </p:txBody>
      </p:sp>
      <p:sp>
        <p:nvSpPr>
          <p:cNvPr id="5" name="文本框 4">
            <a:extLst>
              <a:ext uri="{FF2B5EF4-FFF2-40B4-BE49-F238E27FC236}">
                <a16:creationId xmlns:a16="http://schemas.microsoft.com/office/drawing/2014/main" id="{48D59AAB-31AD-4E45-A027-B78180DBC380}"/>
              </a:ext>
            </a:extLst>
          </p:cNvPr>
          <p:cNvSpPr txBox="1"/>
          <p:nvPr/>
        </p:nvSpPr>
        <p:spPr>
          <a:xfrm>
            <a:off x="2457565" y="3037612"/>
            <a:ext cx="3323136" cy="1323439"/>
          </a:xfrm>
          <a:prstGeom prst="rect">
            <a:avLst/>
          </a:prstGeom>
          <a:noFill/>
        </p:spPr>
        <p:txBody>
          <a:bodyPr wrap="square" rtlCol="0">
            <a:spAutoFit/>
          </a:bodyPr>
          <a:lstStyle/>
          <a:p>
            <a:r>
              <a:rPr lang="zh-CN" altLang="en-US" sz="4000" b="1"/>
              <a:t>高血钙治疗</a:t>
            </a:r>
            <a:endParaRPr lang="en-US" altLang="zh-CN" sz="4000" b="1"/>
          </a:p>
          <a:p>
            <a:r>
              <a:rPr lang="zh-CN" altLang="en-US" sz="4000" b="1"/>
              <a:t>进阶疗法</a:t>
            </a:r>
          </a:p>
        </p:txBody>
      </p:sp>
      <p:sp>
        <p:nvSpPr>
          <p:cNvPr id="22" name="文本框 21">
            <a:extLst>
              <a:ext uri="{FF2B5EF4-FFF2-40B4-BE49-F238E27FC236}">
                <a16:creationId xmlns:a16="http://schemas.microsoft.com/office/drawing/2014/main" id="{8680B877-2955-48DE-9D87-E34A49E6BB54}"/>
              </a:ext>
            </a:extLst>
          </p:cNvPr>
          <p:cNvSpPr txBox="1"/>
          <p:nvPr/>
        </p:nvSpPr>
        <p:spPr>
          <a:xfrm>
            <a:off x="3490921" y="2139102"/>
            <a:ext cx="7975187" cy="584775"/>
          </a:xfrm>
          <a:prstGeom prst="rect">
            <a:avLst/>
          </a:prstGeom>
          <a:noFill/>
        </p:spPr>
        <p:txBody>
          <a:bodyPr wrap="square" rtlCol="0">
            <a:spAutoFit/>
          </a:bodyPr>
          <a:lstStyle/>
          <a:p>
            <a:pPr lvl="1"/>
            <a:endParaRPr lang="en-US" altLang="zh-CN" sz="1600" b="1">
              <a:solidFill>
                <a:schemeClr val="bg1">
                  <a:lumMod val="95000"/>
                </a:schemeClr>
              </a:solidFill>
              <a:effectLst>
                <a:outerShdw blurRad="38100" dist="38100" dir="2700000" algn="tl">
                  <a:srgbClr val="000000">
                    <a:alpha val="43137"/>
                  </a:srgbClr>
                </a:outerShdw>
              </a:effectLst>
              <a:latin typeface="+mj-ea"/>
              <a:ea typeface="+mj-ea"/>
            </a:endParaRPr>
          </a:p>
          <a:p>
            <a:pPr lvl="1"/>
            <a:endParaRPr lang="en-US" altLang="zh-CN" sz="1600" b="1">
              <a:solidFill>
                <a:schemeClr val="bg1"/>
              </a:solidFill>
              <a:effectLst>
                <a:outerShdw blurRad="38100" dist="38100" dir="2700000" algn="tl">
                  <a:srgbClr val="000000">
                    <a:alpha val="43137"/>
                  </a:srgbClr>
                </a:outerShdw>
              </a:effectLst>
              <a:latin typeface="+mj-ea"/>
              <a:ea typeface="+mj-ea"/>
            </a:endParaRPr>
          </a:p>
        </p:txBody>
      </p:sp>
      <p:cxnSp>
        <p:nvCxnSpPr>
          <p:cNvPr id="23" name="直接连接符 22">
            <a:extLst>
              <a:ext uri="{FF2B5EF4-FFF2-40B4-BE49-F238E27FC236}">
                <a16:creationId xmlns:a16="http://schemas.microsoft.com/office/drawing/2014/main" id="{A6ED08FA-2943-4D08-91B5-062B4352A4BC}"/>
              </a:ext>
            </a:extLst>
          </p:cNvPr>
          <p:cNvCxnSpPr/>
          <p:nvPr/>
        </p:nvCxnSpPr>
        <p:spPr>
          <a:xfrm flipH="1">
            <a:off x="5962814" y="3245108"/>
            <a:ext cx="19050" cy="1079500"/>
          </a:xfrm>
          <a:prstGeom prst="line">
            <a:avLst/>
          </a:prstGeom>
          <a:ln w="50800">
            <a:solidFill>
              <a:srgbClr val="4F4F4F"/>
            </a:solidFill>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EB111E93-C3F4-4E41-9370-00B942D14579}"/>
              </a:ext>
            </a:extLst>
          </p:cNvPr>
          <p:cNvSpPr txBox="1"/>
          <p:nvPr/>
        </p:nvSpPr>
        <p:spPr>
          <a:xfrm>
            <a:off x="6096000" y="2060848"/>
            <a:ext cx="4232239" cy="3877985"/>
          </a:xfrm>
          <a:prstGeom prst="rect">
            <a:avLst/>
          </a:prstGeom>
          <a:noFill/>
        </p:spPr>
        <p:txBody>
          <a:bodyPr wrap="square" rtlCol="0">
            <a:spAutoFit/>
          </a:bodyPr>
          <a:lstStyle/>
          <a:p>
            <a:pPr marL="800100" lvl="1" indent="-342900">
              <a:buFont typeface="Wingdings" panose="05000000000000000000" pitchFamily="2" charset="2"/>
              <a:buChar char="n"/>
            </a:pPr>
            <a:r>
              <a:rPr lang="zh-CN" altLang="en-US" b="1">
                <a:solidFill>
                  <a:schemeClr val="tx1">
                    <a:lumMod val="85000"/>
                    <a:lumOff val="15000"/>
                  </a:schemeClr>
                </a:solidFill>
                <a:effectLst>
                  <a:outerShdw blurRad="38100" dist="38100" dir="2700000" algn="tl">
                    <a:srgbClr val="000000">
                      <a:alpha val="43137"/>
                    </a:srgbClr>
                  </a:outerShdw>
                </a:effectLst>
                <a:latin typeface="+mj-ea"/>
                <a:ea typeface="+mj-ea"/>
              </a:rPr>
              <a:t>肾病猫顽固高血钙请加测离子钙</a:t>
            </a: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1257300" lvl="2" indent="-342900">
              <a:buFont typeface="Arial" panose="020B0604020202020204" pitchFamily="34" charset="0"/>
              <a:buChar char="•"/>
            </a:pPr>
            <a:r>
              <a:rPr lang="zh-CN" altLang="en-US" sz="1600">
                <a:solidFill>
                  <a:schemeClr val="tx1">
                    <a:lumMod val="85000"/>
                    <a:lumOff val="15000"/>
                  </a:schemeClr>
                </a:solidFill>
                <a:effectLst>
                  <a:outerShdw blurRad="38100" dist="38100" dir="2700000" algn="tl">
                    <a:srgbClr val="000000">
                      <a:alpha val="43137"/>
                    </a:srgbClr>
                  </a:outerShdw>
                </a:effectLst>
                <a:latin typeface="+mj-ea"/>
              </a:rPr>
              <a:t>正常？ 可能无需治疗</a:t>
            </a:r>
            <a:r>
              <a:rPr lang="en-US" altLang="zh-CN" sz="1600">
                <a:solidFill>
                  <a:schemeClr val="bg1">
                    <a:lumMod val="95000"/>
                  </a:schemeClr>
                </a:solidFill>
                <a:effectLst>
                  <a:outerShdw blurRad="38100" dist="38100" dir="2700000" algn="tl">
                    <a:srgbClr val="000000">
                      <a:alpha val="43137"/>
                    </a:srgbClr>
                  </a:outerShdw>
                </a:effectLst>
                <a:latin typeface="+mj-ea"/>
              </a:rPr>
              <a:t>   </a:t>
            </a:r>
          </a:p>
          <a:p>
            <a:pPr marL="1257300" lvl="2" indent="-342900">
              <a:buFont typeface="Arial" panose="020B0604020202020204" pitchFamily="34" charset="0"/>
              <a:buChar char="•"/>
            </a:pPr>
            <a:r>
              <a:rPr lang="zh-CN" altLang="en-US" sz="1600">
                <a:solidFill>
                  <a:schemeClr val="tx1">
                    <a:lumMod val="85000"/>
                    <a:lumOff val="15000"/>
                  </a:schemeClr>
                </a:solidFill>
                <a:effectLst>
                  <a:outerShdw blurRad="38100" dist="38100" dir="2700000" algn="tl">
                    <a:srgbClr val="000000">
                      <a:alpha val="43137"/>
                    </a:srgbClr>
                  </a:outerShdw>
                </a:effectLst>
                <a:latin typeface="+mj-ea"/>
              </a:rPr>
              <a:t>不正常？超出多少？</a:t>
            </a:r>
            <a:r>
              <a:rPr lang="en-US" altLang="zh-CN" sz="1600">
                <a:solidFill>
                  <a:schemeClr val="tx1">
                    <a:lumMod val="85000"/>
                    <a:lumOff val="15000"/>
                  </a:schemeClr>
                </a:solidFill>
                <a:effectLst>
                  <a:outerShdw blurRad="38100" dist="38100" dir="2700000" algn="tl">
                    <a:srgbClr val="000000">
                      <a:alpha val="43137"/>
                    </a:srgbClr>
                  </a:outerShdw>
                </a:effectLst>
                <a:latin typeface="+mj-ea"/>
              </a:rPr>
              <a:t> </a:t>
            </a:r>
            <a:endParaRPr lang="en-US" altLang="zh-CN" sz="1600">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endParaRPr lang="en-US" altLang="zh-CN" sz="1600">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sz="1600">
                <a:solidFill>
                  <a:schemeClr val="tx1">
                    <a:lumMod val="85000"/>
                    <a:lumOff val="15000"/>
                  </a:schemeClr>
                </a:solidFill>
                <a:effectLst>
                  <a:outerShdw blurRad="38100" dist="38100" dir="2700000" algn="tl">
                    <a:srgbClr val="000000">
                      <a:alpha val="43137"/>
                    </a:srgbClr>
                  </a:outerShdw>
                </a:effectLst>
                <a:latin typeface="+mj-ea"/>
                <a:ea typeface="+mj-ea"/>
              </a:rPr>
              <a:t>泼尼松</a:t>
            </a:r>
            <a:r>
              <a:rPr lang="en-US" altLang="zh-CN" sz="1600">
                <a:solidFill>
                  <a:schemeClr val="tx1">
                    <a:lumMod val="85000"/>
                    <a:lumOff val="15000"/>
                  </a:schemeClr>
                </a:solidFill>
                <a:effectLst>
                  <a:outerShdw blurRad="38100" dist="38100" dir="2700000" algn="tl">
                    <a:srgbClr val="000000">
                      <a:alpha val="43137"/>
                    </a:srgbClr>
                  </a:outerShdw>
                </a:effectLst>
                <a:latin typeface="+mj-ea"/>
                <a:ea typeface="+mj-ea"/>
              </a:rPr>
              <a:t>5mg/</a:t>
            </a:r>
            <a:r>
              <a:rPr lang="zh-CN" altLang="en-US" sz="1600">
                <a:solidFill>
                  <a:schemeClr val="tx1">
                    <a:lumMod val="85000"/>
                    <a:lumOff val="15000"/>
                  </a:schemeClr>
                </a:solidFill>
                <a:effectLst>
                  <a:outerShdw blurRad="38100" dist="38100" dir="2700000" algn="tl">
                    <a:srgbClr val="000000">
                      <a:alpha val="43137"/>
                    </a:srgbClr>
                  </a:outerShdw>
                </a:effectLst>
                <a:latin typeface="+mj-ea"/>
                <a:ea typeface="+mj-ea"/>
              </a:rPr>
              <a:t>天，一个月后复查离子钙，无效增量</a:t>
            </a:r>
            <a:r>
              <a:rPr lang="en-US" altLang="zh-CN" sz="1600">
                <a:solidFill>
                  <a:schemeClr val="tx1">
                    <a:lumMod val="85000"/>
                    <a:lumOff val="15000"/>
                  </a:schemeClr>
                </a:solidFill>
                <a:effectLst>
                  <a:outerShdw blurRad="38100" dist="38100" dir="2700000" algn="tl">
                    <a:srgbClr val="000000">
                      <a:alpha val="43137"/>
                    </a:srgbClr>
                  </a:outerShdw>
                </a:effectLst>
                <a:latin typeface="+mj-ea"/>
                <a:ea typeface="+mj-ea"/>
              </a:rPr>
              <a:t>1-2</a:t>
            </a:r>
            <a:r>
              <a:rPr lang="zh-CN" altLang="en-US" sz="1600">
                <a:solidFill>
                  <a:schemeClr val="tx1">
                    <a:lumMod val="85000"/>
                    <a:lumOff val="15000"/>
                  </a:schemeClr>
                </a:solidFill>
                <a:effectLst>
                  <a:outerShdw blurRad="38100" dist="38100" dir="2700000" algn="tl">
                    <a:srgbClr val="000000">
                      <a:alpha val="43137"/>
                    </a:srgbClr>
                  </a:outerShdw>
                </a:effectLst>
                <a:latin typeface="+mj-ea"/>
                <a:ea typeface="+mj-ea"/>
              </a:rPr>
              <a:t>倍。猫用泼尼松龙需求量少于泼尼松。</a:t>
            </a:r>
            <a:endParaRPr lang="en-US" altLang="zh-CN" sz="1600">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endParaRPr lang="en-US" altLang="zh-CN" sz="1600">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sz="1600">
                <a:solidFill>
                  <a:schemeClr val="tx1">
                    <a:lumMod val="85000"/>
                    <a:lumOff val="15000"/>
                  </a:schemeClr>
                </a:solidFill>
                <a:effectLst>
                  <a:outerShdw blurRad="38100" dist="38100" dir="2700000" algn="tl">
                    <a:srgbClr val="000000">
                      <a:alpha val="43137"/>
                    </a:srgbClr>
                  </a:outerShdw>
                </a:effectLst>
                <a:latin typeface="+mj-ea"/>
                <a:ea typeface="+mj-ea"/>
              </a:rPr>
              <a:t>离子钙超标</a:t>
            </a:r>
            <a:r>
              <a:rPr lang="en-US" altLang="zh-CN" sz="1600">
                <a:solidFill>
                  <a:schemeClr val="tx1">
                    <a:lumMod val="85000"/>
                    <a:lumOff val="15000"/>
                  </a:schemeClr>
                </a:solidFill>
                <a:effectLst>
                  <a:outerShdw blurRad="38100" dist="38100" dir="2700000" algn="tl">
                    <a:srgbClr val="000000">
                      <a:alpha val="43137"/>
                    </a:srgbClr>
                  </a:outerShdw>
                </a:effectLst>
                <a:latin typeface="+mj-ea"/>
                <a:ea typeface="+mj-ea"/>
              </a:rPr>
              <a:t>1/4</a:t>
            </a:r>
            <a:r>
              <a:rPr lang="zh-CN" altLang="en-US" sz="1600">
                <a:solidFill>
                  <a:schemeClr val="tx1">
                    <a:lumMod val="85000"/>
                    <a:lumOff val="15000"/>
                  </a:schemeClr>
                </a:solidFill>
                <a:effectLst>
                  <a:outerShdw blurRad="38100" dist="38100" dir="2700000" algn="tl">
                    <a:srgbClr val="000000">
                      <a:alpha val="43137"/>
                    </a:srgbClr>
                  </a:outerShdw>
                </a:effectLst>
                <a:latin typeface="+mj-ea"/>
                <a:ea typeface="+mj-ea"/>
              </a:rPr>
              <a:t>以上，</a:t>
            </a:r>
            <a:r>
              <a:rPr lang="zh-CN" altLang="en-US" sz="1600">
                <a:solidFill>
                  <a:srgbClr val="FF0000"/>
                </a:solidFill>
                <a:effectLst>
                  <a:outerShdw blurRad="38100" dist="38100" dir="2700000" algn="tl">
                    <a:srgbClr val="000000">
                      <a:alpha val="43137"/>
                    </a:srgbClr>
                  </a:outerShdw>
                </a:effectLst>
                <a:latin typeface="+mj-ea"/>
                <a:ea typeface="+mj-ea"/>
              </a:rPr>
              <a:t>每周</a:t>
            </a:r>
            <a:r>
              <a:rPr lang="zh-CN" altLang="en-US" sz="1600">
                <a:solidFill>
                  <a:schemeClr val="tx1">
                    <a:lumMod val="85000"/>
                    <a:lumOff val="15000"/>
                  </a:schemeClr>
                </a:solidFill>
                <a:effectLst>
                  <a:outerShdw blurRad="38100" dist="38100" dir="2700000" algn="tl">
                    <a:srgbClr val="000000">
                      <a:alpha val="43137"/>
                    </a:srgbClr>
                  </a:outerShdw>
                </a:effectLst>
                <a:latin typeface="+mj-ea"/>
                <a:ea typeface="+mj-ea"/>
              </a:rPr>
              <a:t>口服</a:t>
            </a:r>
            <a:r>
              <a:rPr lang="en-US" altLang="zh-CN" sz="1600">
                <a:solidFill>
                  <a:schemeClr val="tx1">
                    <a:lumMod val="85000"/>
                    <a:lumOff val="15000"/>
                  </a:schemeClr>
                </a:solidFill>
                <a:effectLst>
                  <a:outerShdw blurRad="38100" dist="38100" dir="2700000" algn="tl">
                    <a:srgbClr val="000000">
                      <a:alpha val="43137"/>
                    </a:srgbClr>
                  </a:outerShdw>
                </a:effectLst>
                <a:latin typeface="+mj-ea"/>
                <a:ea typeface="+mj-ea"/>
              </a:rPr>
              <a:t>10mg</a:t>
            </a:r>
            <a:r>
              <a:rPr lang="zh-CN" altLang="en-US" sz="1600">
                <a:solidFill>
                  <a:schemeClr val="tx1">
                    <a:lumMod val="85000"/>
                    <a:lumOff val="15000"/>
                  </a:schemeClr>
                </a:solidFill>
                <a:effectLst>
                  <a:outerShdw blurRad="38100" dist="38100" dir="2700000" algn="tl">
                    <a:srgbClr val="000000">
                      <a:alpha val="43137"/>
                    </a:srgbClr>
                  </a:outerShdw>
                </a:effectLst>
                <a:latin typeface="+mj-ea"/>
                <a:ea typeface="+mj-ea"/>
              </a:rPr>
              <a:t>阿仑膦酸钠片。</a:t>
            </a:r>
            <a:r>
              <a:rPr lang="zh-CN" altLang="en-US" sz="1200">
                <a:solidFill>
                  <a:schemeClr val="tx1">
                    <a:lumMod val="85000"/>
                    <a:lumOff val="15000"/>
                  </a:schemeClr>
                </a:solidFill>
                <a:effectLst>
                  <a:outerShdw blurRad="38100" dist="38100" dir="2700000" algn="tl">
                    <a:srgbClr val="000000">
                      <a:alpha val="43137"/>
                    </a:srgbClr>
                  </a:outerShdw>
                </a:effectLst>
                <a:latin typeface="+mj-ea"/>
                <a:ea typeface="+mj-ea"/>
              </a:rPr>
              <a:t>（</a:t>
            </a:r>
            <a:r>
              <a:rPr lang="en-US" altLang="zh-CN" sz="1200">
                <a:solidFill>
                  <a:schemeClr val="tx1">
                    <a:lumMod val="85000"/>
                    <a:lumOff val="15000"/>
                  </a:schemeClr>
                </a:solidFill>
                <a:effectLst>
                  <a:outerShdw blurRad="38100" dist="38100" dir="2700000" algn="tl">
                    <a:srgbClr val="000000">
                      <a:alpha val="43137"/>
                    </a:srgbClr>
                  </a:outerShdw>
                </a:effectLst>
                <a:latin typeface="+mj-ea"/>
                <a:ea typeface="+mj-ea"/>
              </a:rPr>
              <a:t>Hardy BT et al</a:t>
            </a:r>
            <a:r>
              <a:rPr lang="zh-CN" altLang="en-US" sz="1200">
                <a:solidFill>
                  <a:schemeClr val="tx1">
                    <a:lumMod val="85000"/>
                    <a:lumOff val="15000"/>
                  </a:schemeClr>
                </a:solidFill>
                <a:effectLst>
                  <a:outerShdw blurRad="38100" dist="38100" dir="2700000" algn="tl">
                    <a:srgbClr val="000000">
                      <a:alpha val="43137"/>
                    </a:srgbClr>
                  </a:outerShdw>
                </a:effectLst>
                <a:latin typeface="+mj-ea"/>
                <a:ea typeface="+mj-ea"/>
              </a:rPr>
              <a:t>，</a:t>
            </a:r>
            <a:r>
              <a:rPr lang="en-US" altLang="zh-CN" sz="1200">
                <a:solidFill>
                  <a:schemeClr val="tx1">
                    <a:lumMod val="85000"/>
                    <a:lumOff val="15000"/>
                  </a:schemeClr>
                </a:solidFill>
                <a:effectLst>
                  <a:outerShdw blurRad="38100" dist="38100" dir="2700000" algn="tl">
                    <a:srgbClr val="000000">
                      <a:alpha val="43137"/>
                    </a:srgbClr>
                  </a:outerShdw>
                </a:effectLst>
                <a:latin typeface="+mj-ea"/>
                <a:ea typeface="+mj-ea"/>
              </a:rPr>
              <a:t>2015</a:t>
            </a:r>
            <a:r>
              <a:rPr lang="zh-CN" altLang="en-US" sz="1200">
                <a:solidFill>
                  <a:schemeClr val="tx1">
                    <a:lumMod val="85000"/>
                    <a:lumOff val="15000"/>
                  </a:schemeClr>
                </a:solidFill>
                <a:effectLst>
                  <a:outerShdw blurRad="38100" dist="38100" dir="2700000" algn="tl">
                    <a:srgbClr val="000000">
                      <a:alpha val="43137"/>
                    </a:srgbClr>
                  </a:outerShdw>
                </a:effectLst>
                <a:latin typeface="+mj-ea"/>
                <a:ea typeface="+mj-ea"/>
              </a:rPr>
              <a:t>）</a:t>
            </a:r>
            <a:endParaRPr lang="en-US" altLang="zh-CN" sz="1200">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endParaRPr lang="en-US" altLang="zh-CN" sz="1200">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endParaRPr lang="en-US" altLang="zh-CN" sz="1100">
              <a:solidFill>
                <a:srgbClr val="C00000"/>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sz="1400">
                <a:solidFill>
                  <a:srgbClr val="C00000"/>
                </a:solidFill>
                <a:effectLst>
                  <a:outerShdw blurRad="38100" dist="38100" dir="2700000" algn="tl">
                    <a:srgbClr val="000000">
                      <a:alpha val="43137"/>
                    </a:srgbClr>
                  </a:outerShdw>
                </a:effectLst>
                <a:latin typeface="+mj-ea"/>
                <a:ea typeface="+mj-ea"/>
              </a:rPr>
              <a:t>阿仑膦酸钠片必须用食物包裹或者用水送服，不然可能引起食道炎。中重度肾病务必慎用！</a:t>
            </a:r>
            <a:endParaRPr lang="en-US" altLang="zh-CN" sz="1400">
              <a:solidFill>
                <a:srgbClr val="C00000"/>
              </a:solidFill>
              <a:effectLst>
                <a:outerShdw blurRad="38100" dist="38100" dir="2700000" algn="tl">
                  <a:srgbClr val="000000">
                    <a:alpha val="43137"/>
                  </a:srgbClr>
                </a:outerShdw>
              </a:effectLst>
              <a:latin typeface="+mj-ea"/>
              <a:ea typeface="+mj-ea"/>
            </a:endParaRPr>
          </a:p>
        </p:txBody>
      </p:sp>
    </p:spTree>
    <p:extLst>
      <p:ext uri="{BB962C8B-B14F-4D97-AF65-F5344CB8AC3E}">
        <p14:creationId xmlns:p14="http://schemas.microsoft.com/office/powerpoint/2010/main" val="210556651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0" name="箭头: 五边形 6">
            <a:extLst/>
          </p:cNvPr>
          <p:cNvSpPr/>
          <p:nvPr/>
        </p:nvSpPr>
        <p:spPr>
          <a:xfrm rot="10800000" flipH="1">
            <a:off x="0" y="404813"/>
            <a:ext cx="7392144" cy="1344612"/>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grpSp>
        <p:nvGrpSpPr>
          <p:cNvPr id="30724" name="组合 22"/>
          <p:cNvGrpSpPr>
            <a:grpSpLocks/>
          </p:cNvGrpSpPr>
          <p:nvPr/>
        </p:nvGrpSpPr>
        <p:grpSpPr bwMode="auto">
          <a:xfrm>
            <a:off x="196850" y="404813"/>
            <a:ext cx="5779784" cy="1134998"/>
            <a:chOff x="-101400" y="2876417"/>
            <a:chExt cx="5114992" cy="1134983"/>
          </a:xfrm>
        </p:grpSpPr>
        <p:sp>
          <p:nvSpPr>
            <p:cNvPr id="20494" name="文本框 13">
              <a:extLst/>
            </p:cNvPr>
            <p:cNvSpPr txBox="1">
              <a:spLocks noChangeArrowheads="1"/>
            </p:cNvSpPr>
            <p:nvPr/>
          </p:nvSpPr>
          <p:spPr bwMode="auto">
            <a:xfrm>
              <a:off x="-101400" y="2876417"/>
              <a:ext cx="1343136" cy="825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600" b="1">
                  <a:solidFill>
                    <a:srgbClr val="010101"/>
                  </a:solidFill>
                  <a:latin typeface="+mn-lt"/>
                  <a:ea typeface="+mn-ea"/>
                  <a:cs typeface="+mn-ea"/>
                  <a:sym typeface="+mn-lt"/>
                </a:rPr>
                <a:t>PART</a:t>
              </a:r>
            </a:p>
          </p:txBody>
        </p:sp>
        <p:sp>
          <p:nvSpPr>
            <p:cNvPr id="20495" name="文本框 14">
              <a:extLst/>
            </p:cNvPr>
            <p:cNvSpPr txBox="1">
              <a:spLocks noChangeArrowheads="1"/>
            </p:cNvSpPr>
            <p:nvPr/>
          </p:nvSpPr>
          <p:spPr bwMode="auto">
            <a:xfrm>
              <a:off x="2150733" y="3430993"/>
              <a:ext cx="2862859" cy="580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endParaRPr lang="en-US" altLang="zh-CN" sz="2400">
                <a:solidFill>
                  <a:srgbClr val="010101"/>
                </a:solidFill>
                <a:latin typeface="+mn-lt"/>
                <a:ea typeface="+mn-ea"/>
                <a:cs typeface="+mn-ea"/>
                <a:sym typeface="+mn-lt"/>
              </a:endParaRPr>
            </a:p>
          </p:txBody>
        </p:sp>
        <p:cxnSp>
          <p:nvCxnSpPr>
            <p:cNvPr id="24" name="直接连接符 23">
              <a:extLst/>
            </p:cNvPr>
            <p:cNvCxnSpPr>
              <a:cxnSpLocks/>
            </p:cNvCxnSpPr>
            <p:nvPr/>
          </p:nvCxnSpPr>
          <p:spPr>
            <a:xfrm flipH="1">
              <a:off x="489901" y="3171688"/>
              <a:ext cx="1074241" cy="722302"/>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0497" name="矩形 20">
              <a:extLst/>
            </p:cNvPr>
            <p:cNvSpPr>
              <a:spLocks noChangeArrowheads="1"/>
            </p:cNvSpPr>
            <p:nvPr/>
          </p:nvSpPr>
          <p:spPr bwMode="auto">
            <a:xfrm>
              <a:off x="618328" y="3473309"/>
              <a:ext cx="1824424" cy="52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lvl="1">
                <a:lnSpc>
                  <a:spcPct val="100000"/>
                </a:lnSpc>
                <a:spcBef>
                  <a:spcPct val="0"/>
                </a:spcBef>
                <a:buFontTx/>
                <a:buNone/>
                <a:defRPr/>
              </a:pPr>
              <a:r>
                <a:rPr lang="en-US" altLang="zh-CN" sz="2800" b="1">
                  <a:solidFill>
                    <a:srgbClr val="010101"/>
                  </a:solidFill>
                  <a:latin typeface="+mn-lt"/>
                  <a:ea typeface="+mn-ea"/>
                  <a:cs typeface="+mn-ea"/>
                  <a:sym typeface="+mn-lt"/>
                </a:rPr>
                <a:t>THREE</a:t>
              </a:r>
              <a:endParaRPr lang="zh-CN" altLang="en-US" sz="1400">
                <a:latin typeface="+mn-lt"/>
                <a:ea typeface="+mn-ea"/>
                <a:cs typeface="+mn-ea"/>
                <a:sym typeface="+mn-lt"/>
              </a:endParaRPr>
            </a:p>
          </p:txBody>
        </p:sp>
      </p:grpSp>
      <p:sp>
        <p:nvSpPr>
          <p:cNvPr id="45" name="矩形 44">
            <a:extLst/>
          </p:cNvPr>
          <p:cNvSpPr/>
          <p:nvPr/>
        </p:nvSpPr>
        <p:spPr>
          <a:xfrm>
            <a:off x="0" y="1749426"/>
            <a:ext cx="3431704" cy="510857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sp>
        <p:nvSpPr>
          <p:cNvPr id="8" name="文本框 7"/>
          <p:cNvSpPr txBox="1"/>
          <p:nvPr/>
        </p:nvSpPr>
        <p:spPr>
          <a:xfrm>
            <a:off x="254618" y="2470092"/>
            <a:ext cx="5683126" cy="615553"/>
          </a:xfrm>
          <a:prstGeom prst="rect">
            <a:avLst/>
          </a:prstGeom>
          <a:noFill/>
        </p:spPr>
        <p:txBody>
          <a:bodyPr wrap="square" numCol="2" rtlCol="0">
            <a:spAutoFit/>
          </a:bodyPr>
          <a:lstStyle/>
          <a:p>
            <a:pPr lvl="1"/>
            <a:endParaRPr lang="en-US" altLang="zh-CN" sz="1600" b="1">
              <a:solidFill>
                <a:schemeClr val="tx1">
                  <a:lumMod val="75000"/>
                  <a:lumOff val="25000"/>
                </a:schemeClr>
              </a:solidFill>
              <a:effectLst>
                <a:outerShdw blurRad="38100" dist="38100" dir="2700000" algn="tl">
                  <a:srgbClr val="000000">
                    <a:alpha val="43137"/>
                  </a:srgbClr>
                </a:outerShdw>
              </a:effectLst>
              <a:latin typeface="+mj-ea"/>
            </a:endParaRPr>
          </a:p>
          <a:p>
            <a:endParaRPr lang="zh-CN" altLang="en-US"/>
          </a:p>
        </p:txBody>
      </p:sp>
      <p:sp>
        <p:nvSpPr>
          <p:cNvPr id="2" name="文本框 1"/>
          <p:cNvSpPr txBox="1"/>
          <p:nvPr/>
        </p:nvSpPr>
        <p:spPr>
          <a:xfrm>
            <a:off x="2926404" y="1145317"/>
            <a:ext cx="4721408" cy="461665"/>
          </a:xfrm>
          <a:prstGeom prst="rect">
            <a:avLst/>
          </a:prstGeom>
          <a:noFill/>
        </p:spPr>
        <p:txBody>
          <a:bodyPr wrap="square" rtlCol="0">
            <a:spAutoFit/>
          </a:bodyPr>
          <a:lstStyle/>
          <a:p>
            <a:r>
              <a:rPr lang="zh-CN" altLang="en-US" sz="2400" b="1">
                <a:solidFill>
                  <a:schemeClr val="tx2">
                    <a:lumMod val="75000"/>
                  </a:schemeClr>
                </a:solidFill>
                <a:latin typeface="+mj-ea"/>
                <a:ea typeface="+mj-ea"/>
              </a:rPr>
              <a:t>治疗蛋白尿 </a:t>
            </a:r>
            <a:r>
              <a:rPr lang="en-US" altLang="zh-CN" sz="2400" b="1">
                <a:solidFill>
                  <a:schemeClr val="tx2">
                    <a:lumMod val="75000"/>
                  </a:schemeClr>
                </a:solidFill>
                <a:latin typeface="+mj-ea"/>
                <a:ea typeface="+mj-ea"/>
              </a:rPr>
              <a:t>Proteinuria</a:t>
            </a:r>
            <a:endParaRPr lang="zh-CN" altLang="en-US" sz="2400" b="1">
              <a:solidFill>
                <a:schemeClr val="tx2">
                  <a:lumMod val="75000"/>
                </a:schemeClr>
              </a:solidFill>
              <a:latin typeface="+mj-ea"/>
              <a:ea typeface="+mj-ea"/>
            </a:endParaRPr>
          </a:p>
        </p:txBody>
      </p:sp>
      <p:sp>
        <p:nvSpPr>
          <p:cNvPr id="4" name="文本框 3"/>
          <p:cNvSpPr txBox="1"/>
          <p:nvPr/>
        </p:nvSpPr>
        <p:spPr>
          <a:xfrm>
            <a:off x="2897878" y="620688"/>
            <a:ext cx="3078756" cy="461665"/>
          </a:xfrm>
          <a:prstGeom prst="rect">
            <a:avLst/>
          </a:prstGeom>
          <a:noFill/>
        </p:spPr>
        <p:txBody>
          <a:bodyPr wrap="square" rtlCol="0">
            <a:spAutoFit/>
          </a:bodyPr>
          <a:lstStyle/>
          <a:p>
            <a:r>
              <a:rPr lang="zh-CN" altLang="en-US" sz="2400" b="1">
                <a:solidFill>
                  <a:schemeClr val="bg1"/>
                </a:solidFill>
                <a:effectLst>
                  <a:outerShdw blurRad="38100" dist="38100" dir="2700000" algn="tl">
                    <a:srgbClr val="000000">
                      <a:alpha val="43137"/>
                    </a:srgbClr>
                  </a:outerShdw>
                </a:effectLst>
                <a:latin typeface="+mj-ea"/>
                <a:ea typeface="+mj-ea"/>
              </a:rPr>
              <a:t>猫慢性肾病治疗</a:t>
            </a:r>
          </a:p>
        </p:txBody>
      </p:sp>
      <p:sp>
        <p:nvSpPr>
          <p:cNvPr id="26" name="文本框 25">
            <a:extLst>
              <a:ext uri="{FF2B5EF4-FFF2-40B4-BE49-F238E27FC236}">
                <a16:creationId xmlns:a16="http://schemas.microsoft.com/office/drawing/2014/main" id="{050B65BD-E5C4-478D-BD49-ADD583390BFA}"/>
              </a:ext>
            </a:extLst>
          </p:cNvPr>
          <p:cNvSpPr txBox="1"/>
          <p:nvPr/>
        </p:nvSpPr>
        <p:spPr>
          <a:xfrm>
            <a:off x="407368" y="1876831"/>
            <a:ext cx="2794844" cy="954107"/>
          </a:xfrm>
          <a:prstGeom prst="rect">
            <a:avLst/>
          </a:prstGeom>
          <a:noFill/>
        </p:spPr>
        <p:txBody>
          <a:bodyPr wrap="square" rtlCol="0">
            <a:spAutoFit/>
          </a:bodyPr>
          <a:lstStyle/>
          <a:p>
            <a:pPr algn="ctr"/>
            <a:r>
              <a:rPr lang="zh-CN" altLang="en-US" sz="2800" b="1">
                <a:solidFill>
                  <a:schemeClr val="tx1">
                    <a:lumMod val="75000"/>
                    <a:lumOff val="25000"/>
                  </a:schemeClr>
                </a:solidFill>
                <a:effectLst>
                  <a:outerShdw blurRad="38100" dist="38100" dir="2700000" algn="tl">
                    <a:srgbClr val="000000">
                      <a:alpha val="43137"/>
                    </a:srgbClr>
                  </a:outerShdw>
                </a:effectLst>
                <a:latin typeface="+mj-ea"/>
                <a:ea typeface="+mj-ea"/>
              </a:rPr>
              <a:t>最佳检测手段：  尿检</a:t>
            </a:r>
            <a:r>
              <a:rPr lang="en-US" altLang="zh-CN" sz="2800" b="1">
                <a:solidFill>
                  <a:schemeClr val="tx1">
                    <a:lumMod val="75000"/>
                    <a:lumOff val="25000"/>
                  </a:schemeClr>
                </a:solidFill>
                <a:effectLst>
                  <a:outerShdw blurRad="38100" dist="38100" dir="2700000" algn="tl">
                    <a:srgbClr val="000000">
                      <a:alpha val="43137"/>
                    </a:srgbClr>
                  </a:outerShdw>
                </a:effectLst>
                <a:latin typeface="+mj-ea"/>
                <a:ea typeface="+mj-ea"/>
              </a:rPr>
              <a:t>UPC</a:t>
            </a:r>
            <a:endParaRPr lang="zh-CN" altLang="en-US" b="1">
              <a:solidFill>
                <a:schemeClr val="tx1">
                  <a:lumMod val="75000"/>
                  <a:lumOff val="25000"/>
                </a:schemeClr>
              </a:solidFill>
              <a:effectLst>
                <a:outerShdw blurRad="38100" dist="38100" dir="2700000" algn="tl">
                  <a:srgbClr val="000000">
                    <a:alpha val="43137"/>
                  </a:srgbClr>
                </a:outerShdw>
              </a:effectLst>
              <a:latin typeface="+mj-ea"/>
              <a:ea typeface="+mj-ea"/>
            </a:endParaRPr>
          </a:p>
        </p:txBody>
      </p:sp>
      <p:sp>
        <p:nvSpPr>
          <p:cNvPr id="27" name="文本框 26">
            <a:extLst>
              <a:ext uri="{FF2B5EF4-FFF2-40B4-BE49-F238E27FC236}">
                <a16:creationId xmlns:a16="http://schemas.microsoft.com/office/drawing/2014/main" id="{073F15EC-D005-422F-956A-2BBE2657F3EB}"/>
              </a:ext>
            </a:extLst>
          </p:cNvPr>
          <p:cNvSpPr txBox="1"/>
          <p:nvPr/>
        </p:nvSpPr>
        <p:spPr>
          <a:xfrm>
            <a:off x="720671" y="2864771"/>
            <a:ext cx="1939547" cy="1000274"/>
          </a:xfrm>
          <a:prstGeom prst="rect">
            <a:avLst/>
          </a:prstGeom>
          <a:noFill/>
        </p:spPr>
        <p:txBody>
          <a:bodyPr wrap="square" rtlCol="0">
            <a:spAutoFit/>
          </a:bodyPr>
          <a:lstStyle/>
          <a:p>
            <a:pPr algn="ctr"/>
            <a:r>
              <a:rPr lang="zh-CN" altLang="en-US" sz="1600" b="1">
                <a:solidFill>
                  <a:srgbClr val="C00000"/>
                </a:solidFill>
                <a:effectLst>
                  <a:outerShdw blurRad="38100" dist="38100" dir="2700000" algn="tl">
                    <a:srgbClr val="000000">
                      <a:alpha val="43137"/>
                    </a:srgbClr>
                  </a:outerShdw>
                </a:effectLst>
                <a:latin typeface="+mj-ea"/>
                <a:ea typeface="+mj-ea"/>
              </a:rPr>
              <a:t>“</a:t>
            </a:r>
            <a:r>
              <a:rPr lang="da-DK" altLang="zh-CN" sz="1600" b="1">
                <a:solidFill>
                  <a:srgbClr val="C00000"/>
                </a:solidFill>
                <a:effectLst>
                  <a:outerShdw blurRad="38100" dist="38100" dir="2700000" algn="tl">
                    <a:srgbClr val="000000">
                      <a:alpha val="43137"/>
                    </a:srgbClr>
                  </a:outerShdw>
                </a:effectLst>
                <a:latin typeface="+mj-ea"/>
                <a:ea typeface="+mj-ea"/>
              </a:rPr>
              <a:t>UPC</a:t>
            </a:r>
            <a:r>
              <a:rPr lang="zh-CN" altLang="en-US" sz="1600" b="1">
                <a:solidFill>
                  <a:srgbClr val="C00000"/>
                </a:solidFill>
                <a:effectLst>
                  <a:outerShdw blurRad="38100" dist="38100" dir="2700000" algn="tl">
                    <a:srgbClr val="000000">
                      <a:alpha val="43137"/>
                    </a:srgbClr>
                  </a:outerShdw>
                </a:effectLst>
                <a:latin typeface="+mj-ea"/>
                <a:ea typeface="+mj-ea"/>
              </a:rPr>
              <a:t>大于</a:t>
            </a:r>
            <a:r>
              <a:rPr lang="en-US" altLang="zh-CN" sz="1600" b="1">
                <a:solidFill>
                  <a:srgbClr val="C00000"/>
                </a:solidFill>
                <a:effectLst>
                  <a:outerShdw blurRad="38100" dist="38100" dir="2700000" algn="tl">
                    <a:srgbClr val="000000">
                      <a:alpha val="43137"/>
                    </a:srgbClr>
                  </a:outerShdw>
                </a:effectLst>
                <a:latin typeface="+mj-ea"/>
                <a:ea typeface="+mj-ea"/>
              </a:rPr>
              <a:t>0.5</a:t>
            </a:r>
            <a:r>
              <a:rPr lang="zh-CN" altLang="en-US" sz="1600" b="1">
                <a:solidFill>
                  <a:srgbClr val="C00000"/>
                </a:solidFill>
                <a:effectLst>
                  <a:outerShdw blurRad="38100" dist="38100" dir="2700000" algn="tl">
                    <a:srgbClr val="000000">
                      <a:alpha val="43137"/>
                    </a:srgbClr>
                  </a:outerShdw>
                </a:effectLst>
                <a:latin typeface="+mj-ea"/>
                <a:ea typeface="+mj-ea"/>
              </a:rPr>
              <a:t>的猫存活时间只有其它猫的三分之一。”</a:t>
            </a:r>
            <a:endParaRPr lang="da-DK" altLang="zh-CN" sz="1600" b="1">
              <a:solidFill>
                <a:srgbClr val="C00000"/>
              </a:solidFill>
              <a:effectLst>
                <a:outerShdw blurRad="38100" dist="38100" dir="2700000" algn="tl">
                  <a:srgbClr val="000000">
                    <a:alpha val="43137"/>
                  </a:srgbClr>
                </a:outerShdw>
              </a:effectLst>
              <a:latin typeface="+mj-ea"/>
              <a:ea typeface="+mj-ea"/>
            </a:endParaRPr>
          </a:p>
          <a:p>
            <a:r>
              <a:rPr lang="da-DK" altLang="zh-CN" sz="1100">
                <a:latin typeface="+mj-ea"/>
                <a:ea typeface="+mj-ea"/>
              </a:rPr>
              <a:t>  </a:t>
            </a:r>
            <a:r>
              <a:rPr lang="zh-CN" altLang="en-US" sz="1100">
                <a:latin typeface="+mj-ea"/>
                <a:ea typeface="+mj-ea"/>
              </a:rPr>
              <a:t>（</a:t>
            </a:r>
            <a:r>
              <a:rPr lang="da-DK" altLang="zh-CN" sz="1100">
                <a:latin typeface="+mj-ea"/>
                <a:ea typeface="+mj-ea"/>
              </a:rPr>
              <a:t>Syme HM et al. 2006</a:t>
            </a:r>
            <a:r>
              <a:rPr lang="zh-CN" altLang="en-US" sz="1100">
                <a:latin typeface="+mj-ea"/>
                <a:ea typeface="+mj-ea"/>
              </a:rPr>
              <a:t>）</a:t>
            </a:r>
          </a:p>
        </p:txBody>
      </p:sp>
      <p:graphicFrame>
        <p:nvGraphicFramePr>
          <p:cNvPr id="28" name="表格 27">
            <a:extLst>
              <a:ext uri="{FF2B5EF4-FFF2-40B4-BE49-F238E27FC236}">
                <a16:creationId xmlns:a16="http://schemas.microsoft.com/office/drawing/2014/main" id="{4939CA57-820E-4117-9396-82AF6B070B39}"/>
              </a:ext>
            </a:extLst>
          </p:cNvPr>
          <p:cNvGraphicFramePr>
            <a:graphicFrameLocks noGrp="1"/>
          </p:cNvGraphicFramePr>
          <p:nvPr>
            <p:extLst>
              <p:ext uri="{D42A27DB-BD31-4B8C-83A1-F6EECF244321}">
                <p14:modId xmlns:p14="http://schemas.microsoft.com/office/powerpoint/2010/main" val="1690567622"/>
              </p:ext>
            </p:extLst>
          </p:nvPr>
        </p:nvGraphicFramePr>
        <p:xfrm>
          <a:off x="196850" y="3898879"/>
          <a:ext cx="3005362" cy="1187706"/>
        </p:xfrm>
        <a:graphic>
          <a:graphicData uri="http://schemas.openxmlformats.org/drawingml/2006/table">
            <a:tbl>
              <a:tblPr firstRow="1" bandRow="1">
                <a:tableStyleId>{5C22544A-7EE6-4342-B048-85BDC9FD1C3A}</a:tableStyleId>
              </a:tblPr>
              <a:tblGrid>
                <a:gridCol w="1502681">
                  <a:extLst>
                    <a:ext uri="{9D8B030D-6E8A-4147-A177-3AD203B41FA5}">
                      <a16:colId xmlns:a16="http://schemas.microsoft.com/office/drawing/2014/main" val="709561913"/>
                    </a:ext>
                  </a:extLst>
                </a:gridCol>
                <a:gridCol w="1502681">
                  <a:extLst>
                    <a:ext uri="{9D8B030D-6E8A-4147-A177-3AD203B41FA5}">
                      <a16:colId xmlns:a16="http://schemas.microsoft.com/office/drawing/2014/main" val="1624458649"/>
                    </a:ext>
                  </a:extLst>
                </a:gridCol>
              </a:tblGrid>
              <a:tr h="395902">
                <a:tc>
                  <a:txBody>
                    <a:bodyPr/>
                    <a:lstStyle/>
                    <a:p>
                      <a:r>
                        <a:rPr lang="en-US" altLang="zh-CN"/>
                        <a:t>UPC</a:t>
                      </a:r>
                      <a:endParaRPr lang="zh-CN" altLang="en-US"/>
                    </a:p>
                  </a:txBody>
                  <a:tcPr/>
                </a:tc>
                <a:tc>
                  <a:txBody>
                    <a:bodyPr/>
                    <a:lstStyle/>
                    <a:p>
                      <a:r>
                        <a:rPr lang="zh-CN" altLang="en-US"/>
                        <a:t>状况</a:t>
                      </a:r>
                    </a:p>
                  </a:txBody>
                  <a:tcPr/>
                </a:tc>
                <a:extLst>
                  <a:ext uri="{0D108BD9-81ED-4DB2-BD59-A6C34878D82A}">
                    <a16:rowId xmlns:a16="http://schemas.microsoft.com/office/drawing/2014/main" val="424678844"/>
                  </a:ext>
                </a:extLst>
              </a:tr>
              <a:tr h="395902">
                <a:tc>
                  <a:txBody>
                    <a:bodyPr/>
                    <a:lstStyle/>
                    <a:p>
                      <a:r>
                        <a:rPr lang="en-US" altLang="zh-CN" sz="1600"/>
                        <a:t>0.2-0.4</a:t>
                      </a:r>
                      <a:endParaRPr lang="zh-CN" altLang="en-US" sz="1600"/>
                    </a:p>
                  </a:txBody>
                  <a:tcPr/>
                </a:tc>
                <a:tc>
                  <a:txBody>
                    <a:bodyPr/>
                    <a:lstStyle/>
                    <a:p>
                      <a:r>
                        <a:rPr lang="zh-CN" altLang="en-US" sz="1600"/>
                        <a:t>灰色区域</a:t>
                      </a:r>
                    </a:p>
                  </a:txBody>
                  <a:tcPr/>
                </a:tc>
                <a:extLst>
                  <a:ext uri="{0D108BD9-81ED-4DB2-BD59-A6C34878D82A}">
                    <a16:rowId xmlns:a16="http://schemas.microsoft.com/office/drawing/2014/main" val="1346037505"/>
                  </a:ext>
                </a:extLst>
              </a:tr>
              <a:tr h="395902">
                <a:tc>
                  <a:txBody>
                    <a:bodyPr/>
                    <a:lstStyle/>
                    <a:p>
                      <a:r>
                        <a:rPr lang="zh-CN" altLang="en-US" sz="1600"/>
                        <a:t>＞</a:t>
                      </a:r>
                      <a:r>
                        <a:rPr lang="en-US" altLang="zh-CN" sz="1600"/>
                        <a:t>0.4</a:t>
                      </a:r>
                      <a:endParaRPr lang="zh-CN" altLang="en-US" sz="1600"/>
                    </a:p>
                  </a:txBody>
                  <a:tcPr/>
                </a:tc>
                <a:tc>
                  <a:txBody>
                    <a:bodyPr/>
                    <a:lstStyle/>
                    <a:p>
                      <a:r>
                        <a:rPr lang="zh-CN" altLang="en-US" sz="1600"/>
                        <a:t>蛋白尿</a:t>
                      </a:r>
                    </a:p>
                  </a:txBody>
                  <a:tcPr/>
                </a:tc>
                <a:extLst>
                  <a:ext uri="{0D108BD9-81ED-4DB2-BD59-A6C34878D82A}">
                    <a16:rowId xmlns:a16="http://schemas.microsoft.com/office/drawing/2014/main" val="545146203"/>
                  </a:ext>
                </a:extLst>
              </a:tr>
            </a:tbl>
          </a:graphicData>
        </a:graphic>
      </p:graphicFrame>
      <p:graphicFrame>
        <p:nvGraphicFramePr>
          <p:cNvPr id="29" name="表格 28">
            <a:extLst>
              <a:ext uri="{FF2B5EF4-FFF2-40B4-BE49-F238E27FC236}">
                <a16:creationId xmlns:a16="http://schemas.microsoft.com/office/drawing/2014/main" id="{3467051C-96FD-4A21-99C5-745D7FF85FD6}"/>
              </a:ext>
            </a:extLst>
          </p:cNvPr>
          <p:cNvGraphicFramePr>
            <a:graphicFrameLocks noGrp="1"/>
          </p:cNvGraphicFramePr>
          <p:nvPr>
            <p:extLst>
              <p:ext uri="{D42A27DB-BD31-4B8C-83A1-F6EECF244321}">
                <p14:modId xmlns:p14="http://schemas.microsoft.com/office/powerpoint/2010/main" val="1547430308"/>
              </p:ext>
            </p:extLst>
          </p:nvPr>
        </p:nvGraphicFramePr>
        <p:xfrm>
          <a:off x="196850" y="5137151"/>
          <a:ext cx="3005362" cy="1665597"/>
        </p:xfrm>
        <a:graphic>
          <a:graphicData uri="http://schemas.openxmlformats.org/drawingml/2006/table">
            <a:tbl>
              <a:tblPr firstRow="1" bandRow="1">
                <a:tableStyleId>{5C22544A-7EE6-4342-B048-85BDC9FD1C3A}</a:tableStyleId>
              </a:tblPr>
              <a:tblGrid>
                <a:gridCol w="1502681">
                  <a:extLst>
                    <a:ext uri="{9D8B030D-6E8A-4147-A177-3AD203B41FA5}">
                      <a16:colId xmlns:a16="http://schemas.microsoft.com/office/drawing/2014/main" val="709561913"/>
                    </a:ext>
                  </a:extLst>
                </a:gridCol>
                <a:gridCol w="1502681">
                  <a:extLst>
                    <a:ext uri="{9D8B030D-6E8A-4147-A177-3AD203B41FA5}">
                      <a16:colId xmlns:a16="http://schemas.microsoft.com/office/drawing/2014/main" val="1624458649"/>
                    </a:ext>
                  </a:extLst>
                </a:gridCol>
              </a:tblGrid>
              <a:tr h="330705">
                <a:tc>
                  <a:txBody>
                    <a:bodyPr/>
                    <a:lstStyle/>
                    <a:p>
                      <a:r>
                        <a:rPr lang="zh-CN" altLang="en-US"/>
                        <a:t>尿检</a:t>
                      </a:r>
                      <a:r>
                        <a:rPr lang="en-US" altLang="zh-CN"/>
                        <a:t>/</a:t>
                      </a:r>
                      <a:r>
                        <a:rPr lang="zh-CN" altLang="en-US"/>
                        <a:t>试纸</a:t>
                      </a:r>
                    </a:p>
                  </a:txBody>
                  <a:tcPr/>
                </a:tc>
                <a:tc>
                  <a:txBody>
                    <a:bodyPr/>
                    <a:lstStyle/>
                    <a:p>
                      <a:r>
                        <a:rPr lang="zh-CN" altLang="en-US"/>
                        <a:t>状况</a:t>
                      </a:r>
                    </a:p>
                  </a:txBody>
                  <a:tcPr/>
                </a:tc>
                <a:extLst>
                  <a:ext uri="{0D108BD9-81ED-4DB2-BD59-A6C34878D82A}">
                    <a16:rowId xmlns:a16="http://schemas.microsoft.com/office/drawing/2014/main" val="424678844"/>
                  </a:ext>
                </a:extLst>
              </a:tr>
              <a:tr h="303147">
                <a:tc>
                  <a:txBody>
                    <a:bodyPr/>
                    <a:lstStyle/>
                    <a:p>
                      <a:r>
                        <a:rPr lang="zh-CN" altLang="en-US" sz="1600"/>
                        <a:t>＞</a:t>
                      </a:r>
                      <a:r>
                        <a:rPr lang="en-US" altLang="zh-CN" sz="1600"/>
                        <a:t>2</a:t>
                      </a:r>
                      <a:r>
                        <a:rPr lang="zh-CN" altLang="en-US" sz="1600"/>
                        <a:t>个</a:t>
                      </a:r>
                      <a:r>
                        <a:rPr lang="en-US" altLang="zh-CN" sz="1600"/>
                        <a:t>+ </a:t>
                      </a:r>
                      <a:r>
                        <a:rPr lang="zh-CN" altLang="en-US" sz="1600"/>
                        <a:t> </a:t>
                      </a:r>
                    </a:p>
                  </a:txBody>
                  <a:tcPr/>
                </a:tc>
                <a:tc>
                  <a:txBody>
                    <a:bodyPr/>
                    <a:lstStyle/>
                    <a:p>
                      <a:r>
                        <a:rPr lang="zh-CN" altLang="en-US" sz="1600"/>
                        <a:t>蛋白尿</a:t>
                      </a:r>
                    </a:p>
                  </a:txBody>
                  <a:tcPr/>
                </a:tc>
                <a:extLst>
                  <a:ext uri="{0D108BD9-81ED-4DB2-BD59-A6C34878D82A}">
                    <a16:rowId xmlns:a16="http://schemas.microsoft.com/office/drawing/2014/main" val="1346037505"/>
                  </a:ext>
                </a:extLst>
              </a:tr>
              <a:tr h="964557">
                <a:tc>
                  <a:txBody>
                    <a:bodyPr/>
                    <a:lstStyle/>
                    <a:p>
                      <a:r>
                        <a:rPr lang="zh-CN" altLang="en-US" sz="1600"/>
                        <a:t>＞</a:t>
                      </a:r>
                      <a:r>
                        <a:rPr lang="en-US" altLang="zh-CN" sz="1600"/>
                        <a:t>1</a:t>
                      </a:r>
                      <a:r>
                        <a:rPr lang="zh-CN" altLang="en-US" sz="1600"/>
                        <a:t>个</a:t>
                      </a:r>
                      <a:r>
                        <a:rPr lang="en-US" altLang="zh-CN" sz="1600"/>
                        <a:t>+</a:t>
                      </a:r>
                      <a:endParaRPr lang="zh-CN" altLang="en-US" sz="1600"/>
                    </a:p>
                  </a:txBody>
                  <a:tcPr/>
                </a:tc>
                <a:tc>
                  <a:txBody>
                    <a:bodyPr/>
                    <a:lstStyle/>
                    <a:p>
                      <a:r>
                        <a:rPr lang="zh-CN" altLang="en-US" sz="1600"/>
                        <a:t>比重＜</a:t>
                      </a:r>
                      <a:r>
                        <a:rPr lang="en-US" altLang="zh-CN" sz="1600"/>
                        <a:t>1.035</a:t>
                      </a:r>
                      <a:r>
                        <a:rPr lang="zh-CN" altLang="en-US" sz="1600"/>
                        <a:t>则可能蛋白尿需加测</a:t>
                      </a:r>
                      <a:r>
                        <a:rPr lang="en-US" altLang="zh-CN" sz="1600"/>
                        <a:t>upc</a:t>
                      </a:r>
                      <a:endParaRPr lang="zh-CN" altLang="en-US" sz="1600"/>
                    </a:p>
                  </a:txBody>
                  <a:tcPr/>
                </a:tc>
                <a:extLst>
                  <a:ext uri="{0D108BD9-81ED-4DB2-BD59-A6C34878D82A}">
                    <a16:rowId xmlns:a16="http://schemas.microsoft.com/office/drawing/2014/main" val="545146203"/>
                  </a:ext>
                </a:extLst>
              </a:tr>
            </a:tbl>
          </a:graphicData>
        </a:graphic>
      </p:graphicFrame>
      <p:sp>
        <p:nvSpPr>
          <p:cNvPr id="30" name="文本框 29">
            <a:extLst>
              <a:ext uri="{FF2B5EF4-FFF2-40B4-BE49-F238E27FC236}">
                <a16:creationId xmlns:a16="http://schemas.microsoft.com/office/drawing/2014/main" id="{D9EA05DA-D3E9-4A34-987F-5A253499F2DF}"/>
              </a:ext>
            </a:extLst>
          </p:cNvPr>
          <p:cNvSpPr txBox="1"/>
          <p:nvPr/>
        </p:nvSpPr>
        <p:spPr>
          <a:xfrm>
            <a:off x="3845895" y="2213774"/>
            <a:ext cx="7903179" cy="4216539"/>
          </a:xfrm>
          <a:prstGeom prst="rect">
            <a:avLst/>
          </a:prstGeom>
          <a:noFill/>
        </p:spPr>
        <p:txBody>
          <a:bodyPr wrap="square" rtlCol="0">
            <a:spAutoFit/>
          </a:bodyPr>
          <a:lstStyle/>
          <a:p>
            <a:pPr lvl="1"/>
            <a:r>
              <a:rPr lang="zh-CN" altLang="en-US" sz="2800" b="1">
                <a:solidFill>
                  <a:schemeClr val="bg1">
                    <a:lumMod val="95000"/>
                  </a:schemeClr>
                </a:solidFill>
                <a:effectLst>
                  <a:outerShdw blurRad="38100" dist="38100" dir="2700000" algn="tl">
                    <a:srgbClr val="000000">
                      <a:alpha val="43137"/>
                    </a:srgbClr>
                  </a:outerShdw>
                </a:effectLst>
                <a:latin typeface="+mj-ea"/>
                <a:ea typeface="+mj-ea"/>
              </a:rPr>
              <a:t>主力药物包括：</a:t>
            </a:r>
            <a:endParaRPr lang="en-US" altLang="zh-CN" sz="2800" b="1">
              <a:solidFill>
                <a:schemeClr val="bg1">
                  <a:lumMod val="95000"/>
                </a:schemeClr>
              </a:solidFill>
              <a:effectLst>
                <a:outerShdw blurRad="38100" dist="38100" dir="2700000" algn="tl">
                  <a:srgbClr val="000000">
                    <a:alpha val="43137"/>
                  </a:srgbClr>
                </a:outerShdw>
              </a:effectLst>
              <a:latin typeface="+mj-ea"/>
              <a:ea typeface="+mj-ea"/>
            </a:endParaRPr>
          </a:p>
          <a:p>
            <a:pPr lvl="1"/>
            <a:endParaRPr lang="en-US" altLang="zh-CN" sz="2000" b="1">
              <a:solidFill>
                <a:schemeClr val="bg1">
                  <a:lumMod val="9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sz="2400" b="1">
                <a:solidFill>
                  <a:srgbClr val="FFFF00"/>
                </a:solidFill>
                <a:effectLst>
                  <a:outerShdw blurRad="38100" dist="38100" dir="2700000" algn="tl">
                    <a:srgbClr val="000000">
                      <a:alpha val="43137"/>
                    </a:srgbClr>
                  </a:outerShdw>
                </a:effectLst>
                <a:latin typeface="+mj-ea"/>
                <a:ea typeface="+mj-ea"/>
              </a:rPr>
              <a:t>贝纳普利</a:t>
            </a:r>
            <a:r>
              <a:rPr lang="zh-CN" altLang="en-US" sz="1600" b="1">
                <a:solidFill>
                  <a:srgbClr val="FFFF00"/>
                </a:solidFill>
                <a:effectLst>
                  <a:outerShdw blurRad="38100" dist="38100" dir="2700000" algn="tl">
                    <a:srgbClr val="000000">
                      <a:alpha val="43137"/>
                    </a:srgbClr>
                  </a:outerShdw>
                </a:effectLst>
                <a:latin typeface="+mj-ea"/>
                <a:ea typeface="+mj-ea"/>
              </a:rPr>
              <a:t>（即</a:t>
            </a:r>
            <a:r>
              <a:rPr lang="en-US" altLang="zh-CN" sz="1600" b="1">
                <a:solidFill>
                  <a:srgbClr val="FFFF00"/>
                </a:solidFill>
                <a:effectLst>
                  <a:outerShdw blurRad="38100" dist="38100" dir="2700000" algn="tl">
                    <a:srgbClr val="000000">
                      <a:alpha val="43137"/>
                    </a:srgbClr>
                  </a:outerShdw>
                </a:effectLst>
                <a:latin typeface="+mj-ea"/>
                <a:ea typeface="+mj-ea"/>
              </a:rPr>
              <a:t>F5</a:t>
            </a:r>
            <a:r>
              <a:rPr lang="zh-CN" altLang="en-US" sz="1600" b="1">
                <a:solidFill>
                  <a:srgbClr val="FFFF00"/>
                </a:solidFill>
                <a:effectLst>
                  <a:outerShdw blurRad="38100" dist="38100" dir="2700000" algn="tl">
                    <a:srgbClr val="000000">
                      <a:alpha val="43137"/>
                    </a:srgbClr>
                  </a:outerShdw>
                </a:effectLst>
                <a:latin typeface="+mj-ea"/>
                <a:ea typeface="+mj-ea"/>
              </a:rPr>
              <a:t>）           </a:t>
            </a:r>
            <a:endParaRPr lang="en-US" altLang="zh-CN" sz="1600" b="1">
              <a:solidFill>
                <a:srgbClr val="FFFF00"/>
              </a:solidFill>
              <a:effectLst>
                <a:outerShdw blurRad="38100" dist="38100" dir="2700000" algn="tl">
                  <a:srgbClr val="000000">
                    <a:alpha val="43137"/>
                  </a:srgbClr>
                </a:outerShdw>
              </a:effectLst>
              <a:latin typeface="+mj-ea"/>
              <a:ea typeface="+mj-ea"/>
            </a:endParaRPr>
          </a:p>
          <a:p>
            <a:pPr lvl="1"/>
            <a:r>
              <a:rPr lang="en-US" altLang="zh-CN" sz="1600" b="1">
                <a:solidFill>
                  <a:schemeClr val="bg1">
                    <a:lumMod val="95000"/>
                  </a:schemeClr>
                </a:solidFill>
                <a:effectLst>
                  <a:outerShdw blurRad="38100" dist="38100" dir="2700000" algn="tl">
                    <a:srgbClr val="000000">
                      <a:alpha val="43137"/>
                    </a:srgbClr>
                  </a:outerShdw>
                </a:effectLst>
                <a:latin typeface="+mj-ea"/>
                <a:ea typeface="+mj-ea"/>
              </a:rPr>
              <a:t>     </a:t>
            </a:r>
            <a:r>
              <a:rPr lang="zh-CN" altLang="en-US" sz="2000" b="1">
                <a:solidFill>
                  <a:schemeClr val="bg1">
                    <a:lumMod val="95000"/>
                  </a:schemeClr>
                </a:solidFill>
                <a:effectLst>
                  <a:outerShdw blurRad="38100" dist="38100" dir="2700000" algn="tl">
                    <a:srgbClr val="000000">
                      <a:alpha val="43137"/>
                    </a:srgbClr>
                  </a:outerShdw>
                </a:effectLst>
                <a:latin typeface="+mj-ea"/>
                <a:ea typeface="+mj-ea"/>
              </a:rPr>
              <a:t>剂量：每公斤体重</a:t>
            </a:r>
            <a:r>
              <a:rPr lang="en-US" altLang="zh-CN" sz="2000" b="1">
                <a:solidFill>
                  <a:schemeClr val="bg1">
                    <a:lumMod val="95000"/>
                  </a:schemeClr>
                </a:solidFill>
                <a:effectLst>
                  <a:outerShdw blurRad="38100" dist="38100" dir="2700000" algn="tl">
                    <a:srgbClr val="000000">
                      <a:alpha val="43137"/>
                    </a:srgbClr>
                  </a:outerShdw>
                </a:effectLst>
                <a:latin typeface="+mj-ea"/>
                <a:ea typeface="+mj-ea"/>
              </a:rPr>
              <a:t>0.5mg</a:t>
            </a:r>
            <a:r>
              <a:rPr lang="zh-CN" altLang="en-US" sz="2000" b="1">
                <a:solidFill>
                  <a:schemeClr val="bg1">
                    <a:lumMod val="95000"/>
                  </a:schemeClr>
                </a:solidFill>
                <a:effectLst>
                  <a:outerShdw blurRad="38100" dist="38100" dir="2700000" algn="tl">
                    <a:srgbClr val="000000">
                      <a:alpha val="43137"/>
                    </a:srgbClr>
                  </a:outerShdw>
                </a:effectLst>
                <a:latin typeface="+mj-ea"/>
                <a:ea typeface="+mj-ea"/>
              </a:rPr>
              <a:t>左右，通常</a:t>
            </a:r>
            <a:r>
              <a:rPr lang="en-US" altLang="zh-CN" sz="2000" b="1">
                <a:solidFill>
                  <a:schemeClr val="bg1">
                    <a:lumMod val="95000"/>
                  </a:schemeClr>
                </a:solidFill>
                <a:effectLst>
                  <a:outerShdw blurRad="38100" dist="38100" dir="2700000" algn="tl">
                    <a:srgbClr val="000000">
                      <a:alpha val="43137"/>
                    </a:srgbClr>
                  </a:outerShdw>
                </a:effectLst>
                <a:latin typeface="+mj-ea"/>
                <a:ea typeface="+mj-ea"/>
              </a:rPr>
              <a:t>2.5-5kg</a:t>
            </a:r>
            <a:r>
              <a:rPr lang="zh-CN" altLang="en-US" sz="2000" b="1">
                <a:solidFill>
                  <a:schemeClr val="bg1">
                    <a:lumMod val="95000"/>
                  </a:schemeClr>
                </a:solidFill>
                <a:effectLst>
                  <a:outerShdw blurRad="38100" dist="38100" dir="2700000" algn="tl">
                    <a:srgbClr val="000000">
                      <a:alpha val="43137"/>
                    </a:srgbClr>
                  </a:outerShdw>
                </a:effectLst>
                <a:latin typeface="+mj-ea"/>
                <a:ea typeface="+mj-ea"/>
              </a:rPr>
              <a:t>即给</a:t>
            </a:r>
            <a:r>
              <a:rPr lang="en-US" altLang="zh-CN" sz="2000" b="1">
                <a:solidFill>
                  <a:schemeClr val="bg1">
                    <a:lumMod val="95000"/>
                  </a:schemeClr>
                </a:solidFill>
                <a:effectLst>
                  <a:outerShdw blurRad="38100" dist="38100" dir="2700000" algn="tl">
                    <a:srgbClr val="000000">
                      <a:alpha val="43137"/>
                    </a:srgbClr>
                  </a:outerShdw>
                </a:effectLst>
                <a:latin typeface="+mj-ea"/>
                <a:ea typeface="+mj-ea"/>
              </a:rPr>
              <a:t>2.5mg</a:t>
            </a:r>
          </a:p>
          <a:p>
            <a:pPr lvl="1"/>
            <a:endParaRPr lang="en-US" altLang="zh-CN" sz="2000" b="1">
              <a:solidFill>
                <a:schemeClr val="bg1">
                  <a:lumMod val="9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sz="2400" b="1">
                <a:solidFill>
                  <a:srgbClr val="FFFF00"/>
                </a:solidFill>
                <a:effectLst>
                  <a:outerShdw blurRad="38100" dist="38100" dir="2700000" algn="tl">
                    <a:srgbClr val="000000">
                      <a:alpha val="43137"/>
                    </a:srgbClr>
                  </a:outerShdw>
                </a:effectLst>
                <a:latin typeface="+mj-ea"/>
                <a:ea typeface="+mj-ea"/>
              </a:rPr>
              <a:t>替米沙坦</a:t>
            </a:r>
            <a:r>
              <a:rPr lang="zh-CN" altLang="en-US" sz="1600" b="1">
                <a:solidFill>
                  <a:srgbClr val="FFFF00"/>
                </a:solidFill>
                <a:effectLst>
                  <a:outerShdw blurRad="38100" dist="38100" dir="2700000" algn="tl">
                    <a:srgbClr val="000000">
                      <a:alpha val="43137"/>
                    </a:srgbClr>
                  </a:outerShdw>
                </a:effectLst>
                <a:latin typeface="+mj-ea"/>
                <a:ea typeface="+mj-ea"/>
              </a:rPr>
              <a:t>（即</a:t>
            </a:r>
            <a:r>
              <a:rPr lang="en-US" altLang="zh-CN" sz="1600" b="1">
                <a:solidFill>
                  <a:srgbClr val="FFFF00"/>
                </a:solidFill>
                <a:effectLst>
                  <a:outerShdw blurRad="38100" dist="38100" dir="2700000" algn="tl">
                    <a:srgbClr val="000000">
                      <a:alpha val="43137"/>
                    </a:srgbClr>
                  </a:outerShdw>
                </a:effectLst>
                <a:latin typeface="+mj-ea"/>
                <a:ea typeface="+mj-ea"/>
              </a:rPr>
              <a:t>Semintra</a:t>
            </a:r>
            <a:r>
              <a:rPr lang="zh-CN" altLang="en-US" sz="1600" b="1">
                <a:solidFill>
                  <a:srgbClr val="FFFF00"/>
                </a:solidFill>
                <a:effectLst>
                  <a:outerShdw blurRad="38100" dist="38100" dir="2700000" algn="tl">
                    <a:srgbClr val="000000">
                      <a:alpha val="43137"/>
                    </a:srgbClr>
                  </a:outerShdw>
                </a:effectLst>
                <a:latin typeface="+mj-ea"/>
                <a:ea typeface="+mj-ea"/>
              </a:rPr>
              <a:t>） </a:t>
            </a:r>
            <a:endParaRPr lang="en-US" altLang="zh-CN" sz="1600" b="1">
              <a:solidFill>
                <a:srgbClr val="FFFF00"/>
              </a:solidFill>
              <a:effectLst>
                <a:outerShdw blurRad="38100" dist="38100" dir="2700000" algn="tl">
                  <a:srgbClr val="000000">
                    <a:alpha val="43137"/>
                  </a:srgbClr>
                </a:outerShdw>
              </a:effectLst>
              <a:latin typeface="+mj-ea"/>
              <a:ea typeface="+mj-ea"/>
            </a:endParaRPr>
          </a:p>
          <a:p>
            <a:pPr lvl="1"/>
            <a:r>
              <a:rPr lang="en-US" altLang="zh-CN" sz="1600" b="1">
                <a:solidFill>
                  <a:schemeClr val="bg1">
                    <a:lumMod val="95000"/>
                  </a:schemeClr>
                </a:solidFill>
                <a:effectLst>
                  <a:outerShdw blurRad="38100" dist="38100" dir="2700000" algn="tl">
                    <a:srgbClr val="000000">
                      <a:alpha val="43137"/>
                    </a:srgbClr>
                  </a:outerShdw>
                </a:effectLst>
                <a:latin typeface="+mj-ea"/>
                <a:ea typeface="+mj-ea"/>
              </a:rPr>
              <a:t>      </a:t>
            </a:r>
            <a:r>
              <a:rPr lang="zh-CN" altLang="en-US" sz="2000" b="1">
                <a:solidFill>
                  <a:schemeClr val="bg1">
                    <a:lumMod val="95000"/>
                  </a:schemeClr>
                </a:solidFill>
                <a:effectLst>
                  <a:outerShdw blurRad="38100" dist="38100" dir="2700000" algn="tl">
                    <a:srgbClr val="000000">
                      <a:alpha val="43137"/>
                    </a:srgbClr>
                  </a:outerShdw>
                </a:effectLst>
                <a:latin typeface="+mj-ea"/>
                <a:ea typeface="+mj-ea"/>
              </a:rPr>
              <a:t>剂量：每公斤体重</a:t>
            </a:r>
            <a:r>
              <a:rPr lang="en-US" altLang="zh-CN" sz="2000" b="1">
                <a:solidFill>
                  <a:schemeClr val="bg1">
                    <a:lumMod val="95000"/>
                  </a:schemeClr>
                </a:solidFill>
                <a:effectLst>
                  <a:outerShdw blurRad="38100" dist="38100" dir="2700000" algn="tl">
                    <a:srgbClr val="000000">
                      <a:alpha val="43137"/>
                    </a:srgbClr>
                  </a:outerShdw>
                </a:effectLst>
                <a:latin typeface="+mj-ea"/>
                <a:ea typeface="+mj-ea"/>
              </a:rPr>
              <a:t>1mg</a:t>
            </a:r>
            <a:r>
              <a:rPr lang="zh-CN" altLang="en-US" sz="2000" b="1">
                <a:solidFill>
                  <a:schemeClr val="bg1">
                    <a:lumMod val="95000"/>
                  </a:schemeClr>
                </a:solidFill>
                <a:effectLst>
                  <a:outerShdw blurRad="38100" dist="38100" dir="2700000" algn="tl">
                    <a:srgbClr val="000000">
                      <a:alpha val="43137"/>
                    </a:srgbClr>
                  </a:outerShdw>
                </a:effectLst>
                <a:latin typeface="+mj-ea"/>
                <a:ea typeface="+mj-ea"/>
              </a:rPr>
              <a:t>左右，</a:t>
            </a:r>
            <a:r>
              <a:rPr lang="en-US" altLang="zh-CN" sz="2000" b="1">
                <a:solidFill>
                  <a:schemeClr val="bg1">
                    <a:lumMod val="95000"/>
                  </a:schemeClr>
                </a:solidFill>
                <a:effectLst>
                  <a:outerShdw blurRad="38100" dist="38100" dir="2700000" algn="tl">
                    <a:srgbClr val="000000">
                      <a:alpha val="43137"/>
                    </a:srgbClr>
                  </a:outerShdw>
                </a:effectLst>
                <a:latin typeface="+mj-ea"/>
                <a:ea typeface="+mj-ea"/>
              </a:rPr>
              <a:t>7</a:t>
            </a:r>
            <a:r>
              <a:rPr lang="zh-CN" altLang="en-US" sz="2000" b="1">
                <a:solidFill>
                  <a:schemeClr val="bg1">
                    <a:lumMod val="95000"/>
                  </a:schemeClr>
                </a:solidFill>
                <a:effectLst>
                  <a:outerShdw blurRad="38100" dist="38100" dir="2700000" algn="tl">
                    <a:srgbClr val="000000">
                      <a:alpha val="43137"/>
                    </a:srgbClr>
                  </a:outerShdw>
                </a:effectLst>
                <a:latin typeface="+mj-ea"/>
                <a:ea typeface="+mj-ea"/>
              </a:rPr>
              <a:t>天内见效</a:t>
            </a:r>
            <a:endParaRPr lang="en-US" altLang="zh-CN" sz="2000" b="1">
              <a:solidFill>
                <a:schemeClr val="bg1">
                  <a:lumMod val="95000"/>
                </a:schemeClr>
              </a:solidFill>
              <a:effectLst>
                <a:outerShdw blurRad="38100" dist="38100" dir="2700000" algn="tl">
                  <a:srgbClr val="000000">
                    <a:alpha val="43137"/>
                  </a:srgbClr>
                </a:outerShdw>
              </a:effectLst>
              <a:latin typeface="+mj-ea"/>
              <a:ea typeface="+mj-ea"/>
            </a:endParaRPr>
          </a:p>
          <a:p>
            <a:pPr marL="342900" indent="-342900">
              <a:buFont typeface="Wingdings" panose="05000000000000000000" pitchFamily="2" charset="2"/>
              <a:buChar char="n"/>
            </a:pPr>
            <a:endParaRPr lang="en-US" altLang="zh-CN" sz="2000" b="1">
              <a:solidFill>
                <a:schemeClr val="bg1">
                  <a:lumMod val="95000"/>
                </a:schemeClr>
              </a:solidFill>
              <a:effectLst>
                <a:outerShdw blurRad="38100" dist="38100" dir="2700000" algn="tl">
                  <a:srgbClr val="000000">
                    <a:alpha val="43137"/>
                  </a:srgbClr>
                </a:outerShdw>
              </a:effectLst>
              <a:latin typeface="+mj-ea"/>
              <a:ea typeface="+mj-ea"/>
            </a:endParaRPr>
          </a:p>
          <a:p>
            <a:endParaRPr lang="en-US" altLang="zh-CN" sz="2000" b="1">
              <a:solidFill>
                <a:schemeClr val="bg1">
                  <a:lumMod val="95000"/>
                </a:schemeClr>
              </a:solidFill>
              <a:effectLst>
                <a:outerShdw blurRad="38100" dist="38100" dir="2700000" algn="tl">
                  <a:srgbClr val="000000">
                    <a:alpha val="43137"/>
                  </a:srgbClr>
                </a:outerShdw>
              </a:effectLst>
              <a:latin typeface="+mj-ea"/>
              <a:ea typeface="+mj-ea"/>
            </a:endParaRPr>
          </a:p>
          <a:p>
            <a:endParaRPr lang="en-US" altLang="zh-CN" sz="2000" b="1">
              <a:solidFill>
                <a:schemeClr val="bg1">
                  <a:lumMod val="95000"/>
                </a:schemeClr>
              </a:solidFill>
              <a:effectLst>
                <a:outerShdw blurRad="38100" dist="38100" dir="2700000" algn="tl">
                  <a:srgbClr val="000000">
                    <a:alpha val="43137"/>
                  </a:srgbClr>
                </a:outerShdw>
              </a:effectLst>
              <a:latin typeface="+mj-ea"/>
              <a:ea typeface="+mj-ea"/>
            </a:endParaRPr>
          </a:p>
          <a:p>
            <a:endParaRPr lang="en-US" altLang="zh-CN" sz="2000" b="1">
              <a:solidFill>
                <a:schemeClr val="bg1"/>
              </a:solidFill>
              <a:effectLst>
                <a:outerShdw blurRad="38100" dist="38100" dir="2700000" algn="tl">
                  <a:srgbClr val="000000">
                    <a:alpha val="43137"/>
                  </a:srgbClr>
                </a:outerShdw>
              </a:effectLst>
              <a:latin typeface="+mj-ea"/>
              <a:ea typeface="+mj-ea"/>
            </a:endParaRPr>
          </a:p>
          <a:p>
            <a:r>
              <a:rPr lang="zh-CN" altLang="en-US" sz="1600" b="1">
                <a:solidFill>
                  <a:schemeClr val="bg1"/>
                </a:solidFill>
                <a:effectLst>
                  <a:outerShdw blurRad="38100" dist="38100" dir="2700000" algn="tl">
                    <a:srgbClr val="000000">
                      <a:alpha val="43137"/>
                    </a:srgbClr>
                  </a:outerShdw>
                </a:effectLst>
                <a:latin typeface="+mj-ea"/>
                <a:ea typeface="+mj-ea"/>
              </a:rPr>
              <a:t>用药请咨询主治医师，切莫擅自使用。</a:t>
            </a:r>
            <a:r>
              <a:rPr lang="zh-CN" altLang="en-US" sz="1600" b="1">
                <a:solidFill>
                  <a:schemeClr val="bg1">
                    <a:lumMod val="95000"/>
                  </a:schemeClr>
                </a:solidFill>
                <a:effectLst>
                  <a:outerShdw blurRad="38100" dist="38100" dir="2700000" algn="tl">
                    <a:srgbClr val="000000">
                      <a:alpha val="43137"/>
                    </a:srgbClr>
                  </a:outerShdw>
                </a:effectLst>
                <a:latin typeface="+mj-ea"/>
                <a:ea typeface="+mj-ea"/>
              </a:rPr>
              <a:t>上述药物都和美洛昔康等</a:t>
            </a:r>
            <a:r>
              <a:rPr lang="en-US" altLang="zh-CN" sz="1600" b="1">
                <a:solidFill>
                  <a:schemeClr val="bg1">
                    <a:lumMod val="95000"/>
                  </a:schemeClr>
                </a:solidFill>
                <a:effectLst>
                  <a:outerShdw blurRad="38100" dist="38100" dir="2700000" algn="tl">
                    <a:srgbClr val="000000">
                      <a:alpha val="43137"/>
                    </a:srgbClr>
                  </a:outerShdw>
                </a:effectLst>
                <a:latin typeface="+mj-ea"/>
                <a:ea typeface="+mj-ea"/>
              </a:rPr>
              <a:t>NSAID</a:t>
            </a:r>
            <a:r>
              <a:rPr lang="zh-CN" altLang="en-US" sz="1600" b="1">
                <a:solidFill>
                  <a:schemeClr val="bg1">
                    <a:lumMod val="95000"/>
                  </a:schemeClr>
                </a:solidFill>
                <a:effectLst>
                  <a:outerShdw blurRad="38100" dist="38100" dir="2700000" algn="tl">
                    <a:srgbClr val="000000">
                      <a:alpha val="43137"/>
                    </a:srgbClr>
                  </a:outerShdw>
                </a:effectLst>
                <a:latin typeface="+mj-ea"/>
                <a:ea typeface="+mj-ea"/>
              </a:rPr>
              <a:t>药物有冲突，脱水时使用有危险！副作用包括可逆的</a:t>
            </a:r>
            <a:r>
              <a:rPr lang="en-US" altLang="zh-CN" sz="1600" b="1">
                <a:solidFill>
                  <a:schemeClr val="bg1">
                    <a:lumMod val="95000"/>
                  </a:schemeClr>
                </a:solidFill>
                <a:effectLst>
                  <a:outerShdw blurRad="38100" dist="38100" dir="2700000" algn="tl">
                    <a:srgbClr val="000000">
                      <a:alpha val="43137"/>
                    </a:srgbClr>
                  </a:outerShdw>
                </a:effectLst>
                <a:latin typeface="+mj-ea"/>
                <a:ea typeface="+mj-ea"/>
              </a:rPr>
              <a:t>BUN</a:t>
            </a:r>
            <a:r>
              <a:rPr lang="zh-CN" altLang="en-US" sz="1600" b="1">
                <a:solidFill>
                  <a:schemeClr val="bg1">
                    <a:lumMod val="95000"/>
                  </a:schemeClr>
                </a:solidFill>
                <a:effectLst>
                  <a:outerShdw blurRad="38100" dist="38100" dir="2700000" algn="tl">
                    <a:srgbClr val="000000">
                      <a:alpha val="43137"/>
                    </a:srgbClr>
                  </a:outerShdw>
                </a:effectLst>
                <a:latin typeface="+mj-ea"/>
                <a:ea typeface="+mj-ea"/>
              </a:rPr>
              <a:t>、肌酐、血钾等数值上升与血压过低。</a:t>
            </a:r>
            <a:endParaRPr lang="en-US" altLang="zh-CN" sz="1600" b="1">
              <a:solidFill>
                <a:srgbClr val="FF0000"/>
              </a:solidFill>
              <a:effectLst>
                <a:outerShdw blurRad="38100" dist="38100" dir="2700000" algn="tl">
                  <a:srgbClr val="000000">
                    <a:alpha val="43137"/>
                  </a:srgbClr>
                </a:outerShdw>
              </a:effectLst>
              <a:latin typeface="+mj-ea"/>
              <a:ea typeface="+mj-ea"/>
            </a:endParaRPr>
          </a:p>
        </p:txBody>
      </p:sp>
      <p:pic>
        <p:nvPicPr>
          <p:cNvPr id="7" name="图片 6">
            <a:extLst>
              <a:ext uri="{FF2B5EF4-FFF2-40B4-BE49-F238E27FC236}">
                <a16:creationId xmlns:a16="http://schemas.microsoft.com/office/drawing/2014/main" id="{3D35B371-EB89-430C-91C3-F48CD8A59D4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52384" y="4005064"/>
            <a:ext cx="1255013" cy="1255013"/>
          </a:xfrm>
          <a:prstGeom prst="rect">
            <a:avLst/>
          </a:prstGeom>
        </p:spPr>
      </p:pic>
    </p:spTree>
    <p:extLst>
      <p:ext uri="{BB962C8B-B14F-4D97-AF65-F5344CB8AC3E}">
        <p14:creationId xmlns:p14="http://schemas.microsoft.com/office/powerpoint/2010/main" val="36370279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p:cNvPr>
          <p:cNvGrpSpPr/>
          <p:nvPr/>
        </p:nvGrpSpPr>
        <p:grpSpPr>
          <a:xfrm>
            <a:off x="4866703" y="690832"/>
            <a:ext cx="7320137" cy="1035882"/>
            <a:chOff x="8112223" y="330677"/>
            <a:chExt cx="4194115" cy="1035882"/>
          </a:xfrm>
          <a:effectLst>
            <a:outerShdw blurRad="50800" dist="38100" dir="5400000" algn="t" rotWithShape="0">
              <a:prstClr val="black">
                <a:alpha val="40000"/>
              </a:prstClr>
            </a:outerShdw>
          </a:effectLst>
        </p:grpSpPr>
        <p:sp>
          <p:nvSpPr>
            <p:cNvPr id="27"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8281096" y="330677"/>
              <a:ext cx="4013203" cy="985057"/>
              <a:chOff x="-461843" y="2729730"/>
              <a:chExt cx="4727020" cy="1377463"/>
            </a:xfrm>
          </p:grpSpPr>
          <p:sp>
            <p:nvSpPr>
              <p:cNvPr id="29"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1402351" y="2972777"/>
                <a:ext cx="2862826" cy="81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latin typeface="+mn-lt"/>
                    <a:ea typeface="+mn-ea"/>
                    <a:cs typeface="+mn-ea"/>
                    <a:sym typeface="+mn-lt"/>
                  </a:rPr>
                  <a:t>家庭尿检</a:t>
                </a:r>
                <a:endParaRPr lang="en-US" altLang="zh-CN" sz="2400" b="1">
                  <a:solidFill>
                    <a:srgbClr val="010101"/>
                  </a:solidFill>
                  <a:latin typeface="+mn-lt"/>
                  <a:ea typeface="+mn-ea"/>
                  <a:cs typeface="+mn-ea"/>
                  <a:sym typeface="+mn-lt"/>
                </a:endParaRPr>
              </a:p>
            </p:txBody>
          </p:sp>
          <p:cxnSp>
            <p:nvCxnSpPr>
              <p:cNvPr id="31" name="直接连接符 30">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506334" y="3461620"/>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cxnSp>
        <p:nvCxnSpPr>
          <p:cNvPr id="49" name="直接连接符 48">
            <a:extLst/>
          </p:cNvPr>
          <p:cNvCxnSpPr/>
          <p:nvPr/>
        </p:nvCxnSpPr>
        <p:spPr>
          <a:xfrm flipH="1">
            <a:off x="6107113" y="3668713"/>
            <a:ext cx="19050" cy="1079500"/>
          </a:xfrm>
          <a:prstGeom prst="line">
            <a:avLst/>
          </a:prstGeom>
          <a:ln w="50800">
            <a:solidFill>
              <a:srgbClr val="4F4F4F"/>
            </a:solidFill>
          </a:ln>
        </p:spPr>
        <p:style>
          <a:lnRef idx="1">
            <a:schemeClr val="accent1"/>
          </a:lnRef>
          <a:fillRef idx="0">
            <a:schemeClr val="accent1"/>
          </a:fillRef>
          <a:effectRef idx="0">
            <a:schemeClr val="accent1"/>
          </a:effectRef>
          <a:fontRef idx="minor">
            <a:schemeClr val="tx1"/>
          </a:fontRef>
        </p:style>
      </p:cxnSp>
      <p:grpSp>
        <p:nvGrpSpPr>
          <p:cNvPr id="37893" name="组合 1"/>
          <p:cNvGrpSpPr>
            <a:grpSpLocks/>
          </p:cNvGrpSpPr>
          <p:nvPr/>
        </p:nvGrpSpPr>
        <p:grpSpPr bwMode="auto">
          <a:xfrm>
            <a:off x="6672064" y="2401343"/>
            <a:ext cx="5006048" cy="5001518"/>
            <a:chOff x="6801687" y="2608336"/>
            <a:chExt cx="4629882" cy="5000203"/>
          </a:xfrm>
        </p:grpSpPr>
        <p:grpSp>
          <p:nvGrpSpPr>
            <p:cNvPr id="37894" name="组合 14"/>
            <p:cNvGrpSpPr>
              <a:grpSpLocks/>
            </p:cNvGrpSpPr>
            <p:nvPr/>
          </p:nvGrpSpPr>
          <p:grpSpPr bwMode="auto">
            <a:xfrm>
              <a:off x="6931323" y="2608336"/>
              <a:ext cx="4500246" cy="718135"/>
              <a:chOff x="3936148" y="1692543"/>
              <a:chExt cx="4500246" cy="718135"/>
            </a:xfrm>
          </p:grpSpPr>
          <p:sp>
            <p:nvSpPr>
              <p:cNvPr id="55" name="文本框 66">
                <a:extLst/>
              </p:cNvPr>
              <p:cNvSpPr txBox="1">
                <a:spLocks noChangeArrowheads="1"/>
              </p:cNvSpPr>
              <p:nvPr/>
            </p:nvSpPr>
            <p:spPr bwMode="auto">
              <a:xfrm>
                <a:off x="3966308" y="1692543"/>
                <a:ext cx="4258964" cy="461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spcBef>
                    <a:spcPts val="0"/>
                  </a:spcBef>
                  <a:spcAft>
                    <a:spcPts val="0"/>
                  </a:spcAft>
                  <a:defRPr/>
                </a:pPr>
                <a:endParaRPr lang="zh-CN" altLang="en-US" sz="2400" b="1" kern="0">
                  <a:solidFill>
                    <a:srgbClr val="4F4F4F"/>
                  </a:solidFill>
                  <a:latin typeface="+mn-lt"/>
                  <a:ea typeface="+mn-ea"/>
                  <a:cs typeface="+mn-ea"/>
                  <a:sym typeface="+mn-lt"/>
                </a:endParaRPr>
              </a:p>
            </p:txBody>
          </p:sp>
          <p:sp>
            <p:nvSpPr>
              <p:cNvPr id="56" name="矩形 55">
                <a:extLst/>
              </p:cNvPr>
              <p:cNvSpPr/>
              <p:nvPr/>
            </p:nvSpPr>
            <p:spPr>
              <a:xfrm>
                <a:off x="3936148" y="2133752"/>
                <a:ext cx="4500246" cy="276926"/>
              </a:xfrm>
              <a:prstGeom prst="rect">
                <a:avLst/>
              </a:prstGeom>
            </p:spPr>
            <p:txBody>
              <a:bodyPr>
                <a:spAutoFit/>
              </a:bodyPr>
              <a:lstStyle/>
              <a:p>
                <a:pPr eaLnBrk="1" fontAlgn="auto" hangingPunct="1">
                  <a:spcBef>
                    <a:spcPts val="0"/>
                  </a:spcBef>
                  <a:spcAft>
                    <a:spcPts val="0"/>
                  </a:spcAft>
                  <a:defRPr/>
                </a:pPr>
                <a:endParaRPr lang="zh-CN" altLang="en-US" sz="1200" kern="0">
                  <a:solidFill>
                    <a:srgbClr val="4F4F4F"/>
                  </a:solidFill>
                  <a:latin typeface="+mn-lt"/>
                  <a:ea typeface="+mn-ea"/>
                  <a:cs typeface="+mn-ea"/>
                  <a:sym typeface="+mn-lt"/>
                </a:endParaRPr>
              </a:p>
            </p:txBody>
          </p:sp>
        </p:grpSp>
        <p:sp>
          <p:nvSpPr>
            <p:cNvPr id="52" name="矩形 3">
              <a:extLst/>
            </p:cNvPr>
            <p:cNvSpPr>
              <a:spLocks noChangeArrowheads="1"/>
            </p:cNvSpPr>
            <p:nvPr/>
          </p:nvSpPr>
          <p:spPr bwMode="auto">
            <a:xfrm>
              <a:off x="6801687" y="2839256"/>
              <a:ext cx="4470086" cy="4769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457200" indent="-457200" eaLnBrk="1" fontAlgn="auto" hangingPunct="1">
                <a:lnSpc>
                  <a:spcPct val="100000"/>
                </a:lnSpc>
                <a:spcBef>
                  <a:spcPct val="0"/>
                </a:spcBef>
                <a:spcAft>
                  <a:spcPts val="0"/>
                </a:spcAft>
                <a:buFont typeface="Wingdings" panose="05000000000000000000" pitchFamily="2" charset="2"/>
                <a:buChar char="ü"/>
                <a:defRPr/>
              </a:pPr>
              <a:r>
                <a:rPr lang="zh-CN" altLang="en-US" sz="2000" kern="0">
                  <a:solidFill>
                    <a:srgbClr val="4F4F4F"/>
                  </a:solidFill>
                  <a:latin typeface="+mj-ea"/>
                  <a:ea typeface="+mj-ea"/>
                  <a:cs typeface="+mn-ea"/>
                  <a:sym typeface="+mn-lt"/>
                </a:rPr>
                <a:t>购买猫用尿比重仪</a:t>
              </a:r>
              <a:endParaRPr lang="en-US" altLang="zh-CN" sz="2000" kern="0">
                <a:solidFill>
                  <a:srgbClr val="4F4F4F"/>
                </a:solidFill>
                <a:latin typeface="+mj-ea"/>
                <a:ea typeface="+mj-ea"/>
                <a:cs typeface="+mn-ea"/>
                <a:sym typeface="+mn-lt"/>
              </a:endParaRPr>
            </a:p>
            <a:p>
              <a:pPr marL="457200" indent="-457200" eaLnBrk="1" fontAlgn="auto" hangingPunct="1">
                <a:lnSpc>
                  <a:spcPct val="100000"/>
                </a:lnSpc>
                <a:spcBef>
                  <a:spcPct val="0"/>
                </a:spcBef>
                <a:spcAft>
                  <a:spcPts val="0"/>
                </a:spcAft>
                <a:buFont typeface="Wingdings" panose="05000000000000000000" pitchFamily="2" charset="2"/>
                <a:buChar char="ü"/>
                <a:defRPr/>
              </a:pPr>
              <a:r>
                <a:rPr lang="zh-CN" altLang="en-US" sz="2000" kern="0">
                  <a:solidFill>
                    <a:srgbClr val="4F4F4F"/>
                  </a:solidFill>
                  <a:latin typeface="+mj-ea"/>
                  <a:ea typeface="+mj-ea"/>
                  <a:cs typeface="+mn-ea"/>
                  <a:sym typeface="+mn-lt"/>
                </a:rPr>
                <a:t>购买无菌尿杯</a:t>
              </a:r>
              <a:r>
                <a:rPr lang="en-US" altLang="zh-CN" sz="2000" kern="0">
                  <a:solidFill>
                    <a:srgbClr val="4F4F4F"/>
                  </a:solidFill>
                  <a:latin typeface="+mj-ea"/>
                  <a:ea typeface="+mj-ea"/>
                  <a:cs typeface="+mn-ea"/>
                  <a:sym typeface="+mn-lt"/>
                </a:rPr>
                <a:t>/</a:t>
              </a:r>
              <a:r>
                <a:rPr lang="zh-CN" altLang="en-US" sz="2000" kern="0">
                  <a:solidFill>
                    <a:srgbClr val="4F4F4F"/>
                  </a:solidFill>
                  <a:latin typeface="+mj-ea"/>
                  <a:ea typeface="+mj-ea"/>
                  <a:cs typeface="+mn-ea"/>
                  <a:sym typeface="+mn-lt"/>
                </a:rPr>
                <a:t>痰杯，建议带盖</a:t>
              </a:r>
              <a:endParaRPr lang="en-US" altLang="zh-CN" sz="2000" kern="0">
                <a:solidFill>
                  <a:srgbClr val="4F4F4F"/>
                </a:solidFill>
                <a:latin typeface="+mj-ea"/>
                <a:ea typeface="+mj-ea"/>
                <a:cs typeface="+mn-ea"/>
                <a:sym typeface="+mn-lt"/>
              </a:endParaRPr>
            </a:p>
            <a:p>
              <a:pPr marL="457200" indent="-457200" eaLnBrk="1" fontAlgn="auto" hangingPunct="1">
                <a:lnSpc>
                  <a:spcPct val="100000"/>
                </a:lnSpc>
                <a:spcBef>
                  <a:spcPct val="0"/>
                </a:spcBef>
                <a:spcAft>
                  <a:spcPts val="0"/>
                </a:spcAft>
                <a:buFont typeface="Wingdings" panose="05000000000000000000" pitchFamily="2" charset="2"/>
                <a:buChar char="ü"/>
                <a:defRPr/>
              </a:pPr>
              <a:r>
                <a:rPr lang="zh-CN" altLang="en-US" sz="2000" kern="0">
                  <a:solidFill>
                    <a:srgbClr val="4F4F4F"/>
                  </a:solidFill>
                  <a:latin typeface="+mj-ea"/>
                  <a:ea typeface="+mj-ea"/>
                  <a:cs typeface="+mn-ea"/>
                  <a:sym typeface="+mn-lt"/>
                </a:rPr>
                <a:t>购买尿检试纸</a:t>
              </a:r>
              <a:endParaRPr lang="en-US" altLang="zh-CN" sz="2000" kern="0">
                <a:solidFill>
                  <a:srgbClr val="4F4F4F"/>
                </a:solidFill>
                <a:latin typeface="+mj-ea"/>
                <a:ea typeface="+mj-ea"/>
                <a:cs typeface="+mn-ea"/>
                <a:sym typeface="+mn-lt"/>
              </a:endParaRPr>
            </a:p>
            <a:p>
              <a:pPr eaLnBrk="1" fontAlgn="auto" hangingPunct="1">
                <a:lnSpc>
                  <a:spcPct val="100000"/>
                </a:lnSpc>
                <a:spcBef>
                  <a:spcPct val="0"/>
                </a:spcBef>
                <a:spcAft>
                  <a:spcPts val="0"/>
                </a:spcAft>
                <a:buNone/>
                <a:defRPr/>
              </a:pPr>
              <a:endParaRPr lang="en-US" altLang="zh-CN" sz="2000" kern="0">
                <a:solidFill>
                  <a:srgbClr val="4F4F4F"/>
                </a:solidFill>
                <a:latin typeface="+mj-ea"/>
                <a:ea typeface="+mj-ea"/>
                <a:cs typeface="+mn-ea"/>
                <a:sym typeface="+mn-lt"/>
              </a:endParaRPr>
            </a:p>
            <a:p>
              <a:pPr marL="457200" indent="-457200" eaLnBrk="1" fontAlgn="auto" hangingPunct="1">
                <a:lnSpc>
                  <a:spcPct val="100000"/>
                </a:lnSpc>
                <a:spcBef>
                  <a:spcPct val="0"/>
                </a:spcBef>
                <a:spcAft>
                  <a:spcPts val="0"/>
                </a:spcAft>
                <a:buFont typeface="Wingdings" panose="05000000000000000000" pitchFamily="2" charset="2"/>
                <a:buChar char="n"/>
                <a:defRPr/>
              </a:pPr>
              <a:endParaRPr lang="en-US" altLang="zh-CN" sz="2000" kern="0">
                <a:solidFill>
                  <a:srgbClr val="4F4F4F"/>
                </a:solidFill>
                <a:latin typeface="+mj-ea"/>
                <a:ea typeface="+mj-ea"/>
                <a:cs typeface="+mn-ea"/>
                <a:sym typeface="+mn-lt"/>
              </a:endParaRPr>
            </a:p>
            <a:p>
              <a:pPr marL="457200" indent="-457200" eaLnBrk="1" fontAlgn="auto" hangingPunct="1">
                <a:lnSpc>
                  <a:spcPct val="100000"/>
                </a:lnSpc>
                <a:spcBef>
                  <a:spcPct val="0"/>
                </a:spcBef>
                <a:spcAft>
                  <a:spcPts val="0"/>
                </a:spcAft>
                <a:buFont typeface="Wingdings" panose="05000000000000000000" pitchFamily="2" charset="2"/>
                <a:buChar char="n"/>
                <a:defRPr/>
              </a:pPr>
              <a:endParaRPr lang="en-US" altLang="zh-CN" sz="2000" kern="0">
                <a:solidFill>
                  <a:srgbClr val="4F4F4F"/>
                </a:solidFill>
                <a:latin typeface="+mj-ea"/>
                <a:ea typeface="+mj-ea"/>
                <a:cs typeface="+mn-ea"/>
                <a:sym typeface="+mn-lt"/>
              </a:endParaRPr>
            </a:p>
            <a:p>
              <a:pPr marL="457200" indent="-457200" eaLnBrk="1" fontAlgn="auto" hangingPunct="1">
                <a:lnSpc>
                  <a:spcPct val="100000"/>
                </a:lnSpc>
                <a:spcBef>
                  <a:spcPct val="0"/>
                </a:spcBef>
                <a:spcAft>
                  <a:spcPts val="0"/>
                </a:spcAft>
                <a:buFont typeface="Wingdings" panose="05000000000000000000" pitchFamily="2" charset="2"/>
                <a:buChar char="n"/>
                <a:defRPr/>
              </a:pPr>
              <a:r>
                <a:rPr lang="zh-CN" altLang="en-US" sz="1600" kern="0">
                  <a:solidFill>
                    <a:srgbClr val="4F4F4F"/>
                  </a:solidFill>
                  <a:latin typeface="+mj-ea"/>
                  <a:ea typeface="+mj-ea"/>
                  <a:cs typeface="+mn-ea"/>
                  <a:sym typeface="+mn-lt"/>
                </a:rPr>
                <a:t>猫排尿开始无法轻易暂停，此时可以用尿杯接尿。</a:t>
              </a:r>
              <a:endParaRPr lang="en-US" altLang="zh-CN" sz="1600" kern="0">
                <a:solidFill>
                  <a:srgbClr val="4F4F4F"/>
                </a:solidFill>
                <a:latin typeface="+mj-ea"/>
                <a:ea typeface="+mj-ea"/>
                <a:cs typeface="+mn-ea"/>
                <a:sym typeface="+mn-lt"/>
              </a:endParaRPr>
            </a:p>
            <a:p>
              <a:pPr marL="457200" indent="-457200" eaLnBrk="1" fontAlgn="auto" hangingPunct="1">
                <a:lnSpc>
                  <a:spcPct val="100000"/>
                </a:lnSpc>
                <a:spcBef>
                  <a:spcPct val="0"/>
                </a:spcBef>
                <a:spcAft>
                  <a:spcPts val="0"/>
                </a:spcAft>
                <a:buFont typeface="Wingdings" panose="05000000000000000000" pitchFamily="2" charset="2"/>
                <a:buChar char="n"/>
                <a:defRPr/>
              </a:pPr>
              <a:r>
                <a:rPr lang="zh-CN" altLang="en-US" sz="1600" kern="0">
                  <a:solidFill>
                    <a:srgbClr val="4F4F4F"/>
                  </a:solidFill>
                  <a:latin typeface="+mn-lt"/>
                  <a:ea typeface="+mn-ea"/>
                  <a:cs typeface="+mn-ea"/>
                  <a:sym typeface="+mn-lt"/>
                </a:rPr>
                <a:t>尿样获得后，可以去就近的医院化验，或在家用尿比重仪与试纸进行初筛。</a:t>
              </a:r>
              <a:endParaRPr lang="en-US" altLang="zh-CN" sz="1600" kern="0">
                <a:solidFill>
                  <a:srgbClr val="4F4F4F"/>
                </a:solidFill>
                <a:latin typeface="+mn-lt"/>
                <a:ea typeface="+mn-ea"/>
                <a:cs typeface="+mn-ea"/>
                <a:sym typeface="+mn-lt"/>
              </a:endParaRPr>
            </a:p>
            <a:p>
              <a:pPr marL="457200" indent="-457200" eaLnBrk="1" fontAlgn="auto" hangingPunct="1">
                <a:lnSpc>
                  <a:spcPct val="100000"/>
                </a:lnSpc>
                <a:spcBef>
                  <a:spcPct val="0"/>
                </a:spcBef>
                <a:spcAft>
                  <a:spcPts val="0"/>
                </a:spcAft>
                <a:buFont typeface="Wingdings" panose="05000000000000000000" pitchFamily="2" charset="2"/>
                <a:buChar char="n"/>
                <a:defRPr/>
              </a:pPr>
              <a:r>
                <a:rPr lang="zh-CN" altLang="en-US" sz="1600" kern="0">
                  <a:solidFill>
                    <a:srgbClr val="4F4F4F"/>
                  </a:solidFill>
                  <a:latin typeface="+mn-lt"/>
                  <a:ea typeface="+mn-ea"/>
                  <a:cs typeface="+mn-ea"/>
                  <a:sym typeface="+mn-lt"/>
                </a:rPr>
                <a:t>人用尿检试纸所能探查的尿比重上限过低，需要搭配比重仪。</a:t>
              </a:r>
              <a:endParaRPr lang="en-US" altLang="zh-CN" sz="1600" kern="0">
                <a:solidFill>
                  <a:srgbClr val="4F4F4F"/>
                </a:solidFill>
                <a:latin typeface="+mn-lt"/>
                <a:ea typeface="+mn-ea"/>
                <a:cs typeface="+mn-ea"/>
                <a:sym typeface="+mn-lt"/>
              </a:endParaRPr>
            </a:p>
            <a:p>
              <a:pPr marL="457200" indent="-457200" eaLnBrk="1" fontAlgn="auto" hangingPunct="1">
                <a:lnSpc>
                  <a:spcPct val="100000"/>
                </a:lnSpc>
                <a:spcBef>
                  <a:spcPct val="0"/>
                </a:spcBef>
                <a:spcAft>
                  <a:spcPts val="0"/>
                </a:spcAft>
                <a:buFont typeface="Wingdings" panose="05000000000000000000" pitchFamily="2" charset="2"/>
                <a:buChar char="n"/>
                <a:defRPr/>
              </a:pPr>
              <a:r>
                <a:rPr lang="zh-CN" altLang="en-US" sz="1600" kern="0">
                  <a:solidFill>
                    <a:srgbClr val="4F4F4F"/>
                  </a:solidFill>
                  <a:latin typeface="+mn-lt"/>
                  <a:ea typeface="+mn-ea"/>
                  <a:cs typeface="+mn-ea"/>
                  <a:sym typeface="+mn-lt"/>
                </a:rPr>
                <a:t>低尿比重（＜</a:t>
              </a:r>
              <a:r>
                <a:rPr lang="en-US" altLang="zh-CN" sz="1600" kern="0">
                  <a:solidFill>
                    <a:srgbClr val="4F4F4F"/>
                  </a:solidFill>
                  <a:latin typeface="+mn-lt"/>
                  <a:ea typeface="+mn-ea"/>
                  <a:cs typeface="+mn-ea"/>
                  <a:sym typeface="+mn-lt"/>
                </a:rPr>
                <a:t>1.035</a:t>
              </a:r>
              <a:r>
                <a:rPr lang="zh-CN" altLang="en-US" sz="1600" kern="0">
                  <a:solidFill>
                    <a:srgbClr val="4F4F4F"/>
                  </a:solidFill>
                  <a:latin typeface="+mn-lt"/>
                  <a:ea typeface="+mn-ea"/>
                  <a:cs typeface="+mn-ea"/>
                  <a:sym typeface="+mn-lt"/>
                </a:rPr>
                <a:t>）配合</a:t>
              </a:r>
              <a:r>
                <a:rPr lang="en-US" altLang="zh-CN" sz="1600" kern="0">
                  <a:solidFill>
                    <a:srgbClr val="4F4F4F"/>
                  </a:solidFill>
                  <a:latin typeface="+mn-lt"/>
                  <a:ea typeface="+mn-ea"/>
                  <a:cs typeface="+mn-ea"/>
                  <a:sym typeface="+mn-lt"/>
                </a:rPr>
                <a:t>PH</a:t>
              </a:r>
              <a:r>
                <a:rPr lang="zh-CN" altLang="en-US" sz="1600" kern="0">
                  <a:solidFill>
                    <a:srgbClr val="4F4F4F"/>
                  </a:solidFill>
                  <a:latin typeface="+mn-lt"/>
                  <a:ea typeface="+mn-ea"/>
                  <a:cs typeface="+mn-ea"/>
                  <a:sym typeface="+mn-lt"/>
                </a:rPr>
                <a:t>大于</a:t>
              </a:r>
              <a:r>
                <a:rPr lang="en-US" altLang="zh-CN" sz="1600" kern="0">
                  <a:solidFill>
                    <a:srgbClr val="4F4F4F"/>
                  </a:solidFill>
                  <a:latin typeface="+mn-lt"/>
                  <a:ea typeface="+mn-ea"/>
                  <a:cs typeface="+mn-ea"/>
                  <a:sym typeface="+mn-lt"/>
                </a:rPr>
                <a:t>6.5</a:t>
              </a:r>
              <a:r>
                <a:rPr lang="zh-CN" altLang="en-US" sz="1600" kern="0">
                  <a:solidFill>
                    <a:srgbClr val="4F4F4F"/>
                  </a:solidFill>
                  <a:latin typeface="+mn-lt"/>
                  <a:ea typeface="+mn-ea"/>
                  <a:cs typeface="+mn-ea"/>
                  <a:sym typeface="+mn-lt"/>
                </a:rPr>
                <a:t>的尿液，有可能是感染的表现，需要小心。</a:t>
              </a:r>
              <a:endParaRPr lang="en-US" altLang="zh-CN" sz="1600" kern="0">
                <a:solidFill>
                  <a:srgbClr val="4F4F4F"/>
                </a:solidFill>
                <a:latin typeface="+mn-lt"/>
                <a:ea typeface="+mn-ea"/>
                <a:cs typeface="+mn-ea"/>
                <a:sym typeface="+mn-lt"/>
              </a:endParaRPr>
            </a:p>
            <a:p>
              <a:pPr eaLnBrk="1" fontAlgn="auto" hangingPunct="1">
                <a:lnSpc>
                  <a:spcPct val="100000"/>
                </a:lnSpc>
                <a:spcBef>
                  <a:spcPct val="0"/>
                </a:spcBef>
                <a:spcAft>
                  <a:spcPts val="0"/>
                </a:spcAft>
                <a:buFont typeface="Arial" panose="020B0604020202020204" pitchFamily="34" charset="0"/>
                <a:buNone/>
                <a:defRPr/>
              </a:pPr>
              <a:endParaRPr lang="en-US" altLang="zh-CN" sz="1400" kern="0">
                <a:solidFill>
                  <a:srgbClr val="4F4F4F"/>
                </a:solidFill>
                <a:latin typeface="+mn-lt"/>
                <a:ea typeface="+mn-ea"/>
                <a:cs typeface="+mn-ea"/>
                <a:sym typeface="+mn-lt"/>
              </a:endParaRPr>
            </a:p>
            <a:p>
              <a:pPr eaLnBrk="1" fontAlgn="auto" hangingPunct="1">
                <a:lnSpc>
                  <a:spcPct val="100000"/>
                </a:lnSpc>
                <a:spcBef>
                  <a:spcPct val="0"/>
                </a:spcBef>
                <a:spcAft>
                  <a:spcPts val="0"/>
                </a:spcAft>
                <a:buNone/>
                <a:defRPr/>
              </a:pPr>
              <a:endParaRPr lang="en-US" altLang="zh-CN" sz="1400" kern="0">
                <a:solidFill>
                  <a:srgbClr val="4F4F4F"/>
                </a:solidFill>
                <a:cs typeface="+mn-ea"/>
                <a:sym typeface="+mn-lt"/>
              </a:endParaRPr>
            </a:p>
            <a:p>
              <a:pPr eaLnBrk="1" fontAlgn="auto" hangingPunct="1">
                <a:lnSpc>
                  <a:spcPct val="100000"/>
                </a:lnSpc>
                <a:spcBef>
                  <a:spcPct val="0"/>
                </a:spcBef>
                <a:spcAft>
                  <a:spcPts val="0"/>
                </a:spcAft>
                <a:buFont typeface="Arial" panose="020B0604020202020204" pitchFamily="34" charset="0"/>
                <a:buNone/>
                <a:defRPr/>
              </a:pPr>
              <a:endParaRPr lang="en-US" altLang="zh-CN" sz="1400" kern="0">
                <a:solidFill>
                  <a:srgbClr val="4F4F4F"/>
                </a:solidFill>
                <a:latin typeface="+mn-lt"/>
                <a:ea typeface="+mn-ea"/>
                <a:cs typeface="+mn-ea"/>
                <a:sym typeface="+mn-lt"/>
              </a:endParaRPr>
            </a:p>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sp>
          <p:nvSpPr>
            <p:cNvPr id="53" name="矩形 3">
              <a:extLst/>
            </p:cNvPr>
            <p:cNvSpPr>
              <a:spLocks noChangeArrowheads="1"/>
            </p:cNvSpPr>
            <p:nvPr/>
          </p:nvSpPr>
          <p:spPr bwMode="auto">
            <a:xfrm>
              <a:off x="6931323" y="4487442"/>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sp>
          <p:nvSpPr>
            <p:cNvPr id="54" name="矩形 3">
              <a:extLst/>
            </p:cNvPr>
            <p:cNvSpPr>
              <a:spLocks noChangeArrowheads="1"/>
            </p:cNvSpPr>
            <p:nvPr/>
          </p:nvSpPr>
          <p:spPr bwMode="auto">
            <a:xfrm>
              <a:off x="6931323" y="5273048"/>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grpSp>
      <p:pic>
        <p:nvPicPr>
          <p:cNvPr id="4" name="图片 3">
            <a:extLst>
              <a:ext uri="{FF2B5EF4-FFF2-40B4-BE49-F238E27FC236}">
                <a16:creationId xmlns:a16="http://schemas.microsoft.com/office/drawing/2014/main" id="{26DB649D-7ABA-4209-8285-F59FBA1630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6857" y="2447529"/>
            <a:ext cx="2533650" cy="1990725"/>
          </a:xfrm>
          <a:prstGeom prst="rect">
            <a:avLst/>
          </a:prstGeom>
        </p:spPr>
      </p:pic>
      <p:sp>
        <p:nvSpPr>
          <p:cNvPr id="5" name="文本框 4">
            <a:extLst>
              <a:ext uri="{FF2B5EF4-FFF2-40B4-BE49-F238E27FC236}">
                <a16:creationId xmlns:a16="http://schemas.microsoft.com/office/drawing/2014/main" id="{EB40B0AB-3E5F-4D68-8A6A-9FC20DC9689D}"/>
              </a:ext>
            </a:extLst>
          </p:cNvPr>
          <p:cNvSpPr txBox="1"/>
          <p:nvPr/>
        </p:nvSpPr>
        <p:spPr>
          <a:xfrm>
            <a:off x="1163685" y="4381416"/>
            <a:ext cx="1114028" cy="307777"/>
          </a:xfrm>
          <a:prstGeom prst="rect">
            <a:avLst/>
          </a:prstGeom>
          <a:noFill/>
        </p:spPr>
        <p:txBody>
          <a:bodyPr wrap="square" rtlCol="0">
            <a:spAutoFit/>
          </a:bodyPr>
          <a:lstStyle/>
          <a:p>
            <a:r>
              <a:rPr lang="zh-CN" altLang="en-US" sz="1400" b="1">
                <a:latin typeface="+mj-ea"/>
                <a:ea typeface="+mj-ea"/>
              </a:rPr>
              <a:t>尿比重仪</a:t>
            </a:r>
          </a:p>
        </p:txBody>
      </p:sp>
      <p:pic>
        <p:nvPicPr>
          <p:cNvPr id="8" name="图片 7">
            <a:extLst>
              <a:ext uri="{FF2B5EF4-FFF2-40B4-BE49-F238E27FC236}">
                <a16:creationId xmlns:a16="http://schemas.microsoft.com/office/drawing/2014/main" id="{B331CE15-F65A-4593-98E6-AC0D5803C7C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119704" y="2482011"/>
            <a:ext cx="2449117" cy="1836838"/>
          </a:xfrm>
          <a:prstGeom prst="rect">
            <a:avLst/>
          </a:prstGeom>
        </p:spPr>
      </p:pic>
      <p:sp>
        <p:nvSpPr>
          <p:cNvPr id="9" name="文本框 8">
            <a:extLst>
              <a:ext uri="{FF2B5EF4-FFF2-40B4-BE49-F238E27FC236}">
                <a16:creationId xmlns:a16="http://schemas.microsoft.com/office/drawing/2014/main" id="{A46EE811-6EBA-46C7-8980-5DFAF4DEBDF6}"/>
              </a:ext>
            </a:extLst>
          </p:cNvPr>
          <p:cNvSpPr txBox="1"/>
          <p:nvPr/>
        </p:nvSpPr>
        <p:spPr>
          <a:xfrm>
            <a:off x="3776016" y="4350639"/>
            <a:ext cx="1440160" cy="338554"/>
          </a:xfrm>
          <a:prstGeom prst="rect">
            <a:avLst/>
          </a:prstGeom>
          <a:noFill/>
        </p:spPr>
        <p:txBody>
          <a:bodyPr wrap="square" rtlCol="0">
            <a:spAutoFit/>
          </a:bodyPr>
          <a:lstStyle/>
          <a:p>
            <a:r>
              <a:rPr lang="zh-CN" altLang="en-US" sz="1600" b="1">
                <a:latin typeface="+mj-ea"/>
                <a:ea typeface="+mj-ea"/>
              </a:rPr>
              <a:t>尿检试纸</a:t>
            </a:r>
          </a:p>
        </p:txBody>
      </p:sp>
      <p:graphicFrame>
        <p:nvGraphicFramePr>
          <p:cNvPr id="25" name="表格 24">
            <a:extLst>
              <a:ext uri="{FF2B5EF4-FFF2-40B4-BE49-F238E27FC236}">
                <a16:creationId xmlns:a16="http://schemas.microsoft.com/office/drawing/2014/main" id="{9437B30A-BD55-475A-AD4C-863C76A1E74F}"/>
              </a:ext>
            </a:extLst>
          </p:cNvPr>
          <p:cNvGraphicFramePr>
            <a:graphicFrameLocks noGrp="1"/>
          </p:cNvGraphicFramePr>
          <p:nvPr>
            <p:extLst>
              <p:ext uri="{D42A27DB-BD31-4B8C-83A1-F6EECF244321}">
                <p14:modId xmlns:p14="http://schemas.microsoft.com/office/powerpoint/2010/main" val="1523013509"/>
              </p:ext>
            </p:extLst>
          </p:nvPr>
        </p:nvGraphicFramePr>
        <p:xfrm>
          <a:off x="767408" y="4948843"/>
          <a:ext cx="5114439" cy="1665597"/>
        </p:xfrm>
        <a:graphic>
          <a:graphicData uri="http://schemas.openxmlformats.org/drawingml/2006/table">
            <a:tbl>
              <a:tblPr firstRow="1" bandRow="1">
                <a:tableStyleId>{5C22544A-7EE6-4342-B048-85BDC9FD1C3A}</a:tableStyleId>
              </a:tblPr>
              <a:tblGrid>
                <a:gridCol w="1514039">
                  <a:extLst>
                    <a:ext uri="{9D8B030D-6E8A-4147-A177-3AD203B41FA5}">
                      <a16:colId xmlns:a16="http://schemas.microsoft.com/office/drawing/2014/main" val="709561913"/>
                    </a:ext>
                  </a:extLst>
                </a:gridCol>
                <a:gridCol w="1728192">
                  <a:extLst>
                    <a:ext uri="{9D8B030D-6E8A-4147-A177-3AD203B41FA5}">
                      <a16:colId xmlns:a16="http://schemas.microsoft.com/office/drawing/2014/main" val="3532349351"/>
                    </a:ext>
                  </a:extLst>
                </a:gridCol>
                <a:gridCol w="1872208">
                  <a:extLst>
                    <a:ext uri="{9D8B030D-6E8A-4147-A177-3AD203B41FA5}">
                      <a16:colId xmlns:a16="http://schemas.microsoft.com/office/drawing/2014/main" val="1624458649"/>
                    </a:ext>
                  </a:extLst>
                </a:gridCol>
              </a:tblGrid>
              <a:tr h="330705">
                <a:tc>
                  <a:txBody>
                    <a:bodyPr/>
                    <a:lstStyle/>
                    <a:p>
                      <a:r>
                        <a:rPr lang="zh-CN" altLang="en-US"/>
                        <a:t>尿检试纸</a:t>
                      </a:r>
                    </a:p>
                  </a:txBody>
                  <a:tcPr/>
                </a:tc>
                <a:tc>
                  <a:txBody>
                    <a:bodyPr/>
                    <a:lstStyle/>
                    <a:p>
                      <a:r>
                        <a:rPr lang="zh-CN" altLang="en-US"/>
                        <a:t>意味着</a:t>
                      </a:r>
                    </a:p>
                  </a:txBody>
                  <a:tcPr/>
                </a:tc>
                <a:tc>
                  <a:txBody>
                    <a:bodyPr/>
                    <a:lstStyle/>
                    <a:p>
                      <a:r>
                        <a:rPr lang="zh-CN" altLang="en-US"/>
                        <a:t>状况</a:t>
                      </a:r>
                    </a:p>
                  </a:txBody>
                  <a:tcPr/>
                </a:tc>
                <a:extLst>
                  <a:ext uri="{0D108BD9-81ED-4DB2-BD59-A6C34878D82A}">
                    <a16:rowId xmlns:a16="http://schemas.microsoft.com/office/drawing/2014/main" val="424678844"/>
                  </a:ext>
                </a:extLst>
              </a:tr>
              <a:tr h="303147">
                <a:tc>
                  <a:txBody>
                    <a:bodyPr/>
                    <a:lstStyle/>
                    <a:p>
                      <a:r>
                        <a:rPr lang="zh-CN" altLang="en-US" sz="1600"/>
                        <a:t>＞</a:t>
                      </a:r>
                      <a:r>
                        <a:rPr lang="en-US" altLang="zh-CN" sz="1600"/>
                        <a:t>2</a:t>
                      </a:r>
                      <a:r>
                        <a:rPr lang="zh-CN" altLang="en-US" sz="1600"/>
                        <a:t>个</a:t>
                      </a:r>
                      <a:r>
                        <a:rPr lang="en-US" altLang="zh-CN" sz="1600"/>
                        <a:t>+</a:t>
                      </a:r>
                      <a:endParaRPr lang="zh-CN" altLang="en-US" sz="1600"/>
                    </a:p>
                  </a:txBody>
                  <a:tcPr/>
                </a:tc>
                <a:tc>
                  <a:txBody>
                    <a:bodyPr/>
                    <a:lstStyle/>
                    <a:p>
                      <a:r>
                        <a:rPr lang="zh-CN" altLang="en-US" sz="1600"/>
                        <a:t>尿蛋白＞</a:t>
                      </a:r>
                      <a:r>
                        <a:rPr lang="en-US" altLang="zh-CN" sz="1600"/>
                        <a:t>1.0g/L</a:t>
                      </a:r>
                      <a:endParaRPr lang="zh-CN" altLang="en-US" sz="1600"/>
                    </a:p>
                  </a:txBody>
                  <a:tcPr/>
                </a:tc>
                <a:tc>
                  <a:txBody>
                    <a:bodyPr/>
                    <a:lstStyle/>
                    <a:p>
                      <a:r>
                        <a:rPr lang="zh-CN" altLang="en-US" sz="1600"/>
                        <a:t>蛋白尿</a:t>
                      </a:r>
                    </a:p>
                  </a:txBody>
                  <a:tcPr/>
                </a:tc>
                <a:extLst>
                  <a:ext uri="{0D108BD9-81ED-4DB2-BD59-A6C34878D82A}">
                    <a16:rowId xmlns:a16="http://schemas.microsoft.com/office/drawing/2014/main" val="1346037505"/>
                  </a:ext>
                </a:extLst>
              </a:tr>
              <a:tr h="964557">
                <a:tc>
                  <a:txBody>
                    <a:bodyPr/>
                    <a:lstStyle/>
                    <a:p>
                      <a:r>
                        <a:rPr lang="zh-CN" altLang="en-US" sz="1600"/>
                        <a:t>＞</a:t>
                      </a:r>
                      <a:r>
                        <a:rPr lang="en-US" altLang="zh-CN" sz="1600"/>
                        <a:t>1</a:t>
                      </a:r>
                      <a:r>
                        <a:rPr lang="zh-CN" altLang="en-US" sz="1600"/>
                        <a:t>个</a:t>
                      </a:r>
                      <a:r>
                        <a:rPr lang="en-US" altLang="zh-CN" sz="1600"/>
                        <a:t>+</a:t>
                      </a:r>
                      <a:endParaRPr lang="zh-CN" altLang="en-US" sz="16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a:t>尿蛋白＞</a:t>
                      </a:r>
                      <a:r>
                        <a:rPr lang="en-US" altLang="zh-CN" sz="1600"/>
                        <a:t>0.3g/L</a:t>
                      </a:r>
                      <a:endParaRPr lang="zh-CN" altLang="en-US" sz="1600"/>
                    </a:p>
                    <a:p>
                      <a:endParaRPr lang="zh-CN" altLang="en-US" sz="1600"/>
                    </a:p>
                  </a:txBody>
                  <a:tcPr/>
                </a:tc>
                <a:tc>
                  <a:txBody>
                    <a:bodyPr/>
                    <a:lstStyle/>
                    <a:p>
                      <a:r>
                        <a:rPr lang="zh-CN" altLang="en-US" sz="1600"/>
                        <a:t>尿比重低于</a:t>
                      </a:r>
                      <a:r>
                        <a:rPr lang="en-US" altLang="zh-CN" sz="1600"/>
                        <a:t>1.035</a:t>
                      </a:r>
                      <a:r>
                        <a:rPr lang="zh-CN" altLang="en-US" sz="1600"/>
                        <a:t>则疑似蛋白尿，需就医做</a:t>
                      </a:r>
                      <a:r>
                        <a:rPr lang="en-US" altLang="zh-CN" sz="1600"/>
                        <a:t>upc</a:t>
                      </a:r>
                      <a:endParaRPr lang="zh-CN" altLang="en-US" sz="1600"/>
                    </a:p>
                  </a:txBody>
                  <a:tcPr/>
                </a:tc>
                <a:extLst>
                  <a:ext uri="{0D108BD9-81ED-4DB2-BD59-A6C34878D82A}">
                    <a16:rowId xmlns:a16="http://schemas.microsoft.com/office/drawing/2014/main" val="545146203"/>
                  </a:ext>
                </a:extLst>
              </a:tr>
            </a:tbl>
          </a:graphicData>
        </a:graphic>
      </p:graphicFrame>
    </p:spTree>
    <p:extLst>
      <p:ext uri="{BB962C8B-B14F-4D97-AF65-F5344CB8AC3E}">
        <p14:creationId xmlns:p14="http://schemas.microsoft.com/office/powerpoint/2010/main" val="51159033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p:cNvPr>
          <p:cNvGrpSpPr/>
          <p:nvPr/>
        </p:nvGrpSpPr>
        <p:grpSpPr>
          <a:xfrm>
            <a:off x="4866703" y="690832"/>
            <a:ext cx="7320137" cy="1035882"/>
            <a:chOff x="8112223" y="330677"/>
            <a:chExt cx="4194115" cy="1035882"/>
          </a:xfrm>
          <a:effectLst>
            <a:outerShdw blurRad="50800" dist="38100" dir="5400000" algn="t" rotWithShape="0">
              <a:prstClr val="black">
                <a:alpha val="40000"/>
              </a:prstClr>
            </a:outerShdw>
          </a:effectLst>
        </p:grpSpPr>
        <p:sp>
          <p:nvSpPr>
            <p:cNvPr id="27"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8281096" y="330677"/>
              <a:ext cx="4013203" cy="985057"/>
              <a:chOff x="-461843" y="2729730"/>
              <a:chExt cx="4727020" cy="1377463"/>
            </a:xfrm>
          </p:grpSpPr>
          <p:sp>
            <p:nvSpPr>
              <p:cNvPr id="29"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1402351" y="2972777"/>
                <a:ext cx="2862826" cy="81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latin typeface="+mn-lt"/>
                    <a:ea typeface="+mn-ea"/>
                    <a:cs typeface="+mn-ea"/>
                    <a:sym typeface="+mn-lt"/>
                  </a:rPr>
                  <a:t>猫高血压啥表现？</a:t>
                </a:r>
                <a:endParaRPr lang="en-US" altLang="zh-CN" sz="2400" b="1">
                  <a:solidFill>
                    <a:srgbClr val="010101"/>
                  </a:solidFill>
                  <a:latin typeface="+mn-lt"/>
                  <a:ea typeface="+mn-ea"/>
                  <a:cs typeface="+mn-ea"/>
                  <a:sym typeface="+mn-lt"/>
                </a:endParaRPr>
              </a:p>
            </p:txBody>
          </p:sp>
          <p:cxnSp>
            <p:nvCxnSpPr>
              <p:cNvPr id="31" name="直接连接符 30">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506334" y="3461620"/>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cxnSp>
        <p:nvCxnSpPr>
          <p:cNvPr id="49" name="直接连接符 48">
            <a:extLst/>
          </p:cNvPr>
          <p:cNvCxnSpPr/>
          <p:nvPr/>
        </p:nvCxnSpPr>
        <p:spPr>
          <a:xfrm flipH="1">
            <a:off x="6107113" y="3668713"/>
            <a:ext cx="19050" cy="1079500"/>
          </a:xfrm>
          <a:prstGeom prst="line">
            <a:avLst/>
          </a:prstGeom>
          <a:ln w="50800">
            <a:solidFill>
              <a:srgbClr val="4F4F4F"/>
            </a:solidFill>
          </a:ln>
        </p:spPr>
        <p:style>
          <a:lnRef idx="1">
            <a:schemeClr val="accent1"/>
          </a:lnRef>
          <a:fillRef idx="0">
            <a:schemeClr val="accent1"/>
          </a:fillRef>
          <a:effectRef idx="0">
            <a:schemeClr val="accent1"/>
          </a:effectRef>
          <a:fontRef idx="minor">
            <a:schemeClr val="tx1"/>
          </a:fontRef>
        </p:style>
      </p:cxnSp>
      <p:grpSp>
        <p:nvGrpSpPr>
          <p:cNvPr id="37893" name="组合 1"/>
          <p:cNvGrpSpPr>
            <a:grpSpLocks/>
          </p:cNvGrpSpPr>
          <p:nvPr/>
        </p:nvGrpSpPr>
        <p:grpSpPr bwMode="auto">
          <a:xfrm>
            <a:off x="6616567" y="2401343"/>
            <a:ext cx="5061543" cy="4410770"/>
            <a:chOff x="6750361" y="2608336"/>
            <a:chExt cx="4681208" cy="4409610"/>
          </a:xfrm>
        </p:grpSpPr>
        <p:grpSp>
          <p:nvGrpSpPr>
            <p:cNvPr id="37894" name="组合 14"/>
            <p:cNvGrpSpPr>
              <a:grpSpLocks/>
            </p:cNvGrpSpPr>
            <p:nvPr/>
          </p:nvGrpSpPr>
          <p:grpSpPr bwMode="auto">
            <a:xfrm>
              <a:off x="6931323" y="2608336"/>
              <a:ext cx="4500246" cy="718135"/>
              <a:chOff x="3936148" y="1692543"/>
              <a:chExt cx="4500246" cy="718135"/>
            </a:xfrm>
          </p:grpSpPr>
          <p:sp>
            <p:nvSpPr>
              <p:cNvPr id="55" name="文本框 66">
                <a:extLst/>
              </p:cNvPr>
              <p:cNvSpPr txBox="1">
                <a:spLocks noChangeArrowheads="1"/>
              </p:cNvSpPr>
              <p:nvPr/>
            </p:nvSpPr>
            <p:spPr bwMode="auto">
              <a:xfrm>
                <a:off x="3966308" y="1692543"/>
                <a:ext cx="4258964" cy="461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spcBef>
                    <a:spcPts val="0"/>
                  </a:spcBef>
                  <a:spcAft>
                    <a:spcPts val="0"/>
                  </a:spcAft>
                  <a:defRPr/>
                </a:pPr>
                <a:endParaRPr lang="zh-CN" altLang="en-US" sz="2400" b="1" kern="0">
                  <a:solidFill>
                    <a:srgbClr val="4F4F4F"/>
                  </a:solidFill>
                  <a:latin typeface="+mn-lt"/>
                  <a:ea typeface="+mn-ea"/>
                  <a:cs typeface="+mn-ea"/>
                  <a:sym typeface="+mn-lt"/>
                </a:endParaRPr>
              </a:p>
            </p:txBody>
          </p:sp>
          <p:sp>
            <p:nvSpPr>
              <p:cNvPr id="56" name="矩形 55">
                <a:extLst/>
              </p:cNvPr>
              <p:cNvSpPr/>
              <p:nvPr/>
            </p:nvSpPr>
            <p:spPr>
              <a:xfrm>
                <a:off x="3936148" y="2133752"/>
                <a:ext cx="4500246" cy="276926"/>
              </a:xfrm>
              <a:prstGeom prst="rect">
                <a:avLst/>
              </a:prstGeom>
            </p:spPr>
            <p:txBody>
              <a:bodyPr>
                <a:spAutoFit/>
              </a:bodyPr>
              <a:lstStyle/>
              <a:p>
                <a:pPr eaLnBrk="1" fontAlgn="auto" hangingPunct="1">
                  <a:spcBef>
                    <a:spcPts val="0"/>
                  </a:spcBef>
                  <a:spcAft>
                    <a:spcPts val="0"/>
                  </a:spcAft>
                  <a:defRPr/>
                </a:pPr>
                <a:endParaRPr lang="zh-CN" altLang="en-US" sz="1200" kern="0">
                  <a:solidFill>
                    <a:srgbClr val="4F4F4F"/>
                  </a:solidFill>
                  <a:latin typeface="+mn-lt"/>
                  <a:ea typeface="+mn-ea"/>
                  <a:cs typeface="+mn-ea"/>
                  <a:sym typeface="+mn-lt"/>
                </a:endParaRPr>
              </a:p>
            </p:txBody>
          </p:sp>
        </p:grpSp>
        <p:sp>
          <p:nvSpPr>
            <p:cNvPr id="52" name="矩形 3">
              <a:extLst/>
            </p:cNvPr>
            <p:cNvSpPr>
              <a:spLocks noChangeArrowheads="1"/>
            </p:cNvSpPr>
            <p:nvPr/>
          </p:nvSpPr>
          <p:spPr bwMode="auto">
            <a:xfrm>
              <a:off x="6750361" y="3202521"/>
              <a:ext cx="4470086" cy="381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457200" indent="-457200" eaLnBrk="1" fontAlgn="auto" hangingPunct="1">
                <a:lnSpc>
                  <a:spcPct val="100000"/>
                </a:lnSpc>
                <a:spcBef>
                  <a:spcPct val="0"/>
                </a:spcBef>
                <a:spcAft>
                  <a:spcPts val="0"/>
                </a:spcAft>
                <a:buFont typeface="Wingdings" panose="05000000000000000000" pitchFamily="2" charset="2"/>
                <a:buChar char="ü"/>
                <a:defRPr/>
              </a:pPr>
              <a:r>
                <a:rPr lang="zh-CN" altLang="en-US" sz="2000" kern="0">
                  <a:solidFill>
                    <a:srgbClr val="4F4F4F"/>
                  </a:solidFill>
                  <a:latin typeface="+mj-ea"/>
                  <a:ea typeface="+mj-ea"/>
                  <a:cs typeface="+mn-ea"/>
                  <a:sym typeface="+mn-lt"/>
                </a:rPr>
                <a:t>夜间嚎叫</a:t>
              </a:r>
              <a:endParaRPr lang="en-US" altLang="zh-CN" sz="2000" kern="0">
                <a:solidFill>
                  <a:srgbClr val="4F4F4F"/>
                </a:solidFill>
                <a:latin typeface="+mj-ea"/>
                <a:ea typeface="+mj-ea"/>
                <a:cs typeface="+mn-ea"/>
                <a:sym typeface="+mn-lt"/>
              </a:endParaRPr>
            </a:p>
            <a:p>
              <a:pPr marL="457200" indent="-457200" eaLnBrk="1" fontAlgn="auto" hangingPunct="1">
                <a:lnSpc>
                  <a:spcPct val="100000"/>
                </a:lnSpc>
                <a:spcBef>
                  <a:spcPct val="0"/>
                </a:spcBef>
                <a:spcAft>
                  <a:spcPts val="0"/>
                </a:spcAft>
                <a:buFont typeface="Wingdings" panose="05000000000000000000" pitchFamily="2" charset="2"/>
                <a:buChar char="ü"/>
                <a:defRPr/>
              </a:pPr>
              <a:r>
                <a:rPr lang="zh-CN" altLang="en-US" sz="2000" kern="0">
                  <a:solidFill>
                    <a:srgbClr val="4F4F4F"/>
                  </a:solidFill>
                  <a:latin typeface="+mj-ea"/>
                  <a:ea typeface="+mj-ea"/>
                  <a:cs typeface="+mn-ea"/>
                  <a:sym typeface="+mn-lt"/>
                </a:rPr>
                <a:t>焦躁、来回踱步</a:t>
              </a:r>
              <a:endParaRPr lang="en-US" altLang="zh-CN" sz="2000" kern="0">
                <a:solidFill>
                  <a:srgbClr val="4F4F4F"/>
                </a:solidFill>
                <a:latin typeface="+mj-ea"/>
                <a:ea typeface="+mj-ea"/>
                <a:cs typeface="+mn-ea"/>
                <a:sym typeface="+mn-lt"/>
              </a:endParaRPr>
            </a:p>
            <a:p>
              <a:pPr marL="457200" indent="-457200" eaLnBrk="1" fontAlgn="auto" hangingPunct="1">
                <a:lnSpc>
                  <a:spcPct val="100000"/>
                </a:lnSpc>
                <a:spcBef>
                  <a:spcPct val="0"/>
                </a:spcBef>
                <a:spcAft>
                  <a:spcPts val="0"/>
                </a:spcAft>
                <a:buFont typeface="Wingdings" panose="05000000000000000000" pitchFamily="2" charset="2"/>
                <a:buChar char="ü"/>
                <a:defRPr/>
              </a:pPr>
              <a:r>
                <a:rPr lang="zh-CN" altLang="en-US" sz="2000" kern="0">
                  <a:solidFill>
                    <a:srgbClr val="4F4F4F"/>
                  </a:solidFill>
                  <a:latin typeface="+mj-ea"/>
                  <a:ea typeface="+mj-ea"/>
                  <a:cs typeface="+mn-ea"/>
                  <a:sym typeface="+mn-lt"/>
                </a:rPr>
                <a:t>眼部出血</a:t>
              </a:r>
              <a:endParaRPr lang="en-US" altLang="zh-CN" sz="2000" kern="0">
                <a:solidFill>
                  <a:srgbClr val="4F4F4F"/>
                </a:solidFill>
                <a:latin typeface="+mj-ea"/>
                <a:ea typeface="+mj-ea"/>
                <a:cs typeface="+mn-ea"/>
                <a:sym typeface="+mn-lt"/>
              </a:endParaRPr>
            </a:p>
            <a:p>
              <a:pPr marL="457200" indent="-457200" eaLnBrk="1" fontAlgn="auto" hangingPunct="1">
                <a:lnSpc>
                  <a:spcPct val="100000"/>
                </a:lnSpc>
                <a:spcBef>
                  <a:spcPct val="0"/>
                </a:spcBef>
                <a:spcAft>
                  <a:spcPts val="0"/>
                </a:spcAft>
                <a:buFont typeface="Wingdings" panose="05000000000000000000" pitchFamily="2" charset="2"/>
                <a:buChar char="ü"/>
                <a:defRPr/>
              </a:pPr>
              <a:r>
                <a:rPr lang="zh-CN" altLang="en-US" sz="2000" kern="0">
                  <a:solidFill>
                    <a:srgbClr val="4F4F4F"/>
                  </a:solidFill>
                  <a:latin typeface="+mj-ea"/>
                  <a:ea typeface="+mj-ea"/>
                  <a:cs typeface="+mn-ea"/>
                  <a:sym typeface="+mn-lt"/>
                </a:rPr>
                <a:t>鼻血</a:t>
              </a:r>
              <a:endParaRPr lang="en-US" altLang="zh-CN" sz="2000" kern="0">
                <a:solidFill>
                  <a:srgbClr val="4F4F4F"/>
                </a:solidFill>
                <a:latin typeface="+mj-ea"/>
                <a:ea typeface="+mj-ea"/>
                <a:cs typeface="+mn-ea"/>
                <a:sym typeface="+mn-lt"/>
              </a:endParaRPr>
            </a:p>
            <a:p>
              <a:pPr marL="457200" indent="-457200" eaLnBrk="1" fontAlgn="auto" hangingPunct="1">
                <a:lnSpc>
                  <a:spcPct val="100000"/>
                </a:lnSpc>
                <a:spcBef>
                  <a:spcPct val="0"/>
                </a:spcBef>
                <a:spcAft>
                  <a:spcPts val="0"/>
                </a:spcAft>
                <a:buFont typeface="Wingdings" panose="05000000000000000000" pitchFamily="2" charset="2"/>
                <a:buChar char="ü"/>
                <a:defRPr/>
              </a:pPr>
              <a:r>
                <a:rPr lang="zh-CN" altLang="en-US" sz="2000" kern="0">
                  <a:solidFill>
                    <a:srgbClr val="4F4F4F"/>
                  </a:solidFill>
                  <a:latin typeface="+mj-ea"/>
                  <a:ea typeface="+mj-ea"/>
                  <a:cs typeface="+mn-ea"/>
                  <a:sym typeface="+mn-lt"/>
                </a:rPr>
                <a:t>耳朵突然高热、发红</a:t>
              </a:r>
              <a:endParaRPr lang="en-US" altLang="zh-CN" sz="2000" kern="0">
                <a:solidFill>
                  <a:srgbClr val="4F4F4F"/>
                </a:solidFill>
                <a:latin typeface="+mj-ea"/>
                <a:ea typeface="+mj-ea"/>
                <a:cs typeface="+mn-ea"/>
                <a:sym typeface="+mn-lt"/>
              </a:endParaRPr>
            </a:p>
            <a:p>
              <a:pPr marL="457200" indent="-457200" eaLnBrk="1" fontAlgn="auto" hangingPunct="1">
                <a:lnSpc>
                  <a:spcPct val="100000"/>
                </a:lnSpc>
                <a:spcBef>
                  <a:spcPct val="0"/>
                </a:spcBef>
                <a:spcAft>
                  <a:spcPts val="0"/>
                </a:spcAft>
                <a:buFont typeface="Wingdings" panose="05000000000000000000" pitchFamily="2" charset="2"/>
                <a:buChar char="ü"/>
                <a:defRPr/>
              </a:pPr>
              <a:r>
                <a:rPr lang="zh-CN" altLang="en-US" sz="2000" kern="0">
                  <a:solidFill>
                    <a:srgbClr val="4F4F4F"/>
                  </a:solidFill>
                  <a:latin typeface="+mj-ea"/>
                  <a:ea typeface="+mj-ea"/>
                  <a:cs typeface="+mn-ea"/>
                  <a:sym typeface="+mn-lt"/>
                </a:rPr>
                <a:t>突然萎靡、丧失食欲</a:t>
              </a:r>
              <a:endParaRPr lang="en-US" altLang="zh-CN" sz="2000" kern="0">
                <a:solidFill>
                  <a:srgbClr val="4F4F4F"/>
                </a:solidFill>
                <a:latin typeface="+mj-ea"/>
                <a:ea typeface="+mj-ea"/>
                <a:cs typeface="+mn-ea"/>
                <a:sym typeface="+mn-lt"/>
              </a:endParaRPr>
            </a:p>
            <a:p>
              <a:pPr marL="457200" indent="-457200" eaLnBrk="1" fontAlgn="auto" hangingPunct="1">
                <a:lnSpc>
                  <a:spcPct val="100000"/>
                </a:lnSpc>
                <a:spcBef>
                  <a:spcPct val="0"/>
                </a:spcBef>
                <a:spcAft>
                  <a:spcPts val="0"/>
                </a:spcAft>
                <a:buFont typeface="Wingdings" panose="05000000000000000000" pitchFamily="2" charset="2"/>
                <a:buChar char="ü"/>
                <a:defRPr/>
              </a:pPr>
              <a:r>
                <a:rPr lang="zh-CN" altLang="en-US" sz="2000" kern="0">
                  <a:solidFill>
                    <a:srgbClr val="4F4F4F"/>
                  </a:solidFill>
                  <a:latin typeface="+mj-ea"/>
                  <a:ea typeface="+mj-ea"/>
                  <a:cs typeface="+mn-ea"/>
                  <a:sym typeface="+mn-lt"/>
                </a:rPr>
                <a:t>癫痫、颤抖</a:t>
              </a:r>
              <a:endParaRPr lang="en-US" altLang="zh-CN" sz="2000" kern="0">
                <a:solidFill>
                  <a:srgbClr val="4F4F4F"/>
                </a:solidFill>
                <a:latin typeface="+mj-ea"/>
                <a:ea typeface="+mj-ea"/>
                <a:cs typeface="+mn-ea"/>
                <a:sym typeface="+mn-lt"/>
              </a:endParaRPr>
            </a:p>
            <a:p>
              <a:pPr marL="457200" indent="-457200" eaLnBrk="1" fontAlgn="auto" hangingPunct="1">
                <a:lnSpc>
                  <a:spcPct val="100000"/>
                </a:lnSpc>
                <a:spcBef>
                  <a:spcPct val="0"/>
                </a:spcBef>
                <a:spcAft>
                  <a:spcPts val="0"/>
                </a:spcAft>
                <a:buFont typeface="Wingdings" panose="05000000000000000000" pitchFamily="2" charset="2"/>
                <a:buChar char="ü"/>
                <a:defRPr/>
              </a:pPr>
              <a:r>
                <a:rPr lang="zh-CN" altLang="en-US" sz="2000" kern="0">
                  <a:solidFill>
                    <a:srgbClr val="4F4F4F"/>
                  </a:solidFill>
                  <a:latin typeface="+mj-ea"/>
                  <a:ea typeface="+mj-ea"/>
                  <a:cs typeface="+mn-ea"/>
                  <a:sym typeface="+mn-lt"/>
                </a:rPr>
                <a:t>不乐意活动</a:t>
              </a:r>
              <a:endParaRPr lang="en-US" altLang="zh-CN" sz="2000" kern="0">
                <a:solidFill>
                  <a:srgbClr val="4F4F4F"/>
                </a:solidFill>
                <a:latin typeface="+mj-ea"/>
                <a:ea typeface="+mj-ea"/>
                <a:cs typeface="+mn-ea"/>
                <a:sym typeface="+mn-lt"/>
              </a:endParaRPr>
            </a:p>
            <a:p>
              <a:pPr marL="457200" indent="-457200" eaLnBrk="1" fontAlgn="auto" hangingPunct="1">
                <a:lnSpc>
                  <a:spcPct val="100000"/>
                </a:lnSpc>
                <a:spcBef>
                  <a:spcPct val="0"/>
                </a:spcBef>
                <a:spcAft>
                  <a:spcPts val="0"/>
                </a:spcAft>
                <a:buFont typeface="Wingdings" panose="05000000000000000000" pitchFamily="2" charset="2"/>
                <a:buChar char="n"/>
                <a:defRPr/>
              </a:pPr>
              <a:endParaRPr lang="en-US" altLang="zh-CN" sz="2000" kern="0">
                <a:solidFill>
                  <a:srgbClr val="4F4F4F"/>
                </a:solidFill>
                <a:latin typeface="+mj-ea"/>
                <a:ea typeface="+mj-ea"/>
                <a:cs typeface="+mn-ea"/>
                <a:sym typeface="+mn-lt"/>
              </a:endParaRPr>
            </a:p>
            <a:p>
              <a:pPr marL="457200" indent="-457200" eaLnBrk="1" fontAlgn="auto" hangingPunct="1">
                <a:lnSpc>
                  <a:spcPct val="100000"/>
                </a:lnSpc>
                <a:spcBef>
                  <a:spcPct val="0"/>
                </a:spcBef>
                <a:spcAft>
                  <a:spcPts val="0"/>
                </a:spcAft>
                <a:buFont typeface="Wingdings" panose="05000000000000000000" pitchFamily="2" charset="2"/>
                <a:buChar char="n"/>
                <a:defRPr/>
              </a:pPr>
              <a:endParaRPr lang="en-US" altLang="zh-CN" sz="2000" kern="0">
                <a:solidFill>
                  <a:srgbClr val="4F4F4F"/>
                </a:solidFill>
                <a:latin typeface="+mj-ea"/>
                <a:ea typeface="+mj-ea"/>
                <a:cs typeface="+mn-ea"/>
                <a:sym typeface="+mn-lt"/>
              </a:endParaRPr>
            </a:p>
            <a:p>
              <a:pPr eaLnBrk="1" fontAlgn="auto" hangingPunct="1">
                <a:lnSpc>
                  <a:spcPct val="100000"/>
                </a:lnSpc>
                <a:spcBef>
                  <a:spcPct val="0"/>
                </a:spcBef>
                <a:spcAft>
                  <a:spcPts val="0"/>
                </a:spcAft>
                <a:buNone/>
                <a:defRPr/>
              </a:pPr>
              <a:endParaRPr lang="en-US" altLang="zh-CN" sz="1400" kern="0">
                <a:solidFill>
                  <a:srgbClr val="4F4F4F"/>
                </a:solidFill>
                <a:cs typeface="+mn-ea"/>
                <a:sym typeface="+mn-lt"/>
              </a:endParaRPr>
            </a:p>
            <a:p>
              <a:pPr eaLnBrk="1" fontAlgn="auto" hangingPunct="1">
                <a:lnSpc>
                  <a:spcPct val="100000"/>
                </a:lnSpc>
                <a:spcBef>
                  <a:spcPct val="0"/>
                </a:spcBef>
                <a:spcAft>
                  <a:spcPts val="0"/>
                </a:spcAft>
                <a:buFont typeface="Arial" panose="020B0604020202020204" pitchFamily="34" charset="0"/>
                <a:buNone/>
                <a:defRPr/>
              </a:pPr>
              <a:endParaRPr lang="en-US" altLang="zh-CN" sz="1400" kern="0">
                <a:solidFill>
                  <a:srgbClr val="4F4F4F"/>
                </a:solidFill>
                <a:latin typeface="+mn-lt"/>
                <a:ea typeface="+mn-ea"/>
                <a:cs typeface="+mn-ea"/>
                <a:sym typeface="+mn-lt"/>
              </a:endParaRPr>
            </a:p>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sp>
          <p:nvSpPr>
            <p:cNvPr id="53" name="矩形 3">
              <a:extLst/>
            </p:cNvPr>
            <p:cNvSpPr>
              <a:spLocks noChangeArrowheads="1"/>
            </p:cNvSpPr>
            <p:nvPr/>
          </p:nvSpPr>
          <p:spPr bwMode="auto">
            <a:xfrm>
              <a:off x="6931323" y="4487442"/>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sp>
          <p:nvSpPr>
            <p:cNvPr id="54" name="矩形 3">
              <a:extLst/>
            </p:cNvPr>
            <p:cNvSpPr>
              <a:spLocks noChangeArrowheads="1"/>
            </p:cNvSpPr>
            <p:nvPr/>
          </p:nvSpPr>
          <p:spPr bwMode="auto">
            <a:xfrm>
              <a:off x="6931323" y="5273048"/>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grpSp>
      <p:sp>
        <p:nvSpPr>
          <p:cNvPr id="6" name="文本框 5">
            <a:extLst>
              <a:ext uri="{FF2B5EF4-FFF2-40B4-BE49-F238E27FC236}">
                <a16:creationId xmlns:a16="http://schemas.microsoft.com/office/drawing/2014/main" id="{7AF0A42C-355B-4056-95A2-1E4221AF1B02}"/>
              </a:ext>
            </a:extLst>
          </p:cNvPr>
          <p:cNvSpPr txBox="1"/>
          <p:nvPr/>
        </p:nvSpPr>
        <p:spPr>
          <a:xfrm>
            <a:off x="1526118" y="5358161"/>
            <a:ext cx="3387608" cy="738664"/>
          </a:xfrm>
          <a:prstGeom prst="rect">
            <a:avLst/>
          </a:prstGeom>
          <a:noFill/>
        </p:spPr>
        <p:txBody>
          <a:bodyPr wrap="square" rtlCol="0">
            <a:spAutoFit/>
          </a:bodyPr>
          <a:lstStyle/>
          <a:p>
            <a:r>
              <a:rPr lang="zh-CN" altLang="en-US" sz="1400" b="1">
                <a:latin typeface="+mj-ea"/>
                <a:ea typeface="+mj-ea"/>
              </a:rPr>
              <a:t>瞳孔无法正常收缩，全部扩大或一大一小是最明显的症状之一。图中猫因高血压而视力丧失</a:t>
            </a:r>
          </a:p>
        </p:txBody>
      </p:sp>
      <p:pic>
        <p:nvPicPr>
          <p:cNvPr id="12" name="图片 11">
            <a:extLst>
              <a:ext uri="{FF2B5EF4-FFF2-40B4-BE49-F238E27FC236}">
                <a16:creationId xmlns:a16="http://schemas.microsoft.com/office/drawing/2014/main" id="{1DAAA8B1-88C4-43F4-B636-A74E0673EC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4970" y="2632324"/>
            <a:ext cx="3251733" cy="2635025"/>
          </a:xfrm>
          <a:prstGeom prst="rect">
            <a:avLst/>
          </a:prstGeom>
        </p:spPr>
      </p:pic>
    </p:spTree>
    <p:extLst>
      <p:ext uri="{BB962C8B-B14F-4D97-AF65-F5344CB8AC3E}">
        <p14:creationId xmlns:p14="http://schemas.microsoft.com/office/powerpoint/2010/main" val="38723756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0" name="箭头: 五边形 6">
            <a:extLst/>
          </p:cNvPr>
          <p:cNvSpPr/>
          <p:nvPr/>
        </p:nvSpPr>
        <p:spPr>
          <a:xfrm rot="10800000" flipH="1">
            <a:off x="0" y="404813"/>
            <a:ext cx="7392144" cy="1344612"/>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grpSp>
        <p:nvGrpSpPr>
          <p:cNvPr id="30724" name="组合 22"/>
          <p:cNvGrpSpPr>
            <a:grpSpLocks/>
          </p:cNvGrpSpPr>
          <p:nvPr/>
        </p:nvGrpSpPr>
        <p:grpSpPr bwMode="auto">
          <a:xfrm>
            <a:off x="196850" y="404813"/>
            <a:ext cx="5779784" cy="1134998"/>
            <a:chOff x="-101400" y="2876417"/>
            <a:chExt cx="5114992" cy="1134983"/>
          </a:xfrm>
        </p:grpSpPr>
        <p:sp>
          <p:nvSpPr>
            <p:cNvPr id="20494" name="文本框 13">
              <a:extLst/>
            </p:cNvPr>
            <p:cNvSpPr txBox="1">
              <a:spLocks noChangeArrowheads="1"/>
            </p:cNvSpPr>
            <p:nvPr/>
          </p:nvSpPr>
          <p:spPr bwMode="auto">
            <a:xfrm>
              <a:off x="-101400" y="2876417"/>
              <a:ext cx="1343136" cy="825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600" b="1">
                  <a:solidFill>
                    <a:srgbClr val="010101"/>
                  </a:solidFill>
                  <a:latin typeface="+mn-lt"/>
                  <a:ea typeface="+mn-ea"/>
                  <a:cs typeface="+mn-ea"/>
                  <a:sym typeface="+mn-lt"/>
                </a:rPr>
                <a:t>PART</a:t>
              </a:r>
            </a:p>
          </p:txBody>
        </p:sp>
        <p:sp>
          <p:nvSpPr>
            <p:cNvPr id="20495" name="文本框 14">
              <a:extLst/>
            </p:cNvPr>
            <p:cNvSpPr txBox="1">
              <a:spLocks noChangeArrowheads="1"/>
            </p:cNvSpPr>
            <p:nvPr/>
          </p:nvSpPr>
          <p:spPr bwMode="auto">
            <a:xfrm>
              <a:off x="2150733" y="3430993"/>
              <a:ext cx="2862859" cy="580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endParaRPr lang="en-US" altLang="zh-CN" sz="2400">
                <a:solidFill>
                  <a:srgbClr val="010101"/>
                </a:solidFill>
                <a:latin typeface="+mn-lt"/>
                <a:ea typeface="+mn-ea"/>
                <a:cs typeface="+mn-ea"/>
                <a:sym typeface="+mn-lt"/>
              </a:endParaRPr>
            </a:p>
          </p:txBody>
        </p:sp>
        <p:cxnSp>
          <p:nvCxnSpPr>
            <p:cNvPr id="24" name="直接连接符 23">
              <a:extLst/>
            </p:cNvPr>
            <p:cNvCxnSpPr>
              <a:cxnSpLocks/>
            </p:cNvCxnSpPr>
            <p:nvPr/>
          </p:nvCxnSpPr>
          <p:spPr>
            <a:xfrm flipH="1">
              <a:off x="489901" y="3171688"/>
              <a:ext cx="1074241" cy="722302"/>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0497" name="矩形 20">
              <a:extLst/>
            </p:cNvPr>
            <p:cNvSpPr>
              <a:spLocks noChangeArrowheads="1"/>
            </p:cNvSpPr>
            <p:nvPr/>
          </p:nvSpPr>
          <p:spPr bwMode="auto">
            <a:xfrm>
              <a:off x="618328" y="3473309"/>
              <a:ext cx="1824424" cy="52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lvl="1">
                <a:lnSpc>
                  <a:spcPct val="100000"/>
                </a:lnSpc>
                <a:spcBef>
                  <a:spcPct val="0"/>
                </a:spcBef>
                <a:buFontTx/>
                <a:buNone/>
                <a:defRPr/>
              </a:pPr>
              <a:r>
                <a:rPr lang="en-US" altLang="zh-CN" sz="2800" b="1">
                  <a:solidFill>
                    <a:srgbClr val="010101"/>
                  </a:solidFill>
                  <a:latin typeface="+mn-lt"/>
                  <a:ea typeface="+mn-ea"/>
                  <a:cs typeface="+mn-ea"/>
                  <a:sym typeface="+mn-lt"/>
                </a:rPr>
                <a:t>THREE</a:t>
              </a:r>
              <a:endParaRPr lang="zh-CN" altLang="en-US" sz="1400">
                <a:latin typeface="+mn-lt"/>
                <a:ea typeface="+mn-ea"/>
                <a:cs typeface="+mn-ea"/>
                <a:sym typeface="+mn-lt"/>
              </a:endParaRPr>
            </a:p>
          </p:txBody>
        </p:sp>
      </p:grpSp>
      <p:sp>
        <p:nvSpPr>
          <p:cNvPr id="8" name="文本框 7"/>
          <p:cNvSpPr txBox="1"/>
          <p:nvPr/>
        </p:nvSpPr>
        <p:spPr>
          <a:xfrm>
            <a:off x="254618" y="2470092"/>
            <a:ext cx="5683126" cy="615553"/>
          </a:xfrm>
          <a:prstGeom prst="rect">
            <a:avLst/>
          </a:prstGeom>
          <a:noFill/>
        </p:spPr>
        <p:txBody>
          <a:bodyPr wrap="square" numCol="2" rtlCol="0">
            <a:spAutoFit/>
          </a:bodyPr>
          <a:lstStyle/>
          <a:p>
            <a:pPr lvl="1"/>
            <a:endParaRPr lang="en-US" altLang="zh-CN" sz="1600" b="1">
              <a:solidFill>
                <a:schemeClr val="tx1">
                  <a:lumMod val="75000"/>
                  <a:lumOff val="25000"/>
                </a:schemeClr>
              </a:solidFill>
              <a:effectLst>
                <a:outerShdw blurRad="38100" dist="38100" dir="2700000" algn="tl">
                  <a:srgbClr val="000000">
                    <a:alpha val="43137"/>
                  </a:srgbClr>
                </a:outerShdw>
              </a:effectLst>
              <a:latin typeface="+mj-ea"/>
            </a:endParaRPr>
          </a:p>
          <a:p>
            <a:endParaRPr lang="zh-CN" altLang="en-US"/>
          </a:p>
        </p:txBody>
      </p:sp>
      <p:sp>
        <p:nvSpPr>
          <p:cNvPr id="2" name="文本框 1"/>
          <p:cNvSpPr txBox="1"/>
          <p:nvPr/>
        </p:nvSpPr>
        <p:spPr>
          <a:xfrm>
            <a:off x="2926404" y="1145317"/>
            <a:ext cx="4721408" cy="461665"/>
          </a:xfrm>
          <a:prstGeom prst="rect">
            <a:avLst/>
          </a:prstGeom>
          <a:noFill/>
        </p:spPr>
        <p:txBody>
          <a:bodyPr wrap="square" rtlCol="0">
            <a:spAutoFit/>
          </a:bodyPr>
          <a:lstStyle/>
          <a:p>
            <a:r>
              <a:rPr lang="zh-CN" altLang="en-US" sz="2400" b="1">
                <a:solidFill>
                  <a:schemeClr val="tx2">
                    <a:lumMod val="75000"/>
                  </a:schemeClr>
                </a:solidFill>
                <a:latin typeface="+mj-ea"/>
                <a:ea typeface="+mj-ea"/>
              </a:rPr>
              <a:t>治疗高血压 </a:t>
            </a:r>
            <a:r>
              <a:rPr lang="en-US" altLang="zh-CN" sz="2400" b="1">
                <a:solidFill>
                  <a:schemeClr val="tx2">
                    <a:lumMod val="75000"/>
                  </a:schemeClr>
                </a:solidFill>
                <a:latin typeface="+mj-ea"/>
                <a:ea typeface="+mj-ea"/>
              </a:rPr>
              <a:t>Hypertension</a:t>
            </a:r>
            <a:endParaRPr lang="zh-CN" altLang="en-US" sz="2400" b="1">
              <a:solidFill>
                <a:schemeClr val="tx2">
                  <a:lumMod val="75000"/>
                </a:schemeClr>
              </a:solidFill>
              <a:latin typeface="+mj-ea"/>
              <a:ea typeface="+mj-ea"/>
            </a:endParaRPr>
          </a:p>
        </p:txBody>
      </p:sp>
      <p:sp>
        <p:nvSpPr>
          <p:cNvPr id="4" name="文本框 3"/>
          <p:cNvSpPr txBox="1"/>
          <p:nvPr/>
        </p:nvSpPr>
        <p:spPr>
          <a:xfrm>
            <a:off x="2897878" y="620688"/>
            <a:ext cx="3078756" cy="461665"/>
          </a:xfrm>
          <a:prstGeom prst="rect">
            <a:avLst/>
          </a:prstGeom>
          <a:noFill/>
        </p:spPr>
        <p:txBody>
          <a:bodyPr wrap="square" rtlCol="0">
            <a:spAutoFit/>
          </a:bodyPr>
          <a:lstStyle/>
          <a:p>
            <a:r>
              <a:rPr lang="zh-CN" altLang="en-US" sz="2400" b="1">
                <a:solidFill>
                  <a:schemeClr val="bg1"/>
                </a:solidFill>
                <a:effectLst>
                  <a:outerShdw blurRad="38100" dist="38100" dir="2700000" algn="tl">
                    <a:srgbClr val="000000">
                      <a:alpha val="43137"/>
                    </a:srgbClr>
                  </a:outerShdw>
                </a:effectLst>
                <a:latin typeface="+mj-ea"/>
                <a:ea typeface="+mj-ea"/>
              </a:rPr>
              <a:t>猫慢性肾病治疗</a:t>
            </a:r>
          </a:p>
        </p:txBody>
      </p:sp>
      <p:sp>
        <p:nvSpPr>
          <p:cNvPr id="6" name="文本框 5">
            <a:extLst>
              <a:ext uri="{FF2B5EF4-FFF2-40B4-BE49-F238E27FC236}">
                <a16:creationId xmlns:a16="http://schemas.microsoft.com/office/drawing/2014/main" id="{AC01123D-EE5D-4ABB-97B0-3D991176699C}"/>
              </a:ext>
            </a:extLst>
          </p:cNvPr>
          <p:cNvSpPr txBox="1"/>
          <p:nvPr/>
        </p:nvSpPr>
        <p:spPr>
          <a:xfrm>
            <a:off x="3881453" y="2088134"/>
            <a:ext cx="7903179" cy="4616648"/>
          </a:xfrm>
          <a:prstGeom prst="rect">
            <a:avLst/>
          </a:prstGeom>
          <a:noFill/>
        </p:spPr>
        <p:txBody>
          <a:bodyPr wrap="square" rtlCol="0">
            <a:spAutoFit/>
          </a:bodyPr>
          <a:lstStyle/>
          <a:p>
            <a:pPr lvl="1"/>
            <a:r>
              <a:rPr lang="zh-CN" altLang="en-US" sz="2800" b="1">
                <a:solidFill>
                  <a:schemeClr val="bg1">
                    <a:lumMod val="95000"/>
                  </a:schemeClr>
                </a:solidFill>
                <a:effectLst>
                  <a:outerShdw blurRad="38100" dist="38100" dir="2700000" algn="tl">
                    <a:srgbClr val="000000">
                      <a:alpha val="43137"/>
                    </a:srgbClr>
                  </a:outerShdw>
                </a:effectLst>
                <a:latin typeface="+mj-ea"/>
                <a:ea typeface="+mj-ea"/>
              </a:rPr>
              <a:t>   主力药物包括：</a:t>
            </a:r>
            <a:endParaRPr lang="en-US" altLang="zh-CN" sz="2800" b="1">
              <a:solidFill>
                <a:schemeClr val="bg1">
                  <a:lumMod val="95000"/>
                </a:schemeClr>
              </a:solidFill>
              <a:effectLst>
                <a:outerShdw blurRad="38100" dist="38100" dir="2700000" algn="tl">
                  <a:srgbClr val="000000">
                    <a:alpha val="43137"/>
                  </a:srgbClr>
                </a:outerShdw>
              </a:effectLst>
              <a:latin typeface="+mj-ea"/>
              <a:ea typeface="+mj-ea"/>
            </a:endParaRPr>
          </a:p>
          <a:p>
            <a:pPr lvl="1"/>
            <a:endParaRPr lang="en-US" altLang="zh-CN" sz="2000" b="1">
              <a:solidFill>
                <a:schemeClr val="bg1">
                  <a:lumMod val="9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sz="2400" b="1">
                <a:solidFill>
                  <a:srgbClr val="FFFF00"/>
                </a:solidFill>
                <a:effectLst>
                  <a:outerShdw blurRad="38100" dist="38100" dir="2700000" algn="tl">
                    <a:srgbClr val="000000">
                      <a:alpha val="43137"/>
                    </a:srgbClr>
                  </a:outerShdw>
                </a:effectLst>
                <a:latin typeface="+mj-ea"/>
                <a:ea typeface="+mj-ea"/>
              </a:rPr>
              <a:t>首选：氨氯地平</a:t>
            </a:r>
            <a:r>
              <a:rPr lang="zh-CN" altLang="en-US" sz="1600" b="1">
                <a:solidFill>
                  <a:srgbClr val="FFFF00"/>
                </a:solidFill>
                <a:effectLst>
                  <a:outerShdw blurRad="38100" dist="38100" dir="2700000" algn="tl">
                    <a:srgbClr val="000000">
                      <a:alpha val="43137"/>
                    </a:srgbClr>
                  </a:outerShdw>
                </a:effectLst>
                <a:latin typeface="+mj-ea"/>
                <a:ea typeface="+mj-ea"/>
              </a:rPr>
              <a:t>（</a:t>
            </a:r>
            <a:r>
              <a:rPr lang="en-US" altLang="zh-CN" sz="1600" b="1">
                <a:solidFill>
                  <a:srgbClr val="FFFF00"/>
                </a:solidFill>
                <a:effectLst>
                  <a:outerShdw blurRad="38100" dist="38100" dir="2700000" algn="tl">
                    <a:srgbClr val="000000">
                      <a:alpha val="43137"/>
                    </a:srgbClr>
                  </a:outerShdw>
                </a:effectLst>
                <a:latin typeface="+mj-ea"/>
                <a:ea typeface="+mj-ea"/>
              </a:rPr>
              <a:t>Amlodipine</a:t>
            </a:r>
            <a:r>
              <a:rPr lang="zh-CN" altLang="en-US" sz="1600" b="1">
                <a:solidFill>
                  <a:srgbClr val="FFFF00"/>
                </a:solidFill>
                <a:effectLst>
                  <a:outerShdw blurRad="38100" dist="38100" dir="2700000" algn="tl">
                    <a:srgbClr val="000000">
                      <a:alpha val="43137"/>
                    </a:srgbClr>
                  </a:outerShdw>
                </a:effectLst>
                <a:latin typeface="+mj-ea"/>
                <a:ea typeface="+mj-ea"/>
              </a:rPr>
              <a:t>） </a:t>
            </a:r>
            <a:endParaRPr lang="en-US" altLang="zh-CN" sz="1600" b="1">
              <a:solidFill>
                <a:srgbClr val="FFFF00"/>
              </a:solidFill>
              <a:effectLst>
                <a:outerShdw blurRad="38100" dist="38100" dir="2700000" algn="tl">
                  <a:srgbClr val="000000">
                    <a:alpha val="43137"/>
                  </a:srgbClr>
                </a:outerShdw>
              </a:effectLst>
              <a:latin typeface="+mj-ea"/>
              <a:ea typeface="+mj-ea"/>
            </a:endParaRPr>
          </a:p>
          <a:p>
            <a:pPr lvl="1"/>
            <a:r>
              <a:rPr lang="en-US" altLang="zh-CN" sz="1600" b="1">
                <a:solidFill>
                  <a:schemeClr val="bg1">
                    <a:lumMod val="95000"/>
                  </a:schemeClr>
                </a:solidFill>
                <a:effectLst>
                  <a:outerShdw blurRad="38100" dist="38100" dir="2700000" algn="tl">
                    <a:srgbClr val="000000">
                      <a:alpha val="43137"/>
                    </a:srgbClr>
                  </a:outerShdw>
                </a:effectLst>
                <a:latin typeface="+mj-ea"/>
                <a:ea typeface="+mj-ea"/>
              </a:rPr>
              <a:t>      </a:t>
            </a:r>
            <a:r>
              <a:rPr lang="zh-CN" altLang="en-US" sz="2000" b="1">
                <a:solidFill>
                  <a:schemeClr val="bg1">
                    <a:lumMod val="95000"/>
                  </a:schemeClr>
                </a:solidFill>
                <a:effectLst>
                  <a:outerShdw blurRad="38100" dist="38100" dir="2700000" algn="tl">
                    <a:srgbClr val="000000">
                      <a:alpha val="43137"/>
                    </a:srgbClr>
                  </a:outerShdw>
                </a:effectLst>
                <a:latin typeface="+mj-ea"/>
                <a:ea typeface="+mj-ea"/>
              </a:rPr>
              <a:t>剂量：小于</a:t>
            </a:r>
            <a:r>
              <a:rPr lang="en-US" altLang="zh-CN" sz="2000" b="1">
                <a:solidFill>
                  <a:schemeClr val="bg1">
                    <a:lumMod val="95000"/>
                  </a:schemeClr>
                </a:solidFill>
                <a:effectLst>
                  <a:outerShdw blurRad="38100" dist="38100" dir="2700000" algn="tl">
                    <a:srgbClr val="000000">
                      <a:alpha val="43137"/>
                    </a:srgbClr>
                  </a:outerShdw>
                </a:effectLst>
                <a:latin typeface="+mj-ea"/>
                <a:ea typeface="+mj-ea"/>
              </a:rPr>
              <a:t>4kg</a:t>
            </a:r>
            <a:r>
              <a:rPr lang="zh-CN" altLang="en-US" sz="2000" b="1">
                <a:solidFill>
                  <a:schemeClr val="bg1">
                    <a:lumMod val="95000"/>
                  </a:schemeClr>
                </a:solidFill>
                <a:effectLst>
                  <a:outerShdw blurRad="38100" dist="38100" dir="2700000" algn="tl">
                    <a:srgbClr val="000000">
                      <a:alpha val="43137"/>
                    </a:srgbClr>
                  </a:outerShdw>
                </a:effectLst>
                <a:latin typeface="+mj-ea"/>
                <a:ea typeface="+mj-ea"/>
              </a:rPr>
              <a:t>的猫</a:t>
            </a:r>
            <a:r>
              <a:rPr lang="en-US" altLang="zh-CN" sz="2000" b="1">
                <a:solidFill>
                  <a:schemeClr val="bg1">
                    <a:lumMod val="95000"/>
                  </a:schemeClr>
                </a:solidFill>
                <a:effectLst>
                  <a:outerShdw blurRad="38100" dist="38100" dir="2700000" algn="tl">
                    <a:srgbClr val="000000">
                      <a:alpha val="43137"/>
                    </a:srgbClr>
                  </a:outerShdw>
                </a:effectLst>
                <a:latin typeface="+mj-ea"/>
                <a:ea typeface="+mj-ea"/>
              </a:rPr>
              <a:t>0.6mg/</a:t>
            </a:r>
            <a:r>
              <a:rPr lang="zh-CN" altLang="en-US" sz="2000" b="1">
                <a:solidFill>
                  <a:schemeClr val="bg1">
                    <a:lumMod val="95000"/>
                  </a:schemeClr>
                </a:solidFill>
                <a:effectLst>
                  <a:outerShdw blurRad="38100" dist="38100" dir="2700000" algn="tl">
                    <a:srgbClr val="000000">
                      <a:alpha val="43137"/>
                    </a:srgbClr>
                  </a:outerShdw>
                </a:effectLst>
                <a:latin typeface="+mj-ea"/>
                <a:ea typeface="+mj-ea"/>
              </a:rPr>
              <a:t>天</a:t>
            </a:r>
            <a:endParaRPr lang="en-US" altLang="zh-CN" sz="2000" b="1">
              <a:solidFill>
                <a:schemeClr val="bg1">
                  <a:lumMod val="95000"/>
                </a:schemeClr>
              </a:solidFill>
              <a:effectLst>
                <a:outerShdw blurRad="38100" dist="38100" dir="2700000" algn="tl">
                  <a:srgbClr val="000000">
                    <a:alpha val="43137"/>
                  </a:srgbClr>
                </a:outerShdw>
              </a:effectLst>
              <a:latin typeface="+mj-ea"/>
              <a:ea typeface="+mj-ea"/>
            </a:endParaRPr>
          </a:p>
          <a:p>
            <a:pPr lvl="1"/>
            <a:r>
              <a:rPr lang="en-US" altLang="zh-CN" sz="2000" b="1">
                <a:solidFill>
                  <a:schemeClr val="bg1">
                    <a:lumMod val="95000"/>
                  </a:schemeClr>
                </a:solidFill>
                <a:effectLst>
                  <a:outerShdw blurRad="38100" dist="38100" dir="2700000" algn="tl">
                    <a:srgbClr val="000000">
                      <a:alpha val="43137"/>
                    </a:srgbClr>
                  </a:outerShdw>
                </a:effectLst>
                <a:latin typeface="+mj-ea"/>
                <a:ea typeface="+mj-ea"/>
              </a:rPr>
              <a:t>               </a:t>
            </a:r>
            <a:r>
              <a:rPr lang="zh-CN" altLang="en-US" sz="2000" b="1">
                <a:solidFill>
                  <a:schemeClr val="bg1">
                    <a:lumMod val="95000"/>
                  </a:schemeClr>
                </a:solidFill>
                <a:effectLst>
                  <a:outerShdw blurRad="38100" dist="38100" dir="2700000" algn="tl">
                    <a:srgbClr val="000000">
                      <a:alpha val="43137"/>
                    </a:srgbClr>
                  </a:outerShdw>
                </a:effectLst>
                <a:latin typeface="+mj-ea"/>
                <a:ea typeface="+mj-ea"/>
              </a:rPr>
              <a:t>大于</a:t>
            </a:r>
            <a:r>
              <a:rPr lang="en-US" altLang="zh-CN" sz="2000" b="1">
                <a:solidFill>
                  <a:schemeClr val="bg1">
                    <a:lumMod val="95000"/>
                  </a:schemeClr>
                </a:solidFill>
                <a:effectLst>
                  <a:outerShdw blurRad="38100" dist="38100" dir="2700000" algn="tl">
                    <a:srgbClr val="000000">
                      <a:alpha val="43137"/>
                    </a:srgbClr>
                  </a:outerShdw>
                </a:effectLst>
                <a:latin typeface="+mj-ea"/>
                <a:ea typeface="+mj-ea"/>
              </a:rPr>
              <a:t>4kg</a:t>
            </a:r>
            <a:r>
              <a:rPr lang="zh-CN" altLang="en-US" sz="2000" b="1">
                <a:solidFill>
                  <a:schemeClr val="bg1">
                    <a:lumMod val="95000"/>
                  </a:schemeClr>
                </a:solidFill>
                <a:effectLst>
                  <a:outerShdw blurRad="38100" dist="38100" dir="2700000" algn="tl">
                    <a:srgbClr val="000000">
                      <a:alpha val="43137"/>
                    </a:srgbClr>
                  </a:outerShdw>
                </a:effectLst>
                <a:latin typeface="+mj-ea"/>
                <a:ea typeface="+mj-ea"/>
              </a:rPr>
              <a:t>或收缩压大于</a:t>
            </a:r>
            <a:r>
              <a:rPr lang="en-US" altLang="zh-CN" sz="2000" b="1">
                <a:solidFill>
                  <a:schemeClr val="bg1">
                    <a:lumMod val="95000"/>
                  </a:schemeClr>
                </a:solidFill>
                <a:effectLst>
                  <a:outerShdw blurRad="38100" dist="38100" dir="2700000" algn="tl">
                    <a:srgbClr val="000000">
                      <a:alpha val="43137"/>
                    </a:srgbClr>
                  </a:outerShdw>
                </a:effectLst>
                <a:latin typeface="+mj-ea"/>
                <a:ea typeface="+mj-ea"/>
              </a:rPr>
              <a:t>200mmHg</a:t>
            </a:r>
            <a:r>
              <a:rPr lang="zh-CN" altLang="en-US" sz="2000" b="1">
                <a:solidFill>
                  <a:schemeClr val="bg1">
                    <a:lumMod val="95000"/>
                  </a:schemeClr>
                </a:solidFill>
                <a:effectLst>
                  <a:outerShdw blurRad="38100" dist="38100" dir="2700000" algn="tl">
                    <a:srgbClr val="000000">
                      <a:alpha val="43137"/>
                    </a:srgbClr>
                  </a:outerShdw>
                </a:effectLst>
                <a:latin typeface="+mj-ea"/>
                <a:ea typeface="+mj-ea"/>
              </a:rPr>
              <a:t>的猫：</a:t>
            </a:r>
            <a:r>
              <a:rPr lang="en-US" altLang="zh-CN" sz="2000" b="1">
                <a:solidFill>
                  <a:schemeClr val="bg1">
                    <a:lumMod val="95000"/>
                  </a:schemeClr>
                </a:solidFill>
                <a:effectLst>
                  <a:outerShdw blurRad="38100" dist="38100" dir="2700000" algn="tl">
                    <a:srgbClr val="000000">
                      <a:alpha val="43137"/>
                    </a:srgbClr>
                  </a:outerShdw>
                </a:effectLst>
                <a:latin typeface="+mj-ea"/>
                <a:ea typeface="+mj-ea"/>
              </a:rPr>
              <a:t>1.2mg/</a:t>
            </a:r>
            <a:r>
              <a:rPr lang="zh-CN" altLang="en-US" sz="2000" b="1">
                <a:solidFill>
                  <a:schemeClr val="bg1">
                    <a:lumMod val="95000"/>
                  </a:schemeClr>
                </a:solidFill>
                <a:effectLst>
                  <a:outerShdw blurRad="38100" dist="38100" dir="2700000" algn="tl">
                    <a:srgbClr val="000000">
                      <a:alpha val="43137"/>
                    </a:srgbClr>
                  </a:outerShdw>
                </a:effectLst>
                <a:latin typeface="+mj-ea"/>
                <a:ea typeface="+mj-ea"/>
              </a:rPr>
              <a:t>天</a:t>
            </a:r>
            <a:endParaRPr lang="en-US" altLang="zh-CN" sz="2000" b="1">
              <a:solidFill>
                <a:schemeClr val="bg1">
                  <a:lumMod val="95000"/>
                </a:schemeClr>
              </a:solidFill>
              <a:effectLst>
                <a:outerShdw blurRad="38100" dist="38100" dir="2700000" algn="tl">
                  <a:srgbClr val="000000">
                    <a:alpha val="43137"/>
                  </a:srgbClr>
                </a:outerShdw>
              </a:effectLst>
              <a:latin typeface="+mj-ea"/>
              <a:ea typeface="+mj-ea"/>
            </a:endParaRPr>
          </a:p>
          <a:p>
            <a:pPr lvl="1"/>
            <a:endParaRPr lang="en-US" altLang="zh-CN" sz="2400" b="1">
              <a:solidFill>
                <a:schemeClr val="bg1">
                  <a:lumMod val="9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sz="2400" b="1">
                <a:solidFill>
                  <a:srgbClr val="FFFF00"/>
                </a:solidFill>
                <a:effectLst>
                  <a:outerShdw blurRad="38100" dist="38100" dir="2700000" algn="tl">
                    <a:srgbClr val="000000">
                      <a:alpha val="43137"/>
                    </a:srgbClr>
                  </a:outerShdw>
                </a:effectLst>
                <a:latin typeface="+mj-ea"/>
                <a:ea typeface="+mj-ea"/>
              </a:rPr>
              <a:t>或者：贝纳普利</a:t>
            </a:r>
            <a:r>
              <a:rPr lang="zh-CN" altLang="en-US" sz="1600" b="1">
                <a:solidFill>
                  <a:srgbClr val="FFFF00"/>
                </a:solidFill>
                <a:effectLst>
                  <a:outerShdw blurRad="38100" dist="38100" dir="2700000" algn="tl">
                    <a:srgbClr val="000000">
                      <a:alpha val="43137"/>
                    </a:srgbClr>
                  </a:outerShdw>
                </a:effectLst>
                <a:latin typeface="+mj-ea"/>
                <a:ea typeface="+mj-ea"/>
              </a:rPr>
              <a:t>（即</a:t>
            </a:r>
            <a:r>
              <a:rPr lang="en-US" altLang="zh-CN" sz="1600" b="1">
                <a:solidFill>
                  <a:srgbClr val="FFFF00"/>
                </a:solidFill>
                <a:effectLst>
                  <a:outerShdw blurRad="38100" dist="38100" dir="2700000" algn="tl">
                    <a:srgbClr val="000000">
                      <a:alpha val="43137"/>
                    </a:srgbClr>
                  </a:outerShdw>
                </a:effectLst>
                <a:latin typeface="+mj-ea"/>
                <a:ea typeface="+mj-ea"/>
              </a:rPr>
              <a:t>F5</a:t>
            </a:r>
            <a:r>
              <a:rPr lang="zh-CN" altLang="en-US" sz="1600" b="1">
                <a:solidFill>
                  <a:srgbClr val="FFFF00"/>
                </a:solidFill>
                <a:effectLst>
                  <a:outerShdw blurRad="38100" dist="38100" dir="2700000" algn="tl">
                    <a:srgbClr val="000000">
                      <a:alpha val="43137"/>
                    </a:srgbClr>
                  </a:outerShdw>
                </a:effectLst>
                <a:latin typeface="+mj-ea"/>
                <a:ea typeface="+mj-ea"/>
              </a:rPr>
              <a:t>）           </a:t>
            </a:r>
            <a:endParaRPr lang="en-US" altLang="zh-CN" sz="1600" b="1">
              <a:solidFill>
                <a:srgbClr val="FFFF00"/>
              </a:solidFill>
              <a:effectLst>
                <a:outerShdw blurRad="38100" dist="38100" dir="2700000" algn="tl">
                  <a:srgbClr val="000000">
                    <a:alpha val="43137"/>
                  </a:srgbClr>
                </a:outerShdw>
              </a:effectLst>
              <a:latin typeface="+mj-ea"/>
              <a:ea typeface="+mj-ea"/>
            </a:endParaRPr>
          </a:p>
          <a:p>
            <a:pPr lvl="1"/>
            <a:r>
              <a:rPr lang="en-US" altLang="zh-CN" sz="1600" b="1">
                <a:solidFill>
                  <a:schemeClr val="bg1">
                    <a:lumMod val="95000"/>
                  </a:schemeClr>
                </a:solidFill>
                <a:effectLst>
                  <a:outerShdw blurRad="38100" dist="38100" dir="2700000" algn="tl">
                    <a:srgbClr val="000000">
                      <a:alpha val="43137"/>
                    </a:srgbClr>
                  </a:outerShdw>
                </a:effectLst>
                <a:latin typeface="+mj-ea"/>
                <a:ea typeface="+mj-ea"/>
              </a:rPr>
              <a:t>     </a:t>
            </a:r>
            <a:r>
              <a:rPr lang="zh-CN" altLang="en-US" sz="2000" b="1">
                <a:solidFill>
                  <a:schemeClr val="bg1">
                    <a:lumMod val="95000"/>
                  </a:schemeClr>
                </a:solidFill>
                <a:effectLst>
                  <a:outerShdw blurRad="38100" dist="38100" dir="2700000" algn="tl">
                    <a:srgbClr val="000000">
                      <a:alpha val="43137"/>
                    </a:srgbClr>
                  </a:outerShdw>
                </a:effectLst>
                <a:latin typeface="+mj-ea"/>
                <a:ea typeface="+mj-ea"/>
              </a:rPr>
              <a:t>剂量：每公斤体重</a:t>
            </a:r>
            <a:r>
              <a:rPr lang="en-US" altLang="zh-CN" sz="2000" b="1">
                <a:solidFill>
                  <a:schemeClr val="bg1">
                    <a:lumMod val="95000"/>
                  </a:schemeClr>
                </a:solidFill>
                <a:effectLst>
                  <a:outerShdw blurRad="38100" dist="38100" dir="2700000" algn="tl">
                    <a:srgbClr val="000000">
                      <a:alpha val="43137"/>
                    </a:srgbClr>
                  </a:outerShdw>
                </a:effectLst>
                <a:latin typeface="+mj-ea"/>
                <a:ea typeface="+mj-ea"/>
              </a:rPr>
              <a:t>0.5mg</a:t>
            </a:r>
            <a:r>
              <a:rPr lang="zh-CN" altLang="en-US" sz="2000" b="1">
                <a:solidFill>
                  <a:schemeClr val="bg1">
                    <a:lumMod val="95000"/>
                  </a:schemeClr>
                </a:solidFill>
                <a:effectLst>
                  <a:outerShdw blurRad="38100" dist="38100" dir="2700000" algn="tl">
                    <a:srgbClr val="000000">
                      <a:alpha val="43137"/>
                    </a:srgbClr>
                  </a:outerShdw>
                </a:effectLst>
                <a:latin typeface="+mj-ea"/>
                <a:ea typeface="+mj-ea"/>
              </a:rPr>
              <a:t>左右</a:t>
            </a:r>
            <a:endParaRPr lang="en-US" altLang="zh-CN" sz="2000" b="1">
              <a:solidFill>
                <a:schemeClr val="bg1">
                  <a:lumMod val="95000"/>
                </a:schemeClr>
              </a:solidFill>
              <a:effectLst>
                <a:outerShdw blurRad="38100" dist="38100" dir="2700000" algn="tl">
                  <a:srgbClr val="000000">
                    <a:alpha val="43137"/>
                  </a:srgbClr>
                </a:outerShdw>
              </a:effectLst>
              <a:latin typeface="+mj-ea"/>
              <a:ea typeface="+mj-ea"/>
            </a:endParaRPr>
          </a:p>
          <a:p>
            <a:pPr lvl="1"/>
            <a:endParaRPr lang="en-US" altLang="zh-CN" sz="2000" b="1">
              <a:solidFill>
                <a:schemeClr val="bg1">
                  <a:lumMod val="95000"/>
                </a:schemeClr>
              </a:solidFill>
              <a:effectLst>
                <a:outerShdw blurRad="38100" dist="38100" dir="2700000" algn="tl">
                  <a:srgbClr val="000000">
                    <a:alpha val="43137"/>
                  </a:srgbClr>
                </a:outerShdw>
              </a:effectLst>
              <a:latin typeface="+mj-ea"/>
              <a:ea typeface="+mj-ea"/>
            </a:endParaRPr>
          </a:p>
          <a:p>
            <a:pPr marL="342900" indent="-342900">
              <a:buFont typeface="Wingdings" panose="05000000000000000000" pitchFamily="2" charset="2"/>
              <a:buChar char="n"/>
            </a:pPr>
            <a:endParaRPr lang="en-US" altLang="zh-CN" sz="2000" b="1">
              <a:solidFill>
                <a:schemeClr val="bg1">
                  <a:lumMod val="95000"/>
                </a:schemeClr>
              </a:solidFill>
              <a:effectLst>
                <a:outerShdw blurRad="38100" dist="38100" dir="2700000" algn="tl">
                  <a:srgbClr val="000000">
                    <a:alpha val="43137"/>
                  </a:srgbClr>
                </a:outerShdw>
              </a:effectLst>
              <a:latin typeface="+mj-ea"/>
              <a:ea typeface="+mj-ea"/>
            </a:endParaRPr>
          </a:p>
          <a:p>
            <a:endParaRPr lang="en-US" altLang="zh-CN" sz="1600" b="1">
              <a:solidFill>
                <a:schemeClr val="bg1"/>
              </a:solidFill>
              <a:effectLst>
                <a:outerShdw blurRad="38100" dist="38100" dir="2700000" algn="tl">
                  <a:srgbClr val="000000">
                    <a:alpha val="43137"/>
                  </a:srgbClr>
                </a:outerShdw>
              </a:effectLst>
              <a:latin typeface="+mj-ea"/>
              <a:ea typeface="+mj-ea"/>
            </a:endParaRPr>
          </a:p>
          <a:p>
            <a:endParaRPr lang="en-US" altLang="zh-CN" sz="1600" b="1">
              <a:solidFill>
                <a:schemeClr val="bg1"/>
              </a:solidFill>
              <a:effectLst>
                <a:outerShdw blurRad="38100" dist="38100" dir="2700000" algn="tl">
                  <a:srgbClr val="000000">
                    <a:alpha val="43137"/>
                  </a:srgbClr>
                </a:outerShdw>
              </a:effectLst>
              <a:latin typeface="+mj-ea"/>
              <a:ea typeface="+mj-ea"/>
            </a:endParaRPr>
          </a:p>
          <a:p>
            <a:r>
              <a:rPr lang="zh-CN" altLang="en-US" sz="1400" b="1">
                <a:solidFill>
                  <a:schemeClr val="bg1"/>
                </a:solidFill>
                <a:effectLst>
                  <a:outerShdw blurRad="38100" dist="38100" dir="2700000" algn="tl">
                    <a:srgbClr val="000000">
                      <a:alpha val="43137"/>
                    </a:srgbClr>
                  </a:outerShdw>
                </a:effectLst>
                <a:latin typeface="+mj-ea"/>
                <a:ea typeface="+mj-ea"/>
              </a:rPr>
              <a:t>贝纳普利对猫全身性高血压的控制效果稍差且不稳定，故非高血压首选。氨氯地平效果强，不易造成突然低血压，但与止吐宁、西米替丁、碳酸镧同用可能有危险，请注意。二者可遵医嘱合用。</a:t>
            </a:r>
            <a:r>
              <a:rPr lang="zh-CN" altLang="en-US" sz="1400" b="1">
                <a:solidFill>
                  <a:srgbClr val="FF0000"/>
                </a:solidFill>
                <a:effectLst>
                  <a:outerShdw blurRad="38100" dist="38100" dir="2700000" algn="tl">
                    <a:srgbClr val="000000">
                      <a:alpha val="43137"/>
                    </a:srgbClr>
                  </a:outerShdw>
                </a:effectLst>
                <a:latin typeface="+mj-ea"/>
                <a:ea typeface="+mj-ea"/>
              </a:rPr>
              <a:t>用药请咨询主治医师，切莫擅自使用。</a:t>
            </a:r>
            <a:endParaRPr lang="en-US" altLang="zh-CN" sz="1400" b="1">
              <a:solidFill>
                <a:schemeClr val="bg1"/>
              </a:solidFill>
              <a:effectLst>
                <a:outerShdw blurRad="38100" dist="38100" dir="2700000" algn="tl">
                  <a:srgbClr val="000000">
                    <a:alpha val="43137"/>
                  </a:srgbClr>
                </a:outerShdw>
              </a:effectLst>
              <a:latin typeface="+mj-ea"/>
              <a:ea typeface="+mj-ea"/>
            </a:endParaRPr>
          </a:p>
        </p:txBody>
      </p:sp>
      <p:sp>
        <p:nvSpPr>
          <p:cNvPr id="18" name="文本框 17">
            <a:extLst>
              <a:ext uri="{FF2B5EF4-FFF2-40B4-BE49-F238E27FC236}">
                <a16:creationId xmlns:a16="http://schemas.microsoft.com/office/drawing/2014/main" id="{F176E8DB-02DB-4006-BF9A-05A08FBECDF8}"/>
              </a:ext>
            </a:extLst>
          </p:cNvPr>
          <p:cNvSpPr txBox="1"/>
          <p:nvPr/>
        </p:nvSpPr>
        <p:spPr>
          <a:xfrm>
            <a:off x="-92840" y="1821517"/>
            <a:ext cx="3096344" cy="800219"/>
          </a:xfrm>
          <a:prstGeom prst="rect">
            <a:avLst/>
          </a:prstGeom>
          <a:noFill/>
        </p:spPr>
        <p:txBody>
          <a:bodyPr wrap="square" rtlCol="0">
            <a:spAutoFit/>
          </a:bodyPr>
          <a:lstStyle/>
          <a:p>
            <a:pPr marL="0" lvl="1"/>
            <a:r>
              <a:rPr lang="zh-CN" altLang="en-US" sz="2800" b="1">
                <a:solidFill>
                  <a:schemeClr val="tx1">
                    <a:lumMod val="75000"/>
                    <a:lumOff val="25000"/>
                  </a:schemeClr>
                </a:solidFill>
                <a:effectLst>
                  <a:outerShdw blurRad="38100" dist="38100" dir="2700000" algn="tl">
                    <a:srgbClr val="000000">
                      <a:alpha val="43137"/>
                    </a:srgbClr>
                  </a:outerShdw>
                </a:effectLst>
                <a:latin typeface="+mj-ea"/>
                <a:ea typeface="+mj-ea"/>
              </a:rPr>
              <a:t>血钾 （</a:t>
            </a:r>
            <a:r>
              <a:rPr lang="en-US" altLang="zh-CN" sz="2800" b="1">
                <a:solidFill>
                  <a:schemeClr val="tx1">
                    <a:lumMod val="75000"/>
                    <a:lumOff val="25000"/>
                  </a:schemeClr>
                </a:solidFill>
                <a:effectLst>
                  <a:outerShdw blurRad="38100" dist="38100" dir="2700000" algn="tl">
                    <a:srgbClr val="000000">
                      <a:alpha val="43137"/>
                    </a:srgbClr>
                  </a:outerShdw>
                </a:effectLst>
                <a:latin typeface="+mj-ea"/>
                <a:ea typeface="+mj-ea"/>
              </a:rPr>
              <a:t>K</a:t>
            </a:r>
            <a:r>
              <a:rPr lang="zh-CN" altLang="en-US" sz="2800" b="1">
                <a:solidFill>
                  <a:schemeClr val="tx1">
                    <a:lumMod val="75000"/>
                    <a:lumOff val="25000"/>
                  </a:schemeClr>
                </a:solidFill>
                <a:effectLst>
                  <a:outerShdw blurRad="38100" dist="38100" dir="2700000" algn="tl">
                    <a:srgbClr val="000000">
                      <a:alpha val="43137"/>
                    </a:srgbClr>
                  </a:outerShdw>
                </a:effectLst>
                <a:latin typeface="+mj-ea"/>
                <a:ea typeface="+mj-ea"/>
              </a:rPr>
              <a:t>）</a:t>
            </a:r>
            <a:endParaRPr lang="en-US" altLang="zh-CN" sz="2800" b="1">
              <a:solidFill>
                <a:schemeClr val="tx1">
                  <a:lumMod val="75000"/>
                  <a:lumOff val="25000"/>
                </a:schemeClr>
              </a:solidFill>
              <a:effectLst>
                <a:outerShdw blurRad="38100" dist="38100" dir="2700000" algn="tl">
                  <a:srgbClr val="000000">
                    <a:alpha val="43137"/>
                  </a:srgbClr>
                </a:outerShdw>
              </a:effectLst>
              <a:latin typeface="+mj-ea"/>
              <a:ea typeface="+mj-ea"/>
            </a:endParaRPr>
          </a:p>
          <a:p>
            <a:endParaRPr lang="zh-CN" altLang="en-US"/>
          </a:p>
        </p:txBody>
      </p:sp>
      <p:sp>
        <p:nvSpPr>
          <p:cNvPr id="19" name="矩形 18">
            <a:extLst>
              <a:ext uri="{FF2B5EF4-FFF2-40B4-BE49-F238E27FC236}">
                <a16:creationId xmlns:a16="http://schemas.microsoft.com/office/drawing/2014/main" id="{E05D2C26-2758-480C-B6F3-383127C05BC5}"/>
              </a:ext>
            </a:extLst>
          </p:cNvPr>
          <p:cNvSpPr/>
          <p:nvPr/>
        </p:nvSpPr>
        <p:spPr>
          <a:xfrm>
            <a:off x="0" y="1749426"/>
            <a:ext cx="3141011" cy="510857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sp>
        <p:nvSpPr>
          <p:cNvPr id="21" name="文本框 20">
            <a:extLst>
              <a:ext uri="{FF2B5EF4-FFF2-40B4-BE49-F238E27FC236}">
                <a16:creationId xmlns:a16="http://schemas.microsoft.com/office/drawing/2014/main" id="{F64AB21C-A417-4E5A-8766-747D343E6B5F}"/>
              </a:ext>
            </a:extLst>
          </p:cNvPr>
          <p:cNvSpPr txBox="1"/>
          <p:nvPr/>
        </p:nvSpPr>
        <p:spPr>
          <a:xfrm>
            <a:off x="1015353" y="1836421"/>
            <a:ext cx="999353" cy="523220"/>
          </a:xfrm>
          <a:prstGeom prst="rect">
            <a:avLst/>
          </a:prstGeom>
          <a:noFill/>
        </p:spPr>
        <p:txBody>
          <a:bodyPr wrap="square" rtlCol="0">
            <a:spAutoFit/>
          </a:bodyPr>
          <a:lstStyle/>
          <a:p>
            <a:r>
              <a:rPr lang="zh-CN" altLang="en-US" sz="2800" b="1">
                <a:solidFill>
                  <a:schemeClr val="tx1">
                    <a:lumMod val="75000"/>
                    <a:lumOff val="25000"/>
                  </a:schemeClr>
                </a:solidFill>
                <a:effectLst>
                  <a:outerShdw blurRad="38100" dist="38100" dir="2700000" algn="tl">
                    <a:srgbClr val="000000">
                      <a:alpha val="43137"/>
                    </a:srgbClr>
                  </a:outerShdw>
                </a:effectLst>
                <a:latin typeface="+mj-ea"/>
                <a:ea typeface="+mj-ea"/>
              </a:rPr>
              <a:t>血压</a:t>
            </a:r>
            <a:endParaRPr lang="zh-CN" altLang="en-US" b="1">
              <a:solidFill>
                <a:schemeClr val="tx1">
                  <a:lumMod val="75000"/>
                  <a:lumOff val="25000"/>
                </a:schemeClr>
              </a:solidFill>
              <a:effectLst>
                <a:outerShdw blurRad="38100" dist="38100" dir="2700000" algn="tl">
                  <a:srgbClr val="000000">
                    <a:alpha val="43137"/>
                  </a:srgbClr>
                </a:outerShdw>
              </a:effectLst>
              <a:latin typeface="+mj-ea"/>
              <a:ea typeface="+mj-ea"/>
            </a:endParaRPr>
          </a:p>
        </p:txBody>
      </p:sp>
      <p:sp>
        <p:nvSpPr>
          <p:cNvPr id="22" name="文本框 21">
            <a:extLst>
              <a:ext uri="{FF2B5EF4-FFF2-40B4-BE49-F238E27FC236}">
                <a16:creationId xmlns:a16="http://schemas.microsoft.com/office/drawing/2014/main" id="{6A6E27AE-15F7-4BA3-B8B2-1CADBCEC7DB5}"/>
              </a:ext>
            </a:extLst>
          </p:cNvPr>
          <p:cNvSpPr txBox="1"/>
          <p:nvPr/>
        </p:nvSpPr>
        <p:spPr>
          <a:xfrm>
            <a:off x="457144" y="2374545"/>
            <a:ext cx="2247874" cy="907941"/>
          </a:xfrm>
          <a:prstGeom prst="rect">
            <a:avLst/>
          </a:prstGeom>
          <a:noFill/>
        </p:spPr>
        <p:txBody>
          <a:bodyPr wrap="square" rtlCol="0">
            <a:spAutoFit/>
          </a:bodyPr>
          <a:lstStyle/>
          <a:p>
            <a:pPr marL="0" lvl="1"/>
            <a:r>
              <a:rPr lang="en-US" altLang="zh-CN" sz="1400" b="1">
                <a:solidFill>
                  <a:schemeClr val="tx1">
                    <a:lumMod val="75000"/>
                    <a:lumOff val="25000"/>
                  </a:schemeClr>
                </a:solidFill>
                <a:effectLst>
                  <a:outerShdw blurRad="38100" dist="38100" dir="2700000" algn="tl">
                    <a:srgbClr val="000000">
                      <a:alpha val="43137"/>
                    </a:srgbClr>
                  </a:outerShdw>
                </a:effectLst>
                <a:latin typeface="+mj-ea"/>
                <a:ea typeface="+mj-ea"/>
              </a:rPr>
              <a:t>20%</a:t>
            </a:r>
            <a:r>
              <a:rPr lang="zh-CN" altLang="en-US" sz="1400" b="1">
                <a:solidFill>
                  <a:schemeClr val="tx1">
                    <a:lumMod val="75000"/>
                    <a:lumOff val="25000"/>
                  </a:schemeClr>
                </a:solidFill>
                <a:effectLst>
                  <a:outerShdw blurRad="38100" dist="38100" dir="2700000" algn="tl">
                    <a:srgbClr val="000000">
                      <a:alpha val="43137"/>
                    </a:srgbClr>
                  </a:outerShdw>
                </a:effectLst>
                <a:latin typeface="+mj-ea"/>
                <a:ea typeface="+mj-ea"/>
              </a:rPr>
              <a:t>的肾病猫确诊时就有高血压，最终高达</a:t>
            </a:r>
            <a:r>
              <a:rPr lang="en-US" altLang="zh-CN" sz="1400" b="1">
                <a:solidFill>
                  <a:schemeClr val="tx1">
                    <a:lumMod val="75000"/>
                    <a:lumOff val="25000"/>
                  </a:schemeClr>
                </a:solidFill>
                <a:effectLst>
                  <a:outerShdw blurRad="38100" dist="38100" dir="2700000" algn="tl">
                    <a:srgbClr val="000000">
                      <a:alpha val="43137"/>
                    </a:srgbClr>
                  </a:outerShdw>
                </a:effectLst>
                <a:latin typeface="+mj-ea"/>
                <a:ea typeface="+mj-ea"/>
              </a:rPr>
              <a:t>65%</a:t>
            </a:r>
            <a:r>
              <a:rPr lang="zh-CN" altLang="en-US" sz="1400" b="1">
                <a:solidFill>
                  <a:schemeClr val="tx1">
                    <a:lumMod val="75000"/>
                    <a:lumOff val="25000"/>
                  </a:schemeClr>
                </a:solidFill>
                <a:effectLst>
                  <a:outerShdw blurRad="38100" dist="38100" dir="2700000" algn="tl">
                    <a:srgbClr val="000000">
                      <a:alpha val="43137"/>
                    </a:srgbClr>
                  </a:outerShdw>
                </a:effectLst>
                <a:latin typeface="+mj-ea"/>
                <a:ea typeface="+mj-ea"/>
              </a:rPr>
              <a:t>会高血压。</a:t>
            </a:r>
            <a:r>
              <a:rPr lang="zh-CN" altLang="en-US" sz="1100">
                <a:solidFill>
                  <a:schemeClr val="tx1">
                    <a:lumMod val="75000"/>
                    <a:lumOff val="25000"/>
                  </a:schemeClr>
                </a:solidFill>
                <a:effectLst>
                  <a:outerShdw blurRad="38100" dist="38100" dir="2700000" algn="tl">
                    <a:srgbClr val="000000">
                      <a:alpha val="43137"/>
                    </a:srgbClr>
                  </a:outerShdw>
                </a:effectLst>
                <a:latin typeface="+mj-ea"/>
                <a:ea typeface="+mj-ea"/>
              </a:rPr>
              <a:t>（</a:t>
            </a:r>
            <a:r>
              <a:rPr lang="en-US" altLang="zh-CN" sz="1100">
                <a:solidFill>
                  <a:schemeClr val="tx1">
                    <a:lumMod val="75000"/>
                    <a:lumOff val="25000"/>
                  </a:schemeClr>
                </a:solidFill>
                <a:effectLst>
                  <a:outerShdw blurRad="38100" dist="38100" dir="2700000" algn="tl">
                    <a:srgbClr val="000000">
                      <a:alpha val="43137"/>
                    </a:srgbClr>
                  </a:outerShdw>
                </a:effectLst>
                <a:latin typeface="+mj-ea"/>
                <a:ea typeface="+mj-ea"/>
              </a:rPr>
              <a:t>Bijsmans ES et al. 2015)</a:t>
            </a:r>
            <a:endParaRPr lang="zh-CN" altLang="en-US" sz="1100"/>
          </a:p>
        </p:txBody>
      </p:sp>
      <p:sp>
        <p:nvSpPr>
          <p:cNvPr id="23" name="文本框 22">
            <a:extLst>
              <a:ext uri="{FF2B5EF4-FFF2-40B4-BE49-F238E27FC236}">
                <a16:creationId xmlns:a16="http://schemas.microsoft.com/office/drawing/2014/main" id="{787FAB1D-AAA0-48DE-98CF-9157B56ADCDD}"/>
              </a:ext>
            </a:extLst>
          </p:cNvPr>
          <p:cNvSpPr txBox="1"/>
          <p:nvPr/>
        </p:nvSpPr>
        <p:spPr>
          <a:xfrm>
            <a:off x="143959" y="6309887"/>
            <a:ext cx="2874244" cy="523220"/>
          </a:xfrm>
          <a:prstGeom prst="rect">
            <a:avLst/>
          </a:prstGeom>
          <a:noFill/>
        </p:spPr>
        <p:txBody>
          <a:bodyPr wrap="square" rtlCol="0">
            <a:spAutoFit/>
          </a:bodyPr>
          <a:lstStyle/>
          <a:p>
            <a:pPr marL="0" lvl="1"/>
            <a:r>
              <a:rPr lang="zh-CN" altLang="en-US" sz="1400" b="1">
                <a:solidFill>
                  <a:srgbClr val="C00000"/>
                </a:solidFill>
                <a:effectLst>
                  <a:outerShdw blurRad="38100" dist="38100" dir="2700000" algn="tl">
                    <a:srgbClr val="000000">
                      <a:alpha val="43137"/>
                    </a:srgbClr>
                  </a:outerShdw>
                </a:effectLst>
                <a:latin typeface="+mj-ea"/>
                <a:ea typeface="+mj-ea"/>
              </a:rPr>
              <a:t>高血压需要尽快处理，不然会对全身器官造成永久损伤，包括肾脏！</a:t>
            </a:r>
            <a:endParaRPr lang="zh-CN" altLang="en-US">
              <a:solidFill>
                <a:srgbClr val="C00000"/>
              </a:solidFill>
            </a:endParaRPr>
          </a:p>
        </p:txBody>
      </p:sp>
      <p:graphicFrame>
        <p:nvGraphicFramePr>
          <p:cNvPr id="25" name="表格 24">
            <a:extLst>
              <a:ext uri="{FF2B5EF4-FFF2-40B4-BE49-F238E27FC236}">
                <a16:creationId xmlns:a16="http://schemas.microsoft.com/office/drawing/2014/main" id="{58DA9DE5-02CB-4D03-B70C-40206CF75C63}"/>
              </a:ext>
            </a:extLst>
          </p:cNvPr>
          <p:cNvGraphicFramePr>
            <a:graphicFrameLocks noGrp="1"/>
          </p:cNvGraphicFramePr>
          <p:nvPr>
            <p:extLst>
              <p:ext uri="{D42A27DB-BD31-4B8C-83A1-F6EECF244321}">
                <p14:modId xmlns:p14="http://schemas.microsoft.com/office/powerpoint/2010/main" val="67991684"/>
              </p:ext>
            </p:extLst>
          </p:nvPr>
        </p:nvGraphicFramePr>
        <p:xfrm>
          <a:off x="21152" y="3389195"/>
          <a:ext cx="3119859" cy="2665987"/>
        </p:xfrm>
        <a:graphic>
          <a:graphicData uri="http://schemas.openxmlformats.org/drawingml/2006/table">
            <a:tbl>
              <a:tblPr firstRow="1" bandRow="1">
                <a:tableStyleId>{5C22544A-7EE6-4342-B048-85BDC9FD1C3A}</a:tableStyleId>
              </a:tblPr>
              <a:tblGrid>
                <a:gridCol w="1039953">
                  <a:extLst>
                    <a:ext uri="{9D8B030D-6E8A-4147-A177-3AD203B41FA5}">
                      <a16:colId xmlns:a16="http://schemas.microsoft.com/office/drawing/2014/main" val="856528177"/>
                    </a:ext>
                  </a:extLst>
                </a:gridCol>
                <a:gridCol w="1039953">
                  <a:extLst>
                    <a:ext uri="{9D8B030D-6E8A-4147-A177-3AD203B41FA5}">
                      <a16:colId xmlns:a16="http://schemas.microsoft.com/office/drawing/2014/main" val="2892365247"/>
                    </a:ext>
                  </a:extLst>
                </a:gridCol>
                <a:gridCol w="1039953">
                  <a:extLst>
                    <a:ext uri="{9D8B030D-6E8A-4147-A177-3AD203B41FA5}">
                      <a16:colId xmlns:a16="http://schemas.microsoft.com/office/drawing/2014/main" val="815779866"/>
                    </a:ext>
                  </a:extLst>
                </a:gridCol>
              </a:tblGrid>
              <a:tr h="543861">
                <a:tc>
                  <a:txBody>
                    <a:bodyPr/>
                    <a:lstStyle/>
                    <a:p>
                      <a:pPr algn="ctr"/>
                      <a:r>
                        <a:rPr lang="zh-CN" altLang="en-US">
                          <a:effectLst>
                            <a:outerShdw blurRad="38100" dist="38100" dir="2700000" algn="tl">
                              <a:srgbClr val="000000">
                                <a:alpha val="43137"/>
                              </a:srgbClr>
                            </a:outerShdw>
                          </a:effectLst>
                        </a:rPr>
                        <a:t>收缩压</a:t>
                      </a:r>
                      <a:r>
                        <a:rPr lang="zh-CN" altLang="en-US" sz="900">
                          <a:effectLst>
                            <a:outerShdw blurRad="38100" dist="38100" dir="2700000" algn="tl">
                              <a:srgbClr val="000000">
                                <a:alpha val="43137"/>
                              </a:srgbClr>
                            </a:outerShdw>
                          </a:effectLst>
                        </a:rPr>
                        <a:t>（</a:t>
                      </a:r>
                      <a:r>
                        <a:rPr lang="en-US" altLang="zh-CN" sz="900">
                          <a:effectLst>
                            <a:outerShdw blurRad="38100" dist="38100" dir="2700000" algn="tl">
                              <a:srgbClr val="000000">
                                <a:alpha val="43137"/>
                              </a:srgbClr>
                            </a:outerShdw>
                          </a:effectLst>
                        </a:rPr>
                        <a:t>mmHg</a:t>
                      </a:r>
                      <a:r>
                        <a:rPr lang="zh-CN" altLang="en-US" sz="900">
                          <a:effectLst>
                            <a:outerShdw blurRad="38100" dist="38100" dir="2700000" algn="tl">
                              <a:srgbClr val="000000">
                                <a:alpha val="43137"/>
                              </a:srgbClr>
                            </a:outerShdw>
                          </a:effectLst>
                        </a:rPr>
                        <a:t>）</a:t>
                      </a:r>
                    </a:p>
                  </a:txBody>
                  <a:tcPr/>
                </a:tc>
                <a:tc>
                  <a:txBody>
                    <a:bodyPr/>
                    <a:lstStyle/>
                    <a:p>
                      <a:pPr algn="ctr"/>
                      <a:r>
                        <a:rPr lang="zh-CN" altLang="en-US">
                          <a:effectLst>
                            <a:outerShdw blurRad="38100" dist="38100" dir="2700000" algn="tl">
                              <a:srgbClr val="000000">
                                <a:alpha val="43137"/>
                              </a:srgbClr>
                            </a:outerShdw>
                          </a:effectLst>
                        </a:rPr>
                        <a:t>状态</a:t>
                      </a:r>
                    </a:p>
                  </a:txBody>
                  <a:tcPr/>
                </a:tc>
                <a:tc>
                  <a:txBody>
                    <a:bodyPr/>
                    <a:lstStyle/>
                    <a:p>
                      <a:pPr algn="ctr"/>
                      <a:r>
                        <a:rPr lang="zh-CN" altLang="en-US">
                          <a:effectLst>
                            <a:outerShdw blurRad="38100" dist="38100" dir="2700000" algn="tl">
                              <a:srgbClr val="000000">
                                <a:alpha val="43137"/>
                              </a:srgbClr>
                            </a:outerShdw>
                          </a:effectLst>
                        </a:rPr>
                        <a:t>治疗？</a:t>
                      </a:r>
                    </a:p>
                  </a:txBody>
                  <a:tcPr/>
                </a:tc>
                <a:extLst>
                  <a:ext uri="{0D108BD9-81ED-4DB2-BD59-A6C34878D82A}">
                    <a16:rowId xmlns:a16="http://schemas.microsoft.com/office/drawing/2014/main" val="1558947613"/>
                  </a:ext>
                </a:extLst>
              </a:tr>
              <a:tr h="405537">
                <a:tc>
                  <a:txBody>
                    <a:bodyPr/>
                    <a:lstStyle/>
                    <a:p>
                      <a:pPr algn="ctr"/>
                      <a:r>
                        <a:rPr lang="zh-CN" altLang="en-US" sz="1600" b="1">
                          <a:effectLst>
                            <a:outerShdw blurRad="38100" dist="38100" dir="2700000" algn="tl">
                              <a:srgbClr val="000000">
                                <a:alpha val="43137"/>
                              </a:srgbClr>
                            </a:outerShdw>
                          </a:effectLst>
                        </a:rPr>
                        <a:t>＜</a:t>
                      </a:r>
                      <a:r>
                        <a:rPr lang="en-US" altLang="zh-CN" sz="1600" b="1">
                          <a:effectLst>
                            <a:outerShdw blurRad="38100" dist="38100" dir="2700000" algn="tl">
                              <a:srgbClr val="000000">
                                <a:alpha val="43137"/>
                              </a:srgbClr>
                            </a:outerShdw>
                          </a:effectLst>
                        </a:rPr>
                        <a:t>120</a:t>
                      </a:r>
                      <a:endParaRPr lang="zh-CN" altLang="en-US" sz="1600" b="1">
                        <a:effectLst>
                          <a:outerShdw blurRad="38100" dist="38100" dir="2700000" algn="tl">
                            <a:srgbClr val="000000">
                              <a:alpha val="43137"/>
                            </a:srgbClr>
                          </a:outerShdw>
                        </a:effectLst>
                      </a:endParaRPr>
                    </a:p>
                  </a:txBody>
                  <a:tcPr/>
                </a:tc>
                <a:tc>
                  <a:txBody>
                    <a:bodyPr/>
                    <a:lstStyle/>
                    <a:p>
                      <a:r>
                        <a:rPr lang="zh-CN" altLang="en-US" sz="1200" b="1">
                          <a:solidFill>
                            <a:schemeClr val="bg2">
                              <a:lumMod val="10000"/>
                            </a:schemeClr>
                          </a:solidFill>
                          <a:effectLst>
                            <a:outerShdw blurRad="38100" dist="38100" dir="2700000" algn="tl">
                              <a:srgbClr val="000000">
                                <a:alpha val="43137"/>
                              </a:srgbClr>
                            </a:outerShdw>
                          </a:effectLst>
                        </a:rPr>
                        <a:t>低血压</a:t>
                      </a:r>
                    </a:p>
                  </a:txBody>
                  <a:tcPr/>
                </a:tc>
                <a:tc>
                  <a:txBody>
                    <a:bodyPr/>
                    <a:lstStyle/>
                    <a:p>
                      <a:endParaRPr lang="zh-CN" altLang="en-US" sz="1200" b="1">
                        <a:solidFill>
                          <a:schemeClr val="bg2">
                            <a:lumMod val="10000"/>
                          </a:schemeClr>
                        </a:solidFill>
                        <a:effectLst>
                          <a:outerShdw blurRad="38100" dist="38100" dir="2700000" algn="tl">
                            <a:srgbClr val="000000">
                              <a:alpha val="43137"/>
                            </a:srgbClr>
                          </a:outerShdw>
                        </a:effectLst>
                      </a:endParaRPr>
                    </a:p>
                  </a:txBody>
                  <a:tcPr/>
                </a:tc>
                <a:extLst>
                  <a:ext uri="{0D108BD9-81ED-4DB2-BD59-A6C34878D82A}">
                    <a16:rowId xmlns:a16="http://schemas.microsoft.com/office/drawing/2014/main" val="2169862003"/>
                  </a:ext>
                </a:extLst>
              </a:tr>
              <a:tr h="405537">
                <a:tc>
                  <a:txBody>
                    <a:bodyPr/>
                    <a:lstStyle/>
                    <a:p>
                      <a:pPr algn="ctr"/>
                      <a:r>
                        <a:rPr lang="zh-CN" altLang="en-US" sz="1600" b="1">
                          <a:effectLst>
                            <a:outerShdw blurRad="38100" dist="38100" dir="2700000" algn="tl">
                              <a:srgbClr val="000000">
                                <a:alpha val="43137"/>
                              </a:srgbClr>
                            </a:outerShdw>
                          </a:effectLst>
                        </a:rPr>
                        <a:t>＜</a:t>
                      </a:r>
                      <a:r>
                        <a:rPr lang="en-US" altLang="zh-CN" sz="1600" b="1">
                          <a:effectLst>
                            <a:outerShdw blurRad="38100" dist="38100" dir="2700000" algn="tl">
                              <a:srgbClr val="000000">
                                <a:alpha val="43137"/>
                              </a:srgbClr>
                            </a:outerShdw>
                          </a:effectLst>
                        </a:rPr>
                        <a:t>150</a:t>
                      </a:r>
                      <a:endParaRPr lang="zh-CN" altLang="en-US" sz="1600" b="1">
                        <a:effectLst>
                          <a:outerShdw blurRad="38100" dist="38100" dir="2700000" algn="tl">
                            <a:srgbClr val="000000">
                              <a:alpha val="43137"/>
                            </a:srgbClr>
                          </a:outerShdw>
                        </a:effectLst>
                      </a:endParaRPr>
                    </a:p>
                  </a:txBody>
                  <a:tcPr/>
                </a:tc>
                <a:tc>
                  <a:txBody>
                    <a:bodyPr/>
                    <a:lstStyle/>
                    <a:p>
                      <a:r>
                        <a:rPr lang="zh-CN" altLang="en-US" sz="1200" b="1">
                          <a:solidFill>
                            <a:schemeClr val="bg2">
                              <a:lumMod val="10000"/>
                            </a:schemeClr>
                          </a:solidFill>
                          <a:effectLst>
                            <a:outerShdw blurRad="38100" dist="38100" dir="2700000" algn="tl">
                              <a:srgbClr val="000000">
                                <a:alpha val="43137"/>
                              </a:srgbClr>
                            </a:outerShdw>
                          </a:effectLst>
                        </a:rPr>
                        <a:t>安全</a:t>
                      </a:r>
                    </a:p>
                  </a:txBody>
                  <a:tcPr/>
                </a:tc>
                <a:tc>
                  <a:txBody>
                    <a:bodyPr/>
                    <a:lstStyle/>
                    <a:p>
                      <a:r>
                        <a:rPr lang="zh-CN" altLang="en-US" sz="1200" b="1">
                          <a:solidFill>
                            <a:schemeClr val="bg2">
                              <a:lumMod val="10000"/>
                            </a:schemeClr>
                          </a:solidFill>
                          <a:effectLst>
                            <a:outerShdw blurRad="38100" dist="38100" dir="2700000" algn="tl">
                              <a:srgbClr val="000000">
                                <a:alpha val="43137"/>
                              </a:srgbClr>
                            </a:outerShdw>
                          </a:effectLst>
                        </a:rPr>
                        <a:t>通常无需</a:t>
                      </a:r>
                    </a:p>
                  </a:txBody>
                  <a:tcPr/>
                </a:tc>
                <a:extLst>
                  <a:ext uri="{0D108BD9-81ED-4DB2-BD59-A6C34878D82A}">
                    <a16:rowId xmlns:a16="http://schemas.microsoft.com/office/drawing/2014/main" val="1952215291"/>
                  </a:ext>
                </a:extLst>
              </a:tr>
              <a:tr h="405537">
                <a:tc>
                  <a:txBody>
                    <a:bodyPr/>
                    <a:lstStyle/>
                    <a:p>
                      <a:pPr algn="ctr"/>
                      <a:r>
                        <a:rPr lang="en-US" altLang="zh-CN" sz="1600" b="1">
                          <a:effectLst>
                            <a:outerShdw blurRad="38100" dist="38100" dir="2700000" algn="tl">
                              <a:srgbClr val="000000">
                                <a:alpha val="43137"/>
                              </a:srgbClr>
                            </a:outerShdw>
                          </a:effectLst>
                        </a:rPr>
                        <a:t>150-159</a:t>
                      </a:r>
                      <a:endParaRPr lang="zh-CN" altLang="en-US" sz="1600" b="1">
                        <a:effectLst>
                          <a:outerShdw blurRad="38100" dist="38100" dir="2700000" algn="tl">
                            <a:srgbClr val="000000">
                              <a:alpha val="43137"/>
                            </a:srgbClr>
                          </a:outerShdw>
                        </a:effectLst>
                      </a:endParaRPr>
                    </a:p>
                  </a:txBody>
                  <a:tcPr/>
                </a:tc>
                <a:tc>
                  <a:txBody>
                    <a:bodyPr/>
                    <a:lstStyle/>
                    <a:p>
                      <a:r>
                        <a:rPr lang="zh-CN" altLang="en-US" sz="1200" b="1">
                          <a:solidFill>
                            <a:schemeClr val="bg2">
                              <a:lumMod val="10000"/>
                            </a:schemeClr>
                          </a:solidFill>
                          <a:effectLst>
                            <a:outerShdw blurRad="38100" dist="38100" dir="2700000" algn="tl">
                              <a:srgbClr val="000000">
                                <a:alpha val="43137"/>
                              </a:srgbClr>
                            </a:outerShdw>
                          </a:effectLst>
                        </a:rPr>
                        <a:t>灰色区域</a:t>
                      </a:r>
                    </a:p>
                  </a:txBody>
                  <a:tcPr/>
                </a:tc>
                <a:tc>
                  <a:txBody>
                    <a:bodyPr/>
                    <a:lstStyle/>
                    <a:p>
                      <a:r>
                        <a:rPr lang="zh-CN" altLang="en-US" sz="1200" b="1">
                          <a:solidFill>
                            <a:schemeClr val="bg2">
                              <a:lumMod val="10000"/>
                            </a:schemeClr>
                          </a:solidFill>
                          <a:effectLst>
                            <a:outerShdw blurRad="38100" dist="38100" dir="2700000" algn="tl">
                              <a:srgbClr val="000000">
                                <a:alpha val="43137"/>
                              </a:srgbClr>
                            </a:outerShdw>
                          </a:effectLst>
                        </a:rPr>
                        <a:t>视症状而定</a:t>
                      </a:r>
                    </a:p>
                  </a:txBody>
                  <a:tcPr/>
                </a:tc>
                <a:extLst>
                  <a:ext uri="{0D108BD9-81ED-4DB2-BD59-A6C34878D82A}">
                    <a16:rowId xmlns:a16="http://schemas.microsoft.com/office/drawing/2014/main" val="2536390306"/>
                  </a:ext>
                </a:extLst>
              </a:tr>
              <a:tr h="405537">
                <a:tc>
                  <a:txBody>
                    <a:bodyPr/>
                    <a:lstStyle/>
                    <a:p>
                      <a:pPr algn="ctr"/>
                      <a:r>
                        <a:rPr lang="en-US" altLang="zh-CN" sz="1600" b="1">
                          <a:effectLst>
                            <a:outerShdw blurRad="38100" dist="38100" dir="2700000" algn="tl">
                              <a:srgbClr val="000000">
                                <a:alpha val="43137"/>
                              </a:srgbClr>
                            </a:outerShdw>
                          </a:effectLst>
                        </a:rPr>
                        <a:t>160-179</a:t>
                      </a:r>
                      <a:endParaRPr lang="zh-CN" altLang="en-US" sz="1600" b="1">
                        <a:effectLst>
                          <a:outerShdw blurRad="38100" dist="38100" dir="2700000" algn="tl">
                            <a:srgbClr val="000000">
                              <a:alpha val="43137"/>
                            </a:srgbClr>
                          </a:outerShdw>
                        </a:effectLst>
                      </a:endParaRPr>
                    </a:p>
                  </a:txBody>
                  <a:tcPr/>
                </a:tc>
                <a:tc>
                  <a:txBody>
                    <a:bodyPr/>
                    <a:lstStyle/>
                    <a:p>
                      <a:r>
                        <a:rPr lang="zh-CN" altLang="en-US" sz="1200" b="1">
                          <a:solidFill>
                            <a:schemeClr val="bg2">
                              <a:lumMod val="10000"/>
                            </a:schemeClr>
                          </a:solidFill>
                          <a:effectLst>
                            <a:outerShdw blurRad="38100" dist="38100" dir="2700000" algn="tl">
                              <a:srgbClr val="000000">
                                <a:alpha val="43137"/>
                              </a:srgbClr>
                            </a:outerShdw>
                          </a:effectLst>
                        </a:rPr>
                        <a:t>高血压</a:t>
                      </a:r>
                    </a:p>
                  </a:txBody>
                  <a:tcPr/>
                </a:tc>
                <a:tc>
                  <a:txBody>
                    <a:bodyPr/>
                    <a:lstStyle/>
                    <a:p>
                      <a:r>
                        <a:rPr lang="zh-CN" altLang="en-US" sz="1200" b="1">
                          <a:solidFill>
                            <a:schemeClr val="bg2">
                              <a:lumMod val="10000"/>
                            </a:schemeClr>
                          </a:solidFill>
                          <a:effectLst>
                            <a:outerShdw blurRad="38100" dist="38100" dir="2700000" algn="tl">
                              <a:srgbClr val="000000">
                                <a:alpha val="43137"/>
                              </a:srgbClr>
                            </a:outerShdw>
                          </a:effectLst>
                        </a:rPr>
                        <a:t>复查后治疗</a:t>
                      </a:r>
                    </a:p>
                  </a:txBody>
                  <a:tcPr/>
                </a:tc>
                <a:extLst>
                  <a:ext uri="{0D108BD9-81ED-4DB2-BD59-A6C34878D82A}">
                    <a16:rowId xmlns:a16="http://schemas.microsoft.com/office/drawing/2014/main" val="2001121565"/>
                  </a:ext>
                </a:extLst>
              </a:tr>
              <a:tr h="499978">
                <a:tc>
                  <a:txBody>
                    <a:bodyPr/>
                    <a:lstStyle/>
                    <a:p>
                      <a:pPr algn="ctr"/>
                      <a:r>
                        <a:rPr lang="zh-CN" altLang="en-US" sz="1600" b="1">
                          <a:effectLst>
                            <a:outerShdw blurRad="38100" dist="38100" dir="2700000" algn="tl">
                              <a:srgbClr val="000000">
                                <a:alpha val="43137"/>
                              </a:srgbClr>
                            </a:outerShdw>
                          </a:effectLst>
                        </a:rPr>
                        <a:t>＞</a:t>
                      </a:r>
                      <a:r>
                        <a:rPr lang="en-US" altLang="zh-CN" sz="1600" b="1">
                          <a:effectLst>
                            <a:outerShdw blurRad="38100" dist="38100" dir="2700000" algn="tl">
                              <a:srgbClr val="000000">
                                <a:alpha val="43137"/>
                              </a:srgbClr>
                            </a:outerShdw>
                          </a:effectLst>
                        </a:rPr>
                        <a:t>180</a:t>
                      </a:r>
                      <a:endParaRPr lang="zh-CN" altLang="en-US" sz="1600" b="1">
                        <a:effectLst>
                          <a:outerShdw blurRad="38100" dist="38100" dir="2700000" algn="tl">
                            <a:srgbClr val="000000">
                              <a:alpha val="43137"/>
                            </a:srgbClr>
                          </a:outerShdw>
                        </a:effectLst>
                      </a:endParaRPr>
                    </a:p>
                  </a:txBody>
                  <a:tcPr/>
                </a:tc>
                <a:tc>
                  <a:txBody>
                    <a:bodyPr/>
                    <a:lstStyle/>
                    <a:p>
                      <a:r>
                        <a:rPr lang="zh-CN" altLang="en-US" sz="1200" b="1">
                          <a:solidFill>
                            <a:schemeClr val="bg2">
                              <a:lumMod val="10000"/>
                            </a:schemeClr>
                          </a:solidFill>
                          <a:effectLst>
                            <a:outerShdw blurRad="38100" dist="38100" dir="2700000" algn="tl">
                              <a:srgbClr val="000000">
                                <a:alpha val="43137"/>
                              </a:srgbClr>
                            </a:outerShdw>
                          </a:effectLst>
                        </a:rPr>
                        <a:t>严重高血压</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1">
                          <a:solidFill>
                            <a:schemeClr val="bg2">
                              <a:lumMod val="10000"/>
                            </a:schemeClr>
                          </a:solidFill>
                          <a:effectLst>
                            <a:outerShdw blurRad="38100" dist="38100" dir="2700000" algn="tl">
                              <a:srgbClr val="000000">
                                <a:alpha val="43137"/>
                              </a:srgbClr>
                            </a:outerShdw>
                          </a:effectLst>
                        </a:rPr>
                        <a:t>治疗</a:t>
                      </a:r>
                    </a:p>
                    <a:p>
                      <a:endParaRPr lang="zh-CN" altLang="en-US" sz="1200" b="1">
                        <a:solidFill>
                          <a:schemeClr val="bg2">
                            <a:lumMod val="10000"/>
                          </a:schemeClr>
                        </a:solidFill>
                        <a:effectLst>
                          <a:outerShdw blurRad="38100" dist="38100" dir="2700000" algn="tl">
                            <a:srgbClr val="000000">
                              <a:alpha val="43137"/>
                            </a:srgbClr>
                          </a:outerShdw>
                        </a:effectLst>
                      </a:endParaRPr>
                    </a:p>
                  </a:txBody>
                  <a:tcPr/>
                </a:tc>
                <a:extLst>
                  <a:ext uri="{0D108BD9-81ED-4DB2-BD59-A6C34878D82A}">
                    <a16:rowId xmlns:a16="http://schemas.microsoft.com/office/drawing/2014/main" val="330339960"/>
                  </a:ext>
                </a:extLst>
              </a:tr>
            </a:tbl>
          </a:graphicData>
        </a:graphic>
      </p:graphicFrame>
      <p:sp>
        <p:nvSpPr>
          <p:cNvPr id="3" name="文本框 2">
            <a:extLst>
              <a:ext uri="{FF2B5EF4-FFF2-40B4-BE49-F238E27FC236}">
                <a16:creationId xmlns:a16="http://schemas.microsoft.com/office/drawing/2014/main" id="{8C789EAB-E160-44F8-8200-2007F5B4A02F}"/>
              </a:ext>
            </a:extLst>
          </p:cNvPr>
          <p:cNvSpPr txBox="1"/>
          <p:nvPr/>
        </p:nvSpPr>
        <p:spPr>
          <a:xfrm>
            <a:off x="319491" y="6059126"/>
            <a:ext cx="2748886" cy="276999"/>
          </a:xfrm>
          <a:prstGeom prst="rect">
            <a:avLst/>
          </a:prstGeom>
          <a:noFill/>
        </p:spPr>
        <p:txBody>
          <a:bodyPr wrap="square" rtlCol="0">
            <a:spAutoFit/>
          </a:bodyPr>
          <a:lstStyle/>
          <a:p>
            <a:r>
              <a:rPr lang="zh-CN" altLang="en-US" sz="1200">
                <a:latin typeface="+mn-ea"/>
                <a:ea typeface="+mn-ea"/>
              </a:rPr>
              <a:t>猫的血压于早</a:t>
            </a:r>
            <a:r>
              <a:rPr lang="en-US" altLang="zh-CN" sz="1200">
                <a:latin typeface="+mn-ea"/>
                <a:ea typeface="+mn-ea"/>
              </a:rPr>
              <a:t>8</a:t>
            </a:r>
            <a:r>
              <a:rPr lang="zh-CN" altLang="en-US" sz="1200">
                <a:latin typeface="+mn-ea"/>
                <a:ea typeface="+mn-ea"/>
              </a:rPr>
              <a:t>点，晚</a:t>
            </a:r>
            <a:r>
              <a:rPr lang="en-US" altLang="zh-CN" sz="1200">
                <a:latin typeface="+mn-ea"/>
                <a:ea typeface="+mn-ea"/>
              </a:rPr>
              <a:t>7</a:t>
            </a:r>
            <a:r>
              <a:rPr lang="zh-CN" altLang="en-US" sz="1200">
                <a:latin typeface="+mn-ea"/>
                <a:ea typeface="+mn-ea"/>
              </a:rPr>
              <a:t>点处于高峰</a:t>
            </a:r>
          </a:p>
        </p:txBody>
      </p:sp>
    </p:spTree>
    <p:extLst>
      <p:ext uri="{BB962C8B-B14F-4D97-AF65-F5344CB8AC3E}">
        <p14:creationId xmlns:p14="http://schemas.microsoft.com/office/powerpoint/2010/main" val="186119868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p:cNvPr>
          <p:cNvGrpSpPr/>
          <p:nvPr/>
        </p:nvGrpSpPr>
        <p:grpSpPr>
          <a:xfrm>
            <a:off x="4866703" y="690832"/>
            <a:ext cx="7320137" cy="1035882"/>
            <a:chOff x="8112223" y="330677"/>
            <a:chExt cx="4194115" cy="1035882"/>
          </a:xfrm>
          <a:effectLst>
            <a:outerShdw blurRad="50800" dist="38100" dir="5400000" algn="t" rotWithShape="0">
              <a:prstClr val="black">
                <a:alpha val="40000"/>
              </a:prstClr>
            </a:outerShdw>
          </a:effectLst>
        </p:grpSpPr>
        <p:sp>
          <p:nvSpPr>
            <p:cNvPr id="27"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8281096" y="330677"/>
              <a:ext cx="4013203" cy="985057"/>
              <a:chOff x="-461843" y="2729730"/>
              <a:chExt cx="4727020" cy="1377463"/>
            </a:xfrm>
          </p:grpSpPr>
          <p:sp>
            <p:nvSpPr>
              <p:cNvPr id="29"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1402351" y="2972777"/>
                <a:ext cx="2862826" cy="81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latin typeface="+mn-lt"/>
                    <a:ea typeface="+mn-ea"/>
                    <a:cs typeface="+mn-ea"/>
                    <a:sym typeface="+mn-lt"/>
                  </a:rPr>
                  <a:t>猫低血钾啥表现？咋治？</a:t>
                </a:r>
                <a:endParaRPr lang="en-US" altLang="zh-CN" sz="2400" b="1">
                  <a:solidFill>
                    <a:srgbClr val="010101"/>
                  </a:solidFill>
                  <a:latin typeface="+mn-lt"/>
                  <a:ea typeface="+mn-ea"/>
                  <a:cs typeface="+mn-ea"/>
                  <a:sym typeface="+mn-lt"/>
                </a:endParaRPr>
              </a:p>
            </p:txBody>
          </p:sp>
          <p:cxnSp>
            <p:nvCxnSpPr>
              <p:cNvPr id="31" name="直接连接符 30">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506334" y="3461620"/>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cxnSp>
        <p:nvCxnSpPr>
          <p:cNvPr id="49" name="直接连接符 48">
            <a:extLst/>
          </p:cNvPr>
          <p:cNvCxnSpPr/>
          <p:nvPr/>
        </p:nvCxnSpPr>
        <p:spPr>
          <a:xfrm flipH="1">
            <a:off x="6107113" y="3668713"/>
            <a:ext cx="19050" cy="1079500"/>
          </a:xfrm>
          <a:prstGeom prst="line">
            <a:avLst/>
          </a:prstGeom>
          <a:ln w="50800">
            <a:solidFill>
              <a:srgbClr val="4F4F4F"/>
            </a:solidFill>
          </a:ln>
        </p:spPr>
        <p:style>
          <a:lnRef idx="1">
            <a:schemeClr val="accent1"/>
          </a:lnRef>
          <a:fillRef idx="0">
            <a:schemeClr val="accent1"/>
          </a:fillRef>
          <a:effectRef idx="0">
            <a:schemeClr val="accent1"/>
          </a:effectRef>
          <a:fontRef idx="minor">
            <a:schemeClr val="tx1"/>
          </a:fontRef>
        </p:style>
      </p:cxnSp>
      <p:grpSp>
        <p:nvGrpSpPr>
          <p:cNvPr id="37893" name="组合 1"/>
          <p:cNvGrpSpPr>
            <a:grpSpLocks/>
          </p:cNvGrpSpPr>
          <p:nvPr/>
        </p:nvGrpSpPr>
        <p:grpSpPr bwMode="auto">
          <a:xfrm>
            <a:off x="6579049" y="2401343"/>
            <a:ext cx="5099061" cy="3947308"/>
            <a:chOff x="6715662" y="2608336"/>
            <a:chExt cx="4715907" cy="3946270"/>
          </a:xfrm>
        </p:grpSpPr>
        <p:grpSp>
          <p:nvGrpSpPr>
            <p:cNvPr id="37894" name="组合 14"/>
            <p:cNvGrpSpPr>
              <a:grpSpLocks/>
            </p:cNvGrpSpPr>
            <p:nvPr/>
          </p:nvGrpSpPr>
          <p:grpSpPr bwMode="auto">
            <a:xfrm>
              <a:off x="6931323" y="2608336"/>
              <a:ext cx="4500246" cy="718135"/>
              <a:chOff x="3936148" y="1692543"/>
              <a:chExt cx="4500246" cy="718135"/>
            </a:xfrm>
          </p:grpSpPr>
          <p:sp>
            <p:nvSpPr>
              <p:cNvPr id="55" name="文本框 66">
                <a:extLst/>
              </p:cNvPr>
              <p:cNvSpPr txBox="1">
                <a:spLocks noChangeArrowheads="1"/>
              </p:cNvSpPr>
              <p:nvPr/>
            </p:nvSpPr>
            <p:spPr bwMode="auto">
              <a:xfrm>
                <a:off x="3966308" y="1692543"/>
                <a:ext cx="4258964" cy="461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spcBef>
                    <a:spcPts val="0"/>
                  </a:spcBef>
                  <a:spcAft>
                    <a:spcPts val="0"/>
                  </a:spcAft>
                  <a:defRPr/>
                </a:pPr>
                <a:endParaRPr lang="zh-CN" altLang="en-US" sz="2400" b="1" kern="0">
                  <a:solidFill>
                    <a:srgbClr val="4F4F4F"/>
                  </a:solidFill>
                  <a:latin typeface="+mn-lt"/>
                  <a:ea typeface="+mn-ea"/>
                  <a:cs typeface="+mn-ea"/>
                  <a:sym typeface="+mn-lt"/>
                </a:endParaRPr>
              </a:p>
            </p:txBody>
          </p:sp>
          <p:sp>
            <p:nvSpPr>
              <p:cNvPr id="56" name="矩形 55">
                <a:extLst/>
              </p:cNvPr>
              <p:cNvSpPr/>
              <p:nvPr/>
            </p:nvSpPr>
            <p:spPr>
              <a:xfrm>
                <a:off x="3936148" y="2133752"/>
                <a:ext cx="4500246" cy="276926"/>
              </a:xfrm>
              <a:prstGeom prst="rect">
                <a:avLst/>
              </a:prstGeom>
            </p:spPr>
            <p:txBody>
              <a:bodyPr>
                <a:spAutoFit/>
              </a:bodyPr>
              <a:lstStyle/>
              <a:p>
                <a:pPr eaLnBrk="1" fontAlgn="auto" hangingPunct="1">
                  <a:spcBef>
                    <a:spcPts val="0"/>
                  </a:spcBef>
                  <a:spcAft>
                    <a:spcPts val="0"/>
                  </a:spcAft>
                  <a:defRPr/>
                </a:pPr>
                <a:endParaRPr lang="zh-CN" altLang="en-US" sz="1200" kern="0">
                  <a:solidFill>
                    <a:srgbClr val="4F4F4F"/>
                  </a:solidFill>
                  <a:latin typeface="+mn-lt"/>
                  <a:ea typeface="+mn-ea"/>
                  <a:cs typeface="+mn-ea"/>
                  <a:sym typeface="+mn-lt"/>
                </a:endParaRPr>
              </a:p>
            </p:txBody>
          </p:sp>
        </p:grpSp>
        <p:sp>
          <p:nvSpPr>
            <p:cNvPr id="52" name="矩形 3">
              <a:extLst/>
            </p:cNvPr>
            <p:cNvSpPr>
              <a:spLocks noChangeArrowheads="1"/>
            </p:cNvSpPr>
            <p:nvPr/>
          </p:nvSpPr>
          <p:spPr bwMode="auto">
            <a:xfrm>
              <a:off x="6715662" y="3354572"/>
              <a:ext cx="4470086" cy="3200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457200" indent="-457200" eaLnBrk="1" fontAlgn="auto" hangingPunct="1">
                <a:lnSpc>
                  <a:spcPct val="100000"/>
                </a:lnSpc>
                <a:spcBef>
                  <a:spcPct val="0"/>
                </a:spcBef>
                <a:spcAft>
                  <a:spcPts val="0"/>
                </a:spcAft>
                <a:buFont typeface="Wingdings" panose="05000000000000000000" pitchFamily="2" charset="2"/>
                <a:buChar char="ü"/>
                <a:defRPr/>
              </a:pPr>
              <a:r>
                <a:rPr lang="zh-CN" altLang="en-US" sz="2000" kern="0">
                  <a:solidFill>
                    <a:srgbClr val="4F4F4F"/>
                  </a:solidFill>
                  <a:latin typeface="+mj-ea"/>
                  <a:ea typeface="+mj-ea"/>
                  <a:cs typeface="+mn-ea"/>
                  <a:sym typeface="+mn-lt"/>
                </a:rPr>
                <a:t>后肢乏力</a:t>
              </a:r>
              <a:endParaRPr lang="en-US" altLang="zh-CN" sz="2000" kern="0">
                <a:solidFill>
                  <a:srgbClr val="4F4F4F"/>
                </a:solidFill>
                <a:latin typeface="+mj-ea"/>
                <a:ea typeface="+mj-ea"/>
                <a:cs typeface="+mn-ea"/>
                <a:sym typeface="+mn-lt"/>
              </a:endParaRPr>
            </a:p>
            <a:p>
              <a:pPr marL="457200" indent="-457200" eaLnBrk="1" fontAlgn="auto" hangingPunct="1">
                <a:lnSpc>
                  <a:spcPct val="100000"/>
                </a:lnSpc>
                <a:spcBef>
                  <a:spcPct val="0"/>
                </a:spcBef>
                <a:spcAft>
                  <a:spcPts val="0"/>
                </a:spcAft>
                <a:buFont typeface="Wingdings" panose="05000000000000000000" pitchFamily="2" charset="2"/>
                <a:buChar char="ü"/>
                <a:defRPr/>
              </a:pPr>
              <a:r>
                <a:rPr lang="zh-CN" altLang="en-US" sz="2000" kern="0">
                  <a:solidFill>
                    <a:srgbClr val="4F4F4F"/>
                  </a:solidFill>
                  <a:latin typeface="+mj-ea"/>
                  <a:ea typeface="+mj-ea"/>
                  <a:cs typeface="+mn-ea"/>
                  <a:sym typeface="+mn-lt"/>
                </a:rPr>
                <a:t>站立时前肢上提</a:t>
              </a:r>
              <a:endParaRPr lang="en-US" altLang="zh-CN" sz="2000" kern="0">
                <a:solidFill>
                  <a:srgbClr val="4F4F4F"/>
                </a:solidFill>
                <a:latin typeface="+mj-ea"/>
                <a:ea typeface="+mj-ea"/>
                <a:cs typeface="+mn-ea"/>
                <a:sym typeface="+mn-lt"/>
              </a:endParaRPr>
            </a:p>
            <a:p>
              <a:pPr marL="457200" indent="-457200" eaLnBrk="1" fontAlgn="auto" hangingPunct="1">
                <a:lnSpc>
                  <a:spcPct val="100000"/>
                </a:lnSpc>
                <a:spcBef>
                  <a:spcPct val="0"/>
                </a:spcBef>
                <a:spcAft>
                  <a:spcPts val="0"/>
                </a:spcAft>
                <a:buFont typeface="Wingdings" panose="05000000000000000000" pitchFamily="2" charset="2"/>
                <a:buChar char="ü"/>
                <a:defRPr/>
              </a:pPr>
              <a:r>
                <a:rPr lang="zh-CN" altLang="en-US" sz="2000" kern="0">
                  <a:solidFill>
                    <a:srgbClr val="4F4F4F"/>
                  </a:solidFill>
                  <a:latin typeface="+mj-ea"/>
                  <a:ea typeface="+mj-ea"/>
                  <a:cs typeface="+mn-ea"/>
                  <a:sym typeface="+mn-lt"/>
                </a:rPr>
                <a:t>声音嘶哑</a:t>
              </a:r>
              <a:endParaRPr lang="en-US" altLang="zh-CN" sz="2000" kern="0">
                <a:solidFill>
                  <a:srgbClr val="4F4F4F"/>
                </a:solidFill>
                <a:latin typeface="+mj-ea"/>
                <a:ea typeface="+mj-ea"/>
                <a:cs typeface="+mn-ea"/>
                <a:sym typeface="+mn-lt"/>
              </a:endParaRPr>
            </a:p>
            <a:p>
              <a:pPr marL="457200" indent="-457200" eaLnBrk="1" fontAlgn="auto" hangingPunct="1">
                <a:lnSpc>
                  <a:spcPct val="100000"/>
                </a:lnSpc>
                <a:spcBef>
                  <a:spcPct val="0"/>
                </a:spcBef>
                <a:spcAft>
                  <a:spcPts val="0"/>
                </a:spcAft>
                <a:buFont typeface="Wingdings" panose="05000000000000000000" pitchFamily="2" charset="2"/>
                <a:buChar char="ü"/>
                <a:defRPr/>
              </a:pPr>
              <a:r>
                <a:rPr lang="zh-CN" altLang="en-US" sz="2000" kern="0">
                  <a:solidFill>
                    <a:srgbClr val="4F4F4F"/>
                  </a:solidFill>
                  <a:latin typeface="+mj-ea"/>
                  <a:ea typeface="+mj-ea"/>
                  <a:cs typeface="+mn-ea"/>
                  <a:sym typeface="+mn-lt"/>
                </a:rPr>
                <a:t>脖子僵硬，抬头困难</a:t>
              </a:r>
              <a:endParaRPr lang="en-US" altLang="zh-CN" sz="2000" kern="0">
                <a:solidFill>
                  <a:srgbClr val="4F4F4F"/>
                </a:solidFill>
                <a:latin typeface="+mj-ea"/>
                <a:ea typeface="+mj-ea"/>
                <a:cs typeface="+mn-ea"/>
                <a:sym typeface="+mn-lt"/>
              </a:endParaRPr>
            </a:p>
            <a:p>
              <a:pPr marL="457200" indent="-457200" eaLnBrk="1" fontAlgn="auto" hangingPunct="1">
                <a:lnSpc>
                  <a:spcPct val="100000"/>
                </a:lnSpc>
                <a:spcBef>
                  <a:spcPct val="0"/>
                </a:spcBef>
                <a:spcAft>
                  <a:spcPts val="0"/>
                </a:spcAft>
                <a:buFont typeface="Wingdings" panose="05000000000000000000" pitchFamily="2" charset="2"/>
                <a:buChar char="ü"/>
                <a:defRPr/>
              </a:pPr>
              <a:r>
                <a:rPr lang="zh-CN" altLang="en-US" sz="2000" kern="0">
                  <a:solidFill>
                    <a:srgbClr val="4F4F4F"/>
                  </a:solidFill>
                  <a:latin typeface="+mj-ea"/>
                  <a:ea typeface="+mj-ea"/>
                  <a:cs typeface="+mn-ea"/>
                  <a:sym typeface="+mn-lt"/>
                </a:rPr>
                <a:t>便秘</a:t>
              </a:r>
              <a:endParaRPr lang="en-US" altLang="zh-CN" sz="2000" kern="0">
                <a:solidFill>
                  <a:srgbClr val="4F4F4F"/>
                </a:solidFill>
                <a:latin typeface="+mj-ea"/>
                <a:ea typeface="+mj-ea"/>
                <a:cs typeface="+mn-ea"/>
                <a:sym typeface="+mn-lt"/>
              </a:endParaRPr>
            </a:p>
            <a:p>
              <a:pPr marL="457200" indent="-457200" eaLnBrk="1" fontAlgn="auto" hangingPunct="1">
                <a:lnSpc>
                  <a:spcPct val="100000"/>
                </a:lnSpc>
                <a:spcBef>
                  <a:spcPct val="0"/>
                </a:spcBef>
                <a:spcAft>
                  <a:spcPts val="0"/>
                </a:spcAft>
                <a:buFont typeface="Wingdings" panose="05000000000000000000" pitchFamily="2" charset="2"/>
                <a:buChar char="ü"/>
                <a:defRPr/>
              </a:pPr>
              <a:r>
                <a:rPr lang="zh-CN" altLang="en-US" sz="2000" kern="0">
                  <a:solidFill>
                    <a:srgbClr val="4F4F4F"/>
                  </a:solidFill>
                  <a:latin typeface="+mj-ea"/>
                  <a:ea typeface="+mj-ea"/>
                  <a:cs typeface="+mn-ea"/>
                  <a:sym typeface="+mn-lt"/>
                </a:rPr>
                <a:t>萎靡、丧失食欲</a:t>
              </a:r>
              <a:endParaRPr lang="en-US" altLang="zh-CN" sz="2000" kern="0">
                <a:solidFill>
                  <a:srgbClr val="4F4F4F"/>
                </a:solidFill>
                <a:latin typeface="+mj-ea"/>
                <a:ea typeface="+mj-ea"/>
                <a:cs typeface="+mn-ea"/>
                <a:sym typeface="+mn-lt"/>
              </a:endParaRPr>
            </a:p>
            <a:p>
              <a:pPr marL="457200" indent="-457200" eaLnBrk="1" fontAlgn="auto" hangingPunct="1">
                <a:lnSpc>
                  <a:spcPct val="100000"/>
                </a:lnSpc>
                <a:spcBef>
                  <a:spcPct val="0"/>
                </a:spcBef>
                <a:spcAft>
                  <a:spcPts val="0"/>
                </a:spcAft>
                <a:buFont typeface="Wingdings" panose="05000000000000000000" pitchFamily="2" charset="2"/>
                <a:buChar char="n"/>
                <a:defRPr/>
              </a:pPr>
              <a:endParaRPr lang="en-US" altLang="zh-CN" sz="2000" kern="0">
                <a:solidFill>
                  <a:srgbClr val="4F4F4F"/>
                </a:solidFill>
                <a:latin typeface="+mj-ea"/>
                <a:ea typeface="+mj-ea"/>
                <a:cs typeface="+mn-ea"/>
                <a:sym typeface="+mn-lt"/>
              </a:endParaRPr>
            </a:p>
            <a:p>
              <a:pPr marL="457200" indent="-457200" eaLnBrk="1" fontAlgn="auto" hangingPunct="1">
                <a:lnSpc>
                  <a:spcPct val="100000"/>
                </a:lnSpc>
                <a:spcBef>
                  <a:spcPct val="0"/>
                </a:spcBef>
                <a:spcAft>
                  <a:spcPts val="0"/>
                </a:spcAft>
                <a:buFont typeface="Wingdings" panose="05000000000000000000" pitchFamily="2" charset="2"/>
                <a:buChar char="n"/>
                <a:defRPr/>
              </a:pPr>
              <a:endParaRPr lang="en-US" altLang="zh-CN" sz="2000" kern="0">
                <a:solidFill>
                  <a:srgbClr val="4F4F4F"/>
                </a:solidFill>
                <a:latin typeface="+mj-ea"/>
                <a:ea typeface="+mj-ea"/>
                <a:cs typeface="+mn-ea"/>
                <a:sym typeface="+mn-lt"/>
              </a:endParaRPr>
            </a:p>
            <a:p>
              <a:pPr eaLnBrk="1" fontAlgn="auto" hangingPunct="1">
                <a:lnSpc>
                  <a:spcPct val="100000"/>
                </a:lnSpc>
                <a:spcBef>
                  <a:spcPct val="0"/>
                </a:spcBef>
                <a:spcAft>
                  <a:spcPts val="0"/>
                </a:spcAft>
                <a:buNone/>
                <a:defRPr/>
              </a:pPr>
              <a:endParaRPr lang="en-US" altLang="zh-CN" sz="1400" kern="0">
                <a:solidFill>
                  <a:srgbClr val="4F4F4F"/>
                </a:solidFill>
                <a:cs typeface="+mn-ea"/>
                <a:sym typeface="+mn-lt"/>
              </a:endParaRPr>
            </a:p>
            <a:p>
              <a:pPr eaLnBrk="1" fontAlgn="auto" hangingPunct="1">
                <a:lnSpc>
                  <a:spcPct val="100000"/>
                </a:lnSpc>
                <a:spcBef>
                  <a:spcPct val="0"/>
                </a:spcBef>
                <a:spcAft>
                  <a:spcPts val="0"/>
                </a:spcAft>
                <a:buFont typeface="Arial" panose="020B0604020202020204" pitchFamily="34" charset="0"/>
                <a:buNone/>
                <a:defRPr/>
              </a:pPr>
              <a:endParaRPr lang="en-US" altLang="zh-CN" sz="1400" kern="0">
                <a:solidFill>
                  <a:srgbClr val="4F4F4F"/>
                </a:solidFill>
                <a:latin typeface="+mn-lt"/>
                <a:ea typeface="+mn-ea"/>
                <a:cs typeface="+mn-ea"/>
                <a:sym typeface="+mn-lt"/>
              </a:endParaRPr>
            </a:p>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sp>
          <p:nvSpPr>
            <p:cNvPr id="53" name="矩形 3">
              <a:extLst/>
            </p:cNvPr>
            <p:cNvSpPr>
              <a:spLocks noChangeArrowheads="1"/>
            </p:cNvSpPr>
            <p:nvPr/>
          </p:nvSpPr>
          <p:spPr bwMode="auto">
            <a:xfrm>
              <a:off x="6931323" y="4487442"/>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sp>
          <p:nvSpPr>
            <p:cNvPr id="54" name="矩形 3">
              <a:extLst/>
            </p:cNvPr>
            <p:cNvSpPr>
              <a:spLocks noChangeArrowheads="1"/>
            </p:cNvSpPr>
            <p:nvPr/>
          </p:nvSpPr>
          <p:spPr bwMode="auto">
            <a:xfrm>
              <a:off x="6931323" y="5273048"/>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grpSp>
      <p:sp>
        <p:nvSpPr>
          <p:cNvPr id="6" name="文本框 5">
            <a:extLst>
              <a:ext uri="{FF2B5EF4-FFF2-40B4-BE49-F238E27FC236}">
                <a16:creationId xmlns:a16="http://schemas.microsoft.com/office/drawing/2014/main" id="{7AF0A42C-355B-4056-95A2-1E4221AF1B02}"/>
              </a:ext>
            </a:extLst>
          </p:cNvPr>
          <p:cNvSpPr txBox="1"/>
          <p:nvPr/>
        </p:nvSpPr>
        <p:spPr>
          <a:xfrm>
            <a:off x="1526118" y="5358161"/>
            <a:ext cx="3387608" cy="307777"/>
          </a:xfrm>
          <a:prstGeom prst="rect">
            <a:avLst/>
          </a:prstGeom>
          <a:noFill/>
        </p:spPr>
        <p:txBody>
          <a:bodyPr wrap="square" rtlCol="0">
            <a:spAutoFit/>
          </a:bodyPr>
          <a:lstStyle/>
          <a:p>
            <a:r>
              <a:rPr lang="zh-CN" altLang="en-US" sz="1400" b="1">
                <a:latin typeface="+mj-ea"/>
                <a:ea typeface="+mj-ea"/>
              </a:rPr>
              <a:t>抬头困难与脖子僵硬是低钾的表现之一</a:t>
            </a:r>
          </a:p>
        </p:txBody>
      </p:sp>
      <p:pic>
        <p:nvPicPr>
          <p:cNvPr id="14" name="图片 13">
            <a:extLst>
              <a:ext uri="{FF2B5EF4-FFF2-40B4-BE49-F238E27FC236}">
                <a16:creationId xmlns:a16="http://schemas.microsoft.com/office/drawing/2014/main" id="{0D7C23A1-B1B8-4DCA-8C6B-C37583369B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4536" y="2930426"/>
            <a:ext cx="3050771" cy="2286000"/>
          </a:xfrm>
          <a:prstGeom prst="rect">
            <a:avLst/>
          </a:prstGeom>
        </p:spPr>
      </p:pic>
    </p:spTree>
    <p:extLst>
      <p:ext uri="{BB962C8B-B14F-4D97-AF65-F5344CB8AC3E}">
        <p14:creationId xmlns:p14="http://schemas.microsoft.com/office/powerpoint/2010/main" val="301454751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0" name="箭头: 五边形 6">
            <a:extLst/>
          </p:cNvPr>
          <p:cNvSpPr/>
          <p:nvPr/>
        </p:nvSpPr>
        <p:spPr>
          <a:xfrm rot="10800000" flipH="1">
            <a:off x="0" y="404813"/>
            <a:ext cx="7392144" cy="1344612"/>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grpSp>
        <p:nvGrpSpPr>
          <p:cNvPr id="30724" name="组合 22"/>
          <p:cNvGrpSpPr>
            <a:grpSpLocks/>
          </p:cNvGrpSpPr>
          <p:nvPr/>
        </p:nvGrpSpPr>
        <p:grpSpPr bwMode="auto">
          <a:xfrm>
            <a:off x="196850" y="404813"/>
            <a:ext cx="5779784" cy="1134998"/>
            <a:chOff x="-101400" y="2876417"/>
            <a:chExt cx="5114992" cy="1134983"/>
          </a:xfrm>
        </p:grpSpPr>
        <p:sp>
          <p:nvSpPr>
            <p:cNvPr id="20494" name="文本框 13">
              <a:extLst/>
            </p:cNvPr>
            <p:cNvSpPr txBox="1">
              <a:spLocks noChangeArrowheads="1"/>
            </p:cNvSpPr>
            <p:nvPr/>
          </p:nvSpPr>
          <p:spPr bwMode="auto">
            <a:xfrm>
              <a:off x="-101400" y="2876417"/>
              <a:ext cx="1343136" cy="825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600" b="1">
                  <a:solidFill>
                    <a:srgbClr val="010101"/>
                  </a:solidFill>
                  <a:latin typeface="+mn-lt"/>
                  <a:ea typeface="+mn-ea"/>
                  <a:cs typeface="+mn-ea"/>
                  <a:sym typeface="+mn-lt"/>
                </a:rPr>
                <a:t>PART</a:t>
              </a:r>
            </a:p>
          </p:txBody>
        </p:sp>
        <p:sp>
          <p:nvSpPr>
            <p:cNvPr id="20495" name="文本框 14">
              <a:extLst/>
            </p:cNvPr>
            <p:cNvSpPr txBox="1">
              <a:spLocks noChangeArrowheads="1"/>
            </p:cNvSpPr>
            <p:nvPr/>
          </p:nvSpPr>
          <p:spPr bwMode="auto">
            <a:xfrm>
              <a:off x="2150733" y="3430993"/>
              <a:ext cx="2862859" cy="580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endParaRPr lang="en-US" altLang="zh-CN" sz="2400">
                <a:solidFill>
                  <a:srgbClr val="010101"/>
                </a:solidFill>
                <a:latin typeface="+mn-lt"/>
                <a:ea typeface="+mn-ea"/>
                <a:cs typeface="+mn-ea"/>
                <a:sym typeface="+mn-lt"/>
              </a:endParaRPr>
            </a:p>
          </p:txBody>
        </p:sp>
        <p:cxnSp>
          <p:nvCxnSpPr>
            <p:cNvPr id="24" name="直接连接符 23">
              <a:extLst/>
            </p:cNvPr>
            <p:cNvCxnSpPr>
              <a:cxnSpLocks/>
            </p:cNvCxnSpPr>
            <p:nvPr/>
          </p:nvCxnSpPr>
          <p:spPr>
            <a:xfrm flipH="1">
              <a:off x="489901" y="3171688"/>
              <a:ext cx="1074241" cy="722302"/>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0497" name="矩形 20">
              <a:extLst/>
            </p:cNvPr>
            <p:cNvSpPr>
              <a:spLocks noChangeArrowheads="1"/>
            </p:cNvSpPr>
            <p:nvPr/>
          </p:nvSpPr>
          <p:spPr bwMode="auto">
            <a:xfrm>
              <a:off x="618328" y="3473309"/>
              <a:ext cx="1824424" cy="52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lvl="1">
                <a:lnSpc>
                  <a:spcPct val="100000"/>
                </a:lnSpc>
                <a:spcBef>
                  <a:spcPct val="0"/>
                </a:spcBef>
                <a:buFontTx/>
                <a:buNone/>
                <a:defRPr/>
              </a:pPr>
              <a:r>
                <a:rPr lang="en-US" altLang="zh-CN" sz="2800" b="1">
                  <a:solidFill>
                    <a:srgbClr val="010101"/>
                  </a:solidFill>
                  <a:latin typeface="+mn-lt"/>
                  <a:ea typeface="+mn-ea"/>
                  <a:cs typeface="+mn-ea"/>
                  <a:sym typeface="+mn-lt"/>
                </a:rPr>
                <a:t>THREE</a:t>
              </a:r>
              <a:endParaRPr lang="zh-CN" altLang="en-US" sz="1400">
                <a:latin typeface="+mn-lt"/>
                <a:ea typeface="+mn-ea"/>
                <a:cs typeface="+mn-ea"/>
                <a:sym typeface="+mn-lt"/>
              </a:endParaRPr>
            </a:p>
          </p:txBody>
        </p:sp>
      </p:grpSp>
      <p:sp>
        <p:nvSpPr>
          <p:cNvPr id="8" name="文本框 7"/>
          <p:cNvSpPr txBox="1"/>
          <p:nvPr/>
        </p:nvSpPr>
        <p:spPr>
          <a:xfrm>
            <a:off x="254618" y="2470092"/>
            <a:ext cx="5683126" cy="615553"/>
          </a:xfrm>
          <a:prstGeom prst="rect">
            <a:avLst/>
          </a:prstGeom>
          <a:noFill/>
        </p:spPr>
        <p:txBody>
          <a:bodyPr wrap="square" numCol="2" rtlCol="0">
            <a:spAutoFit/>
          </a:bodyPr>
          <a:lstStyle/>
          <a:p>
            <a:pPr lvl="1"/>
            <a:endParaRPr lang="en-US" altLang="zh-CN" sz="1600" b="1">
              <a:solidFill>
                <a:schemeClr val="tx1">
                  <a:lumMod val="75000"/>
                  <a:lumOff val="25000"/>
                </a:schemeClr>
              </a:solidFill>
              <a:effectLst>
                <a:outerShdw blurRad="38100" dist="38100" dir="2700000" algn="tl">
                  <a:srgbClr val="000000">
                    <a:alpha val="43137"/>
                  </a:srgbClr>
                </a:outerShdw>
              </a:effectLst>
              <a:latin typeface="+mj-ea"/>
            </a:endParaRPr>
          </a:p>
          <a:p>
            <a:endParaRPr lang="zh-CN" altLang="en-US"/>
          </a:p>
        </p:txBody>
      </p:sp>
      <p:sp>
        <p:nvSpPr>
          <p:cNvPr id="2" name="文本框 1"/>
          <p:cNvSpPr txBox="1"/>
          <p:nvPr/>
        </p:nvSpPr>
        <p:spPr>
          <a:xfrm>
            <a:off x="2926404" y="1145317"/>
            <a:ext cx="4721408" cy="461665"/>
          </a:xfrm>
          <a:prstGeom prst="rect">
            <a:avLst/>
          </a:prstGeom>
          <a:noFill/>
        </p:spPr>
        <p:txBody>
          <a:bodyPr wrap="square" rtlCol="0">
            <a:spAutoFit/>
          </a:bodyPr>
          <a:lstStyle/>
          <a:p>
            <a:r>
              <a:rPr lang="zh-CN" altLang="en-US" sz="2400" b="1">
                <a:solidFill>
                  <a:schemeClr val="tx2">
                    <a:lumMod val="75000"/>
                  </a:schemeClr>
                </a:solidFill>
                <a:latin typeface="+mj-ea"/>
                <a:ea typeface="+mj-ea"/>
              </a:rPr>
              <a:t>治疗低血钾 </a:t>
            </a:r>
            <a:r>
              <a:rPr lang="en-US" altLang="zh-CN" sz="2400" b="1">
                <a:solidFill>
                  <a:schemeClr val="tx2">
                    <a:lumMod val="75000"/>
                  </a:schemeClr>
                </a:solidFill>
                <a:latin typeface="+mj-ea"/>
                <a:ea typeface="+mj-ea"/>
              </a:rPr>
              <a:t>Hypokalemia</a:t>
            </a:r>
            <a:endParaRPr lang="zh-CN" altLang="en-US" sz="2400" b="1">
              <a:solidFill>
                <a:schemeClr val="tx2">
                  <a:lumMod val="75000"/>
                </a:schemeClr>
              </a:solidFill>
              <a:latin typeface="+mj-ea"/>
              <a:ea typeface="+mj-ea"/>
            </a:endParaRPr>
          </a:p>
        </p:txBody>
      </p:sp>
      <p:sp>
        <p:nvSpPr>
          <p:cNvPr id="4" name="文本框 3"/>
          <p:cNvSpPr txBox="1"/>
          <p:nvPr/>
        </p:nvSpPr>
        <p:spPr>
          <a:xfrm>
            <a:off x="2897878" y="620688"/>
            <a:ext cx="3078756" cy="461665"/>
          </a:xfrm>
          <a:prstGeom prst="rect">
            <a:avLst/>
          </a:prstGeom>
          <a:noFill/>
        </p:spPr>
        <p:txBody>
          <a:bodyPr wrap="square" rtlCol="0">
            <a:spAutoFit/>
          </a:bodyPr>
          <a:lstStyle/>
          <a:p>
            <a:r>
              <a:rPr lang="zh-CN" altLang="en-US" sz="2400" b="1">
                <a:solidFill>
                  <a:schemeClr val="bg1"/>
                </a:solidFill>
                <a:effectLst>
                  <a:outerShdw blurRad="38100" dist="38100" dir="2700000" algn="tl">
                    <a:srgbClr val="000000">
                      <a:alpha val="43137"/>
                    </a:srgbClr>
                  </a:outerShdw>
                </a:effectLst>
                <a:latin typeface="+mj-ea"/>
                <a:ea typeface="+mj-ea"/>
              </a:rPr>
              <a:t>猫慢性肾病治疗</a:t>
            </a:r>
          </a:p>
        </p:txBody>
      </p:sp>
      <p:sp>
        <p:nvSpPr>
          <p:cNvPr id="21" name="矩形 20">
            <a:extLst>
              <a:ext uri="{FF2B5EF4-FFF2-40B4-BE49-F238E27FC236}">
                <a16:creationId xmlns:a16="http://schemas.microsoft.com/office/drawing/2014/main" id="{665B92FC-B9E6-4B02-BC89-8774CC40B9EB}"/>
              </a:ext>
            </a:extLst>
          </p:cNvPr>
          <p:cNvSpPr/>
          <p:nvPr/>
        </p:nvSpPr>
        <p:spPr>
          <a:xfrm>
            <a:off x="4514" y="1758182"/>
            <a:ext cx="3355182" cy="50998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sp>
        <p:nvSpPr>
          <p:cNvPr id="22" name="文本框 21">
            <a:extLst>
              <a:ext uri="{FF2B5EF4-FFF2-40B4-BE49-F238E27FC236}">
                <a16:creationId xmlns:a16="http://schemas.microsoft.com/office/drawing/2014/main" id="{3D9C8E33-59E3-4A85-AB15-41BDBA1BF45C}"/>
              </a:ext>
            </a:extLst>
          </p:cNvPr>
          <p:cNvSpPr txBox="1"/>
          <p:nvPr/>
        </p:nvSpPr>
        <p:spPr>
          <a:xfrm>
            <a:off x="700906" y="1904739"/>
            <a:ext cx="2370758" cy="461665"/>
          </a:xfrm>
          <a:prstGeom prst="rect">
            <a:avLst/>
          </a:prstGeom>
          <a:noFill/>
        </p:spPr>
        <p:txBody>
          <a:bodyPr wrap="square" rtlCol="0">
            <a:spAutoFit/>
          </a:bodyPr>
          <a:lstStyle/>
          <a:p>
            <a:r>
              <a:rPr lang="zh-CN" altLang="en-US" sz="2400" b="1">
                <a:solidFill>
                  <a:schemeClr val="tx2">
                    <a:lumMod val="75000"/>
                  </a:schemeClr>
                </a:solidFill>
                <a:latin typeface="+mj-ea"/>
                <a:ea typeface="+mj-ea"/>
              </a:rPr>
              <a:t>血钾（</a:t>
            </a:r>
            <a:r>
              <a:rPr lang="en-US" altLang="zh-CN" sz="2400" b="1">
                <a:solidFill>
                  <a:schemeClr val="tx2">
                    <a:lumMod val="75000"/>
                  </a:schemeClr>
                </a:solidFill>
                <a:effectLst>
                  <a:outerShdw blurRad="38100" dist="38100" dir="2700000" algn="tl">
                    <a:srgbClr val="000000">
                      <a:alpha val="43137"/>
                    </a:srgbClr>
                  </a:outerShdw>
                </a:effectLst>
                <a:latin typeface="+mj-ea"/>
                <a:ea typeface="+mj-ea"/>
              </a:rPr>
              <a:t>K</a:t>
            </a:r>
            <a:r>
              <a:rPr lang="zh-CN" altLang="en-US" sz="2400" b="1">
                <a:solidFill>
                  <a:schemeClr val="tx2">
                    <a:lumMod val="75000"/>
                  </a:schemeClr>
                </a:solidFill>
                <a:latin typeface="+mj-ea"/>
                <a:ea typeface="+mj-ea"/>
              </a:rPr>
              <a:t>）</a:t>
            </a:r>
          </a:p>
        </p:txBody>
      </p:sp>
      <p:sp>
        <p:nvSpPr>
          <p:cNvPr id="23" name="文本框 22">
            <a:extLst>
              <a:ext uri="{FF2B5EF4-FFF2-40B4-BE49-F238E27FC236}">
                <a16:creationId xmlns:a16="http://schemas.microsoft.com/office/drawing/2014/main" id="{040776E4-D042-4527-BDB0-48A53727E301}"/>
              </a:ext>
            </a:extLst>
          </p:cNvPr>
          <p:cNvSpPr txBox="1"/>
          <p:nvPr/>
        </p:nvSpPr>
        <p:spPr>
          <a:xfrm>
            <a:off x="552015" y="2518558"/>
            <a:ext cx="2012442" cy="954107"/>
          </a:xfrm>
          <a:prstGeom prst="rect">
            <a:avLst/>
          </a:prstGeom>
          <a:noFill/>
        </p:spPr>
        <p:txBody>
          <a:bodyPr wrap="square" rtlCol="0">
            <a:spAutoFit/>
          </a:bodyPr>
          <a:lstStyle/>
          <a:p>
            <a:pPr marL="0" lvl="1"/>
            <a:r>
              <a:rPr lang="en-US" altLang="zh-CN" sz="1400" b="1">
                <a:solidFill>
                  <a:schemeClr val="tx1">
                    <a:lumMod val="75000"/>
                    <a:lumOff val="25000"/>
                  </a:schemeClr>
                </a:solidFill>
                <a:effectLst>
                  <a:outerShdw blurRad="38100" dist="38100" dir="2700000" algn="tl">
                    <a:srgbClr val="000000">
                      <a:alpha val="43137"/>
                    </a:srgbClr>
                  </a:outerShdw>
                </a:effectLst>
                <a:latin typeface="+mj-ea"/>
                <a:ea typeface="+mj-ea"/>
              </a:rPr>
              <a:t>30%</a:t>
            </a:r>
            <a:r>
              <a:rPr lang="zh-CN" altLang="en-US" sz="1400" b="1">
                <a:solidFill>
                  <a:schemeClr val="tx1">
                    <a:lumMod val="75000"/>
                    <a:lumOff val="25000"/>
                  </a:schemeClr>
                </a:solidFill>
                <a:effectLst>
                  <a:outerShdw blurRad="38100" dist="38100" dir="2700000" algn="tl">
                    <a:srgbClr val="000000">
                      <a:alpha val="43137"/>
                    </a:srgbClr>
                  </a:outerShdw>
                </a:effectLst>
                <a:latin typeface="+mj-ea"/>
                <a:ea typeface="+mj-ea"/>
              </a:rPr>
              <a:t>肾病猫体内钾不足。会引发蛋白尿与肾机能恶化。晚期肾病猫则多会高血钾。</a:t>
            </a:r>
            <a:endParaRPr lang="zh-CN" altLang="en-US"/>
          </a:p>
        </p:txBody>
      </p:sp>
      <p:sp>
        <p:nvSpPr>
          <p:cNvPr id="25" name="文本框 24">
            <a:extLst>
              <a:ext uri="{FF2B5EF4-FFF2-40B4-BE49-F238E27FC236}">
                <a16:creationId xmlns:a16="http://schemas.microsoft.com/office/drawing/2014/main" id="{FD9E62CD-2C98-40EC-9C72-E2634E343380}"/>
              </a:ext>
            </a:extLst>
          </p:cNvPr>
          <p:cNvSpPr txBox="1"/>
          <p:nvPr/>
        </p:nvSpPr>
        <p:spPr>
          <a:xfrm>
            <a:off x="726199" y="4048827"/>
            <a:ext cx="2664296" cy="646331"/>
          </a:xfrm>
          <a:prstGeom prst="rect">
            <a:avLst/>
          </a:prstGeom>
          <a:noFill/>
        </p:spPr>
        <p:txBody>
          <a:bodyPr wrap="square" rtlCol="0">
            <a:spAutoFit/>
          </a:bodyPr>
          <a:lstStyle/>
          <a:p>
            <a:r>
              <a:rPr lang="zh-CN" altLang="en-US" b="1">
                <a:solidFill>
                  <a:srgbClr val="C00000"/>
                </a:solidFill>
                <a:effectLst>
                  <a:outerShdw blurRad="38100" dist="38100" dir="2700000" algn="tl">
                    <a:srgbClr val="000000">
                      <a:alpha val="43137"/>
                    </a:srgbClr>
                  </a:outerShdw>
                </a:effectLst>
                <a:latin typeface="+mn-ea"/>
                <a:ea typeface="+mn-ea"/>
              </a:rPr>
              <a:t>默认正常范围</a:t>
            </a:r>
            <a:endParaRPr lang="en-US" altLang="zh-CN" b="1">
              <a:solidFill>
                <a:srgbClr val="C00000"/>
              </a:solidFill>
              <a:effectLst>
                <a:outerShdw blurRad="38100" dist="38100" dir="2700000" algn="tl">
                  <a:srgbClr val="000000">
                    <a:alpha val="43137"/>
                  </a:srgbClr>
                </a:outerShdw>
              </a:effectLst>
              <a:latin typeface="+mn-ea"/>
              <a:ea typeface="+mn-ea"/>
            </a:endParaRPr>
          </a:p>
          <a:p>
            <a:r>
              <a:rPr lang="zh-CN" altLang="en-US"/>
              <a:t>≥</a:t>
            </a:r>
            <a:r>
              <a:rPr lang="en-US" altLang="zh-CN"/>
              <a:t>3.5mmol/L</a:t>
            </a:r>
            <a:endParaRPr lang="zh-CN" altLang="en-US"/>
          </a:p>
        </p:txBody>
      </p:sp>
      <p:sp>
        <p:nvSpPr>
          <p:cNvPr id="30" name="文本框 29">
            <a:extLst>
              <a:ext uri="{FF2B5EF4-FFF2-40B4-BE49-F238E27FC236}">
                <a16:creationId xmlns:a16="http://schemas.microsoft.com/office/drawing/2014/main" id="{E31D25A7-325A-4C57-98F1-E2B2496064F4}"/>
              </a:ext>
            </a:extLst>
          </p:cNvPr>
          <p:cNvSpPr txBox="1"/>
          <p:nvPr/>
        </p:nvSpPr>
        <p:spPr>
          <a:xfrm>
            <a:off x="623707" y="4957583"/>
            <a:ext cx="2869279" cy="1200329"/>
          </a:xfrm>
          <a:prstGeom prst="rect">
            <a:avLst/>
          </a:prstGeom>
          <a:noFill/>
        </p:spPr>
        <p:txBody>
          <a:bodyPr wrap="square" rtlCol="0">
            <a:spAutoFit/>
          </a:bodyPr>
          <a:lstStyle/>
          <a:p>
            <a:pPr eaLnBrk="1" fontAlgn="t" hangingPunct="1"/>
            <a:r>
              <a:rPr lang="zh-CN" altLang="en-US" b="1">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肾病猫“正常范围”</a:t>
            </a:r>
            <a:endParaRPr lang="en-US" altLang="zh-CN" b="1">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eaLnBrk="1" fontAlgn="t" hangingPunct="1"/>
            <a:r>
              <a:rPr lang="en-US" altLang="zh-CN">
                <a:latin typeface="+mj-ea"/>
                <a:ea typeface="+mj-ea"/>
              </a:rPr>
              <a:t> </a:t>
            </a:r>
            <a:r>
              <a:rPr lang="zh-CN" altLang="en-US">
                <a:latin typeface="+mj-ea"/>
                <a:ea typeface="+mj-ea"/>
              </a:rPr>
              <a:t>≥</a:t>
            </a:r>
            <a:r>
              <a:rPr lang="en-US" altLang="zh-CN">
                <a:latin typeface="+mj-ea"/>
                <a:ea typeface="+mj-ea"/>
              </a:rPr>
              <a:t>4.0mmol/L</a:t>
            </a:r>
          </a:p>
          <a:p>
            <a:pPr eaLnBrk="1" fontAlgn="t" hangingPunct="1"/>
            <a:endParaRPr lang="en-US" altLang="zh-CN"/>
          </a:p>
          <a:p>
            <a:endParaRPr lang="en-US" altLang="zh-CN"/>
          </a:p>
        </p:txBody>
      </p:sp>
      <p:sp>
        <p:nvSpPr>
          <p:cNvPr id="31" name="文本框 30">
            <a:extLst>
              <a:ext uri="{FF2B5EF4-FFF2-40B4-BE49-F238E27FC236}">
                <a16:creationId xmlns:a16="http://schemas.microsoft.com/office/drawing/2014/main" id="{B35243C0-8E57-4E05-BF99-C51D0FD3079F}"/>
              </a:ext>
            </a:extLst>
          </p:cNvPr>
          <p:cNvSpPr txBox="1"/>
          <p:nvPr/>
        </p:nvSpPr>
        <p:spPr>
          <a:xfrm>
            <a:off x="3881453" y="2088134"/>
            <a:ext cx="7975187" cy="4708981"/>
          </a:xfrm>
          <a:prstGeom prst="rect">
            <a:avLst/>
          </a:prstGeom>
          <a:noFill/>
        </p:spPr>
        <p:txBody>
          <a:bodyPr wrap="square" rtlCol="0">
            <a:spAutoFit/>
          </a:bodyPr>
          <a:lstStyle/>
          <a:p>
            <a:pPr lvl="1"/>
            <a:r>
              <a:rPr lang="zh-CN" altLang="en-US" sz="2800" b="1">
                <a:solidFill>
                  <a:schemeClr val="bg1">
                    <a:lumMod val="95000"/>
                  </a:schemeClr>
                </a:solidFill>
                <a:effectLst>
                  <a:outerShdw blurRad="38100" dist="38100" dir="2700000" algn="tl">
                    <a:srgbClr val="000000">
                      <a:alpha val="43137"/>
                    </a:srgbClr>
                  </a:outerShdw>
                </a:effectLst>
                <a:latin typeface="+mj-ea"/>
                <a:ea typeface="+mj-ea"/>
              </a:rPr>
              <a:t>主要治疗选项包括：</a:t>
            </a:r>
            <a:endParaRPr lang="en-US" altLang="zh-CN" sz="2800" b="1">
              <a:solidFill>
                <a:schemeClr val="bg1">
                  <a:lumMod val="95000"/>
                </a:schemeClr>
              </a:solidFill>
              <a:effectLst>
                <a:outerShdw blurRad="38100" dist="38100" dir="2700000" algn="tl">
                  <a:srgbClr val="000000">
                    <a:alpha val="43137"/>
                  </a:srgbClr>
                </a:outerShdw>
              </a:effectLst>
              <a:latin typeface="+mj-ea"/>
              <a:ea typeface="+mj-ea"/>
            </a:endParaRPr>
          </a:p>
          <a:p>
            <a:pPr lvl="1"/>
            <a:endParaRPr lang="en-US" altLang="zh-CN" sz="2000" b="1">
              <a:solidFill>
                <a:schemeClr val="bg1">
                  <a:lumMod val="9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sz="2000" b="1">
                <a:solidFill>
                  <a:srgbClr val="FFFF00"/>
                </a:solidFill>
                <a:effectLst>
                  <a:outerShdw blurRad="38100" dist="38100" dir="2700000" algn="tl">
                    <a:srgbClr val="000000">
                      <a:alpha val="43137"/>
                    </a:srgbClr>
                  </a:outerShdw>
                </a:effectLst>
                <a:latin typeface="+mj-ea"/>
                <a:ea typeface="+mj-ea"/>
              </a:rPr>
              <a:t>口服葡萄糖酸钾</a:t>
            </a:r>
            <a:endParaRPr lang="en-US" altLang="zh-CN" sz="2000" b="1">
              <a:solidFill>
                <a:srgbClr val="FFFF00"/>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sz="2000" b="1">
                <a:solidFill>
                  <a:srgbClr val="FFFF00"/>
                </a:solidFill>
                <a:effectLst>
                  <a:outerShdw blurRad="38100" dist="38100" dir="2700000" algn="tl">
                    <a:srgbClr val="000000">
                      <a:alpha val="43137"/>
                    </a:srgbClr>
                  </a:outerShdw>
                </a:effectLst>
                <a:latin typeface="+mj-ea"/>
                <a:ea typeface="+mj-ea"/>
              </a:rPr>
              <a:t>口服柠檬酸钾</a:t>
            </a:r>
            <a:endParaRPr lang="en-US" altLang="zh-CN" sz="2000" b="1">
              <a:solidFill>
                <a:srgbClr val="FFFF00"/>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sz="2000" b="1">
                <a:solidFill>
                  <a:srgbClr val="FFFF00"/>
                </a:solidFill>
                <a:effectLst>
                  <a:outerShdw blurRad="38100" dist="38100" dir="2700000" algn="tl">
                    <a:srgbClr val="000000">
                      <a:alpha val="43137"/>
                    </a:srgbClr>
                  </a:outerShdw>
                </a:effectLst>
                <a:latin typeface="+mj-ea"/>
                <a:ea typeface="+mj-ea"/>
              </a:rPr>
              <a:t>高钾元素饮食（如肉类和处方粮等）        </a:t>
            </a:r>
            <a:endParaRPr lang="en-US" altLang="zh-CN" sz="2000" b="1">
              <a:solidFill>
                <a:srgbClr val="FFFF00"/>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endParaRPr lang="en-US" altLang="zh-CN" sz="2000" b="1">
              <a:solidFill>
                <a:srgbClr val="FFFF00"/>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endParaRPr lang="en-US" altLang="zh-CN" sz="2000" b="1">
              <a:solidFill>
                <a:srgbClr val="FFFF00"/>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sz="2000" b="1">
                <a:solidFill>
                  <a:srgbClr val="FFFF00"/>
                </a:solidFill>
                <a:effectLst>
                  <a:outerShdw blurRad="38100" dist="38100" dir="2700000" algn="tl">
                    <a:srgbClr val="000000">
                      <a:alpha val="43137"/>
                    </a:srgbClr>
                  </a:outerShdw>
                </a:effectLst>
                <a:latin typeface="+mj-ea"/>
                <a:ea typeface="+mj-ea"/>
              </a:rPr>
              <a:t>输液（如乳酸林格液）</a:t>
            </a:r>
            <a:endParaRPr lang="en-US" altLang="zh-CN" sz="2000" b="1">
              <a:solidFill>
                <a:srgbClr val="FFFF00"/>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sz="2000" b="1">
                <a:solidFill>
                  <a:srgbClr val="FFFF00"/>
                </a:solidFill>
                <a:effectLst>
                  <a:outerShdw blurRad="38100" dist="38100" dir="2700000" algn="tl">
                    <a:srgbClr val="000000">
                      <a:alpha val="43137"/>
                    </a:srgbClr>
                  </a:outerShdw>
                </a:effectLst>
                <a:latin typeface="+mj-ea"/>
                <a:ea typeface="+mj-ea"/>
              </a:rPr>
              <a:t>氯化钾（加入补液）</a:t>
            </a:r>
            <a:endParaRPr lang="en-US" altLang="zh-CN" sz="1600" b="1">
              <a:solidFill>
                <a:srgbClr val="FFFF00"/>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sz="1600" b="1">
                <a:solidFill>
                  <a:srgbClr val="FF0000"/>
                </a:solidFill>
                <a:effectLst>
                  <a:outerShdw blurRad="38100" dist="38100" dir="2700000" algn="tl">
                    <a:srgbClr val="000000">
                      <a:alpha val="43137"/>
                    </a:srgbClr>
                  </a:outerShdw>
                </a:effectLst>
                <a:latin typeface="+mj-ea"/>
                <a:ea typeface="+mj-ea"/>
              </a:rPr>
              <a:t>肌酐超</a:t>
            </a:r>
            <a:r>
              <a:rPr lang="en-US" altLang="zh-CN" sz="1600" b="1">
                <a:solidFill>
                  <a:srgbClr val="FF0000"/>
                </a:solidFill>
                <a:effectLst>
                  <a:outerShdw blurRad="38100" dist="38100" dir="2700000" algn="tl">
                    <a:srgbClr val="000000">
                      <a:alpha val="43137"/>
                    </a:srgbClr>
                  </a:outerShdw>
                </a:effectLst>
                <a:latin typeface="+mj-ea"/>
                <a:ea typeface="+mj-ea"/>
              </a:rPr>
              <a:t>500</a:t>
            </a:r>
            <a:r>
              <a:rPr lang="zh-CN" altLang="en-US" sz="1600" b="1">
                <a:solidFill>
                  <a:srgbClr val="FF0000"/>
                </a:solidFill>
                <a:effectLst>
                  <a:outerShdw blurRad="38100" dist="38100" dir="2700000" algn="tl">
                    <a:srgbClr val="000000">
                      <a:alpha val="43137"/>
                    </a:srgbClr>
                  </a:outerShdw>
                </a:effectLst>
                <a:latin typeface="+mj-ea"/>
                <a:ea typeface="+mj-ea"/>
              </a:rPr>
              <a:t>补钾有风险，已经无尿的猫不可再补钾</a:t>
            </a:r>
            <a:endParaRPr lang="en-US" altLang="zh-CN" sz="1600" b="1">
              <a:solidFill>
                <a:srgbClr val="FF0000"/>
              </a:solidFill>
              <a:effectLst>
                <a:outerShdw blurRad="38100" dist="38100" dir="2700000" algn="tl">
                  <a:srgbClr val="000000">
                    <a:alpha val="43137"/>
                  </a:srgbClr>
                </a:outerShdw>
              </a:effectLst>
              <a:latin typeface="+mj-ea"/>
              <a:ea typeface="+mj-ea"/>
            </a:endParaRPr>
          </a:p>
          <a:p>
            <a:pPr lvl="1"/>
            <a:endParaRPr lang="en-US" altLang="zh-CN" sz="1600" b="1">
              <a:solidFill>
                <a:srgbClr val="FFFF00"/>
              </a:solidFill>
              <a:effectLst>
                <a:outerShdw blurRad="38100" dist="38100" dir="2700000" algn="tl">
                  <a:srgbClr val="000000">
                    <a:alpha val="43137"/>
                  </a:srgbClr>
                </a:outerShdw>
              </a:effectLst>
              <a:latin typeface="+mj-ea"/>
              <a:ea typeface="+mj-ea"/>
            </a:endParaRPr>
          </a:p>
          <a:p>
            <a:pPr lvl="1"/>
            <a:r>
              <a:rPr lang="en-US" altLang="zh-CN" sz="1600" b="1">
                <a:solidFill>
                  <a:schemeClr val="bg1">
                    <a:lumMod val="95000"/>
                  </a:schemeClr>
                </a:solidFill>
                <a:effectLst>
                  <a:outerShdw blurRad="38100" dist="38100" dir="2700000" algn="tl">
                    <a:srgbClr val="000000">
                      <a:alpha val="43137"/>
                    </a:srgbClr>
                  </a:outerShdw>
                </a:effectLst>
                <a:latin typeface="+mj-ea"/>
                <a:ea typeface="+mj-ea"/>
              </a:rPr>
              <a:t>    </a:t>
            </a:r>
          </a:p>
          <a:p>
            <a:pPr lvl="1"/>
            <a:endParaRPr lang="en-US" altLang="zh-CN" sz="1600" b="1">
              <a:solidFill>
                <a:schemeClr val="bg1">
                  <a:lumMod val="95000"/>
                </a:schemeClr>
              </a:solidFill>
              <a:effectLst>
                <a:outerShdw blurRad="38100" dist="38100" dir="2700000" algn="tl">
                  <a:srgbClr val="000000">
                    <a:alpha val="43137"/>
                  </a:srgbClr>
                </a:outerShdw>
              </a:effectLst>
              <a:latin typeface="+mj-ea"/>
              <a:ea typeface="+mj-ea"/>
            </a:endParaRPr>
          </a:p>
          <a:p>
            <a:pPr lvl="1"/>
            <a:endParaRPr lang="en-US" altLang="zh-CN" sz="1600" b="1">
              <a:solidFill>
                <a:schemeClr val="bg1"/>
              </a:solidFill>
              <a:effectLst>
                <a:outerShdw blurRad="38100" dist="38100" dir="2700000" algn="tl">
                  <a:srgbClr val="000000">
                    <a:alpha val="43137"/>
                  </a:srgbClr>
                </a:outerShdw>
              </a:effectLst>
              <a:latin typeface="+mj-ea"/>
              <a:ea typeface="+mj-ea"/>
            </a:endParaRPr>
          </a:p>
          <a:p>
            <a:r>
              <a:rPr lang="zh-CN" altLang="en-US" sz="1600" b="1">
                <a:solidFill>
                  <a:schemeClr val="bg1"/>
                </a:solidFill>
                <a:effectLst>
                  <a:outerShdw blurRad="38100" dist="38100" dir="2700000" algn="tl">
                    <a:srgbClr val="000000">
                      <a:alpha val="43137"/>
                    </a:srgbClr>
                  </a:outerShdw>
                </a:effectLst>
                <a:latin typeface="+mj-ea"/>
                <a:ea typeface="+mj-ea"/>
              </a:rPr>
              <a:t>低血钾的主要原因是肾病猫过量排尿。氨氯地平这种降压药可能造成一些猫血钾下降。其它原因包括糖尿病和甲亢。少见情况是镁元素不足导致无法恢复血钾。</a:t>
            </a:r>
            <a:endParaRPr lang="en-US" altLang="zh-CN" sz="1600" b="1">
              <a:solidFill>
                <a:srgbClr val="FF0000"/>
              </a:solidFill>
              <a:effectLst>
                <a:outerShdw blurRad="38100" dist="38100" dir="2700000" algn="tl">
                  <a:srgbClr val="000000">
                    <a:alpha val="43137"/>
                  </a:srgbClr>
                </a:outerShdw>
              </a:effectLst>
              <a:latin typeface="+mj-ea"/>
              <a:ea typeface="+mj-ea"/>
            </a:endParaRPr>
          </a:p>
        </p:txBody>
      </p:sp>
    </p:spTree>
    <p:extLst>
      <p:ext uri="{BB962C8B-B14F-4D97-AF65-F5344CB8AC3E}">
        <p14:creationId xmlns:p14="http://schemas.microsoft.com/office/powerpoint/2010/main" val="76586148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p:cNvPr>
          <p:cNvGrpSpPr/>
          <p:nvPr/>
        </p:nvGrpSpPr>
        <p:grpSpPr>
          <a:xfrm>
            <a:off x="4799856" y="264900"/>
            <a:ext cx="7320137" cy="1035882"/>
            <a:chOff x="8112223" y="330677"/>
            <a:chExt cx="4194115" cy="1035882"/>
          </a:xfrm>
          <a:effectLst>
            <a:outerShdw blurRad="50800" dist="38100" dir="5400000" algn="t" rotWithShape="0">
              <a:prstClr val="black">
                <a:alpha val="40000"/>
              </a:prstClr>
            </a:outerShdw>
          </a:effectLst>
        </p:grpSpPr>
        <p:sp>
          <p:nvSpPr>
            <p:cNvPr id="27"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8281096" y="330677"/>
              <a:ext cx="4013203" cy="985057"/>
              <a:chOff x="-461843" y="2729730"/>
              <a:chExt cx="4727020" cy="1377463"/>
            </a:xfrm>
          </p:grpSpPr>
          <p:sp>
            <p:nvSpPr>
              <p:cNvPr id="29"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1402351" y="2972777"/>
                <a:ext cx="2862826" cy="81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latin typeface="+mn-lt"/>
                    <a:ea typeface="+mn-ea"/>
                    <a:cs typeface="+mn-ea"/>
                    <a:sym typeface="+mn-lt"/>
                  </a:rPr>
                  <a:t>猫低血钾口服剂</a:t>
                </a:r>
                <a:endParaRPr lang="en-US" altLang="zh-CN" sz="2400" b="1">
                  <a:solidFill>
                    <a:srgbClr val="010101"/>
                  </a:solidFill>
                  <a:latin typeface="+mn-lt"/>
                  <a:ea typeface="+mn-ea"/>
                  <a:cs typeface="+mn-ea"/>
                  <a:sym typeface="+mn-lt"/>
                </a:endParaRPr>
              </a:p>
            </p:txBody>
          </p:sp>
          <p:cxnSp>
            <p:nvCxnSpPr>
              <p:cNvPr id="31" name="直接连接符 30">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506334" y="3461620"/>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sp>
        <p:nvSpPr>
          <p:cNvPr id="2" name="文本框 1">
            <a:extLst>
              <a:ext uri="{FF2B5EF4-FFF2-40B4-BE49-F238E27FC236}">
                <a16:creationId xmlns:a16="http://schemas.microsoft.com/office/drawing/2014/main" id="{DA98A272-8CDB-4AA2-8BE0-65E8DCB52A6B}"/>
              </a:ext>
            </a:extLst>
          </p:cNvPr>
          <p:cNvSpPr txBox="1"/>
          <p:nvPr/>
        </p:nvSpPr>
        <p:spPr>
          <a:xfrm>
            <a:off x="1132127" y="2946163"/>
            <a:ext cx="3962469" cy="2769989"/>
          </a:xfrm>
          <a:prstGeom prst="rect">
            <a:avLst/>
          </a:prstGeom>
          <a:noFill/>
        </p:spPr>
        <p:txBody>
          <a:bodyPr wrap="square" rtlCol="0">
            <a:spAutoFit/>
          </a:bodyPr>
          <a:lstStyle/>
          <a:p>
            <a:pPr algn="ctr"/>
            <a:r>
              <a:rPr lang="zh-CN" altLang="en-US" sz="2400" b="1">
                <a:solidFill>
                  <a:schemeClr val="bg2">
                    <a:lumMod val="25000"/>
                  </a:schemeClr>
                </a:solidFill>
                <a:latin typeface="+mj-ea"/>
                <a:ea typeface="+mj-ea"/>
              </a:rPr>
              <a:t>葡萄糖酸钾</a:t>
            </a:r>
            <a:endParaRPr lang="en-US" altLang="zh-CN" sz="2400" b="1">
              <a:solidFill>
                <a:schemeClr val="bg2">
                  <a:lumMod val="25000"/>
                </a:schemeClr>
              </a:solidFill>
              <a:latin typeface="+mj-ea"/>
              <a:ea typeface="+mj-ea"/>
            </a:endParaRPr>
          </a:p>
          <a:p>
            <a:pPr algn="ctr"/>
            <a:r>
              <a:rPr lang="en-US" altLang="zh-CN" sz="900" b="1">
                <a:solidFill>
                  <a:schemeClr val="bg2">
                    <a:lumMod val="25000"/>
                  </a:schemeClr>
                </a:solidFill>
                <a:latin typeface="+mj-ea"/>
                <a:ea typeface="+mj-ea"/>
              </a:rPr>
              <a:t>1000mg</a:t>
            </a:r>
            <a:r>
              <a:rPr lang="zh-CN" altLang="en-US" sz="900" b="1">
                <a:solidFill>
                  <a:schemeClr val="bg2">
                    <a:lumMod val="25000"/>
                  </a:schemeClr>
                </a:solidFill>
                <a:latin typeface="+mj-ea"/>
                <a:ea typeface="+mj-ea"/>
              </a:rPr>
              <a:t>含有钾</a:t>
            </a:r>
            <a:r>
              <a:rPr lang="en-US" altLang="zh-CN" sz="900" b="1">
                <a:solidFill>
                  <a:schemeClr val="bg2">
                    <a:lumMod val="25000"/>
                  </a:schemeClr>
                </a:solidFill>
                <a:latin typeface="+mj-ea"/>
                <a:ea typeface="+mj-ea"/>
              </a:rPr>
              <a:t>168mg</a:t>
            </a:r>
          </a:p>
          <a:p>
            <a:endParaRPr lang="en-US" altLang="zh-CN" sz="900">
              <a:latin typeface="+mj-ea"/>
              <a:ea typeface="+mj-ea"/>
            </a:endParaRPr>
          </a:p>
          <a:p>
            <a:r>
              <a:rPr lang="zh-CN" altLang="en-US">
                <a:latin typeface="+mj-ea"/>
                <a:ea typeface="+mj-ea"/>
              </a:rPr>
              <a:t> </a:t>
            </a:r>
            <a:r>
              <a:rPr lang="zh-CN" altLang="en-US" b="1">
                <a:latin typeface="+mj-ea"/>
                <a:ea typeface="+mj-ea"/>
              </a:rPr>
              <a:t>用量：</a:t>
            </a:r>
            <a:endParaRPr lang="en-US" altLang="zh-CN" b="1">
              <a:latin typeface="+mj-ea"/>
              <a:ea typeface="+mj-ea"/>
            </a:endParaRPr>
          </a:p>
          <a:p>
            <a:pPr marL="285750" indent="-285750">
              <a:buFont typeface="Arial" panose="020B0604020202020204" pitchFamily="34" charset="0"/>
              <a:buChar char="•"/>
            </a:pPr>
            <a:r>
              <a:rPr lang="zh-CN" altLang="en-US" sz="1400">
                <a:latin typeface="+mj-ea"/>
                <a:ea typeface="+mj-ea"/>
              </a:rPr>
              <a:t>初始剂量：每次</a:t>
            </a:r>
            <a:r>
              <a:rPr lang="en-US" altLang="zh-CN" sz="1400">
                <a:latin typeface="+mj-ea"/>
                <a:ea typeface="+mj-ea"/>
              </a:rPr>
              <a:t>450mg</a:t>
            </a:r>
            <a:r>
              <a:rPr lang="zh-CN" altLang="en-US" sz="1400">
                <a:latin typeface="+mj-ea"/>
                <a:ea typeface="+mj-ea"/>
              </a:rPr>
              <a:t>，</a:t>
            </a:r>
            <a:r>
              <a:rPr lang="zh-CN" altLang="en-US" sz="1400" b="1">
                <a:latin typeface="+mj-ea"/>
                <a:ea typeface="+mj-ea"/>
              </a:rPr>
              <a:t>吃三次。</a:t>
            </a:r>
            <a:endParaRPr lang="en-US" altLang="zh-CN" sz="1400" b="1">
              <a:latin typeface="+mj-ea"/>
              <a:ea typeface="+mj-ea"/>
            </a:endParaRPr>
          </a:p>
          <a:p>
            <a:pPr marL="285750" indent="-285750">
              <a:buFont typeface="Arial" panose="020B0604020202020204" pitchFamily="34" charset="0"/>
              <a:buChar char="•"/>
            </a:pPr>
            <a:r>
              <a:rPr lang="zh-CN" altLang="en-US" sz="1400">
                <a:latin typeface="+mj-ea"/>
                <a:ea typeface="+mj-ea"/>
              </a:rPr>
              <a:t>稳定后：   每次</a:t>
            </a:r>
            <a:r>
              <a:rPr lang="en-US" altLang="zh-CN" sz="1400">
                <a:latin typeface="+mj-ea"/>
                <a:ea typeface="+mj-ea"/>
              </a:rPr>
              <a:t>450mg</a:t>
            </a:r>
            <a:r>
              <a:rPr lang="zh-CN" altLang="en-US" sz="1000">
                <a:latin typeface="+mj-ea"/>
                <a:ea typeface="+mj-ea"/>
              </a:rPr>
              <a:t>（等于</a:t>
            </a:r>
            <a:r>
              <a:rPr lang="en-US" altLang="zh-CN" sz="1000">
                <a:latin typeface="+mj-ea"/>
                <a:ea typeface="+mj-ea"/>
              </a:rPr>
              <a:t>75mg</a:t>
            </a:r>
            <a:r>
              <a:rPr lang="zh-CN" altLang="en-US" sz="1000">
                <a:latin typeface="+mj-ea"/>
                <a:ea typeface="+mj-ea"/>
              </a:rPr>
              <a:t>钾）</a:t>
            </a:r>
            <a:r>
              <a:rPr lang="zh-CN" altLang="en-US" sz="1400">
                <a:latin typeface="+mj-ea"/>
                <a:ea typeface="+mj-ea"/>
              </a:rPr>
              <a:t>，</a:t>
            </a:r>
            <a:r>
              <a:rPr lang="zh-CN" altLang="en-US" sz="1400" b="1">
                <a:latin typeface="+mj-ea"/>
                <a:ea typeface="+mj-ea"/>
              </a:rPr>
              <a:t>吃两次</a:t>
            </a:r>
            <a:r>
              <a:rPr lang="zh-CN" altLang="en-US" sz="1400">
                <a:latin typeface="+mj-ea"/>
                <a:ea typeface="+mj-ea"/>
              </a:rPr>
              <a:t>，酌情增减。</a:t>
            </a:r>
            <a:endParaRPr lang="en-US" altLang="zh-CN" sz="1400">
              <a:latin typeface="+mj-ea"/>
              <a:ea typeface="+mj-ea"/>
            </a:endParaRPr>
          </a:p>
          <a:p>
            <a:endParaRPr lang="en-US" altLang="zh-CN"/>
          </a:p>
          <a:p>
            <a:endParaRPr lang="en-US" altLang="zh-CN"/>
          </a:p>
          <a:p>
            <a:endParaRPr lang="en-US" altLang="zh-CN"/>
          </a:p>
          <a:p>
            <a:endParaRPr lang="en-US" altLang="zh-CN"/>
          </a:p>
        </p:txBody>
      </p:sp>
      <p:cxnSp>
        <p:nvCxnSpPr>
          <p:cNvPr id="21" name="直接连接符 20">
            <a:extLst>
              <a:ext uri="{FF2B5EF4-FFF2-40B4-BE49-F238E27FC236}">
                <a16:creationId xmlns:a16="http://schemas.microsoft.com/office/drawing/2014/main" id="{0D419903-5A39-47D8-B791-C6E2B03CBB2C}"/>
              </a:ext>
            </a:extLst>
          </p:cNvPr>
          <p:cNvCxnSpPr/>
          <p:nvPr/>
        </p:nvCxnSpPr>
        <p:spPr>
          <a:xfrm flipH="1">
            <a:off x="5735960" y="3644279"/>
            <a:ext cx="19050" cy="1079500"/>
          </a:xfrm>
          <a:prstGeom prst="line">
            <a:avLst/>
          </a:prstGeom>
          <a:ln w="50800">
            <a:solidFill>
              <a:srgbClr val="4F4F4F"/>
            </a:solidFill>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4FBC8714-BED4-49AA-90CC-7DDBFA82716C}"/>
              </a:ext>
            </a:extLst>
          </p:cNvPr>
          <p:cNvSpPr txBox="1"/>
          <p:nvPr/>
        </p:nvSpPr>
        <p:spPr>
          <a:xfrm>
            <a:off x="6468721" y="2350795"/>
            <a:ext cx="1388193" cy="369332"/>
          </a:xfrm>
          <a:prstGeom prst="rect">
            <a:avLst/>
          </a:prstGeom>
          <a:noFill/>
        </p:spPr>
        <p:txBody>
          <a:bodyPr wrap="square" rtlCol="0">
            <a:spAutoFit/>
          </a:bodyPr>
          <a:lstStyle/>
          <a:p>
            <a:r>
              <a:rPr lang="zh-CN" altLang="en-US">
                <a:latin typeface="+mj-ea"/>
                <a:ea typeface="+mj-ea"/>
              </a:rPr>
              <a:t>威隆钾宝</a:t>
            </a:r>
          </a:p>
        </p:txBody>
      </p:sp>
      <p:pic>
        <p:nvPicPr>
          <p:cNvPr id="6" name="图片 5">
            <a:extLst>
              <a:ext uri="{FF2B5EF4-FFF2-40B4-BE49-F238E27FC236}">
                <a16:creationId xmlns:a16="http://schemas.microsoft.com/office/drawing/2014/main" id="{429AF902-2BAD-41FC-8F2D-DE05C167B4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2279" y="2845902"/>
            <a:ext cx="2121024" cy="2121024"/>
          </a:xfrm>
          <a:prstGeom prst="rect">
            <a:avLst/>
          </a:prstGeom>
        </p:spPr>
      </p:pic>
      <p:sp>
        <p:nvSpPr>
          <p:cNvPr id="7" name="文本框 6">
            <a:extLst>
              <a:ext uri="{FF2B5EF4-FFF2-40B4-BE49-F238E27FC236}">
                <a16:creationId xmlns:a16="http://schemas.microsoft.com/office/drawing/2014/main" id="{9C95E70E-BA6B-4F56-88AB-7CF2DF0EA67B}"/>
              </a:ext>
            </a:extLst>
          </p:cNvPr>
          <p:cNvSpPr txBox="1"/>
          <p:nvPr/>
        </p:nvSpPr>
        <p:spPr>
          <a:xfrm>
            <a:off x="5635791" y="5131377"/>
            <a:ext cx="3054051" cy="738664"/>
          </a:xfrm>
          <a:prstGeom prst="rect">
            <a:avLst/>
          </a:prstGeom>
          <a:noFill/>
        </p:spPr>
        <p:txBody>
          <a:bodyPr wrap="square" rtlCol="0">
            <a:spAutoFit/>
          </a:bodyPr>
          <a:lstStyle/>
          <a:p>
            <a:r>
              <a:rPr lang="zh-CN" altLang="en-US" sz="1600" b="1">
                <a:latin typeface="+mn-ea"/>
                <a:ea typeface="+mn-ea"/>
              </a:rPr>
              <a:t>初始剂量</a:t>
            </a:r>
            <a:r>
              <a:rPr lang="zh-CN" altLang="en-US" sz="1600">
                <a:latin typeface="+mn-ea"/>
                <a:ea typeface="+mn-ea"/>
              </a:rPr>
              <a:t>：每次</a:t>
            </a:r>
            <a:r>
              <a:rPr lang="en-US" altLang="zh-CN" sz="1600">
                <a:latin typeface="+mn-ea"/>
                <a:ea typeface="+mn-ea"/>
              </a:rPr>
              <a:t>2.5ml 2-3</a:t>
            </a:r>
            <a:r>
              <a:rPr lang="zh-CN" altLang="en-US" sz="1600">
                <a:latin typeface="+mn-ea"/>
                <a:ea typeface="+mn-ea"/>
              </a:rPr>
              <a:t>次</a:t>
            </a:r>
            <a:r>
              <a:rPr lang="en-US" altLang="zh-CN" sz="1600">
                <a:latin typeface="+mn-ea"/>
                <a:ea typeface="+mn-ea"/>
              </a:rPr>
              <a:t>/</a:t>
            </a:r>
            <a:r>
              <a:rPr lang="zh-CN" altLang="en-US" sz="1600">
                <a:latin typeface="+mn-ea"/>
                <a:ea typeface="+mn-ea"/>
              </a:rPr>
              <a:t>天</a:t>
            </a:r>
            <a:endParaRPr lang="en-US" altLang="zh-CN" sz="1600">
              <a:latin typeface="+mn-ea"/>
              <a:ea typeface="+mn-ea"/>
            </a:endParaRPr>
          </a:p>
          <a:p>
            <a:r>
              <a:rPr lang="zh-CN" altLang="en-US" sz="1600" b="1">
                <a:latin typeface="+mn-ea"/>
                <a:ea typeface="+mn-ea"/>
              </a:rPr>
              <a:t>稳定后</a:t>
            </a:r>
            <a:r>
              <a:rPr lang="zh-CN" altLang="en-US" sz="1600">
                <a:latin typeface="+mn-ea"/>
                <a:ea typeface="+mn-ea"/>
              </a:rPr>
              <a:t>：每次</a:t>
            </a:r>
            <a:r>
              <a:rPr lang="en-US" altLang="zh-CN" sz="1600">
                <a:latin typeface="+mn-ea"/>
                <a:ea typeface="+mn-ea"/>
              </a:rPr>
              <a:t>2.5ml 2</a:t>
            </a:r>
            <a:r>
              <a:rPr lang="zh-CN" altLang="en-US" sz="1600">
                <a:latin typeface="+mn-ea"/>
                <a:ea typeface="+mn-ea"/>
              </a:rPr>
              <a:t>次</a:t>
            </a:r>
            <a:r>
              <a:rPr lang="en-US" altLang="zh-CN" sz="1600">
                <a:latin typeface="+mn-ea"/>
                <a:ea typeface="+mn-ea"/>
              </a:rPr>
              <a:t>/</a:t>
            </a:r>
            <a:r>
              <a:rPr lang="zh-CN" altLang="en-US" sz="1600">
                <a:latin typeface="+mn-ea"/>
                <a:ea typeface="+mn-ea"/>
              </a:rPr>
              <a:t>天</a:t>
            </a:r>
            <a:endParaRPr lang="en-US" altLang="zh-CN" sz="1600">
              <a:latin typeface="+mn-ea"/>
              <a:ea typeface="+mn-ea"/>
            </a:endParaRPr>
          </a:p>
          <a:p>
            <a:r>
              <a:rPr lang="zh-CN" altLang="en-US" sz="1000">
                <a:solidFill>
                  <a:srgbClr val="C00000"/>
                </a:solidFill>
                <a:latin typeface="+mn-ea"/>
              </a:rPr>
              <a:t>根据医嘱</a:t>
            </a:r>
            <a:r>
              <a:rPr lang="zh-CN" altLang="en-US" sz="1000">
                <a:solidFill>
                  <a:srgbClr val="C00000"/>
                </a:solidFill>
                <a:latin typeface="+mn-ea"/>
                <a:ea typeface="+mn-ea"/>
              </a:rPr>
              <a:t>酌情减少。每</a:t>
            </a:r>
            <a:r>
              <a:rPr lang="en-US" altLang="zh-CN" sz="1000">
                <a:solidFill>
                  <a:srgbClr val="C00000"/>
                </a:solidFill>
                <a:latin typeface="+mn-ea"/>
                <a:ea typeface="+mn-ea"/>
              </a:rPr>
              <a:t>2.5ml=2meq</a:t>
            </a:r>
            <a:r>
              <a:rPr lang="zh-CN" altLang="en-US" sz="1000">
                <a:solidFill>
                  <a:srgbClr val="C00000"/>
                </a:solidFill>
                <a:latin typeface="+mn-ea"/>
                <a:ea typeface="+mn-ea"/>
              </a:rPr>
              <a:t>钾</a:t>
            </a:r>
            <a:endParaRPr lang="en-US" altLang="zh-CN" sz="1000">
              <a:solidFill>
                <a:srgbClr val="C00000"/>
              </a:solidFill>
              <a:latin typeface="+mn-ea"/>
              <a:ea typeface="+mn-ea"/>
            </a:endParaRPr>
          </a:p>
        </p:txBody>
      </p:sp>
      <p:sp>
        <p:nvSpPr>
          <p:cNvPr id="23" name="文本框 22">
            <a:extLst>
              <a:ext uri="{FF2B5EF4-FFF2-40B4-BE49-F238E27FC236}">
                <a16:creationId xmlns:a16="http://schemas.microsoft.com/office/drawing/2014/main" id="{CF1D7A11-C38D-4525-96EF-5115F30C3D30}"/>
              </a:ext>
            </a:extLst>
          </p:cNvPr>
          <p:cNvSpPr txBox="1"/>
          <p:nvPr/>
        </p:nvSpPr>
        <p:spPr>
          <a:xfrm>
            <a:off x="9140631" y="2325266"/>
            <a:ext cx="2782330" cy="400110"/>
          </a:xfrm>
          <a:prstGeom prst="rect">
            <a:avLst/>
          </a:prstGeom>
          <a:noFill/>
        </p:spPr>
        <p:txBody>
          <a:bodyPr wrap="square" rtlCol="0">
            <a:spAutoFit/>
          </a:bodyPr>
          <a:lstStyle/>
          <a:p>
            <a:r>
              <a:rPr lang="en-US" altLang="zh-CN">
                <a:latin typeface="+mn-ea"/>
                <a:ea typeface="+mn-ea"/>
              </a:rPr>
              <a:t>Nowfood </a:t>
            </a:r>
            <a:r>
              <a:rPr lang="zh-CN" altLang="en-US">
                <a:latin typeface="+mn-ea"/>
                <a:ea typeface="+mn-ea"/>
              </a:rPr>
              <a:t>葡萄糖酸钾</a:t>
            </a:r>
            <a:r>
              <a:rPr lang="zh-CN" altLang="en-US" sz="2000" b="1">
                <a:solidFill>
                  <a:srgbClr val="C00000"/>
                </a:solidFill>
                <a:latin typeface="+mn-ea"/>
                <a:ea typeface="+mn-ea"/>
              </a:rPr>
              <a:t>片</a:t>
            </a:r>
            <a:endParaRPr lang="zh-CN" altLang="en-US" b="1">
              <a:solidFill>
                <a:srgbClr val="C00000"/>
              </a:solidFill>
              <a:latin typeface="+mn-ea"/>
              <a:ea typeface="+mn-ea"/>
            </a:endParaRPr>
          </a:p>
        </p:txBody>
      </p:sp>
      <p:sp>
        <p:nvSpPr>
          <p:cNvPr id="26" name="文本框 25">
            <a:extLst>
              <a:ext uri="{FF2B5EF4-FFF2-40B4-BE49-F238E27FC236}">
                <a16:creationId xmlns:a16="http://schemas.microsoft.com/office/drawing/2014/main" id="{3289ECD7-BBCB-4ECC-B9A3-3259436479A5}"/>
              </a:ext>
            </a:extLst>
          </p:cNvPr>
          <p:cNvSpPr txBox="1"/>
          <p:nvPr/>
        </p:nvSpPr>
        <p:spPr>
          <a:xfrm>
            <a:off x="8904312" y="5131377"/>
            <a:ext cx="3287688" cy="984885"/>
          </a:xfrm>
          <a:prstGeom prst="rect">
            <a:avLst/>
          </a:prstGeom>
          <a:noFill/>
        </p:spPr>
        <p:txBody>
          <a:bodyPr wrap="square" rtlCol="0">
            <a:spAutoFit/>
          </a:bodyPr>
          <a:lstStyle/>
          <a:p>
            <a:r>
              <a:rPr lang="zh-CN" altLang="en-US" sz="1600" b="1">
                <a:latin typeface="+mn-ea"/>
                <a:ea typeface="+mn-ea"/>
              </a:rPr>
              <a:t>初始剂量</a:t>
            </a:r>
            <a:r>
              <a:rPr lang="zh-CN" altLang="en-US" sz="1600">
                <a:latin typeface="+mn-ea"/>
                <a:ea typeface="+mn-ea"/>
              </a:rPr>
              <a:t>：每天</a:t>
            </a:r>
            <a:r>
              <a:rPr lang="en-US" altLang="zh-CN" sz="1600">
                <a:latin typeface="+mn-ea"/>
                <a:ea typeface="+mn-ea"/>
              </a:rPr>
              <a:t>2</a:t>
            </a:r>
            <a:r>
              <a:rPr lang="zh-CN" altLang="en-US" sz="1600">
                <a:latin typeface="+mn-ea"/>
                <a:ea typeface="+mn-ea"/>
              </a:rPr>
              <a:t>片，分两次吃</a:t>
            </a:r>
            <a:endParaRPr lang="en-US" altLang="zh-CN" sz="1600">
              <a:latin typeface="+mn-ea"/>
              <a:ea typeface="+mn-ea"/>
            </a:endParaRPr>
          </a:p>
          <a:p>
            <a:r>
              <a:rPr lang="zh-CN" altLang="en-US" sz="1600" b="1">
                <a:latin typeface="+mn-ea"/>
                <a:ea typeface="+mn-ea"/>
              </a:rPr>
              <a:t>稳定后</a:t>
            </a:r>
            <a:r>
              <a:rPr lang="zh-CN" altLang="en-US" sz="1600">
                <a:latin typeface="+mn-ea"/>
                <a:ea typeface="+mn-ea"/>
              </a:rPr>
              <a:t>：每天</a:t>
            </a:r>
            <a:r>
              <a:rPr lang="en-US" altLang="zh-CN" sz="1600">
                <a:latin typeface="+mn-ea"/>
                <a:ea typeface="+mn-ea"/>
              </a:rPr>
              <a:t>1.5</a:t>
            </a:r>
            <a:r>
              <a:rPr lang="zh-CN" altLang="en-US" sz="1600">
                <a:latin typeface="+mn-ea"/>
                <a:ea typeface="+mn-ea"/>
              </a:rPr>
              <a:t>片，分两次吃</a:t>
            </a:r>
            <a:endParaRPr lang="en-US" altLang="zh-CN" sz="1600">
              <a:latin typeface="+mn-ea"/>
              <a:ea typeface="+mn-ea"/>
            </a:endParaRPr>
          </a:p>
          <a:p>
            <a:r>
              <a:rPr lang="zh-CN" altLang="en-US" sz="1000">
                <a:solidFill>
                  <a:srgbClr val="C00000"/>
                </a:solidFill>
                <a:latin typeface="+mn-ea"/>
                <a:ea typeface="+mn-ea"/>
              </a:rPr>
              <a:t>根据医嘱酌情减少。每片</a:t>
            </a:r>
            <a:r>
              <a:rPr lang="en-US" altLang="zh-CN" sz="1000">
                <a:solidFill>
                  <a:srgbClr val="C00000"/>
                </a:solidFill>
                <a:latin typeface="+mn-ea"/>
                <a:ea typeface="+mn-ea"/>
              </a:rPr>
              <a:t>=1.36meq</a:t>
            </a:r>
            <a:r>
              <a:rPr lang="zh-CN" altLang="en-US" sz="1000">
                <a:solidFill>
                  <a:srgbClr val="C00000"/>
                </a:solidFill>
                <a:latin typeface="+mn-ea"/>
                <a:ea typeface="+mn-ea"/>
              </a:rPr>
              <a:t>钾</a:t>
            </a:r>
            <a:endParaRPr lang="en-US" altLang="zh-CN" sz="1000">
              <a:solidFill>
                <a:srgbClr val="C00000"/>
              </a:solidFill>
              <a:latin typeface="+mn-ea"/>
              <a:ea typeface="+mn-ea"/>
            </a:endParaRPr>
          </a:p>
          <a:p>
            <a:endParaRPr lang="en-US" altLang="zh-CN" sz="1600">
              <a:latin typeface="+mn-ea"/>
              <a:ea typeface="+mn-ea"/>
            </a:endParaRPr>
          </a:p>
        </p:txBody>
      </p:sp>
      <p:pic>
        <p:nvPicPr>
          <p:cNvPr id="11" name="图片 10">
            <a:extLst>
              <a:ext uri="{FF2B5EF4-FFF2-40B4-BE49-F238E27FC236}">
                <a16:creationId xmlns:a16="http://schemas.microsoft.com/office/drawing/2014/main" id="{5AA60FFF-8BFC-467F-AD49-74BBC02D2F6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84647" y="2844791"/>
            <a:ext cx="2304256" cy="2121024"/>
          </a:xfrm>
          <a:prstGeom prst="rect">
            <a:avLst/>
          </a:prstGeom>
        </p:spPr>
      </p:pic>
    </p:spTree>
    <p:extLst>
      <p:ext uri="{BB962C8B-B14F-4D97-AF65-F5344CB8AC3E}">
        <p14:creationId xmlns:p14="http://schemas.microsoft.com/office/powerpoint/2010/main" val="409215015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p:cNvPr>
          <p:cNvGrpSpPr/>
          <p:nvPr/>
        </p:nvGrpSpPr>
        <p:grpSpPr>
          <a:xfrm>
            <a:off x="4903464" y="143932"/>
            <a:ext cx="7320137" cy="1035882"/>
            <a:chOff x="8112223" y="330677"/>
            <a:chExt cx="4194115" cy="1035882"/>
          </a:xfrm>
          <a:effectLst>
            <a:outerShdw blurRad="50800" dist="38100" dir="5400000" algn="t" rotWithShape="0">
              <a:prstClr val="black">
                <a:alpha val="40000"/>
              </a:prstClr>
            </a:outerShdw>
          </a:effectLst>
        </p:grpSpPr>
        <p:sp>
          <p:nvSpPr>
            <p:cNvPr id="27"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8281096" y="330677"/>
              <a:ext cx="4013203" cy="985057"/>
              <a:chOff x="-461843" y="2729730"/>
              <a:chExt cx="4727020" cy="1377463"/>
            </a:xfrm>
          </p:grpSpPr>
          <p:sp>
            <p:nvSpPr>
              <p:cNvPr id="29"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1402351" y="2972777"/>
                <a:ext cx="2862826" cy="81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latin typeface="+mn-lt"/>
                    <a:ea typeface="+mn-ea"/>
                    <a:cs typeface="+mn-ea"/>
                    <a:sym typeface="+mn-lt"/>
                  </a:rPr>
                  <a:t>猫低血钾口服剂</a:t>
                </a:r>
                <a:endParaRPr lang="en-US" altLang="zh-CN" sz="2400" b="1">
                  <a:solidFill>
                    <a:srgbClr val="010101"/>
                  </a:solidFill>
                  <a:latin typeface="+mn-lt"/>
                  <a:ea typeface="+mn-ea"/>
                  <a:cs typeface="+mn-ea"/>
                  <a:sym typeface="+mn-lt"/>
                </a:endParaRPr>
              </a:p>
            </p:txBody>
          </p:sp>
          <p:cxnSp>
            <p:nvCxnSpPr>
              <p:cNvPr id="31" name="直接连接符 30">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506334" y="3461620"/>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grpSp>
        <p:nvGrpSpPr>
          <p:cNvPr id="37893" name="组合 1"/>
          <p:cNvGrpSpPr>
            <a:grpSpLocks/>
          </p:cNvGrpSpPr>
          <p:nvPr/>
        </p:nvGrpSpPr>
        <p:grpSpPr bwMode="auto">
          <a:xfrm>
            <a:off x="6812231" y="2401343"/>
            <a:ext cx="4865878" cy="2973190"/>
            <a:chOff x="6931323" y="2608336"/>
            <a:chExt cx="4500246" cy="2972408"/>
          </a:xfrm>
        </p:grpSpPr>
        <p:grpSp>
          <p:nvGrpSpPr>
            <p:cNvPr id="37894" name="组合 14"/>
            <p:cNvGrpSpPr>
              <a:grpSpLocks/>
            </p:cNvGrpSpPr>
            <p:nvPr/>
          </p:nvGrpSpPr>
          <p:grpSpPr bwMode="auto">
            <a:xfrm>
              <a:off x="6931323" y="2608336"/>
              <a:ext cx="4500246" cy="718135"/>
              <a:chOff x="3936148" y="1692543"/>
              <a:chExt cx="4500246" cy="718135"/>
            </a:xfrm>
          </p:grpSpPr>
          <p:sp>
            <p:nvSpPr>
              <p:cNvPr id="55" name="文本框 66">
                <a:extLst/>
              </p:cNvPr>
              <p:cNvSpPr txBox="1">
                <a:spLocks noChangeArrowheads="1"/>
              </p:cNvSpPr>
              <p:nvPr/>
            </p:nvSpPr>
            <p:spPr bwMode="auto">
              <a:xfrm>
                <a:off x="3966308" y="1692543"/>
                <a:ext cx="4258964" cy="461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spcBef>
                    <a:spcPts val="0"/>
                  </a:spcBef>
                  <a:spcAft>
                    <a:spcPts val="0"/>
                  </a:spcAft>
                  <a:defRPr/>
                </a:pPr>
                <a:endParaRPr lang="zh-CN" altLang="en-US" sz="2400" b="1" kern="0">
                  <a:solidFill>
                    <a:srgbClr val="4F4F4F"/>
                  </a:solidFill>
                  <a:latin typeface="+mn-lt"/>
                  <a:ea typeface="+mn-ea"/>
                  <a:cs typeface="+mn-ea"/>
                  <a:sym typeface="+mn-lt"/>
                </a:endParaRPr>
              </a:p>
            </p:txBody>
          </p:sp>
          <p:sp>
            <p:nvSpPr>
              <p:cNvPr id="56" name="矩形 55">
                <a:extLst/>
              </p:cNvPr>
              <p:cNvSpPr/>
              <p:nvPr/>
            </p:nvSpPr>
            <p:spPr>
              <a:xfrm>
                <a:off x="3936148" y="2133752"/>
                <a:ext cx="4500246" cy="276926"/>
              </a:xfrm>
              <a:prstGeom prst="rect">
                <a:avLst/>
              </a:prstGeom>
            </p:spPr>
            <p:txBody>
              <a:bodyPr>
                <a:spAutoFit/>
              </a:bodyPr>
              <a:lstStyle/>
              <a:p>
                <a:pPr eaLnBrk="1" fontAlgn="auto" hangingPunct="1">
                  <a:spcBef>
                    <a:spcPts val="0"/>
                  </a:spcBef>
                  <a:spcAft>
                    <a:spcPts val="0"/>
                  </a:spcAft>
                  <a:defRPr/>
                </a:pPr>
                <a:endParaRPr lang="zh-CN" altLang="en-US" sz="1200" kern="0">
                  <a:solidFill>
                    <a:srgbClr val="4F4F4F"/>
                  </a:solidFill>
                  <a:latin typeface="+mn-lt"/>
                  <a:ea typeface="+mn-ea"/>
                  <a:cs typeface="+mn-ea"/>
                  <a:sym typeface="+mn-lt"/>
                </a:endParaRPr>
              </a:p>
            </p:txBody>
          </p:sp>
        </p:grpSp>
        <p:sp>
          <p:nvSpPr>
            <p:cNvPr id="53" name="矩形 3">
              <a:extLst/>
            </p:cNvPr>
            <p:cNvSpPr>
              <a:spLocks noChangeArrowheads="1"/>
            </p:cNvSpPr>
            <p:nvPr/>
          </p:nvSpPr>
          <p:spPr bwMode="auto">
            <a:xfrm>
              <a:off x="6931323" y="4487442"/>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sp>
          <p:nvSpPr>
            <p:cNvPr id="54" name="矩形 3">
              <a:extLst/>
            </p:cNvPr>
            <p:cNvSpPr>
              <a:spLocks noChangeArrowheads="1"/>
            </p:cNvSpPr>
            <p:nvPr/>
          </p:nvSpPr>
          <p:spPr bwMode="auto">
            <a:xfrm>
              <a:off x="6931323" y="5273048"/>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grpSp>
      <p:sp>
        <p:nvSpPr>
          <p:cNvPr id="20" name="文本框 19">
            <a:extLst>
              <a:ext uri="{FF2B5EF4-FFF2-40B4-BE49-F238E27FC236}">
                <a16:creationId xmlns:a16="http://schemas.microsoft.com/office/drawing/2014/main" id="{1D01A007-4E3E-4A6A-B27C-82D4F164E38C}"/>
              </a:ext>
            </a:extLst>
          </p:cNvPr>
          <p:cNvSpPr txBox="1"/>
          <p:nvPr/>
        </p:nvSpPr>
        <p:spPr>
          <a:xfrm>
            <a:off x="6418975" y="2389100"/>
            <a:ext cx="3952898" cy="2831544"/>
          </a:xfrm>
          <a:prstGeom prst="rect">
            <a:avLst/>
          </a:prstGeom>
          <a:noFill/>
        </p:spPr>
        <p:txBody>
          <a:bodyPr wrap="square" rtlCol="0">
            <a:spAutoFit/>
          </a:bodyPr>
          <a:lstStyle/>
          <a:p>
            <a:pPr algn="ctr"/>
            <a:r>
              <a:rPr lang="zh-CN" altLang="en-US" sz="2400" b="1">
                <a:solidFill>
                  <a:schemeClr val="bg2">
                    <a:lumMod val="25000"/>
                  </a:schemeClr>
                </a:solidFill>
                <a:latin typeface="+mj-ea"/>
                <a:ea typeface="+mj-ea"/>
              </a:rPr>
              <a:t>柠檬酸钾</a:t>
            </a:r>
            <a:endParaRPr lang="en-US" altLang="zh-CN" sz="2400" b="1">
              <a:solidFill>
                <a:schemeClr val="bg2">
                  <a:lumMod val="25000"/>
                </a:schemeClr>
              </a:solidFill>
              <a:latin typeface="+mj-ea"/>
              <a:ea typeface="+mj-ea"/>
            </a:endParaRPr>
          </a:p>
          <a:p>
            <a:pPr algn="ctr"/>
            <a:r>
              <a:rPr lang="en-US" altLang="zh-CN" sz="900" b="1">
                <a:solidFill>
                  <a:schemeClr val="bg2">
                    <a:lumMod val="25000"/>
                  </a:schemeClr>
                </a:solidFill>
                <a:latin typeface="+mj-ea"/>
                <a:ea typeface="+mj-ea"/>
              </a:rPr>
              <a:t>1000mg</a:t>
            </a:r>
            <a:r>
              <a:rPr lang="zh-CN" altLang="en-US" sz="900" b="1">
                <a:solidFill>
                  <a:schemeClr val="bg2">
                    <a:lumMod val="25000"/>
                  </a:schemeClr>
                </a:solidFill>
                <a:latin typeface="+mj-ea"/>
                <a:ea typeface="+mj-ea"/>
              </a:rPr>
              <a:t>含有钾</a:t>
            </a:r>
            <a:r>
              <a:rPr lang="en-US" altLang="zh-CN" sz="900" b="1">
                <a:solidFill>
                  <a:schemeClr val="bg2">
                    <a:lumMod val="25000"/>
                  </a:schemeClr>
                </a:solidFill>
                <a:latin typeface="+mj-ea"/>
                <a:ea typeface="+mj-ea"/>
              </a:rPr>
              <a:t>380mg</a:t>
            </a:r>
          </a:p>
          <a:p>
            <a:endParaRPr lang="en-US" altLang="zh-CN" sz="900">
              <a:latin typeface="+mj-ea"/>
              <a:ea typeface="+mj-ea"/>
            </a:endParaRPr>
          </a:p>
          <a:p>
            <a:r>
              <a:rPr lang="zh-CN" altLang="en-US">
                <a:latin typeface="+mj-ea"/>
                <a:ea typeface="+mj-ea"/>
              </a:rPr>
              <a:t> </a:t>
            </a:r>
            <a:r>
              <a:rPr lang="zh-CN" altLang="en-US" b="1">
                <a:latin typeface="+mj-ea"/>
                <a:ea typeface="+mj-ea"/>
              </a:rPr>
              <a:t>用量：</a:t>
            </a:r>
            <a:endParaRPr lang="en-US" altLang="zh-CN" b="1">
              <a:latin typeface="+mj-ea"/>
              <a:ea typeface="+mj-ea"/>
            </a:endParaRPr>
          </a:p>
          <a:p>
            <a:pPr marL="285750" indent="-285750">
              <a:buFont typeface="Arial" panose="020B0604020202020204" pitchFamily="34" charset="0"/>
              <a:buChar char="•"/>
            </a:pPr>
            <a:r>
              <a:rPr lang="zh-CN" altLang="en-US" sz="1600">
                <a:latin typeface="+mj-ea"/>
                <a:ea typeface="+mj-ea"/>
              </a:rPr>
              <a:t>初始剂量约为：每次</a:t>
            </a:r>
            <a:r>
              <a:rPr lang="en-US" altLang="zh-CN" sz="1600">
                <a:latin typeface="+mj-ea"/>
                <a:ea typeface="+mj-ea"/>
              </a:rPr>
              <a:t>40-60mg/kg</a:t>
            </a:r>
            <a:r>
              <a:rPr lang="zh-CN" altLang="en-US" sz="1600">
                <a:latin typeface="+mj-ea"/>
                <a:ea typeface="+mj-ea"/>
              </a:rPr>
              <a:t>体重，每天吃</a:t>
            </a:r>
            <a:r>
              <a:rPr lang="en-US" altLang="zh-CN" sz="1600">
                <a:latin typeface="+mj-ea"/>
                <a:ea typeface="+mj-ea"/>
              </a:rPr>
              <a:t>2-3</a:t>
            </a:r>
            <a:r>
              <a:rPr lang="zh-CN" altLang="en-US" sz="1600">
                <a:latin typeface="+mj-ea"/>
                <a:ea typeface="+mj-ea"/>
              </a:rPr>
              <a:t>次。</a:t>
            </a:r>
            <a:endParaRPr lang="en-US" altLang="zh-CN" sz="1600">
              <a:latin typeface="+mj-ea"/>
              <a:ea typeface="+mj-ea"/>
            </a:endParaRPr>
          </a:p>
          <a:p>
            <a:pPr marL="285750" indent="-285750">
              <a:buFont typeface="Arial" panose="020B0604020202020204" pitchFamily="34" charset="0"/>
              <a:buChar char="•"/>
            </a:pPr>
            <a:r>
              <a:rPr lang="zh-CN" altLang="en-US" sz="1600" b="1">
                <a:solidFill>
                  <a:srgbClr val="C00000"/>
                </a:solidFill>
                <a:latin typeface="+mn-ea"/>
                <a:ea typeface="+mn-ea"/>
              </a:rPr>
              <a:t>可以对抗血液酸中毒</a:t>
            </a:r>
            <a:r>
              <a:rPr lang="zh-CN" altLang="en-US" sz="1600">
                <a:solidFill>
                  <a:srgbClr val="C00000"/>
                </a:solidFill>
                <a:latin typeface="+mn-ea"/>
                <a:ea typeface="+mn-ea"/>
              </a:rPr>
              <a:t>，猫血气碳酸氢根</a:t>
            </a:r>
            <a:r>
              <a:rPr lang="en-US" altLang="zh-CN" sz="1600">
                <a:solidFill>
                  <a:srgbClr val="C00000"/>
                </a:solidFill>
                <a:latin typeface="+mn-ea"/>
                <a:ea typeface="+mn-ea"/>
              </a:rPr>
              <a:t>&lt;16</a:t>
            </a:r>
            <a:r>
              <a:rPr lang="zh-CN" altLang="en-US" sz="1600">
                <a:solidFill>
                  <a:srgbClr val="C00000"/>
                </a:solidFill>
                <a:latin typeface="+mn-ea"/>
                <a:ea typeface="+mn-ea"/>
              </a:rPr>
              <a:t>，同时血钾不高时可以考虑。</a:t>
            </a:r>
            <a:endParaRPr lang="en-US" altLang="zh-CN" sz="1600">
              <a:solidFill>
                <a:srgbClr val="C00000"/>
              </a:solidFill>
              <a:latin typeface="+mn-ea"/>
              <a:ea typeface="+mn-ea"/>
            </a:endParaRPr>
          </a:p>
          <a:p>
            <a:endParaRPr lang="en-US" altLang="zh-CN">
              <a:latin typeface="+mn-ea"/>
              <a:ea typeface="+mn-ea"/>
            </a:endParaRPr>
          </a:p>
          <a:p>
            <a:endParaRPr lang="en-US" altLang="zh-CN"/>
          </a:p>
          <a:p>
            <a:endParaRPr lang="en-US" altLang="zh-CN"/>
          </a:p>
        </p:txBody>
      </p:sp>
      <p:cxnSp>
        <p:nvCxnSpPr>
          <p:cNvPr id="21" name="直接连接符 20">
            <a:extLst>
              <a:ext uri="{FF2B5EF4-FFF2-40B4-BE49-F238E27FC236}">
                <a16:creationId xmlns:a16="http://schemas.microsoft.com/office/drawing/2014/main" id="{0D419903-5A39-47D8-B791-C6E2B03CBB2C}"/>
              </a:ext>
            </a:extLst>
          </p:cNvPr>
          <p:cNvCxnSpPr/>
          <p:nvPr/>
        </p:nvCxnSpPr>
        <p:spPr>
          <a:xfrm flipH="1">
            <a:off x="5735960" y="3644279"/>
            <a:ext cx="19050" cy="1079500"/>
          </a:xfrm>
          <a:prstGeom prst="line">
            <a:avLst/>
          </a:prstGeom>
          <a:ln w="50800">
            <a:solidFill>
              <a:srgbClr val="4F4F4F"/>
            </a:solidFill>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E86D2D8B-5736-47B8-8139-3C0CEEA4CA12}"/>
              </a:ext>
            </a:extLst>
          </p:cNvPr>
          <p:cNvSpPr txBox="1"/>
          <p:nvPr/>
        </p:nvSpPr>
        <p:spPr>
          <a:xfrm>
            <a:off x="6418975" y="5455524"/>
            <a:ext cx="4304404" cy="738664"/>
          </a:xfrm>
          <a:prstGeom prst="rect">
            <a:avLst/>
          </a:prstGeom>
          <a:noFill/>
        </p:spPr>
        <p:txBody>
          <a:bodyPr wrap="square" rtlCol="0">
            <a:spAutoFit/>
          </a:bodyPr>
          <a:lstStyle/>
          <a:p>
            <a:r>
              <a:rPr lang="zh-CN" altLang="en-US" b="1">
                <a:latin typeface="+mj-ea"/>
                <a:ea typeface="+mj-ea"/>
              </a:rPr>
              <a:t>举例来说：</a:t>
            </a:r>
            <a:endParaRPr lang="en-US" altLang="zh-CN" b="1">
              <a:latin typeface="+mj-ea"/>
              <a:ea typeface="+mj-ea"/>
            </a:endParaRPr>
          </a:p>
          <a:p>
            <a:r>
              <a:rPr lang="zh-CN" altLang="en-US" sz="1200">
                <a:latin typeface="+mn-ea"/>
                <a:ea typeface="+mn-ea"/>
              </a:rPr>
              <a:t>假设用散装的粉剂。一只公猫</a:t>
            </a:r>
            <a:r>
              <a:rPr lang="en-US" altLang="zh-CN" sz="1200">
                <a:latin typeface="+mn-ea"/>
                <a:ea typeface="+mn-ea"/>
              </a:rPr>
              <a:t>4</a:t>
            </a:r>
            <a:r>
              <a:rPr lang="zh-CN" altLang="en-US" sz="1200">
                <a:latin typeface="+mn-ea"/>
                <a:ea typeface="+mn-ea"/>
              </a:rPr>
              <a:t>公斤，使用</a:t>
            </a:r>
            <a:r>
              <a:rPr lang="en-US" altLang="zh-CN" sz="1200">
                <a:latin typeface="+mn-ea"/>
                <a:ea typeface="+mn-ea"/>
              </a:rPr>
              <a:t>40mg/kg</a:t>
            </a:r>
            <a:r>
              <a:rPr lang="zh-CN" altLang="en-US" sz="1200">
                <a:latin typeface="+mn-ea"/>
                <a:ea typeface="+mn-ea"/>
              </a:rPr>
              <a:t>剂量，一天三次。</a:t>
            </a:r>
            <a:r>
              <a:rPr lang="en-US" altLang="zh-CN" sz="1200">
                <a:latin typeface="+mn-ea"/>
                <a:ea typeface="+mn-ea"/>
              </a:rPr>
              <a:t>40x4x3=360mg</a:t>
            </a:r>
            <a:r>
              <a:rPr lang="zh-CN" altLang="en-US" sz="1200">
                <a:latin typeface="+mn-ea"/>
                <a:ea typeface="+mn-ea"/>
              </a:rPr>
              <a:t>。也就是</a:t>
            </a:r>
            <a:r>
              <a:rPr lang="en-US" altLang="zh-CN" sz="1200">
                <a:latin typeface="+mn-ea"/>
                <a:ea typeface="+mn-ea"/>
              </a:rPr>
              <a:t>0.36</a:t>
            </a:r>
            <a:r>
              <a:rPr lang="zh-CN" altLang="en-US" sz="1200">
                <a:latin typeface="+mn-ea"/>
                <a:ea typeface="+mn-ea"/>
              </a:rPr>
              <a:t>克柠檬酸钾粉。</a:t>
            </a:r>
          </a:p>
        </p:txBody>
      </p:sp>
      <p:sp>
        <p:nvSpPr>
          <p:cNvPr id="5" name="文本框 4">
            <a:extLst>
              <a:ext uri="{FF2B5EF4-FFF2-40B4-BE49-F238E27FC236}">
                <a16:creationId xmlns:a16="http://schemas.microsoft.com/office/drawing/2014/main" id="{EADC38C7-BAEB-4D90-BE4E-1FF877665605}"/>
              </a:ext>
            </a:extLst>
          </p:cNvPr>
          <p:cNvSpPr txBox="1"/>
          <p:nvPr/>
        </p:nvSpPr>
        <p:spPr>
          <a:xfrm>
            <a:off x="1267190" y="5286247"/>
            <a:ext cx="3312368" cy="1077218"/>
          </a:xfrm>
          <a:prstGeom prst="rect">
            <a:avLst/>
          </a:prstGeom>
          <a:noFill/>
        </p:spPr>
        <p:txBody>
          <a:bodyPr wrap="square" rtlCol="0">
            <a:spAutoFit/>
          </a:bodyPr>
          <a:lstStyle/>
          <a:p>
            <a:r>
              <a:rPr lang="zh-CN" altLang="en-US" sz="1600" b="1">
                <a:latin typeface="+mj-ea"/>
                <a:ea typeface="+mj-ea"/>
              </a:rPr>
              <a:t>如果用药片</a:t>
            </a:r>
            <a:r>
              <a:rPr lang="zh-CN" altLang="en-US" sz="1600">
                <a:latin typeface="+mj-ea"/>
                <a:ea typeface="+mj-ea"/>
              </a:rPr>
              <a:t>：</a:t>
            </a:r>
            <a:endParaRPr lang="en-US" altLang="zh-CN" sz="1600">
              <a:latin typeface="+mj-ea"/>
              <a:ea typeface="+mj-ea"/>
            </a:endParaRPr>
          </a:p>
          <a:p>
            <a:r>
              <a:rPr lang="en-US" altLang="zh-CN" sz="1600">
                <a:latin typeface="+mj-ea"/>
                <a:ea typeface="+mj-ea"/>
              </a:rPr>
              <a:t>3kg</a:t>
            </a:r>
            <a:r>
              <a:rPr lang="zh-CN" altLang="en-US" sz="1600">
                <a:latin typeface="+mj-ea"/>
                <a:ea typeface="+mj-ea"/>
              </a:rPr>
              <a:t>的猫每日一片，分两次</a:t>
            </a:r>
            <a:endParaRPr lang="en-US" altLang="zh-CN" sz="1600">
              <a:latin typeface="+mj-ea"/>
              <a:ea typeface="+mj-ea"/>
            </a:endParaRPr>
          </a:p>
          <a:p>
            <a:r>
              <a:rPr lang="en-US" altLang="zh-CN" sz="1600">
                <a:latin typeface="+mj-ea"/>
                <a:ea typeface="+mj-ea"/>
              </a:rPr>
              <a:t>4kg</a:t>
            </a:r>
            <a:r>
              <a:rPr lang="zh-CN" altLang="en-US" sz="1600">
                <a:latin typeface="+mj-ea"/>
                <a:ea typeface="+mj-ea"/>
              </a:rPr>
              <a:t>的猫每日一片半，分两次</a:t>
            </a:r>
            <a:endParaRPr lang="en-US" altLang="zh-CN" sz="1600">
              <a:latin typeface="+mj-ea"/>
              <a:ea typeface="+mj-ea"/>
            </a:endParaRPr>
          </a:p>
          <a:p>
            <a:endParaRPr lang="zh-CN" altLang="en-US" sz="1600"/>
          </a:p>
        </p:txBody>
      </p:sp>
      <p:pic>
        <p:nvPicPr>
          <p:cNvPr id="8" name="图片 7">
            <a:extLst>
              <a:ext uri="{FF2B5EF4-FFF2-40B4-BE49-F238E27FC236}">
                <a16:creationId xmlns:a16="http://schemas.microsoft.com/office/drawing/2014/main" id="{DECAECB7-01D0-491B-8224-99EBFF80A8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5560" y="3019660"/>
            <a:ext cx="1115667" cy="2047096"/>
          </a:xfrm>
          <a:prstGeom prst="rect">
            <a:avLst/>
          </a:prstGeom>
        </p:spPr>
      </p:pic>
      <p:sp>
        <p:nvSpPr>
          <p:cNvPr id="9" name="文本框 8">
            <a:extLst>
              <a:ext uri="{FF2B5EF4-FFF2-40B4-BE49-F238E27FC236}">
                <a16:creationId xmlns:a16="http://schemas.microsoft.com/office/drawing/2014/main" id="{15E51B22-0F66-4623-87F1-4D6A4920D6EC}"/>
              </a:ext>
            </a:extLst>
          </p:cNvPr>
          <p:cNvSpPr txBox="1"/>
          <p:nvPr/>
        </p:nvSpPr>
        <p:spPr>
          <a:xfrm>
            <a:off x="1882773" y="2463196"/>
            <a:ext cx="2016224" cy="400110"/>
          </a:xfrm>
          <a:prstGeom prst="rect">
            <a:avLst/>
          </a:prstGeom>
          <a:noFill/>
        </p:spPr>
        <p:txBody>
          <a:bodyPr wrap="square" rtlCol="0">
            <a:spAutoFit/>
          </a:bodyPr>
          <a:lstStyle/>
          <a:p>
            <a:r>
              <a:rPr lang="en-US" altLang="zh-CN">
                <a:latin typeface="+mj-ea"/>
                <a:ea typeface="+mj-ea"/>
              </a:rPr>
              <a:t>Now </a:t>
            </a:r>
            <a:r>
              <a:rPr lang="zh-CN" altLang="en-US">
                <a:latin typeface="+mj-ea"/>
                <a:ea typeface="+mj-ea"/>
              </a:rPr>
              <a:t>柠檬酸钾</a:t>
            </a:r>
            <a:r>
              <a:rPr lang="zh-CN" altLang="en-US" sz="2000" b="1">
                <a:solidFill>
                  <a:srgbClr val="C00000"/>
                </a:solidFill>
                <a:latin typeface="+mj-ea"/>
                <a:ea typeface="+mj-ea"/>
              </a:rPr>
              <a:t>片</a:t>
            </a:r>
            <a:endParaRPr lang="zh-CN" altLang="en-US" b="1">
              <a:solidFill>
                <a:srgbClr val="C00000"/>
              </a:solidFill>
              <a:latin typeface="+mj-ea"/>
              <a:ea typeface="+mj-ea"/>
            </a:endParaRPr>
          </a:p>
        </p:txBody>
      </p:sp>
    </p:spTree>
    <p:extLst>
      <p:ext uri="{BB962C8B-B14F-4D97-AF65-F5344CB8AC3E}">
        <p14:creationId xmlns:p14="http://schemas.microsoft.com/office/powerpoint/2010/main" val="77908075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2" name="ValueText1">
            <a:extLst/>
          </p:cNvPr>
          <p:cNvSpPr txBox="1"/>
          <p:nvPr/>
        </p:nvSpPr>
        <p:spPr bwMode="auto">
          <a:xfrm>
            <a:off x="8657279" y="2124376"/>
            <a:ext cx="300363" cy="172748"/>
          </a:xfrm>
          <a:prstGeom prst="rect">
            <a:avLst/>
          </a:prstGeom>
          <a:noFill/>
          <a:ln>
            <a:noFill/>
          </a:ln>
        </p:spPr>
        <p:txBody>
          <a:bodyPr wrap="none" lIns="0" tIns="0" rIns="0" bIns="0" anchor="ctr" anchorCtr="1">
            <a:prstTxWarp prst="textPlain">
              <a:avLst/>
            </a:prstTxWarp>
            <a:normAutofit fontScale="85000" lnSpcReduction="20000"/>
          </a:bodyPr>
          <a:lstStyle/>
          <a:p>
            <a:pPr algn="ctr">
              <a:defRPr/>
            </a:pPr>
            <a:endParaRPr lang="en-US" altLang="zh-CN" sz="1600">
              <a:solidFill>
                <a:schemeClr val="bg1"/>
              </a:solidFill>
              <a:latin typeface="Impact" panose="020B0806030902050204" pitchFamily="34" charset="0"/>
            </a:endParaRPr>
          </a:p>
        </p:txBody>
      </p:sp>
      <p:sp>
        <p:nvSpPr>
          <p:cNvPr id="33" name="ValueText2">
            <a:extLst/>
          </p:cNvPr>
          <p:cNvSpPr txBox="1"/>
          <p:nvPr/>
        </p:nvSpPr>
        <p:spPr bwMode="auto">
          <a:xfrm>
            <a:off x="8657279" y="2371881"/>
            <a:ext cx="300363" cy="172748"/>
          </a:xfrm>
          <a:prstGeom prst="rect">
            <a:avLst/>
          </a:prstGeom>
          <a:noFill/>
          <a:ln>
            <a:noFill/>
          </a:ln>
        </p:spPr>
        <p:txBody>
          <a:bodyPr wrap="none" lIns="0" tIns="0" rIns="0" bIns="0" anchor="ctr" anchorCtr="1">
            <a:prstTxWarp prst="textPlain">
              <a:avLst/>
            </a:prstTxWarp>
            <a:normAutofit fontScale="85000" lnSpcReduction="20000"/>
          </a:bodyPr>
          <a:lstStyle/>
          <a:p>
            <a:pPr algn="ctr">
              <a:defRPr/>
            </a:pPr>
            <a:endParaRPr lang="en-US" altLang="zh-CN" sz="1600">
              <a:solidFill>
                <a:srgbClr val="FFFF00"/>
              </a:solidFill>
              <a:latin typeface="Impact" panose="020B0806030902050204" pitchFamily="34" charset="0"/>
            </a:endParaRPr>
          </a:p>
        </p:txBody>
      </p:sp>
      <p:sp>
        <p:nvSpPr>
          <p:cNvPr id="34" name="ValueText3">
            <a:extLst/>
          </p:cNvPr>
          <p:cNvSpPr txBox="1"/>
          <p:nvPr/>
        </p:nvSpPr>
        <p:spPr bwMode="auto">
          <a:xfrm>
            <a:off x="8657279" y="2617467"/>
            <a:ext cx="300363" cy="172748"/>
          </a:xfrm>
          <a:prstGeom prst="rect">
            <a:avLst/>
          </a:prstGeom>
          <a:noFill/>
          <a:ln>
            <a:noFill/>
          </a:ln>
        </p:spPr>
        <p:txBody>
          <a:bodyPr wrap="none" lIns="0" tIns="0" rIns="0" bIns="0" anchor="ctr" anchorCtr="1">
            <a:prstTxWarp prst="textPlain">
              <a:avLst/>
            </a:prstTxWarp>
            <a:normAutofit fontScale="85000" lnSpcReduction="20000"/>
          </a:bodyPr>
          <a:lstStyle/>
          <a:p>
            <a:pPr algn="ctr">
              <a:defRPr/>
            </a:pPr>
            <a:endParaRPr lang="en-US" altLang="zh-CN" sz="1600">
              <a:solidFill>
                <a:schemeClr val="bg1"/>
              </a:solidFill>
              <a:latin typeface="Impact" panose="020B0806030902050204" pitchFamily="34" charset="0"/>
            </a:endParaRPr>
          </a:p>
        </p:txBody>
      </p:sp>
      <p:sp>
        <p:nvSpPr>
          <p:cNvPr id="45" name="ValueText4">
            <a:extLst/>
          </p:cNvPr>
          <p:cNvSpPr txBox="1"/>
          <p:nvPr/>
        </p:nvSpPr>
        <p:spPr bwMode="auto">
          <a:xfrm>
            <a:off x="8657279" y="2863052"/>
            <a:ext cx="300363" cy="172748"/>
          </a:xfrm>
          <a:prstGeom prst="rect">
            <a:avLst/>
          </a:prstGeom>
          <a:noFill/>
          <a:ln>
            <a:noFill/>
          </a:ln>
        </p:spPr>
        <p:txBody>
          <a:bodyPr wrap="none" lIns="0" tIns="0" rIns="0" bIns="0" anchor="ctr" anchorCtr="1">
            <a:prstTxWarp prst="textPlain">
              <a:avLst/>
            </a:prstTxWarp>
            <a:normAutofit fontScale="85000" lnSpcReduction="20000"/>
          </a:bodyPr>
          <a:lstStyle/>
          <a:p>
            <a:pPr algn="ctr">
              <a:defRPr/>
            </a:pPr>
            <a:endParaRPr lang="en-US" altLang="zh-CN" sz="1600">
              <a:solidFill>
                <a:schemeClr val="bg1"/>
              </a:solidFill>
              <a:latin typeface="Impact" panose="020B0806030902050204" pitchFamily="34" charset="0"/>
            </a:endParaRPr>
          </a:p>
        </p:txBody>
      </p:sp>
      <p:sp>
        <p:nvSpPr>
          <p:cNvPr id="51" name="RelativeShape4">
            <a:extLst/>
          </p:cNvPr>
          <p:cNvSpPr/>
          <p:nvPr/>
        </p:nvSpPr>
        <p:spPr bwMode="auto">
          <a:xfrm>
            <a:off x="6433368" y="2885405"/>
            <a:ext cx="1819275" cy="1791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54" name="RelativeShape1">
            <a:extLst/>
          </p:cNvPr>
          <p:cNvSpPr/>
          <p:nvPr/>
        </p:nvSpPr>
        <p:spPr bwMode="auto">
          <a:xfrm>
            <a:off x="6433368" y="2147218"/>
            <a:ext cx="1819275" cy="127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graphicFrame>
        <p:nvGraphicFramePr>
          <p:cNvPr id="4" name="表格 3"/>
          <p:cNvGraphicFramePr>
            <a:graphicFrameLocks noGrp="1"/>
          </p:cNvGraphicFramePr>
          <p:nvPr>
            <p:extLst>
              <p:ext uri="{D42A27DB-BD31-4B8C-83A1-F6EECF244321}">
                <p14:modId xmlns:p14="http://schemas.microsoft.com/office/powerpoint/2010/main" val="3674310722"/>
              </p:ext>
            </p:extLst>
          </p:nvPr>
        </p:nvGraphicFramePr>
        <p:xfrm>
          <a:off x="1" y="0"/>
          <a:ext cx="12191999" cy="6894482"/>
        </p:xfrm>
        <a:graphic>
          <a:graphicData uri="http://schemas.openxmlformats.org/drawingml/2006/table">
            <a:tbl>
              <a:tblPr firstRow="1" bandRow="1">
                <a:tableStyleId>{5C22544A-7EE6-4342-B048-85BDC9FD1C3A}</a:tableStyleId>
              </a:tblPr>
              <a:tblGrid>
                <a:gridCol w="3071663">
                  <a:extLst>
                    <a:ext uri="{9D8B030D-6E8A-4147-A177-3AD203B41FA5}">
                      <a16:colId xmlns:a16="http://schemas.microsoft.com/office/drawing/2014/main" val="2954123965"/>
                    </a:ext>
                  </a:extLst>
                </a:gridCol>
                <a:gridCol w="2786534">
                  <a:extLst>
                    <a:ext uri="{9D8B030D-6E8A-4147-A177-3AD203B41FA5}">
                      <a16:colId xmlns:a16="http://schemas.microsoft.com/office/drawing/2014/main" val="1434691800"/>
                    </a:ext>
                  </a:extLst>
                </a:gridCol>
                <a:gridCol w="3000540">
                  <a:extLst>
                    <a:ext uri="{9D8B030D-6E8A-4147-A177-3AD203B41FA5}">
                      <a16:colId xmlns:a16="http://schemas.microsoft.com/office/drawing/2014/main" val="738414587"/>
                    </a:ext>
                  </a:extLst>
                </a:gridCol>
                <a:gridCol w="3333262">
                  <a:extLst>
                    <a:ext uri="{9D8B030D-6E8A-4147-A177-3AD203B41FA5}">
                      <a16:colId xmlns:a16="http://schemas.microsoft.com/office/drawing/2014/main" val="993263463"/>
                    </a:ext>
                  </a:extLst>
                </a:gridCol>
              </a:tblGrid>
              <a:tr h="378528">
                <a:tc rowSpan="2">
                  <a:txBody>
                    <a:bodyPr/>
                    <a:lstStyle/>
                    <a:p>
                      <a:pPr algn="ctr">
                        <a:lnSpc>
                          <a:spcPct val="150000"/>
                        </a:lnSpc>
                      </a:pPr>
                      <a:endParaRPr lang="zh-CN" altLang="en-US" sz="1800"/>
                    </a:p>
                  </a:txBody>
                  <a:tcPr>
                    <a:solidFill>
                      <a:schemeClr val="accent4">
                        <a:lumMod val="60000"/>
                        <a:lumOff val="40000"/>
                      </a:schemeClr>
                    </a:solidFill>
                  </a:tcPr>
                </a:tc>
                <a:tc rowSpan="2">
                  <a:txBody>
                    <a:bodyPr/>
                    <a:lstStyle/>
                    <a:p>
                      <a:pPr algn="ctr">
                        <a:lnSpc>
                          <a:spcPct val="150000"/>
                        </a:lnSpc>
                      </a:pPr>
                      <a:endParaRPr lang="zh-CN" altLang="en-US" sz="1800"/>
                    </a:p>
                  </a:txBody>
                  <a:tcPr>
                    <a:solidFill>
                      <a:schemeClr val="accent4">
                        <a:lumMod val="60000"/>
                        <a:lumOff val="40000"/>
                      </a:schemeClr>
                    </a:solidFill>
                  </a:tcPr>
                </a:tc>
                <a:tc gridSpan="2">
                  <a:txBody>
                    <a:bodyPr/>
                    <a:lstStyle/>
                    <a:p>
                      <a:pPr algn="ctr"/>
                      <a:endParaRPr lang="zh-CN" altLang="en-US" sz="1800">
                        <a:solidFill>
                          <a:schemeClr val="tx1">
                            <a:lumMod val="85000"/>
                            <a:lumOff val="15000"/>
                          </a:schemeClr>
                        </a:solidFill>
                        <a:effectLst>
                          <a:outerShdw blurRad="38100" dist="38100" dir="2700000" algn="tl">
                            <a:srgbClr val="000000">
                              <a:alpha val="43137"/>
                            </a:srgbClr>
                          </a:outerShdw>
                        </a:effectLst>
                      </a:endParaRPr>
                    </a:p>
                  </a:txBody>
                  <a:tcPr>
                    <a:solidFill>
                      <a:srgbClr val="FFCC00"/>
                    </a:solidFill>
                  </a:tcPr>
                </a:tc>
                <a:tc hMerge="1">
                  <a:txBody>
                    <a:bodyPr/>
                    <a:lstStyle/>
                    <a:p>
                      <a:endParaRPr lang="zh-CN" altLang="en-US"/>
                    </a:p>
                  </a:txBody>
                  <a:tcPr/>
                </a:tc>
                <a:extLst>
                  <a:ext uri="{0D108BD9-81ED-4DB2-BD59-A6C34878D82A}">
                    <a16:rowId xmlns:a16="http://schemas.microsoft.com/office/drawing/2014/main" val="52069107"/>
                  </a:ext>
                </a:extLst>
              </a:tr>
              <a:tr h="346984">
                <a:tc vMerge="1">
                  <a:txBody>
                    <a:bodyPr/>
                    <a:lstStyle/>
                    <a:p>
                      <a:endParaRPr lang="zh-CN" altLang="en-US"/>
                    </a:p>
                  </a:txBody>
                  <a:tcPr/>
                </a:tc>
                <a:tc vMerge="1">
                  <a:txBody>
                    <a:bodyPr/>
                    <a:lstStyle/>
                    <a:p>
                      <a:endParaRPr lang="zh-CN" altLang="en-US"/>
                    </a:p>
                  </a:txBody>
                  <a:tcPr/>
                </a:tc>
                <a:tc>
                  <a:txBody>
                    <a:bodyPr/>
                    <a:lstStyle/>
                    <a:p>
                      <a:pPr algn="ctr"/>
                      <a:r>
                        <a:rPr lang="zh-CN" altLang="en-US" sz="1600" b="1">
                          <a:solidFill>
                            <a:schemeClr val="tx1">
                              <a:lumMod val="85000"/>
                              <a:lumOff val="15000"/>
                            </a:schemeClr>
                          </a:solidFill>
                          <a:effectLst>
                            <a:outerShdw blurRad="38100" dist="38100" dir="2700000" algn="tl">
                              <a:srgbClr val="000000">
                                <a:alpha val="43137"/>
                              </a:srgbClr>
                            </a:outerShdw>
                          </a:effectLst>
                        </a:rPr>
                        <a:t>作用</a:t>
                      </a:r>
                    </a:p>
                  </a:txBody>
                  <a:tcPr>
                    <a:solidFill>
                      <a:schemeClr val="accent4">
                        <a:lumMod val="60000"/>
                        <a:lumOff val="40000"/>
                      </a:schemeClr>
                    </a:solidFill>
                  </a:tcPr>
                </a:tc>
                <a:tc>
                  <a:txBody>
                    <a:bodyPr/>
                    <a:lstStyle/>
                    <a:p>
                      <a:pPr algn="ctr"/>
                      <a:r>
                        <a:rPr lang="zh-CN" altLang="en-US" sz="1600" b="1">
                          <a:solidFill>
                            <a:schemeClr val="tx1">
                              <a:lumMod val="85000"/>
                              <a:lumOff val="15000"/>
                            </a:schemeClr>
                          </a:solidFill>
                          <a:effectLst>
                            <a:outerShdw blurRad="38100" dist="38100" dir="2700000" algn="tl">
                              <a:srgbClr val="000000">
                                <a:alpha val="43137"/>
                              </a:srgbClr>
                            </a:outerShdw>
                          </a:effectLst>
                        </a:rPr>
                        <a:t>存在的问题与注意点</a:t>
                      </a:r>
                    </a:p>
                  </a:txBody>
                  <a:tcPr>
                    <a:solidFill>
                      <a:schemeClr val="accent4">
                        <a:lumMod val="60000"/>
                        <a:lumOff val="40000"/>
                      </a:schemeClr>
                    </a:solidFill>
                  </a:tcPr>
                </a:tc>
                <a:extLst>
                  <a:ext uri="{0D108BD9-81ED-4DB2-BD59-A6C34878D82A}">
                    <a16:rowId xmlns:a16="http://schemas.microsoft.com/office/drawing/2014/main" val="1487809549"/>
                  </a:ext>
                </a:extLst>
              </a:tr>
              <a:tr h="651958">
                <a:tc>
                  <a:txBody>
                    <a:bodyPr/>
                    <a:lstStyle/>
                    <a:p>
                      <a:r>
                        <a:rPr lang="zh-CN" altLang="en-US" sz="1600" b="1">
                          <a:solidFill>
                            <a:schemeClr val="accent1">
                              <a:lumMod val="50000"/>
                            </a:schemeClr>
                          </a:solidFill>
                          <a:latin typeface="+mj-ea"/>
                          <a:ea typeface="+mj-ea"/>
                        </a:rPr>
                        <a:t>法国威隆肾康粉</a:t>
                      </a:r>
                      <a:endParaRPr lang="en-US" altLang="zh-CN" sz="1600" b="1">
                        <a:solidFill>
                          <a:schemeClr val="accent1">
                            <a:lumMod val="50000"/>
                          </a:schemeClr>
                        </a:solidFill>
                        <a:latin typeface="+mj-ea"/>
                        <a:ea typeface="+mj-ea"/>
                      </a:endParaRPr>
                    </a:p>
                  </a:txBody>
                  <a:tcPr marL="396000" marT="216000">
                    <a:solidFill>
                      <a:schemeClr val="accent1">
                        <a:lumMod val="20000"/>
                        <a:lumOff val="80000"/>
                      </a:schemeClr>
                    </a:solidFill>
                  </a:tcPr>
                </a:tc>
                <a:tc>
                  <a:txBody>
                    <a:bodyPr/>
                    <a:lstStyle/>
                    <a:p>
                      <a:pPr lvl="0" algn="l"/>
                      <a:r>
                        <a:rPr lang="en-US" altLang="zh-CN" sz="1200" b="1">
                          <a:solidFill>
                            <a:schemeClr val="accent1">
                              <a:lumMod val="50000"/>
                            </a:schemeClr>
                          </a:solidFill>
                          <a:latin typeface="+mn-ea"/>
                          <a:ea typeface="+mn-ea"/>
                        </a:rPr>
                        <a:t>82%</a:t>
                      </a:r>
                      <a:r>
                        <a:rPr lang="zh-CN" altLang="en-US" sz="1200" b="1">
                          <a:solidFill>
                            <a:schemeClr val="accent1">
                              <a:lumMod val="50000"/>
                            </a:schemeClr>
                          </a:solidFill>
                          <a:latin typeface="+mn-ea"/>
                          <a:ea typeface="+mn-ea"/>
                        </a:rPr>
                        <a:t>乳糖，</a:t>
                      </a:r>
                      <a:r>
                        <a:rPr lang="en-US" altLang="zh-CN" sz="1200" b="1">
                          <a:solidFill>
                            <a:schemeClr val="accent1">
                              <a:lumMod val="50000"/>
                            </a:schemeClr>
                          </a:solidFill>
                          <a:latin typeface="+mn-ea"/>
                          <a:ea typeface="+mn-ea"/>
                        </a:rPr>
                        <a:t>8%</a:t>
                      </a:r>
                      <a:r>
                        <a:rPr lang="zh-CN" altLang="en-US" sz="1200" b="1">
                          <a:solidFill>
                            <a:schemeClr val="accent1">
                              <a:lumMod val="50000"/>
                            </a:schemeClr>
                          </a:solidFill>
                          <a:latin typeface="+mn-ea"/>
                          <a:ea typeface="+mn-ea"/>
                        </a:rPr>
                        <a:t>壳聚糖，及</a:t>
                      </a:r>
                      <a:r>
                        <a:rPr lang="en-US" altLang="zh-CN" sz="1200" b="1">
                          <a:solidFill>
                            <a:schemeClr val="accent1">
                              <a:lumMod val="50000"/>
                            </a:schemeClr>
                          </a:solidFill>
                          <a:latin typeface="+mn-ea"/>
                          <a:ea typeface="+mn-ea"/>
                        </a:rPr>
                        <a:t>10%</a:t>
                      </a:r>
                      <a:r>
                        <a:rPr lang="zh-CN" altLang="en-US" sz="1200" b="1">
                          <a:solidFill>
                            <a:schemeClr val="accent1">
                              <a:lumMod val="50000"/>
                            </a:schemeClr>
                          </a:solidFill>
                          <a:latin typeface="+mn-ea"/>
                          <a:ea typeface="+mn-ea"/>
                        </a:rPr>
                        <a:t>碳酸钙</a:t>
                      </a:r>
                      <a:endParaRPr lang="en-US" altLang="zh-CN" sz="1200" b="1">
                        <a:solidFill>
                          <a:schemeClr val="accent1">
                            <a:lumMod val="50000"/>
                          </a:schemeClr>
                        </a:solidFill>
                        <a:latin typeface="+mn-ea"/>
                        <a:ea typeface="+mn-ea"/>
                      </a:endParaRPr>
                    </a:p>
                  </a:txBody>
                  <a:tcPr marL="396000" marT="216000">
                    <a:solidFill>
                      <a:schemeClr val="accent1">
                        <a:lumMod val="20000"/>
                        <a:lumOff val="80000"/>
                      </a:schemeClr>
                    </a:solidFill>
                  </a:tcPr>
                </a:tc>
                <a:tc>
                  <a:txBody>
                    <a:bodyPr/>
                    <a:lstStyle/>
                    <a:p>
                      <a:pPr lvl="0" algn="l"/>
                      <a:r>
                        <a:rPr lang="zh-CN" altLang="en-US" sz="1200" b="1">
                          <a:solidFill>
                            <a:schemeClr val="tx2">
                              <a:lumMod val="75000"/>
                            </a:schemeClr>
                          </a:solidFill>
                          <a:effectLst/>
                          <a:latin typeface="+mj-ea"/>
                          <a:ea typeface="+mj-ea"/>
                        </a:rPr>
                        <a:t>磷结合剂与毒素吸附</a:t>
                      </a:r>
                    </a:p>
                  </a:txBody>
                  <a:tcPr marT="36000" marB="36000" anchor="ctr">
                    <a:solidFill>
                      <a:schemeClr val="accent1">
                        <a:lumMod val="20000"/>
                        <a:lumOff val="80000"/>
                      </a:schemeClr>
                    </a:solidFill>
                  </a:tcPr>
                </a:tc>
                <a:tc>
                  <a:txBody>
                    <a:bodyPr/>
                    <a:lstStyle/>
                    <a:p>
                      <a:pPr lvl="0"/>
                      <a:r>
                        <a:rPr lang="zh-CN" altLang="en-US" sz="1200">
                          <a:solidFill>
                            <a:schemeClr val="tx1">
                              <a:lumMod val="75000"/>
                              <a:lumOff val="25000"/>
                            </a:schemeClr>
                          </a:solidFill>
                          <a:effectLst>
                            <a:outerShdw blurRad="38100" dist="38100" dir="2700000" algn="tl">
                              <a:srgbClr val="000000">
                                <a:alpha val="43137"/>
                              </a:srgbClr>
                            </a:outerShdw>
                          </a:effectLst>
                          <a:latin typeface="+mj-ea"/>
                          <a:ea typeface="+mj-ea"/>
                        </a:rPr>
                        <a:t>原料廉价但售价颇高。控磷效果太弱，应用范围窄。高血钙病患不适用。</a:t>
                      </a:r>
                    </a:p>
                  </a:txBody>
                  <a:tcPr anchor="ctr">
                    <a:solidFill>
                      <a:schemeClr val="accent1">
                        <a:lumMod val="20000"/>
                        <a:lumOff val="80000"/>
                      </a:schemeClr>
                    </a:solidFill>
                  </a:tcPr>
                </a:tc>
                <a:extLst>
                  <a:ext uri="{0D108BD9-81ED-4DB2-BD59-A6C34878D82A}">
                    <a16:rowId xmlns:a16="http://schemas.microsoft.com/office/drawing/2014/main" val="2794495470"/>
                  </a:ext>
                </a:extLst>
              </a:tr>
              <a:tr h="651958">
                <a:tc>
                  <a:txBody>
                    <a:bodyPr/>
                    <a:lstStyle/>
                    <a:p>
                      <a:r>
                        <a:rPr lang="zh-CN" altLang="en-US" sz="1600" b="1">
                          <a:solidFill>
                            <a:schemeClr val="accent1">
                              <a:lumMod val="50000"/>
                            </a:schemeClr>
                          </a:solidFill>
                          <a:latin typeface="+mj-ea"/>
                          <a:ea typeface="+mj-ea"/>
                        </a:rPr>
                        <a:t>法国威隆</a:t>
                      </a:r>
                      <a:r>
                        <a:rPr lang="en-US" altLang="zh-CN" sz="1600" b="1">
                          <a:solidFill>
                            <a:schemeClr val="accent1">
                              <a:lumMod val="50000"/>
                            </a:schemeClr>
                          </a:solidFill>
                          <a:latin typeface="+mj-ea"/>
                          <a:ea typeface="+mj-ea"/>
                        </a:rPr>
                        <a:t>Easypill</a:t>
                      </a:r>
                    </a:p>
                  </a:txBody>
                  <a:tcPr marL="396000" marT="216000">
                    <a:solidFill>
                      <a:schemeClr val="accent1">
                        <a:lumMod val="20000"/>
                        <a:lumOff val="80000"/>
                      </a:schemeClr>
                    </a:solidFill>
                  </a:tcPr>
                </a:tc>
                <a:tc>
                  <a:txBody>
                    <a:bodyPr/>
                    <a:lstStyle/>
                    <a:p>
                      <a:pPr lvl="0" algn="l"/>
                      <a:r>
                        <a:rPr lang="en-US" altLang="zh-CN" sz="1400" b="1">
                          <a:solidFill>
                            <a:schemeClr val="accent1">
                              <a:lumMod val="50000"/>
                            </a:schemeClr>
                          </a:solidFill>
                          <a:latin typeface="+mn-ea"/>
                          <a:ea typeface="+mn-ea"/>
                        </a:rPr>
                        <a:t>600mg</a:t>
                      </a:r>
                      <a:r>
                        <a:rPr lang="zh-CN" altLang="en-US" sz="1400" b="1">
                          <a:solidFill>
                            <a:schemeClr val="accent1">
                              <a:lumMod val="50000"/>
                            </a:schemeClr>
                          </a:solidFill>
                          <a:latin typeface="+mn-ea"/>
                          <a:ea typeface="+mn-ea"/>
                        </a:rPr>
                        <a:t>碳酸钙，</a:t>
                      </a:r>
                      <a:r>
                        <a:rPr lang="en-US" altLang="zh-CN" sz="1400" b="1">
                          <a:solidFill>
                            <a:schemeClr val="accent1">
                              <a:lumMod val="50000"/>
                            </a:schemeClr>
                          </a:solidFill>
                          <a:latin typeface="+mn-ea"/>
                          <a:ea typeface="+mn-ea"/>
                        </a:rPr>
                        <a:t>4mg</a:t>
                      </a:r>
                      <a:r>
                        <a:rPr lang="zh-CN" altLang="en-US" sz="1400" b="1">
                          <a:solidFill>
                            <a:schemeClr val="accent1">
                              <a:lumMod val="50000"/>
                            </a:schemeClr>
                          </a:solidFill>
                          <a:latin typeface="+mn-ea"/>
                          <a:ea typeface="+mn-ea"/>
                        </a:rPr>
                        <a:t>丝兰提取物</a:t>
                      </a:r>
                      <a:endParaRPr lang="en-US" altLang="zh-CN" sz="1400" b="1">
                        <a:solidFill>
                          <a:schemeClr val="accent1">
                            <a:lumMod val="50000"/>
                          </a:schemeClr>
                        </a:solidFill>
                        <a:latin typeface="+mn-ea"/>
                        <a:ea typeface="+mn-ea"/>
                      </a:endParaRPr>
                    </a:p>
                  </a:txBody>
                  <a:tcPr marL="396000" marT="216000">
                    <a:solidFill>
                      <a:schemeClr val="accent1">
                        <a:lumMod val="20000"/>
                        <a:lumOff val="80000"/>
                      </a:schemeClr>
                    </a:solidFill>
                  </a:tcPr>
                </a:tc>
                <a:tc>
                  <a:txBody>
                    <a:bodyPr/>
                    <a:lstStyle/>
                    <a:p>
                      <a:pPr lvl="0" algn="l"/>
                      <a:r>
                        <a:rPr lang="zh-CN" altLang="en-US" sz="1200" b="1">
                          <a:solidFill>
                            <a:schemeClr val="tx2">
                              <a:lumMod val="75000"/>
                            </a:schemeClr>
                          </a:solidFill>
                          <a:effectLst/>
                          <a:latin typeface="+mj-ea"/>
                          <a:ea typeface="+mj-ea"/>
                        </a:rPr>
                        <a:t>磷结合剂与毒素吸附</a:t>
                      </a:r>
                    </a:p>
                  </a:txBody>
                  <a:tcPr marT="36000" marB="36000" anchor="ctr">
                    <a:solidFill>
                      <a:schemeClr val="accent1">
                        <a:lumMod val="20000"/>
                        <a:lumOff val="80000"/>
                      </a:schemeClr>
                    </a:solidFill>
                  </a:tcPr>
                </a:tc>
                <a:tc>
                  <a:txBody>
                    <a:bodyPr/>
                    <a:lstStyle/>
                    <a:p>
                      <a:pPr lvl="0"/>
                      <a:r>
                        <a:rPr lang="zh-CN" altLang="en-US" sz="1200" kern="1200">
                          <a:solidFill>
                            <a:schemeClr val="tx1">
                              <a:lumMod val="75000"/>
                              <a:lumOff val="25000"/>
                            </a:schemeClr>
                          </a:solidFill>
                          <a:effectLst>
                            <a:outerShdw blurRad="38100" dist="38100" dir="2700000" algn="tl">
                              <a:srgbClr val="000000">
                                <a:alpha val="43137"/>
                              </a:srgbClr>
                            </a:outerShdw>
                          </a:effectLst>
                          <a:latin typeface="+mj-ea"/>
                          <a:ea typeface="+mn-ea"/>
                          <a:cs typeface="+mn-cs"/>
                        </a:rPr>
                        <a:t>原料廉价但售价颇高。控磷效果太弱，应用范围窄。高血钙病患不适用。</a:t>
                      </a:r>
                      <a:endParaRPr lang="zh-CN" altLang="en-US" sz="1200">
                        <a:solidFill>
                          <a:schemeClr val="tx1">
                            <a:lumMod val="75000"/>
                            <a:lumOff val="25000"/>
                          </a:schemeClr>
                        </a:solidFill>
                        <a:effectLst>
                          <a:outerShdw blurRad="38100" dist="38100" dir="2700000" algn="tl">
                            <a:srgbClr val="000000">
                              <a:alpha val="43137"/>
                            </a:srgbClr>
                          </a:outerShdw>
                        </a:effectLst>
                        <a:latin typeface="+mj-ea"/>
                        <a:ea typeface="+mj-ea"/>
                      </a:endParaRPr>
                    </a:p>
                  </a:txBody>
                  <a:tcPr anchor="ctr">
                    <a:solidFill>
                      <a:schemeClr val="accent1">
                        <a:lumMod val="20000"/>
                        <a:lumOff val="80000"/>
                      </a:schemeClr>
                    </a:solidFill>
                  </a:tcPr>
                </a:tc>
                <a:extLst>
                  <a:ext uri="{0D108BD9-81ED-4DB2-BD59-A6C34878D82A}">
                    <a16:rowId xmlns:a16="http://schemas.microsoft.com/office/drawing/2014/main" val="3870813251"/>
                  </a:ext>
                </a:extLst>
              </a:tr>
              <a:tr h="567993">
                <a:tc>
                  <a:txBody>
                    <a:bodyPr/>
                    <a:lstStyle/>
                    <a:p>
                      <a:r>
                        <a:rPr lang="zh-CN" altLang="en-US" sz="1600" b="1">
                          <a:solidFill>
                            <a:schemeClr val="accent1">
                              <a:lumMod val="50000"/>
                            </a:schemeClr>
                          </a:solidFill>
                          <a:latin typeface="+mj-ea"/>
                          <a:ea typeface="+mj-ea"/>
                        </a:rPr>
                        <a:t>肾衰停</a:t>
                      </a:r>
                      <a:endParaRPr lang="en-US" altLang="zh-CN" sz="1600" b="1">
                        <a:solidFill>
                          <a:schemeClr val="accent1">
                            <a:lumMod val="50000"/>
                          </a:schemeClr>
                        </a:solidFill>
                        <a:latin typeface="+mj-ea"/>
                        <a:ea typeface="+mj-ea"/>
                      </a:endParaRPr>
                    </a:p>
                  </a:txBody>
                  <a:tcPr marL="396000" marT="216000">
                    <a:solidFill>
                      <a:schemeClr val="bg2">
                        <a:lumMod val="90000"/>
                      </a:schemeClr>
                    </a:solidFill>
                  </a:tcPr>
                </a:tc>
                <a:tc>
                  <a:txBody>
                    <a:bodyPr/>
                    <a:lstStyle/>
                    <a:p>
                      <a:pPr lvl="0" algn="l"/>
                      <a:r>
                        <a:rPr lang="zh-CN" altLang="en-US" sz="1400" b="1">
                          <a:solidFill>
                            <a:schemeClr val="accent1">
                              <a:lumMod val="50000"/>
                            </a:schemeClr>
                          </a:solidFill>
                          <a:latin typeface="+mn-ea"/>
                          <a:ea typeface="+mn-ea"/>
                        </a:rPr>
                        <a:t>复合氨基酸</a:t>
                      </a:r>
                      <a:endParaRPr lang="en-US" altLang="zh-CN" sz="1400" b="1">
                        <a:solidFill>
                          <a:schemeClr val="accent1">
                            <a:lumMod val="50000"/>
                          </a:schemeClr>
                        </a:solidFill>
                        <a:latin typeface="+mn-ea"/>
                        <a:ea typeface="+mn-ea"/>
                      </a:endParaRPr>
                    </a:p>
                  </a:txBody>
                  <a:tcPr marL="396000" marT="216000">
                    <a:solidFill>
                      <a:schemeClr val="bg2">
                        <a:lumMod val="90000"/>
                      </a:schemeClr>
                    </a:solidFill>
                  </a:tcPr>
                </a:tc>
                <a:tc>
                  <a:txBody>
                    <a:bodyPr/>
                    <a:lstStyle/>
                    <a:p>
                      <a:pPr lvl="0" algn="l"/>
                      <a:r>
                        <a:rPr lang="zh-CN" altLang="en-US" sz="1200" b="1">
                          <a:solidFill>
                            <a:schemeClr val="tx2">
                              <a:lumMod val="75000"/>
                            </a:schemeClr>
                          </a:solidFill>
                        </a:rPr>
                        <a:t>可能增加</a:t>
                      </a:r>
                      <a:r>
                        <a:rPr lang="en-US" altLang="zh-CN" sz="1200" b="1">
                          <a:solidFill>
                            <a:schemeClr val="tx2">
                              <a:lumMod val="75000"/>
                            </a:schemeClr>
                          </a:solidFill>
                        </a:rPr>
                        <a:t>GFR</a:t>
                      </a:r>
                      <a:r>
                        <a:rPr lang="zh-CN" altLang="en-US" sz="1200" b="1">
                          <a:solidFill>
                            <a:schemeClr val="tx2">
                              <a:lumMod val="75000"/>
                            </a:schemeClr>
                          </a:solidFill>
                        </a:rPr>
                        <a:t>，产生数值下降的表象</a:t>
                      </a:r>
                    </a:p>
                  </a:txBody>
                  <a:tcPr marT="36000" marB="36000" anchor="ctr">
                    <a:solidFill>
                      <a:schemeClr val="bg2">
                        <a:lumMod val="90000"/>
                      </a:schemeClr>
                    </a:solidFill>
                  </a:tcPr>
                </a:tc>
                <a:tc>
                  <a:txBody>
                    <a:bodyPr/>
                    <a:lstStyle/>
                    <a:p>
                      <a:r>
                        <a:rPr lang="zh-CN" altLang="en-US" sz="1200">
                          <a:solidFill>
                            <a:schemeClr val="tx1">
                              <a:lumMod val="75000"/>
                              <a:lumOff val="25000"/>
                            </a:schemeClr>
                          </a:solidFill>
                          <a:effectLst>
                            <a:outerShdw blurRad="38100" dist="38100" dir="2700000" algn="tl">
                              <a:srgbClr val="000000">
                                <a:alpha val="43137"/>
                              </a:srgbClr>
                            </a:outerShdw>
                          </a:effectLst>
                          <a:latin typeface="+mj-ea"/>
                          <a:ea typeface="+mj-ea"/>
                        </a:rPr>
                        <a:t>有虚假宣传前科，优质氨基酸食物获取好得多。不建议购买。</a:t>
                      </a:r>
                      <a:endParaRPr lang="zh-CN" altLang="en-US" sz="1400"/>
                    </a:p>
                  </a:txBody>
                  <a:tcPr anchor="ctr">
                    <a:solidFill>
                      <a:schemeClr val="bg2">
                        <a:lumMod val="90000"/>
                      </a:schemeClr>
                    </a:solidFill>
                  </a:tcPr>
                </a:tc>
                <a:extLst>
                  <a:ext uri="{0D108BD9-81ED-4DB2-BD59-A6C34878D82A}">
                    <a16:rowId xmlns:a16="http://schemas.microsoft.com/office/drawing/2014/main" val="1630460517"/>
                  </a:ext>
                </a:extLst>
              </a:tr>
              <a:tr h="523208">
                <a:tc>
                  <a:txBody>
                    <a:bodyPr/>
                    <a:lstStyle/>
                    <a:p>
                      <a:r>
                        <a:rPr lang="zh-CN" altLang="en-US" sz="1600" b="1">
                          <a:solidFill>
                            <a:schemeClr val="accent1">
                              <a:lumMod val="50000"/>
                            </a:schemeClr>
                          </a:solidFill>
                          <a:latin typeface="+mj-ea"/>
                          <a:ea typeface="+mj-ea"/>
                        </a:rPr>
                        <a:t>活肾 </a:t>
                      </a:r>
                      <a:r>
                        <a:rPr lang="en-US" altLang="zh-CN" sz="1600" b="1">
                          <a:solidFill>
                            <a:schemeClr val="accent1">
                              <a:lumMod val="50000"/>
                            </a:schemeClr>
                          </a:solidFill>
                          <a:latin typeface="+mj-ea"/>
                          <a:ea typeface="+mj-ea"/>
                        </a:rPr>
                        <a:t>De-phos</a:t>
                      </a:r>
                    </a:p>
                  </a:txBody>
                  <a:tcPr marL="396000" marT="216000">
                    <a:solidFill>
                      <a:schemeClr val="accent1">
                        <a:lumMod val="20000"/>
                        <a:lumOff val="80000"/>
                      </a:schemeClr>
                    </a:solidFill>
                  </a:tcPr>
                </a:tc>
                <a:tc>
                  <a:txBody>
                    <a:bodyPr/>
                    <a:lstStyle/>
                    <a:p>
                      <a:pPr lvl="0" algn="l"/>
                      <a:r>
                        <a:rPr lang="zh-CN" altLang="en-US" sz="1400" b="1">
                          <a:solidFill>
                            <a:schemeClr val="accent1">
                              <a:lumMod val="50000"/>
                            </a:schemeClr>
                          </a:solidFill>
                          <a:latin typeface="+mn-ea"/>
                          <a:ea typeface="+mn-ea"/>
                        </a:rPr>
                        <a:t>柠檬酸铁</a:t>
                      </a:r>
                      <a:endParaRPr lang="en-US" altLang="zh-CN" sz="1400" b="1">
                        <a:solidFill>
                          <a:schemeClr val="accent1">
                            <a:lumMod val="50000"/>
                          </a:schemeClr>
                        </a:solidFill>
                        <a:latin typeface="+mn-ea"/>
                        <a:ea typeface="+mn-ea"/>
                      </a:endParaRPr>
                    </a:p>
                  </a:txBody>
                  <a:tcPr marL="396000" marT="216000">
                    <a:solidFill>
                      <a:schemeClr val="accent1">
                        <a:lumMod val="20000"/>
                        <a:lumOff val="80000"/>
                      </a:schemeClr>
                    </a:solidFill>
                  </a:tcPr>
                </a:tc>
                <a:tc>
                  <a:txBody>
                    <a:bodyPr/>
                    <a:lstStyle/>
                    <a:p>
                      <a:r>
                        <a:rPr lang="zh-CN" altLang="en-US" sz="1200" b="1">
                          <a:solidFill>
                            <a:schemeClr val="tx2">
                              <a:lumMod val="75000"/>
                            </a:schemeClr>
                          </a:solidFill>
                          <a:effectLst/>
                          <a:latin typeface="+mj-ea"/>
                          <a:ea typeface="+mj-ea"/>
                        </a:rPr>
                        <a:t>磷结合剂</a:t>
                      </a:r>
                      <a:endParaRPr lang="zh-CN" altLang="en-US" sz="1200"/>
                    </a:p>
                  </a:txBody>
                  <a:tcPr marT="36000" marB="36000" anchor="ctr">
                    <a:solidFill>
                      <a:schemeClr val="accent1">
                        <a:lumMod val="20000"/>
                        <a:lumOff val="80000"/>
                      </a:schemeClr>
                    </a:solidFill>
                  </a:tcPr>
                </a:tc>
                <a:tc>
                  <a:txBody>
                    <a:bodyPr/>
                    <a:lstStyle/>
                    <a:p>
                      <a:r>
                        <a:rPr lang="zh-CN" altLang="en-US" sz="1200">
                          <a:solidFill>
                            <a:schemeClr val="tx1">
                              <a:lumMod val="75000"/>
                              <a:lumOff val="25000"/>
                            </a:schemeClr>
                          </a:solidFill>
                          <a:effectLst>
                            <a:outerShdw blurRad="38100" dist="38100" dir="2700000" algn="tl">
                              <a:srgbClr val="000000">
                                <a:alpha val="43137"/>
                              </a:srgbClr>
                            </a:outerShdw>
                          </a:effectLst>
                          <a:latin typeface="+mj-ea"/>
                          <a:ea typeface="+mj-ea"/>
                        </a:rPr>
                        <a:t>控磷且对贫血有效果。合适血钙异常的病患，效果弱于碳酸镧。</a:t>
                      </a:r>
                      <a:endParaRPr lang="zh-CN" altLang="en-US" sz="1400"/>
                    </a:p>
                  </a:txBody>
                  <a:tcPr anchor="ctr">
                    <a:solidFill>
                      <a:schemeClr val="accent1">
                        <a:lumMod val="20000"/>
                        <a:lumOff val="80000"/>
                      </a:schemeClr>
                    </a:solidFill>
                  </a:tcPr>
                </a:tc>
                <a:extLst>
                  <a:ext uri="{0D108BD9-81ED-4DB2-BD59-A6C34878D82A}">
                    <a16:rowId xmlns:a16="http://schemas.microsoft.com/office/drawing/2014/main" val="933187043"/>
                  </a:ext>
                </a:extLst>
              </a:tr>
              <a:tr h="523208">
                <a:tc>
                  <a:txBody>
                    <a:bodyPr/>
                    <a:lstStyle/>
                    <a:p>
                      <a:r>
                        <a:rPr lang="en-US" altLang="zh-CN" sz="1600" b="1">
                          <a:solidFill>
                            <a:schemeClr val="accent1">
                              <a:lumMod val="50000"/>
                            </a:schemeClr>
                          </a:solidFill>
                          <a:latin typeface="+mj-ea"/>
                          <a:ea typeface="+mj-ea"/>
                        </a:rPr>
                        <a:t>RAPROS</a:t>
                      </a:r>
                    </a:p>
                  </a:txBody>
                  <a:tcPr marL="396000" marT="216000">
                    <a:solidFill>
                      <a:schemeClr val="accent1">
                        <a:lumMod val="20000"/>
                        <a:lumOff val="80000"/>
                      </a:schemeClr>
                    </a:solidFill>
                  </a:tcPr>
                </a:tc>
                <a:tc>
                  <a:txBody>
                    <a:bodyPr/>
                    <a:lstStyle/>
                    <a:p>
                      <a:pPr lvl="0" algn="l"/>
                      <a:r>
                        <a:rPr lang="zh-CN" altLang="en-US" sz="1400" b="1">
                          <a:solidFill>
                            <a:schemeClr val="accent1">
                              <a:lumMod val="50000"/>
                            </a:schemeClr>
                          </a:solidFill>
                          <a:latin typeface="+mn-ea"/>
                          <a:ea typeface="+mn-ea"/>
                        </a:rPr>
                        <a:t>贝前列素钠片</a:t>
                      </a:r>
                      <a:endParaRPr lang="en-US" altLang="zh-CN" sz="1400" b="1">
                        <a:solidFill>
                          <a:schemeClr val="accent1">
                            <a:lumMod val="50000"/>
                          </a:schemeClr>
                        </a:solidFill>
                        <a:latin typeface="+mn-ea"/>
                        <a:ea typeface="+mn-ea"/>
                      </a:endParaRPr>
                    </a:p>
                  </a:txBody>
                  <a:tcPr marL="396000" marT="216000">
                    <a:solidFill>
                      <a:schemeClr val="accent1">
                        <a:lumMod val="20000"/>
                        <a:lumOff val="80000"/>
                      </a:schemeClr>
                    </a:solidFill>
                  </a:tcPr>
                </a:tc>
                <a:tc>
                  <a:txBody>
                    <a:bodyPr/>
                    <a:lstStyle/>
                    <a:p>
                      <a:pPr lvl="0" algn="l"/>
                      <a:r>
                        <a:rPr lang="en-US" altLang="zh-CN" sz="1200" b="1">
                          <a:solidFill>
                            <a:schemeClr val="tx2">
                              <a:lumMod val="75000"/>
                            </a:schemeClr>
                          </a:solidFill>
                          <a:effectLst/>
                          <a:latin typeface="+mj-ea"/>
                          <a:ea typeface="+mj-ea"/>
                        </a:rPr>
                        <a:t>PGi2</a:t>
                      </a:r>
                      <a:r>
                        <a:rPr lang="zh-CN" altLang="en-US" sz="1200" b="1">
                          <a:solidFill>
                            <a:schemeClr val="tx2">
                              <a:lumMod val="75000"/>
                            </a:schemeClr>
                          </a:solidFill>
                          <a:effectLst/>
                          <a:latin typeface="+mj-ea"/>
                          <a:ea typeface="+mj-ea"/>
                        </a:rPr>
                        <a:t>类血管松弛药物，改善肾脏血流量，改善组织缺氧</a:t>
                      </a:r>
                    </a:p>
                  </a:txBody>
                  <a:tcPr marT="36000" marB="36000" anchor="ctr">
                    <a:solidFill>
                      <a:schemeClr val="accent1">
                        <a:lumMod val="20000"/>
                        <a:lumOff val="80000"/>
                      </a:schemeClr>
                    </a:solidFill>
                  </a:tcPr>
                </a:tc>
                <a:tc>
                  <a:txBody>
                    <a:bodyPr/>
                    <a:lstStyle/>
                    <a:p>
                      <a:pPr lvl="0"/>
                      <a:r>
                        <a:rPr lang="zh-CN" altLang="en-US" sz="1200">
                          <a:solidFill>
                            <a:schemeClr val="tx1">
                              <a:lumMod val="75000"/>
                              <a:lumOff val="25000"/>
                            </a:schemeClr>
                          </a:solidFill>
                          <a:effectLst>
                            <a:outerShdw blurRad="38100" dist="38100" dir="2700000" algn="tl">
                              <a:srgbClr val="000000">
                                <a:alpha val="43137"/>
                              </a:srgbClr>
                            </a:outerShdw>
                          </a:effectLst>
                          <a:latin typeface="+mj-ea"/>
                          <a:ea typeface="+mj-ea"/>
                        </a:rPr>
                        <a:t>购买渠道较少，可用贝前列素钠</a:t>
                      </a:r>
                      <a:r>
                        <a:rPr lang="zh-CN" altLang="en-US" sz="1200" kern="1200">
                          <a:solidFill>
                            <a:schemeClr val="tx1">
                              <a:lumMod val="75000"/>
                              <a:lumOff val="25000"/>
                            </a:schemeClr>
                          </a:solidFill>
                          <a:effectLst>
                            <a:outerShdw blurRad="38100" dist="38100" dir="2700000" algn="tl">
                              <a:srgbClr val="000000">
                                <a:alpha val="43137"/>
                              </a:srgbClr>
                            </a:outerShdw>
                          </a:effectLst>
                          <a:latin typeface="+mj-ea"/>
                          <a:ea typeface="+mn-ea"/>
                          <a:cs typeface="+mn-cs"/>
                        </a:rPr>
                        <a:t>代替。</a:t>
                      </a:r>
                      <a:r>
                        <a:rPr lang="en-US" altLang="zh-CN" sz="1200">
                          <a:solidFill>
                            <a:schemeClr val="tx1">
                              <a:lumMod val="75000"/>
                              <a:lumOff val="25000"/>
                            </a:schemeClr>
                          </a:solidFill>
                          <a:effectLst>
                            <a:outerShdw blurRad="38100" dist="38100" dir="2700000" algn="tl">
                              <a:srgbClr val="000000">
                                <a:alpha val="43137"/>
                              </a:srgbClr>
                            </a:outerShdw>
                          </a:effectLst>
                          <a:latin typeface="+mj-ea"/>
                          <a:ea typeface="+mj-ea"/>
                        </a:rPr>
                        <a:t>55ug bid</a:t>
                      </a:r>
                      <a:r>
                        <a:rPr lang="zh-CN" altLang="en-US" sz="1200">
                          <a:solidFill>
                            <a:schemeClr val="tx1">
                              <a:lumMod val="75000"/>
                              <a:lumOff val="25000"/>
                            </a:schemeClr>
                          </a:solidFill>
                          <a:effectLst>
                            <a:outerShdw blurRad="38100" dist="38100" dir="2700000" algn="tl">
                              <a:srgbClr val="000000">
                                <a:alpha val="43137"/>
                              </a:srgbClr>
                            </a:outerShdw>
                          </a:effectLst>
                          <a:latin typeface="+mj-ea"/>
                          <a:ea typeface="+mj-ea"/>
                        </a:rPr>
                        <a:t>，即</a:t>
                      </a:r>
                      <a:r>
                        <a:rPr lang="en-US" altLang="zh-CN" sz="1200">
                          <a:solidFill>
                            <a:schemeClr val="tx1">
                              <a:lumMod val="75000"/>
                              <a:lumOff val="25000"/>
                            </a:schemeClr>
                          </a:solidFill>
                          <a:effectLst>
                            <a:outerShdw blurRad="38100" dist="38100" dir="2700000" algn="tl">
                              <a:srgbClr val="000000">
                                <a:alpha val="43137"/>
                              </a:srgbClr>
                            </a:outerShdw>
                          </a:effectLst>
                          <a:latin typeface="+mj-ea"/>
                          <a:ea typeface="+mj-ea"/>
                        </a:rPr>
                        <a:t>110ug/</a:t>
                      </a:r>
                      <a:r>
                        <a:rPr lang="zh-CN" altLang="en-US" sz="1200">
                          <a:solidFill>
                            <a:schemeClr val="tx1">
                              <a:lumMod val="75000"/>
                              <a:lumOff val="25000"/>
                            </a:schemeClr>
                          </a:solidFill>
                          <a:effectLst>
                            <a:outerShdw blurRad="38100" dist="38100" dir="2700000" algn="tl">
                              <a:srgbClr val="000000">
                                <a:alpha val="43137"/>
                              </a:srgbClr>
                            </a:outerShdw>
                          </a:effectLst>
                          <a:latin typeface="+mj-ea"/>
                          <a:ea typeface="+mj-ea"/>
                        </a:rPr>
                        <a:t>天，剂量显著大于人。</a:t>
                      </a:r>
                    </a:p>
                  </a:txBody>
                  <a:tcPr anchor="ctr">
                    <a:solidFill>
                      <a:schemeClr val="accent1">
                        <a:lumMod val="20000"/>
                        <a:lumOff val="80000"/>
                      </a:schemeClr>
                    </a:solidFill>
                  </a:tcPr>
                </a:tc>
                <a:extLst>
                  <a:ext uri="{0D108BD9-81ED-4DB2-BD59-A6C34878D82A}">
                    <a16:rowId xmlns:a16="http://schemas.microsoft.com/office/drawing/2014/main" val="2071528465"/>
                  </a:ext>
                </a:extLst>
              </a:tr>
              <a:tr h="523208">
                <a:tc>
                  <a:txBody>
                    <a:bodyPr/>
                    <a:lstStyle/>
                    <a:p>
                      <a:r>
                        <a:rPr lang="en-US" altLang="zh-CN" sz="1600" b="1">
                          <a:solidFill>
                            <a:schemeClr val="accent1">
                              <a:lumMod val="50000"/>
                            </a:schemeClr>
                          </a:solidFill>
                          <a:latin typeface="+mj-ea"/>
                          <a:ea typeface="+mj-ea"/>
                        </a:rPr>
                        <a:t>Semintra</a:t>
                      </a:r>
                    </a:p>
                  </a:txBody>
                  <a:tcPr marL="396000" marT="216000">
                    <a:solidFill>
                      <a:schemeClr val="accent1">
                        <a:lumMod val="20000"/>
                        <a:lumOff val="80000"/>
                      </a:schemeClr>
                    </a:solidFill>
                  </a:tcPr>
                </a:tc>
                <a:tc>
                  <a:txBody>
                    <a:bodyPr/>
                    <a:lstStyle/>
                    <a:p>
                      <a:pPr lvl="0" algn="l"/>
                      <a:r>
                        <a:rPr lang="zh-CN" altLang="en-US" sz="1400" b="1">
                          <a:solidFill>
                            <a:schemeClr val="accent1">
                              <a:lumMod val="50000"/>
                            </a:schemeClr>
                          </a:solidFill>
                          <a:latin typeface="+mj-ea"/>
                          <a:ea typeface="+mj-ea"/>
                        </a:rPr>
                        <a:t>替米沙坦</a:t>
                      </a:r>
                      <a:endParaRPr lang="en-US" altLang="zh-CN" sz="1400" b="1">
                        <a:solidFill>
                          <a:schemeClr val="accent1">
                            <a:lumMod val="50000"/>
                          </a:schemeClr>
                        </a:solidFill>
                        <a:latin typeface="+mj-ea"/>
                        <a:ea typeface="+mj-ea"/>
                      </a:endParaRPr>
                    </a:p>
                  </a:txBody>
                  <a:tcPr marL="396000" marT="216000">
                    <a:solidFill>
                      <a:schemeClr val="accent1">
                        <a:lumMod val="20000"/>
                        <a:lumOff val="80000"/>
                      </a:schemeClr>
                    </a:solidFill>
                  </a:tcPr>
                </a:tc>
                <a:tc>
                  <a:txBody>
                    <a:bodyPr/>
                    <a:lstStyle/>
                    <a:p>
                      <a:pPr lvl="0" algn="l"/>
                      <a:r>
                        <a:rPr lang="zh-CN" altLang="en-US" sz="1200" b="1">
                          <a:solidFill>
                            <a:schemeClr val="tx2">
                              <a:lumMod val="75000"/>
                            </a:schemeClr>
                          </a:solidFill>
                        </a:rPr>
                        <a:t>低剂量服用治疗猫蛋白尿</a:t>
                      </a:r>
                    </a:p>
                  </a:txBody>
                  <a:tcPr marT="36000" marB="36000" anchor="ctr">
                    <a:solidFill>
                      <a:schemeClr val="accent1">
                        <a:lumMod val="20000"/>
                        <a:lumOff val="80000"/>
                      </a:schemeClr>
                    </a:solidFill>
                  </a:tcPr>
                </a:tc>
                <a:tc>
                  <a:txBody>
                    <a:bodyPr/>
                    <a:lstStyle/>
                    <a:p>
                      <a:r>
                        <a:rPr lang="zh-CN" altLang="en-US" sz="1200">
                          <a:solidFill>
                            <a:schemeClr val="tx1">
                              <a:lumMod val="75000"/>
                              <a:lumOff val="25000"/>
                            </a:schemeClr>
                          </a:solidFill>
                          <a:effectLst>
                            <a:outerShdw blurRad="38100" dist="38100" dir="2700000" algn="tl">
                              <a:srgbClr val="000000">
                                <a:alpha val="43137"/>
                              </a:srgbClr>
                            </a:outerShdw>
                          </a:effectLst>
                          <a:latin typeface="+mj-ea"/>
                          <a:ea typeface="+mj-ea"/>
                        </a:rPr>
                        <a:t>购买渠道少，可用人用替米沙坦</a:t>
                      </a:r>
                      <a:r>
                        <a:rPr lang="en-US" altLang="zh-CN" sz="1200">
                          <a:solidFill>
                            <a:schemeClr val="tx1">
                              <a:lumMod val="75000"/>
                              <a:lumOff val="25000"/>
                            </a:schemeClr>
                          </a:solidFill>
                          <a:effectLst>
                            <a:outerShdw blurRad="38100" dist="38100" dir="2700000" algn="tl">
                              <a:srgbClr val="000000">
                                <a:alpha val="43137"/>
                              </a:srgbClr>
                            </a:outerShdw>
                          </a:effectLst>
                          <a:latin typeface="+mj-ea"/>
                          <a:ea typeface="+mj-ea"/>
                        </a:rPr>
                        <a:t>1mg/kg</a:t>
                      </a:r>
                      <a:r>
                        <a:rPr lang="zh-CN" altLang="en-US" sz="1200">
                          <a:solidFill>
                            <a:schemeClr val="tx1">
                              <a:lumMod val="75000"/>
                              <a:lumOff val="25000"/>
                            </a:schemeClr>
                          </a:solidFill>
                          <a:effectLst>
                            <a:outerShdw blurRad="38100" dist="38100" dir="2700000" algn="tl">
                              <a:srgbClr val="000000">
                                <a:alpha val="43137"/>
                              </a:srgbClr>
                            </a:outerShdw>
                          </a:effectLst>
                          <a:latin typeface="+mj-ea"/>
                          <a:ea typeface="+mj-ea"/>
                        </a:rPr>
                        <a:t>代替。</a:t>
                      </a:r>
                      <a:endParaRPr lang="zh-CN" altLang="en-US" sz="1400"/>
                    </a:p>
                  </a:txBody>
                  <a:tcPr anchor="ctr">
                    <a:solidFill>
                      <a:schemeClr val="accent1">
                        <a:lumMod val="20000"/>
                        <a:lumOff val="80000"/>
                      </a:schemeClr>
                    </a:solidFill>
                  </a:tcPr>
                </a:tc>
                <a:extLst>
                  <a:ext uri="{0D108BD9-81ED-4DB2-BD59-A6C34878D82A}">
                    <a16:rowId xmlns:a16="http://schemas.microsoft.com/office/drawing/2014/main" val="1266968058"/>
                  </a:ext>
                </a:extLst>
              </a:tr>
              <a:tr h="692755">
                <a:tc>
                  <a:txBody>
                    <a:bodyPr/>
                    <a:lstStyle/>
                    <a:p>
                      <a:r>
                        <a:rPr lang="zh-CN" altLang="en-US" sz="1600" b="1">
                          <a:solidFill>
                            <a:schemeClr val="accent1">
                              <a:lumMod val="50000"/>
                            </a:schemeClr>
                          </a:solidFill>
                          <a:latin typeface="+mj-ea"/>
                          <a:ea typeface="+mj-ea"/>
                        </a:rPr>
                        <a:t>拜恩 </a:t>
                      </a:r>
                      <a:r>
                        <a:rPr lang="en-US" altLang="zh-CN" sz="1600" b="1">
                          <a:solidFill>
                            <a:schemeClr val="accent1">
                              <a:lumMod val="50000"/>
                            </a:schemeClr>
                          </a:solidFill>
                          <a:latin typeface="+mj-ea"/>
                          <a:ea typeface="+mj-ea"/>
                        </a:rPr>
                        <a:t>AN-80</a:t>
                      </a:r>
                    </a:p>
                  </a:txBody>
                  <a:tcPr marL="396000" marT="216000">
                    <a:solidFill>
                      <a:schemeClr val="tx2">
                        <a:lumMod val="20000"/>
                        <a:lumOff val="80000"/>
                      </a:schemeClr>
                    </a:solidFill>
                  </a:tcPr>
                </a:tc>
                <a:tc>
                  <a:txBody>
                    <a:bodyPr/>
                    <a:lstStyle/>
                    <a:p>
                      <a:pPr lvl="0" algn="l"/>
                      <a:r>
                        <a:rPr lang="zh-CN" altLang="en-US" sz="1400" b="1">
                          <a:solidFill>
                            <a:schemeClr val="accent1">
                              <a:lumMod val="50000"/>
                            </a:schemeClr>
                          </a:solidFill>
                          <a:latin typeface="+mj-ea"/>
                          <a:ea typeface="+mj-ea"/>
                        </a:rPr>
                        <a:t>复方酮酸（？）</a:t>
                      </a:r>
                      <a:r>
                        <a:rPr lang="en-US" altLang="zh-CN" sz="1400" b="1">
                          <a:solidFill>
                            <a:schemeClr val="accent1">
                              <a:lumMod val="50000"/>
                            </a:schemeClr>
                          </a:solidFill>
                          <a:latin typeface="+mj-ea"/>
                          <a:ea typeface="+mj-ea"/>
                        </a:rPr>
                        <a:t>+</a:t>
                      </a:r>
                      <a:r>
                        <a:rPr lang="zh-CN" altLang="en-US" sz="1400" b="1">
                          <a:solidFill>
                            <a:schemeClr val="accent1">
                              <a:lumMod val="50000"/>
                            </a:schemeClr>
                          </a:solidFill>
                          <a:latin typeface="+mj-ea"/>
                          <a:ea typeface="+mj-ea"/>
                        </a:rPr>
                        <a:t>碳酸氢钠</a:t>
                      </a:r>
                      <a:endParaRPr lang="en-US" altLang="zh-CN" sz="1400" b="1">
                        <a:solidFill>
                          <a:schemeClr val="accent1">
                            <a:lumMod val="50000"/>
                          </a:schemeClr>
                        </a:solidFill>
                        <a:latin typeface="+mj-ea"/>
                        <a:ea typeface="+mj-ea"/>
                      </a:endParaRPr>
                    </a:p>
                  </a:txBody>
                  <a:tcPr marL="396000" marT="216000">
                    <a:solidFill>
                      <a:schemeClr val="tx2">
                        <a:lumMod val="20000"/>
                        <a:lumOff val="80000"/>
                      </a:schemeClr>
                    </a:solidFill>
                  </a:tcPr>
                </a:tc>
                <a:tc>
                  <a:txBody>
                    <a:bodyPr/>
                    <a:lstStyle/>
                    <a:p>
                      <a:r>
                        <a:rPr lang="zh-CN" altLang="en-US" sz="1200" b="1">
                          <a:solidFill>
                            <a:schemeClr val="tx2">
                              <a:lumMod val="75000"/>
                            </a:schemeClr>
                          </a:solidFill>
                          <a:effectLst/>
                          <a:latin typeface="+mj-ea"/>
                          <a:ea typeface="+mj-ea"/>
                        </a:rPr>
                        <a:t>服用低蛋白饮食时可能缓解病情（存疑！）对抗酸中毒</a:t>
                      </a:r>
                      <a:endParaRPr lang="zh-CN" altLang="en-US" sz="1200"/>
                    </a:p>
                  </a:txBody>
                  <a:tcPr marT="36000" marB="36000" anchor="ctr">
                    <a:solidFill>
                      <a:schemeClr val="tx2">
                        <a:lumMod val="20000"/>
                        <a:lumOff val="80000"/>
                      </a:schemeClr>
                    </a:solidFill>
                  </a:tcPr>
                </a:tc>
                <a:tc>
                  <a:txBody>
                    <a:bodyPr/>
                    <a:lstStyle/>
                    <a:p>
                      <a:r>
                        <a:rPr lang="zh-CN" altLang="en-US" sz="1200">
                          <a:solidFill>
                            <a:schemeClr val="tx1">
                              <a:lumMod val="75000"/>
                              <a:lumOff val="25000"/>
                            </a:schemeClr>
                          </a:solidFill>
                          <a:effectLst>
                            <a:outerShdw blurRad="38100" dist="38100" dir="2700000" algn="tl">
                              <a:srgbClr val="000000">
                                <a:alpha val="43137"/>
                              </a:srgbClr>
                            </a:outerShdw>
                          </a:effectLst>
                          <a:latin typeface="+mj-ea"/>
                          <a:ea typeface="+mj-ea"/>
                        </a:rPr>
                        <a:t>是否英国品存疑。相关实验中，酮酸对犬慢性肾病无正面作用。（</a:t>
                      </a:r>
                      <a:r>
                        <a:rPr lang="en-US" altLang="zh-CN" sz="1200">
                          <a:solidFill>
                            <a:schemeClr val="tx1">
                              <a:lumMod val="75000"/>
                              <a:lumOff val="25000"/>
                            </a:schemeClr>
                          </a:solidFill>
                          <a:effectLst>
                            <a:outerShdw blurRad="38100" dist="38100" dir="2700000" algn="tl">
                              <a:srgbClr val="000000">
                                <a:alpha val="43137"/>
                              </a:srgbClr>
                            </a:outerShdw>
                          </a:effectLst>
                          <a:latin typeface="+mj-ea"/>
                          <a:ea typeface="+mj-ea"/>
                        </a:rPr>
                        <a:t>Liguori et al.2018) </a:t>
                      </a:r>
                      <a:endParaRPr lang="zh-CN" altLang="en-US" sz="1400"/>
                    </a:p>
                  </a:txBody>
                  <a:tcPr anchor="ctr">
                    <a:solidFill>
                      <a:schemeClr val="tx2">
                        <a:lumMod val="20000"/>
                        <a:lumOff val="80000"/>
                      </a:schemeClr>
                    </a:solidFill>
                  </a:tcPr>
                </a:tc>
                <a:extLst>
                  <a:ext uri="{0D108BD9-81ED-4DB2-BD59-A6C34878D82A}">
                    <a16:rowId xmlns:a16="http://schemas.microsoft.com/office/drawing/2014/main" val="3649905960"/>
                  </a:ext>
                </a:extLst>
              </a:tr>
              <a:tr h="523208">
                <a:tc>
                  <a:txBody>
                    <a:bodyPr/>
                    <a:lstStyle/>
                    <a:p>
                      <a:r>
                        <a:rPr lang="zh-CN" altLang="en-US" sz="1600" b="1">
                          <a:solidFill>
                            <a:schemeClr val="accent1">
                              <a:lumMod val="50000"/>
                            </a:schemeClr>
                          </a:solidFill>
                          <a:latin typeface="+mj-ea"/>
                          <a:ea typeface="+mj-ea"/>
                        </a:rPr>
                        <a:t>摩登狗肾透</a:t>
                      </a:r>
                      <a:endParaRPr lang="en-US" altLang="zh-CN" sz="1600" b="1">
                        <a:solidFill>
                          <a:schemeClr val="accent1">
                            <a:lumMod val="50000"/>
                          </a:schemeClr>
                        </a:solidFill>
                        <a:latin typeface="+mj-ea"/>
                        <a:ea typeface="+mj-ea"/>
                      </a:endParaRPr>
                    </a:p>
                  </a:txBody>
                  <a:tcPr marL="396000" marT="216000">
                    <a:solidFill>
                      <a:schemeClr val="tx2">
                        <a:lumMod val="20000"/>
                        <a:lumOff val="80000"/>
                      </a:schemeClr>
                    </a:solidFill>
                  </a:tcPr>
                </a:tc>
                <a:tc>
                  <a:txBody>
                    <a:bodyPr/>
                    <a:lstStyle/>
                    <a:p>
                      <a:pPr lvl="0" algn="l"/>
                      <a:r>
                        <a:rPr lang="zh-CN" altLang="en-US" sz="1200" b="1">
                          <a:solidFill>
                            <a:schemeClr val="accent1">
                              <a:lumMod val="50000"/>
                            </a:schemeClr>
                          </a:solidFill>
                          <a:latin typeface="+mj-ea"/>
                          <a:ea typeface="+mj-ea"/>
                        </a:rPr>
                        <a:t>  </a:t>
                      </a:r>
                      <a:r>
                        <a:rPr lang="zh-CN" altLang="en-US" sz="1400" b="1">
                          <a:solidFill>
                            <a:schemeClr val="accent1">
                              <a:lumMod val="50000"/>
                            </a:schemeClr>
                          </a:solidFill>
                          <a:latin typeface="+mj-ea"/>
                          <a:ea typeface="+mj-ea"/>
                        </a:rPr>
                        <a:t>酮酸</a:t>
                      </a:r>
                      <a:endParaRPr lang="en-US" altLang="zh-CN" sz="1200" b="1">
                        <a:solidFill>
                          <a:schemeClr val="accent1">
                            <a:lumMod val="50000"/>
                          </a:schemeClr>
                        </a:solidFill>
                        <a:latin typeface="+mj-ea"/>
                        <a:ea typeface="+mj-ea"/>
                      </a:endParaRPr>
                    </a:p>
                  </a:txBody>
                  <a:tcPr marL="396000" marT="216000">
                    <a:solidFill>
                      <a:schemeClr val="tx2">
                        <a:lumMod val="20000"/>
                        <a:lumOff val="80000"/>
                      </a:schemeClr>
                    </a:solidFill>
                  </a:tcPr>
                </a:tc>
                <a:tc>
                  <a:txBody>
                    <a:bodyPr/>
                    <a:lstStyle/>
                    <a:p>
                      <a:r>
                        <a:rPr lang="zh-CN" altLang="en-US" sz="1200" b="1" kern="1200">
                          <a:solidFill>
                            <a:schemeClr val="tx2">
                              <a:lumMod val="75000"/>
                            </a:schemeClr>
                          </a:solidFill>
                          <a:effectLst/>
                          <a:latin typeface="+mj-ea"/>
                          <a:ea typeface="+mn-ea"/>
                          <a:cs typeface="+mn-cs"/>
                        </a:rPr>
                        <a:t>服用低蛋白饮食时可能缓解病情（存疑！）</a:t>
                      </a:r>
                      <a:endParaRPr lang="zh-CN" altLang="en-US" sz="1200"/>
                    </a:p>
                  </a:txBody>
                  <a:tcPr marT="36000" marB="36000" anchor="ctr">
                    <a:solidFill>
                      <a:schemeClr val="tx2">
                        <a:lumMod val="20000"/>
                        <a:lumOff val="80000"/>
                      </a:schemeClr>
                    </a:solidFill>
                  </a:tcPr>
                </a:tc>
                <a:tc>
                  <a:txBody>
                    <a:bodyPr/>
                    <a:lstStyle/>
                    <a:p>
                      <a:r>
                        <a:rPr lang="zh-CN" altLang="en-US" sz="1200" kern="1200">
                          <a:solidFill>
                            <a:schemeClr val="tx1">
                              <a:lumMod val="75000"/>
                              <a:lumOff val="25000"/>
                            </a:schemeClr>
                          </a:solidFill>
                          <a:effectLst>
                            <a:outerShdw blurRad="38100" dist="38100" dir="2700000" algn="tl">
                              <a:srgbClr val="000000">
                                <a:alpha val="43137"/>
                              </a:srgbClr>
                            </a:outerShdw>
                          </a:effectLst>
                          <a:latin typeface="+mj-ea"/>
                          <a:ea typeface="+mn-ea"/>
                          <a:cs typeface="+mn-cs"/>
                        </a:rPr>
                        <a:t>相关实验中，酮酸对犬慢性肾病无正面作用。（</a:t>
                      </a:r>
                      <a:r>
                        <a:rPr lang="en-US" altLang="zh-CN" sz="1200" kern="1200">
                          <a:solidFill>
                            <a:schemeClr val="tx1">
                              <a:lumMod val="75000"/>
                              <a:lumOff val="25000"/>
                            </a:schemeClr>
                          </a:solidFill>
                          <a:effectLst>
                            <a:outerShdw blurRad="38100" dist="38100" dir="2700000" algn="tl">
                              <a:srgbClr val="000000">
                                <a:alpha val="43137"/>
                              </a:srgbClr>
                            </a:outerShdw>
                          </a:effectLst>
                          <a:latin typeface="+mj-ea"/>
                          <a:ea typeface="+mn-ea"/>
                          <a:cs typeface="+mn-cs"/>
                        </a:rPr>
                        <a:t>Liguori et al.2018) </a:t>
                      </a:r>
                      <a:r>
                        <a:rPr lang="zh-CN" altLang="en-US" sz="1200" kern="1200">
                          <a:solidFill>
                            <a:schemeClr val="tx1">
                              <a:lumMod val="75000"/>
                              <a:lumOff val="25000"/>
                            </a:schemeClr>
                          </a:solidFill>
                          <a:effectLst>
                            <a:outerShdw blurRad="38100" dist="38100" dir="2700000" algn="tl">
                              <a:srgbClr val="000000">
                                <a:alpha val="43137"/>
                              </a:srgbClr>
                            </a:outerShdw>
                          </a:effectLst>
                          <a:latin typeface="+mj-ea"/>
                          <a:ea typeface="+mn-ea"/>
                          <a:cs typeface="+mn-cs"/>
                        </a:rPr>
                        <a:t>猫无数据。</a:t>
                      </a:r>
                      <a:endParaRPr lang="zh-CN" altLang="en-US" sz="1200"/>
                    </a:p>
                  </a:txBody>
                  <a:tcPr anchor="ctr">
                    <a:solidFill>
                      <a:schemeClr val="tx2">
                        <a:lumMod val="20000"/>
                        <a:lumOff val="80000"/>
                      </a:schemeClr>
                    </a:solidFill>
                  </a:tcPr>
                </a:tc>
                <a:extLst>
                  <a:ext uri="{0D108BD9-81ED-4DB2-BD59-A6C34878D82A}">
                    <a16:rowId xmlns:a16="http://schemas.microsoft.com/office/drawing/2014/main" val="3122625035"/>
                  </a:ext>
                </a:extLst>
              </a:tr>
              <a:tr h="4916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accent1">
                              <a:lumMod val="50000"/>
                            </a:schemeClr>
                          </a:solidFill>
                          <a:latin typeface="+mj-ea"/>
                          <a:ea typeface="+mn-ea"/>
                          <a:cs typeface="+mn-cs"/>
                        </a:rPr>
                        <a:t>Aventi-ks</a:t>
                      </a:r>
                    </a:p>
                  </a:txBody>
                  <a:tcPr marL="396000" marT="216000">
                    <a:solidFill>
                      <a:schemeClr val="accent1">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b="1" kern="1200">
                          <a:solidFill>
                            <a:schemeClr val="accent1">
                              <a:lumMod val="50000"/>
                            </a:schemeClr>
                          </a:solidFill>
                          <a:latin typeface="+mj-ea"/>
                          <a:ea typeface="+mn-ea"/>
                          <a:cs typeface="+mn-cs"/>
                        </a:rPr>
                        <a:t>益生菌</a:t>
                      </a:r>
                      <a:endParaRPr lang="en-US" altLang="zh-CN" sz="1400" b="1" kern="1200">
                        <a:solidFill>
                          <a:schemeClr val="accent1">
                            <a:lumMod val="50000"/>
                          </a:schemeClr>
                        </a:solidFill>
                        <a:latin typeface="+mj-ea"/>
                        <a:ea typeface="+mn-ea"/>
                        <a:cs typeface="+mn-cs"/>
                      </a:endParaRPr>
                    </a:p>
                  </a:txBody>
                  <a:tcPr marL="504000" marR="504000" anchor="ctr">
                    <a:solidFill>
                      <a:schemeClr val="accent1">
                        <a:lumMod val="60000"/>
                        <a:lumOff val="40000"/>
                      </a:schemeClr>
                    </a:solidFill>
                  </a:tcPr>
                </a:tc>
                <a:tc>
                  <a:txBody>
                    <a:bodyPr/>
                    <a:lstStyle/>
                    <a:p>
                      <a:pPr lvl="0" algn="l"/>
                      <a:r>
                        <a:rPr lang="zh-CN" altLang="en-US" sz="1400" b="1" kern="1200">
                          <a:solidFill>
                            <a:schemeClr val="tx2">
                              <a:lumMod val="75000"/>
                            </a:schemeClr>
                          </a:solidFill>
                          <a:effectLst/>
                          <a:latin typeface="+mj-ea"/>
                          <a:ea typeface="+mn-ea"/>
                          <a:cs typeface="+mn-cs"/>
                        </a:rPr>
                        <a:t>改善菌群以减少</a:t>
                      </a:r>
                      <a:r>
                        <a:rPr lang="en-US" altLang="zh-CN" sz="1400" b="1" kern="1200">
                          <a:solidFill>
                            <a:schemeClr val="tx2">
                              <a:lumMod val="75000"/>
                            </a:schemeClr>
                          </a:solidFill>
                          <a:effectLst/>
                          <a:latin typeface="+mj-ea"/>
                          <a:ea typeface="+mn-ea"/>
                          <a:cs typeface="+mn-cs"/>
                        </a:rPr>
                        <a:t>BUN</a:t>
                      </a:r>
                      <a:r>
                        <a:rPr lang="zh-CN" altLang="en-US" sz="1400" b="1" kern="1200">
                          <a:solidFill>
                            <a:schemeClr val="tx2">
                              <a:lumMod val="75000"/>
                            </a:schemeClr>
                          </a:solidFill>
                          <a:effectLst/>
                          <a:latin typeface="+mj-ea"/>
                          <a:ea typeface="+mn-ea"/>
                          <a:cs typeface="+mn-cs"/>
                        </a:rPr>
                        <a:t>？</a:t>
                      </a:r>
                      <a:r>
                        <a:rPr lang="en-US" altLang="zh-CN" sz="1400" b="1" kern="1200">
                          <a:solidFill>
                            <a:schemeClr val="tx2">
                              <a:lumMod val="75000"/>
                            </a:schemeClr>
                          </a:solidFill>
                          <a:effectLst/>
                          <a:latin typeface="+mj-ea"/>
                          <a:ea typeface="+mn-ea"/>
                          <a:cs typeface="+mn-cs"/>
                        </a:rPr>
                        <a:t>?</a:t>
                      </a:r>
                      <a:endParaRPr lang="zh-CN" altLang="en-US" sz="1400" b="1">
                        <a:solidFill>
                          <a:schemeClr val="tx2">
                            <a:lumMod val="75000"/>
                          </a:schemeClr>
                        </a:solidFill>
                        <a:effectLst/>
                      </a:endParaRPr>
                    </a:p>
                  </a:txBody>
                  <a:tcPr marT="36000" marB="36000" anchor="ctr">
                    <a:solidFill>
                      <a:schemeClr val="accent1">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a:solidFill>
                            <a:schemeClr val="tx1">
                              <a:lumMod val="75000"/>
                              <a:lumOff val="25000"/>
                            </a:schemeClr>
                          </a:solidFill>
                          <a:effectLst>
                            <a:outerShdw blurRad="38100" dist="38100" dir="2700000" algn="tl">
                              <a:srgbClr val="000000">
                                <a:alpha val="43137"/>
                              </a:srgbClr>
                            </a:outerShdw>
                          </a:effectLst>
                        </a:rPr>
                        <a:t>通用益生菌亦可能有效！</a:t>
                      </a:r>
                    </a:p>
                  </a:txBody>
                  <a:tcPr anchor="ctr">
                    <a:solidFill>
                      <a:schemeClr val="accent1">
                        <a:lumMod val="60000"/>
                        <a:lumOff val="40000"/>
                      </a:schemeClr>
                    </a:solidFill>
                  </a:tcPr>
                </a:tc>
                <a:extLst>
                  <a:ext uri="{0D108BD9-81ED-4DB2-BD59-A6C34878D82A}">
                    <a16:rowId xmlns:a16="http://schemas.microsoft.com/office/drawing/2014/main" val="23620278"/>
                  </a:ext>
                </a:extLst>
              </a:tr>
              <a:tr h="4916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b="1" kern="1200">
                          <a:solidFill>
                            <a:schemeClr val="accent1">
                              <a:lumMod val="50000"/>
                            </a:schemeClr>
                          </a:solidFill>
                          <a:latin typeface="+mj-ea"/>
                          <a:ea typeface="+mn-ea"/>
                          <a:cs typeface="+mn-cs"/>
                        </a:rPr>
                        <a:t>肾康安 </a:t>
                      </a:r>
                      <a:r>
                        <a:rPr lang="en-US" altLang="zh-CN" sz="1400" b="1" kern="1200">
                          <a:solidFill>
                            <a:schemeClr val="accent1">
                              <a:lumMod val="50000"/>
                            </a:schemeClr>
                          </a:solidFill>
                          <a:latin typeface="+mj-ea"/>
                          <a:ea typeface="+mn-ea"/>
                          <a:cs typeface="+mn-cs"/>
                        </a:rPr>
                        <a:t>Azodyl</a:t>
                      </a:r>
                      <a:endParaRPr lang="zh-CN" altLang="en-US" sz="1400" b="1" kern="1200">
                        <a:solidFill>
                          <a:schemeClr val="accent1">
                            <a:lumMod val="50000"/>
                          </a:schemeClr>
                        </a:solidFill>
                        <a:latin typeface="+mj-ea"/>
                        <a:ea typeface="+mn-ea"/>
                        <a:cs typeface="+mn-cs"/>
                      </a:endParaRPr>
                    </a:p>
                  </a:txBody>
                  <a:tcPr marL="396000" marT="216000" anchor="ctr">
                    <a:solidFill>
                      <a:schemeClr val="accent1">
                        <a:lumMod val="60000"/>
                        <a:lumOff val="40000"/>
                      </a:schemeClr>
                    </a:solidFill>
                  </a:tcPr>
                </a:tc>
                <a:tc>
                  <a:txBody>
                    <a:bodyPr/>
                    <a:lstStyle/>
                    <a:p>
                      <a:pPr lvl="0" algn="l"/>
                      <a:r>
                        <a:rPr lang="zh-CN" altLang="en-US" sz="1400" b="1">
                          <a:solidFill>
                            <a:schemeClr val="accent1">
                              <a:lumMod val="50000"/>
                            </a:schemeClr>
                          </a:solidFill>
                          <a:latin typeface="+mj-ea"/>
                          <a:ea typeface="+mj-ea"/>
                        </a:rPr>
                        <a:t>益生菌</a:t>
                      </a:r>
                    </a:p>
                  </a:txBody>
                  <a:tcPr marL="504000" marR="504000" anchor="ctr">
                    <a:solidFill>
                      <a:schemeClr val="accent1">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b="1" kern="1200">
                          <a:solidFill>
                            <a:schemeClr val="tx2">
                              <a:lumMod val="75000"/>
                            </a:schemeClr>
                          </a:solidFill>
                          <a:effectLst/>
                          <a:latin typeface="+mj-ea"/>
                          <a:ea typeface="+mn-ea"/>
                          <a:cs typeface="+mn-cs"/>
                        </a:rPr>
                        <a:t>改善菌群以减少</a:t>
                      </a:r>
                      <a:r>
                        <a:rPr lang="en-US" altLang="zh-CN" sz="1400" b="1" kern="1200">
                          <a:solidFill>
                            <a:schemeClr val="tx2">
                              <a:lumMod val="75000"/>
                            </a:schemeClr>
                          </a:solidFill>
                          <a:effectLst/>
                          <a:latin typeface="+mj-ea"/>
                          <a:ea typeface="+mn-ea"/>
                          <a:cs typeface="+mn-cs"/>
                        </a:rPr>
                        <a:t>BUN</a:t>
                      </a:r>
                      <a:r>
                        <a:rPr lang="zh-CN" altLang="en-US" sz="1400" b="1" kern="1200">
                          <a:solidFill>
                            <a:schemeClr val="tx2">
                              <a:lumMod val="75000"/>
                            </a:schemeClr>
                          </a:solidFill>
                          <a:effectLst/>
                          <a:latin typeface="+mj-ea"/>
                          <a:ea typeface="+mn-ea"/>
                          <a:cs typeface="+mn-cs"/>
                        </a:rPr>
                        <a:t>？</a:t>
                      </a:r>
                      <a:r>
                        <a:rPr lang="en-US" altLang="zh-CN" sz="1400" b="1" kern="1200">
                          <a:solidFill>
                            <a:schemeClr val="tx2">
                              <a:lumMod val="75000"/>
                            </a:schemeClr>
                          </a:solidFill>
                          <a:effectLst/>
                          <a:latin typeface="+mj-ea"/>
                          <a:ea typeface="+mn-ea"/>
                          <a:cs typeface="+mn-cs"/>
                        </a:rPr>
                        <a:t>?</a:t>
                      </a:r>
                      <a:endParaRPr lang="zh-CN" altLang="en-US" sz="1400" b="1">
                        <a:solidFill>
                          <a:schemeClr val="tx2">
                            <a:lumMod val="75000"/>
                          </a:schemeClr>
                        </a:solidFill>
                        <a:effectLst/>
                      </a:endParaRPr>
                    </a:p>
                  </a:txBody>
                  <a:tcPr marT="36000" marB="36000" anchor="ctr">
                    <a:solidFill>
                      <a:schemeClr val="accent1">
                        <a:lumMod val="60000"/>
                        <a:lumOff val="40000"/>
                      </a:schemeClr>
                    </a:solidFill>
                  </a:tcPr>
                </a:tc>
                <a:tc>
                  <a:txBody>
                    <a:bodyPr/>
                    <a:lstStyle/>
                    <a:p>
                      <a:r>
                        <a:rPr lang="zh-CN" altLang="en-US" sz="1200">
                          <a:solidFill>
                            <a:schemeClr val="tx1">
                              <a:lumMod val="75000"/>
                              <a:lumOff val="25000"/>
                            </a:schemeClr>
                          </a:solidFill>
                          <a:effectLst>
                            <a:outerShdw blurRad="38100" dist="38100" dir="2700000" algn="tl">
                              <a:srgbClr val="000000">
                                <a:alpha val="43137"/>
                              </a:srgbClr>
                            </a:outerShdw>
                          </a:effectLst>
                        </a:rPr>
                        <a:t>临床试验失败，需全程冷藏</a:t>
                      </a:r>
                      <a:endParaRPr lang="zh-CN" altLang="en-US" sz="1400"/>
                    </a:p>
                  </a:txBody>
                  <a:tcPr anchor="ctr">
                    <a:solidFill>
                      <a:schemeClr val="accent1">
                        <a:lumMod val="60000"/>
                        <a:lumOff val="40000"/>
                      </a:schemeClr>
                    </a:solidFill>
                  </a:tcPr>
                </a:tc>
                <a:extLst>
                  <a:ext uri="{0D108BD9-81ED-4DB2-BD59-A6C34878D82A}">
                    <a16:rowId xmlns:a16="http://schemas.microsoft.com/office/drawing/2014/main" val="52059345"/>
                  </a:ext>
                </a:extLst>
              </a:tr>
              <a:tr h="491664">
                <a:tc>
                  <a:txBody>
                    <a:bodyPr/>
                    <a:lstStyle/>
                    <a:p>
                      <a:r>
                        <a:rPr lang="zh-CN" altLang="en-US" sz="1400" b="1">
                          <a:solidFill>
                            <a:schemeClr val="accent1">
                              <a:lumMod val="50000"/>
                            </a:schemeClr>
                          </a:solidFill>
                        </a:rPr>
                        <a:t>台湾肾透</a:t>
                      </a:r>
                    </a:p>
                  </a:txBody>
                  <a:tcPr marL="396000" marT="216000">
                    <a:solidFill>
                      <a:schemeClr val="accent1">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b="1" kern="1200">
                          <a:solidFill>
                            <a:schemeClr val="accent1">
                              <a:lumMod val="50000"/>
                            </a:schemeClr>
                          </a:solidFill>
                          <a:latin typeface="+mj-ea"/>
                          <a:ea typeface="+mn-ea"/>
                          <a:cs typeface="+mn-cs"/>
                        </a:rPr>
                        <a:t>益生菌</a:t>
                      </a:r>
                    </a:p>
                  </a:txBody>
                  <a:tcPr marL="504000" marR="504000" anchor="ctr">
                    <a:solidFill>
                      <a:schemeClr val="accent1">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b="1" kern="1200">
                          <a:solidFill>
                            <a:schemeClr val="tx2">
                              <a:lumMod val="75000"/>
                            </a:schemeClr>
                          </a:solidFill>
                          <a:effectLst/>
                          <a:latin typeface="+mj-ea"/>
                          <a:ea typeface="+mn-ea"/>
                          <a:cs typeface="+mn-cs"/>
                        </a:rPr>
                        <a:t>改善菌群以减少</a:t>
                      </a:r>
                      <a:r>
                        <a:rPr lang="en-US" altLang="zh-CN" sz="1400" b="1" kern="1200">
                          <a:solidFill>
                            <a:schemeClr val="tx2">
                              <a:lumMod val="75000"/>
                            </a:schemeClr>
                          </a:solidFill>
                          <a:effectLst/>
                          <a:latin typeface="+mj-ea"/>
                          <a:ea typeface="+mn-ea"/>
                          <a:cs typeface="+mn-cs"/>
                        </a:rPr>
                        <a:t>BUN</a:t>
                      </a:r>
                      <a:r>
                        <a:rPr lang="zh-CN" altLang="en-US" sz="1400" b="1" kern="1200">
                          <a:solidFill>
                            <a:schemeClr val="tx2">
                              <a:lumMod val="75000"/>
                            </a:schemeClr>
                          </a:solidFill>
                          <a:effectLst/>
                          <a:latin typeface="+mj-ea"/>
                          <a:ea typeface="+mn-ea"/>
                          <a:cs typeface="+mn-cs"/>
                        </a:rPr>
                        <a:t>？</a:t>
                      </a:r>
                      <a:r>
                        <a:rPr lang="en-US" altLang="zh-CN" sz="1400" b="1" kern="1200">
                          <a:solidFill>
                            <a:schemeClr val="tx2">
                              <a:lumMod val="75000"/>
                            </a:schemeClr>
                          </a:solidFill>
                          <a:effectLst/>
                          <a:latin typeface="+mj-ea"/>
                          <a:ea typeface="+mn-ea"/>
                          <a:cs typeface="+mn-cs"/>
                        </a:rPr>
                        <a:t>?</a:t>
                      </a:r>
                      <a:endParaRPr lang="zh-CN" altLang="en-US" sz="1400" b="1">
                        <a:solidFill>
                          <a:schemeClr val="tx2">
                            <a:lumMod val="75000"/>
                          </a:schemeClr>
                        </a:solidFill>
                        <a:effectLst/>
                      </a:endParaRPr>
                    </a:p>
                  </a:txBody>
                  <a:tcPr marT="36000" marB="36000" anchor="ctr">
                    <a:solidFill>
                      <a:schemeClr val="accent1">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a:solidFill>
                            <a:schemeClr val="tx1">
                              <a:lumMod val="75000"/>
                              <a:lumOff val="25000"/>
                            </a:schemeClr>
                          </a:solidFill>
                          <a:effectLst>
                            <a:outerShdw blurRad="38100" dist="38100" dir="2700000" algn="tl">
                              <a:srgbClr val="000000">
                                <a:alpha val="43137"/>
                              </a:srgbClr>
                            </a:outerShdw>
                          </a:effectLst>
                        </a:rPr>
                        <a:t>通用益生菌亦可能有效！</a:t>
                      </a:r>
                    </a:p>
                  </a:txBody>
                  <a:tcPr anchor="ctr">
                    <a:solidFill>
                      <a:schemeClr val="accent1">
                        <a:lumMod val="60000"/>
                        <a:lumOff val="40000"/>
                      </a:schemeClr>
                    </a:solidFill>
                  </a:tcPr>
                </a:tc>
                <a:extLst>
                  <a:ext uri="{0D108BD9-81ED-4DB2-BD59-A6C34878D82A}">
                    <a16:rowId xmlns:a16="http://schemas.microsoft.com/office/drawing/2014/main" val="289691938"/>
                  </a:ext>
                </a:extLst>
              </a:tr>
            </a:tbl>
          </a:graphicData>
        </a:graphic>
      </p:graphicFrame>
      <p:sp>
        <p:nvSpPr>
          <p:cNvPr id="20" name="箭头: 五边形 6">
            <a:extLst/>
          </p:cNvPr>
          <p:cNvSpPr/>
          <p:nvPr/>
        </p:nvSpPr>
        <p:spPr>
          <a:xfrm rot="10800000" flipH="1">
            <a:off x="0" y="-1"/>
            <a:ext cx="6433368" cy="738342"/>
          </a:xfrm>
          <a:prstGeom prst="homePlate">
            <a:avLst>
              <a:gd name="adj" fmla="val 32692"/>
            </a:avLst>
          </a:prstGeom>
          <a:solidFill>
            <a:srgbClr val="FFFF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sp>
        <p:nvSpPr>
          <p:cNvPr id="3" name="文本框 14">
            <a:extLst/>
          </p:cNvPr>
          <p:cNvSpPr txBox="1">
            <a:spLocks noChangeArrowheads="1"/>
          </p:cNvSpPr>
          <p:nvPr/>
        </p:nvSpPr>
        <p:spPr bwMode="auto">
          <a:xfrm>
            <a:off x="27732" y="183707"/>
            <a:ext cx="5673948"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buNone/>
            </a:pPr>
            <a:r>
              <a:rPr lang="zh-CN" altLang="en-US" b="1">
                <a:solidFill>
                  <a:schemeClr val="tx2">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猫慢性肾病“神药”破解</a:t>
            </a:r>
            <a:endParaRPr lang="en-US" altLang="zh-CN" b="1">
              <a:solidFill>
                <a:schemeClr val="tx2">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7893614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976" name="图片 37975">
            <a:extLst>
              <a:ext uri="{FF2B5EF4-FFF2-40B4-BE49-F238E27FC236}">
                <a16:creationId xmlns:a16="http://schemas.microsoft.com/office/drawing/2014/main" id="{A5485B46-CB50-44BA-85C4-99F2B6EE074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75461" y="3852623"/>
            <a:ext cx="2852936" cy="2852936"/>
          </a:xfrm>
          <a:prstGeom prst="rect">
            <a:avLst/>
          </a:prstGeom>
        </p:spPr>
      </p:pic>
      <p:grpSp>
        <p:nvGrpSpPr>
          <p:cNvPr id="17" name="组合 16">
            <a:extLst/>
          </p:cNvPr>
          <p:cNvGrpSpPr/>
          <p:nvPr/>
        </p:nvGrpSpPr>
        <p:grpSpPr>
          <a:xfrm>
            <a:off x="4903464" y="143932"/>
            <a:ext cx="7320137" cy="1035882"/>
            <a:chOff x="8112223" y="330677"/>
            <a:chExt cx="4194115" cy="1035882"/>
          </a:xfrm>
          <a:effectLst>
            <a:outerShdw blurRad="50800" dist="38100" dir="5400000" algn="t" rotWithShape="0">
              <a:prstClr val="black">
                <a:alpha val="40000"/>
              </a:prstClr>
            </a:outerShdw>
          </a:effectLst>
        </p:grpSpPr>
        <p:sp>
          <p:nvSpPr>
            <p:cNvPr id="27"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8281096" y="330677"/>
              <a:ext cx="3904148" cy="985057"/>
              <a:chOff x="-461843" y="2729730"/>
              <a:chExt cx="4598568" cy="1377463"/>
            </a:xfrm>
          </p:grpSpPr>
          <p:sp>
            <p:nvSpPr>
              <p:cNvPr id="29"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1273899" y="2767972"/>
                <a:ext cx="2862826" cy="808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2400" b="1">
                    <a:solidFill>
                      <a:srgbClr val="010101"/>
                    </a:solidFill>
                    <a:latin typeface="+mn-lt"/>
                    <a:ea typeface="+mn-ea"/>
                    <a:cs typeface="+mn-ea"/>
                    <a:sym typeface="+mn-lt"/>
                  </a:rPr>
                  <a:t>RAPROS</a:t>
                </a:r>
              </a:p>
            </p:txBody>
          </p:sp>
          <p:cxnSp>
            <p:nvCxnSpPr>
              <p:cNvPr id="31" name="直接连接符 30">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506334" y="3461620"/>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grpSp>
        <p:nvGrpSpPr>
          <p:cNvPr id="37893" name="组合 1"/>
          <p:cNvGrpSpPr>
            <a:grpSpLocks/>
          </p:cNvGrpSpPr>
          <p:nvPr/>
        </p:nvGrpSpPr>
        <p:grpSpPr bwMode="auto">
          <a:xfrm>
            <a:off x="6812231" y="2401343"/>
            <a:ext cx="4865878" cy="2973190"/>
            <a:chOff x="6931323" y="2608336"/>
            <a:chExt cx="4500246" cy="2972408"/>
          </a:xfrm>
        </p:grpSpPr>
        <p:grpSp>
          <p:nvGrpSpPr>
            <p:cNvPr id="37894" name="组合 14"/>
            <p:cNvGrpSpPr>
              <a:grpSpLocks/>
            </p:cNvGrpSpPr>
            <p:nvPr/>
          </p:nvGrpSpPr>
          <p:grpSpPr bwMode="auto">
            <a:xfrm>
              <a:off x="6931323" y="2608336"/>
              <a:ext cx="4500246" cy="718135"/>
              <a:chOff x="3936148" y="1692543"/>
              <a:chExt cx="4500246" cy="718135"/>
            </a:xfrm>
          </p:grpSpPr>
          <p:sp>
            <p:nvSpPr>
              <p:cNvPr id="55" name="文本框 66">
                <a:extLst/>
              </p:cNvPr>
              <p:cNvSpPr txBox="1">
                <a:spLocks noChangeArrowheads="1"/>
              </p:cNvSpPr>
              <p:nvPr/>
            </p:nvSpPr>
            <p:spPr bwMode="auto">
              <a:xfrm>
                <a:off x="3966308" y="1692543"/>
                <a:ext cx="4258964" cy="461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spcBef>
                    <a:spcPts val="0"/>
                  </a:spcBef>
                  <a:spcAft>
                    <a:spcPts val="0"/>
                  </a:spcAft>
                  <a:defRPr/>
                </a:pPr>
                <a:endParaRPr lang="zh-CN" altLang="en-US" sz="2400" b="1" kern="0">
                  <a:solidFill>
                    <a:srgbClr val="4F4F4F"/>
                  </a:solidFill>
                  <a:latin typeface="+mn-lt"/>
                  <a:ea typeface="+mn-ea"/>
                  <a:cs typeface="+mn-ea"/>
                  <a:sym typeface="+mn-lt"/>
                </a:endParaRPr>
              </a:p>
            </p:txBody>
          </p:sp>
          <p:sp>
            <p:nvSpPr>
              <p:cNvPr id="56" name="矩形 55">
                <a:extLst/>
              </p:cNvPr>
              <p:cNvSpPr/>
              <p:nvPr/>
            </p:nvSpPr>
            <p:spPr>
              <a:xfrm>
                <a:off x="3936148" y="2133752"/>
                <a:ext cx="4500246" cy="276926"/>
              </a:xfrm>
              <a:prstGeom prst="rect">
                <a:avLst/>
              </a:prstGeom>
            </p:spPr>
            <p:txBody>
              <a:bodyPr>
                <a:spAutoFit/>
              </a:bodyPr>
              <a:lstStyle/>
              <a:p>
                <a:pPr eaLnBrk="1" fontAlgn="auto" hangingPunct="1">
                  <a:spcBef>
                    <a:spcPts val="0"/>
                  </a:spcBef>
                  <a:spcAft>
                    <a:spcPts val="0"/>
                  </a:spcAft>
                  <a:defRPr/>
                </a:pPr>
                <a:endParaRPr lang="zh-CN" altLang="en-US" sz="1200" kern="0">
                  <a:solidFill>
                    <a:srgbClr val="4F4F4F"/>
                  </a:solidFill>
                  <a:latin typeface="+mn-lt"/>
                  <a:ea typeface="+mn-ea"/>
                  <a:cs typeface="+mn-ea"/>
                  <a:sym typeface="+mn-lt"/>
                </a:endParaRPr>
              </a:p>
            </p:txBody>
          </p:sp>
        </p:grpSp>
        <p:sp>
          <p:nvSpPr>
            <p:cNvPr id="53" name="矩形 3">
              <a:extLst/>
            </p:cNvPr>
            <p:cNvSpPr>
              <a:spLocks noChangeArrowheads="1"/>
            </p:cNvSpPr>
            <p:nvPr/>
          </p:nvSpPr>
          <p:spPr bwMode="auto">
            <a:xfrm>
              <a:off x="6931323" y="4487442"/>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sp>
          <p:nvSpPr>
            <p:cNvPr id="54" name="矩形 3">
              <a:extLst/>
            </p:cNvPr>
            <p:cNvSpPr>
              <a:spLocks noChangeArrowheads="1"/>
            </p:cNvSpPr>
            <p:nvPr/>
          </p:nvSpPr>
          <p:spPr bwMode="auto">
            <a:xfrm>
              <a:off x="6931323" y="5273048"/>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grpSp>
      <p:sp>
        <p:nvSpPr>
          <p:cNvPr id="20" name="文本框 19">
            <a:extLst>
              <a:ext uri="{FF2B5EF4-FFF2-40B4-BE49-F238E27FC236}">
                <a16:creationId xmlns:a16="http://schemas.microsoft.com/office/drawing/2014/main" id="{1D01A007-4E3E-4A6A-B27C-82D4F164E38C}"/>
              </a:ext>
            </a:extLst>
          </p:cNvPr>
          <p:cNvSpPr txBox="1"/>
          <p:nvPr/>
        </p:nvSpPr>
        <p:spPr>
          <a:xfrm>
            <a:off x="1487488" y="1340768"/>
            <a:ext cx="3145563" cy="692497"/>
          </a:xfrm>
          <a:prstGeom prst="rect">
            <a:avLst/>
          </a:prstGeom>
          <a:noFill/>
        </p:spPr>
        <p:txBody>
          <a:bodyPr wrap="square" rtlCol="0">
            <a:spAutoFit/>
          </a:bodyPr>
          <a:lstStyle/>
          <a:p>
            <a:pPr algn="ctr"/>
            <a:r>
              <a:rPr lang="en-US" altLang="zh-CN" b="1">
                <a:solidFill>
                  <a:schemeClr val="bg2">
                    <a:lumMod val="25000"/>
                  </a:schemeClr>
                </a:solidFill>
                <a:latin typeface="+mj-ea"/>
                <a:ea typeface="+mj-ea"/>
              </a:rPr>
              <a:t>RAPROS</a:t>
            </a:r>
            <a:r>
              <a:rPr lang="zh-CN" altLang="en-US" sz="800" b="1">
                <a:solidFill>
                  <a:schemeClr val="bg2">
                    <a:lumMod val="25000"/>
                  </a:schemeClr>
                </a:solidFill>
                <a:latin typeface="+mj-ea"/>
                <a:ea typeface="+mj-ea"/>
              </a:rPr>
              <a:t>（即贝前列素钠片）</a:t>
            </a:r>
            <a:endParaRPr lang="en-US" altLang="zh-CN" sz="800" b="1">
              <a:solidFill>
                <a:schemeClr val="bg2">
                  <a:lumMod val="25000"/>
                </a:schemeClr>
              </a:solidFill>
              <a:latin typeface="+mj-ea"/>
              <a:ea typeface="+mj-ea"/>
            </a:endParaRPr>
          </a:p>
          <a:p>
            <a:endParaRPr lang="en-US" altLang="zh-CN" sz="700">
              <a:latin typeface="+mj-ea"/>
              <a:ea typeface="+mj-ea"/>
            </a:endParaRPr>
          </a:p>
          <a:p>
            <a:r>
              <a:rPr lang="zh-CN" altLang="en-US" sz="1400">
                <a:latin typeface="+mj-ea"/>
                <a:ea typeface="+mj-ea"/>
              </a:rPr>
              <a:t> </a:t>
            </a:r>
            <a:r>
              <a:rPr lang="zh-CN" altLang="en-US" sz="1400" b="1">
                <a:latin typeface="+mj-ea"/>
                <a:ea typeface="+mj-ea"/>
              </a:rPr>
              <a:t>用量：</a:t>
            </a:r>
            <a:r>
              <a:rPr lang="en-US" altLang="zh-CN" sz="1400" b="1">
                <a:latin typeface="+mj-ea"/>
                <a:ea typeface="+mj-ea"/>
              </a:rPr>
              <a:t>55ug</a:t>
            </a:r>
            <a:r>
              <a:rPr lang="zh-CN" altLang="en-US" sz="1400" b="1">
                <a:latin typeface="+mj-ea"/>
                <a:ea typeface="+mj-ea"/>
              </a:rPr>
              <a:t>一片</a:t>
            </a:r>
            <a:r>
              <a:rPr lang="en-US" altLang="zh-CN" sz="1400" b="1">
                <a:latin typeface="+mj-ea"/>
                <a:ea typeface="+mj-ea"/>
              </a:rPr>
              <a:t> </a:t>
            </a:r>
            <a:r>
              <a:rPr lang="zh-CN" altLang="en-US" sz="1400" b="1">
                <a:latin typeface="+mj-ea"/>
                <a:ea typeface="+mj-ea"/>
              </a:rPr>
              <a:t>一天两次一次一片</a:t>
            </a:r>
            <a:endParaRPr lang="en-US" altLang="zh-CN" sz="1400" b="1">
              <a:latin typeface="+mj-ea"/>
              <a:ea typeface="+mj-ea"/>
            </a:endParaRPr>
          </a:p>
        </p:txBody>
      </p:sp>
      <p:cxnSp>
        <p:nvCxnSpPr>
          <p:cNvPr id="21" name="直接连接符 20">
            <a:extLst>
              <a:ext uri="{FF2B5EF4-FFF2-40B4-BE49-F238E27FC236}">
                <a16:creationId xmlns:a16="http://schemas.microsoft.com/office/drawing/2014/main" id="{0D419903-5A39-47D8-B791-C6E2B03CBB2C}"/>
              </a:ext>
            </a:extLst>
          </p:cNvPr>
          <p:cNvCxnSpPr/>
          <p:nvPr/>
        </p:nvCxnSpPr>
        <p:spPr>
          <a:xfrm flipH="1">
            <a:off x="5735960" y="3644279"/>
            <a:ext cx="19050" cy="1079500"/>
          </a:xfrm>
          <a:prstGeom prst="line">
            <a:avLst/>
          </a:prstGeom>
          <a:ln w="50800">
            <a:solidFill>
              <a:srgbClr val="4F4F4F"/>
            </a:solidFill>
          </a:ln>
        </p:spPr>
        <p:style>
          <a:lnRef idx="1">
            <a:schemeClr val="accent1"/>
          </a:lnRef>
          <a:fillRef idx="0">
            <a:schemeClr val="accent1"/>
          </a:fillRef>
          <a:effectRef idx="0">
            <a:schemeClr val="accent1"/>
          </a:effectRef>
          <a:fontRef idx="minor">
            <a:schemeClr val="tx1"/>
          </a:fontRef>
        </p:style>
      </p:cxnSp>
      <p:pic>
        <p:nvPicPr>
          <p:cNvPr id="37974" name="图片 37973">
            <a:extLst>
              <a:ext uri="{FF2B5EF4-FFF2-40B4-BE49-F238E27FC236}">
                <a16:creationId xmlns:a16="http://schemas.microsoft.com/office/drawing/2014/main" id="{ED85FC07-4502-4ECB-A90F-F0CB577173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6815" y="2120150"/>
            <a:ext cx="2635165" cy="1645588"/>
          </a:xfrm>
          <a:prstGeom prst="rect">
            <a:avLst/>
          </a:prstGeom>
        </p:spPr>
      </p:pic>
      <p:sp>
        <p:nvSpPr>
          <p:cNvPr id="153" name="文本框 152">
            <a:extLst>
              <a:ext uri="{FF2B5EF4-FFF2-40B4-BE49-F238E27FC236}">
                <a16:creationId xmlns:a16="http://schemas.microsoft.com/office/drawing/2014/main" id="{9A37FAC3-8AFD-4235-BD10-7BEB03EDE522}"/>
              </a:ext>
            </a:extLst>
          </p:cNvPr>
          <p:cNvSpPr txBox="1"/>
          <p:nvPr/>
        </p:nvSpPr>
        <p:spPr>
          <a:xfrm>
            <a:off x="1301141" y="4002114"/>
            <a:ext cx="3126512" cy="615553"/>
          </a:xfrm>
          <a:prstGeom prst="rect">
            <a:avLst/>
          </a:prstGeom>
          <a:noFill/>
        </p:spPr>
        <p:txBody>
          <a:bodyPr wrap="square" rtlCol="0">
            <a:spAutoFit/>
          </a:bodyPr>
          <a:lstStyle/>
          <a:p>
            <a:pPr algn="ctr"/>
            <a:r>
              <a:rPr lang="zh-CN" altLang="en-US" sz="1600" b="1">
                <a:solidFill>
                  <a:schemeClr val="bg2">
                    <a:lumMod val="25000"/>
                  </a:schemeClr>
                </a:solidFill>
                <a:latin typeface="+mj-ea"/>
                <a:ea typeface="+mj-ea"/>
              </a:rPr>
              <a:t>贝前列素钠片</a:t>
            </a:r>
            <a:endParaRPr lang="en-US" altLang="zh-CN" sz="1600" b="1">
              <a:solidFill>
                <a:schemeClr val="bg2">
                  <a:lumMod val="25000"/>
                </a:schemeClr>
              </a:solidFill>
              <a:latin typeface="+mj-ea"/>
              <a:ea typeface="+mj-ea"/>
            </a:endParaRPr>
          </a:p>
          <a:p>
            <a:endParaRPr lang="en-US" altLang="zh-CN" sz="600">
              <a:latin typeface="+mj-ea"/>
              <a:ea typeface="+mj-ea"/>
            </a:endParaRPr>
          </a:p>
          <a:p>
            <a:r>
              <a:rPr lang="zh-CN" altLang="en-US" sz="1200">
                <a:latin typeface="+mj-ea"/>
                <a:ea typeface="+mj-ea"/>
              </a:rPr>
              <a:t>      </a:t>
            </a:r>
            <a:r>
              <a:rPr lang="zh-CN" altLang="en-US" sz="1200" b="1">
                <a:latin typeface="+mj-ea"/>
                <a:ea typeface="+mj-ea"/>
              </a:rPr>
              <a:t>用量：</a:t>
            </a:r>
            <a:r>
              <a:rPr lang="en-US" altLang="zh-CN" sz="1200" b="1">
                <a:latin typeface="+mj-ea"/>
                <a:ea typeface="+mj-ea"/>
              </a:rPr>
              <a:t>40ug</a:t>
            </a:r>
            <a:r>
              <a:rPr lang="zh-CN" altLang="en-US" sz="1200" b="1">
                <a:latin typeface="+mj-ea"/>
                <a:ea typeface="+mj-ea"/>
              </a:rPr>
              <a:t>一片</a:t>
            </a:r>
            <a:r>
              <a:rPr lang="en-US" altLang="zh-CN" sz="1200" b="1">
                <a:latin typeface="+mj-ea"/>
                <a:ea typeface="+mj-ea"/>
              </a:rPr>
              <a:t> </a:t>
            </a:r>
            <a:r>
              <a:rPr lang="zh-CN" altLang="en-US" sz="1200" b="1">
                <a:latin typeface="+mj-ea"/>
                <a:ea typeface="+mj-ea"/>
              </a:rPr>
              <a:t>一天两次一天</a:t>
            </a:r>
            <a:r>
              <a:rPr lang="en-US" altLang="zh-CN" sz="1200" b="1">
                <a:latin typeface="+mj-ea"/>
                <a:ea typeface="+mj-ea"/>
              </a:rPr>
              <a:t>1.25</a:t>
            </a:r>
            <a:r>
              <a:rPr lang="zh-CN" altLang="en-US" sz="1200" b="1">
                <a:latin typeface="+mj-ea"/>
                <a:ea typeface="+mj-ea"/>
              </a:rPr>
              <a:t>片</a:t>
            </a:r>
            <a:endParaRPr lang="en-US" altLang="zh-CN" sz="1600" b="1">
              <a:latin typeface="+mj-ea"/>
              <a:ea typeface="+mj-ea"/>
            </a:endParaRPr>
          </a:p>
        </p:txBody>
      </p:sp>
      <p:sp>
        <p:nvSpPr>
          <p:cNvPr id="37977" name="文本框 37976">
            <a:extLst>
              <a:ext uri="{FF2B5EF4-FFF2-40B4-BE49-F238E27FC236}">
                <a16:creationId xmlns:a16="http://schemas.microsoft.com/office/drawing/2014/main" id="{A83F620F-CC98-4A3E-B315-6E7F57A27F6A}"/>
              </a:ext>
            </a:extLst>
          </p:cNvPr>
          <p:cNvSpPr txBox="1"/>
          <p:nvPr/>
        </p:nvSpPr>
        <p:spPr>
          <a:xfrm>
            <a:off x="6418974" y="5529403"/>
            <a:ext cx="6808209" cy="923330"/>
          </a:xfrm>
          <a:prstGeom prst="rect">
            <a:avLst/>
          </a:prstGeom>
          <a:noFill/>
        </p:spPr>
        <p:txBody>
          <a:bodyPr wrap="square" rtlCol="0">
            <a:spAutoFit/>
          </a:bodyPr>
          <a:lstStyle/>
          <a:p>
            <a:pPr marL="285750" indent="-285750">
              <a:buFont typeface="Wingdings" panose="05000000000000000000" pitchFamily="2" charset="2"/>
              <a:buChar char="u"/>
            </a:pPr>
            <a:r>
              <a:rPr lang="zh-CN" altLang="en-US" b="1">
                <a:solidFill>
                  <a:schemeClr val="tx1">
                    <a:lumMod val="65000"/>
                    <a:lumOff val="35000"/>
                  </a:schemeClr>
                </a:solidFill>
                <a:latin typeface="+mj-ea"/>
                <a:ea typeface="+mj-ea"/>
              </a:rPr>
              <a:t>相关资料见（</a:t>
            </a:r>
            <a:r>
              <a:rPr lang="en-US" altLang="zh-CN" b="1">
                <a:solidFill>
                  <a:schemeClr val="tx1">
                    <a:lumMod val="65000"/>
                    <a:lumOff val="35000"/>
                  </a:schemeClr>
                </a:solidFill>
                <a:latin typeface="+mj-ea"/>
                <a:ea typeface="+mj-ea"/>
              </a:rPr>
              <a:t>Takenaka M</a:t>
            </a:r>
            <a:r>
              <a:rPr lang="zh-CN" altLang="en-US" b="1">
                <a:solidFill>
                  <a:schemeClr val="tx1">
                    <a:lumMod val="65000"/>
                    <a:lumOff val="35000"/>
                  </a:schemeClr>
                </a:solidFill>
                <a:latin typeface="+mj-ea"/>
                <a:ea typeface="+mj-ea"/>
              </a:rPr>
              <a:t> </a:t>
            </a:r>
            <a:r>
              <a:rPr lang="en-US" altLang="zh-CN" b="1">
                <a:solidFill>
                  <a:schemeClr val="tx1">
                    <a:lumMod val="65000"/>
                    <a:lumOff val="35000"/>
                  </a:schemeClr>
                </a:solidFill>
                <a:latin typeface="+mj-ea"/>
                <a:ea typeface="+mj-ea"/>
              </a:rPr>
              <a:t>et al.2018)</a:t>
            </a:r>
          </a:p>
          <a:p>
            <a:pPr marL="285750" indent="-285750">
              <a:buFont typeface="Wingdings" panose="05000000000000000000" pitchFamily="2" charset="2"/>
              <a:buChar char="u"/>
            </a:pPr>
            <a:r>
              <a:rPr lang="zh-CN" altLang="en-US" b="1">
                <a:solidFill>
                  <a:srgbClr val="C00000"/>
                </a:solidFill>
                <a:latin typeface="+mj-ea"/>
                <a:ea typeface="+mj-ea"/>
              </a:rPr>
              <a:t>用药请和主治医师讨论！</a:t>
            </a:r>
            <a:endParaRPr lang="en-US" altLang="zh-CN" b="1">
              <a:solidFill>
                <a:srgbClr val="C00000"/>
              </a:solidFill>
              <a:latin typeface="+mj-ea"/>
              <a:ea typeface="+mj-ea"/>
            </a:endParaRPr>
          </a:p>
          <a:p>
            <a:endParaRPr lang="zh-CN" altLang="en-US"/>
          </a:p>
        </p:txBody>
      </p:sp>
      <p:sp>
        <p:nvSpPr>
          <p:cNvPr id="37978" name="矩形 37977">
            <a:extLst>
              <a:ext uri="{FF2B5EF4-FFF2-40B4-BE49-F238E27FC236}">
                <a16:creationId xmlns:a16="http://schemas.microsoft.com/office/drawing/2014/main" id="{04C42F1C-0689-4590-BCB9-BBEB72930313}"/>
              </a:ext>
            </a:extLst>
          </p:cNvPr>
          <p:cNvSpPr/>
          <p:nvPr/>
        </p:nvSpPr>
        <p:spPr>
          <a:xfrm>
            <a:off x="7802730" y="612183"/>
            <a:ext cx="2133918" cy="456535"/>
          </a:xfrm>
          <a:prstGeom prst="rect">
            <a:avLst/>
          </a:prstGeom>
        </p:spPr>
        <p:txBody>
          <a:bodyPr wrap="none">
            <a:spAutoFit/>
          </a:bodyPr>
          <a:lstStyle/>
          <a:p>
            <a:pPr eaLnBrk="1" hangingPunct="1">
              <a:lnSpc>
                <a:spcPct val="150000"/>
              </a:lnSpc>
              <a:defRPr/>
            </a:pPr>
            <a:r>
              <a:rPr lang="en-US" altLang="zh-CN" b="1">
                <a:solidFill>
                  <a:schemeClr val="bg1">
                    <a:lumMod val="95000"/>
                  </a:schemeClr>
                </a:solidFill>
                <a:effectLst>
                  <a:outerShdw blurRad="38100" dist="38100" dir="2700000" algn="tl">
                    <a:srgbClr val="000000">
                      <a:alpha val="43137"/>
                    </a:srgbClr>
                  </a:outerShdw>
                </a:effectLst>
                <a:cs typeface="+mn-ea"/>
                <a:sym typeface="+mn-lt"/>
              </a:rPr>
              <a:t>beraprost sodium</a:t>
            </a:r>
          </a:p>
        </p:txBody>
      </p:sp>
      <p:pic>
        <p:nvPicPr>
          <p:cNvPr id="37980" name="图片 37979">
            <a:extLst>
              <a:ext uri="{FF2B5EF4-FFF2-40B4-BE49-F238E27FC236}">
                <a16:creationId xmlns:a16="http://schemas.microsoft.com/office/drawing/2014/main" id="{65F0CE99-2975-4BDE-99ED-3971D4A070E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30596" y="2049194"/>
            <a:ext cx="5043668" cy="2334446"/>
          </a:xfrm>
          <a:prstGeom prst="rect">
            <a:avLst/>
          </a:prstGeom>
        </p:spPr>
      </p:pic>
      <p:sp>
        <p:nvSpPr>
          <p:cNvPr id="37981" name="文本框 37980">
            <a:extLst>
              <a:ext uri="{FF2B5EF4-FFF2-40B4-BE49-F238E27FC236}">
                <a16:creationId xmlns:a16="http://schemas.microsoft.com/office/drawing/2014/main" id="{E01C9E83-7AD2-4EA5-8DB1-34E27F5E6D27}"/>
              </a:ext>
            </a:extLst>
          </p:cNvPr>
          <p:cNvSpPr txBox="1"/>
          <p:nvPr/>
        </p:nvSpPr>
        <p:spPr>
          <a:xfrm>
            <a:off x="6528047" y="4553838"/>
            <a:ext cx="4536505" cy="677108"/>
          </a:xfrm>
          <a:prstGeom prst="rect">
            <a:avLst/>
          </a:prstGeom>
          <a:noFill/>
        </p:spPr>
        <p:txBody>
          <a:bodyPr wrap="square" rtlCol="0">
            <a:spAutoFit/>
          </a:bodyPr>
          <a:lstStyle/>
          <a:p>
            <a:r>
              <a:rPr lang="zh-CN" altLang="en-US" b="1">
                <a:latin typeface="+mj-ea"/>
                <a:ea typeface="+mj-ea"/>
              </a:rPr>
              <a:t>左：肌酐                              右：尿素氮</a:t>
            </a:r>
            <a:endParaRPr lang="en-US" altLang="zh-CN" b="1">
              <a:latin typeface="+mj-ea"/>
              <a:ea typeface="+mj-ea"/>
            </a:endParaRPr>
          </a:p>
          <a:p>
            <a:r>
              <a:rPr lang="zh-CN" altLang="en-US" sz="1000"/>
              <a:t>实线：用药</a:t>
            </a:r>
            <a:endParaRPr lang="en-US" altLang="zh-CN" sz="1000"/>
          </a:p>
          <a:p>
            <a:r>
              <a:rPr lang="zh-CN" altLang="en-US" sz="1000"/>
              <a:t>虚线：安慰剂组</a:t>
            </a:r>
          </a:p>
        </p:txBody>
      </p:sp>
      <p:sp>
        <p:nvSpPr>
          <p:cNvPr id="37982" name="矩形 37981">
            <a:extLst>
              <a:ext uri="{FF2B5EF4-FFF2-40B4-BE49-F238E27FC236}">
                <a16:creationId xmlns:a16="http://schemas.microsoft.com/office/drawing/2014/main" id="{775CC2FC-AF6F-4974-A882-43D177B3A79F}"/>
              </a:ext>
            </a:extLst>
          </p:cNvPr>
          <p:cNvSpPr/>
          <p:nvPr/>
        </p:nvSpPr>
        <p:spPr>
          <a:xfrm>
            <a:off x="9480376" y="4841343"/>
            <a:ext cx="6096000" cy="400110"/>
          </a:xfrm>
          <a:prstGeom prst="rect">
            <a:avLst/>
          </a:prstGeom>
        </p:spPr>
        <p:txBody>
          <a:bodyPr>
            <a:spAutoFit/>
          </a:bodyPr>
          <a:lstStyle/>
          <a:p>
            <a:r>
              <a:rPr lang="zh-CN" altLang="en-US" sz="1000"/>
              <a:t>实线：用药</a:t>
            </a:r>
            <a:endParaRPr lang="en-US" altLang="zh-CN" sz="1000"/>
          </a:p>
          <a:p>
            <a:r>
              <a:rPr lang="zh-CN" altLang="en-US" sz="1000"/>
              <a:t>虚线：安慰剂组</a:t>
            </a:r>
          </a:p>
        </p:txBody>
      </p:sp>
    </p:spTree>
    <p:extLst>
      <p:ext uri="{BB962C8B-B14F-4D97-AF65-F5344CB8AC3E}">
        <p14:creationId xmlns:p14="http://schemas.microsoft.com/office/powerpoint/2010/main" val="13381674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959595"/>
        </a:solidFill>
        <a:effectLst/>
      </p:bgPr>
    </p:bg>
    <p:spTree>
      <p:nvGrpSpPr>
        <p:cNvPr id="1" name=""/>
        <p:cNvGrpSpPr/>
        <p:nvPr/>
      </p:nvGrpSpPr>
      <p:grpSpPr>
        <a:xfrm>
          <a:off x="0" y="0"/>
          <a:ext cx="0" cy="0"/>
          <a:chOff x="0" y="0"/>
          <a:chExt cx="0" cy="0"/>
        </a:xfrm>
      </p:grpSpPr>
      <p:pic>
        <p:nvPicPr>
          <p:cNvPr id="3" name="图片 2">
            <a:extLst/>
          </p:cNvPr>
          <p:cNvPicPr>
            <a:picLocks noChangeAspect="1"/>
          </p:cNvPicPr>
          <p:nvPr/>
        </p:nvPicPr>
        <p:blipFill rotWithShape="1">
          <a:blip r:embed="rId3">
            <a:duotone>
              <a:prstClr val="black"/>
              <a:schemeClr val="accent3">
                <a:tint val="45000"/>
                <a:satMod val="400000"/>
              </a:schemeClr>
            </a:duotone>
            <a:extLst>
              <a:ext uri="{28A0092B-C50C-407E-A947-70E740481C1C}">
                <a14:useLocalDpi xmlns:a14="http://schemas.microsoft.com/office/drawing/2010/main" val="0"/>
              </a:ext>
            </a:extLst>
          </a:blip>
          <a:srcRect l="17921"/>
          <a:stretch/>
        </p:blipFill>
        <p:spPr>
          <a:xfrm>
            <a:off x="0" y="0"/>
            <a:ext cx="10007080" cy="6858000"/>
          </a:xfrm>
          <a:prstGeom prst="rect">
            <a:avLst/>
          </a:prstGeom>
        </p:spPr>
      </p:pic>
      <p:sp>
        <p:nvSpPr>
          <p:cNvPr id="20" name="箭头: 五边形 6">
            <a:extLst/>
          </p:cNvPr>
          <p:cNvSpPr/>
          <p:nvPr/>
        </p:nvSpPr>
        <p:spPr>
          <a:xfrm rot="10800000" flipH="1">
            <a:off x="0" y="404813"/>
            <a:ext cx="7248128" cy="1344612"/>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grpSp>
        <p:nvGrpSpPr>
          <p:cNvPr id="35845" name="组合 22"/>
          <p:cNvGrpSpPr>
            <a:grpSpLocks/>
          </p:cNvGrpSpPr>
          <p:nvPr/>
        </p:nvGrpSpPr>
        <p:grpSpPr bwMode="auto">
          <a:xfrm>
            <a:off x="196850" y="404813"/>
            <a:ext cx="6272213" cy="1120775"/>
            <a:chOff x="-101400" y="2876417"/>
            <a:chExt cx="5285364" cy="1120760"/>
          </a:xfrm>
        </p:grpSpPr>
        <p:sp>
          <p:nvSpPr>
            <p:cNvPr id="25613" name="文本框 13">
              <a:extLst/>
            </p:cNvPr>
            <p:cNvSpPr txBox="1">
              <a:spLocks noChangeArrowheads="1"/>
            </p:cNvSpPr>
            <p:nvPr/>
          </p:nvSpPr>
          <p:spPr bwMode="auto">
            <a:xfrm>
              <a:off x="-101400" y="2876417"/>
              <a:ext cx="1343079" cy="825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600" b="1">
                  <a:solidFill>
                    <a:srgbClr val="010101"/>
                  </a:solidFill>
                  <a:latin typeface="+mn-lt"/>
                  <a:ea typeface="+mn-ea"/>
                  <a:cs typeface="+mn-ea"/>
                  <a:sym typeface="+mn-lt"/>
                </a:rPr>
                <a:t>PART</a:t>
              </a:r>
            </a:p>
          </p:txBody>
        </p:sp>
        <p:sp>
          <p:nvSpPr>
            <p:cNvPr id="25614" name="文本框 14">
              <a:extLst/>
            </p:cNvPr>
            <p:cNvSpPr txBox="1">
              <a:spLocks noChangeArrowheads="1"/>
            </p:cNvSpPr>
            <p:nvPr/>
          </p:nvSpPr>
          <p:spPr bwMode="auto">
            <a:xfrm>
              <a:off x="2321226" y="3201919"/>
              <a:ext cx="2862738" cy="661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b="1">
                  <a:solidFill>
                    <a:srgbClr val="010101"/>
                  </a:solidFill>
                  <a:latin typeface="+mn-ea"/>
                  <a:ea typeface="+mn-ea"/>
                  <a:cs typeface="+mn-ea"/>
                  <a:sym typeface="+mn-lt"/>
                </a:rPr>
                <a:t>慢性肾病猫的治疗</a:t>
              </a:r>
              <a:endParaRPr lang="en-US" altLang="zh-CN" b="1">
                <a:solidFill>
                  <a:srgbClr val="010101"/>
                </a:solidFill>
                <a:latin typeface="+mn-ea"/>
                <a:ea typeface="+mn-ea"/>
                <a:cs typeface="+mn-ea"/>
                <a:sym typeface="+mn-lt"/>
              </a:endParaRPr>
            </a:p>
          </p:txBody>
        </p:sp>
        <p:cxnSp>
          <p:nvCxnSpPr>
            <p:cNvPr id="24" name="直接连接符 23">
              <a:extLst/>
            </p:cNvPr>
            <p:cNvCxnSpPr>
              <a:cxnSpLocks/>
            </p:cNvCxnSpPr>
            <p:nvPr/>
          </p:nvCxnSpPr>
          <p:spPr>
            <a:xfrm flipH="1">
              <a:off x="489876" y="3171688"/>
              <a:ext cx="1074196" cy="722302"/>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5616" name="矩形 20">
              <a:extLst/>
            </p:cNvPr>
            <p:cNvSpPr>
              <a:spLocks noChangeArrowheads="1"/>
            </p:cNvSpPr>
            <p:nvPr/>
          </p:nvSpPr>
          <p:spPr bwMode="auto">
            <a:xfrm>
              <a:off x="618298" y="3473309"/>
              <a:ext cx="1577182" cy="523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lvl="1">
                <a:lnSpc>
                  <a:spcPct val="100000"/>
                </a:lnSpc>
                <a:spcBef>
                  <a:spcPct val="0"/>
                </a:spcBef>
                <a:buFontTx/>
                <a:buNone/>
                <a:defRPr/>
              </a:pPr>
              <a:r>
                <a:rPr lang="en-US" altLang="zh-CN" sz="2800" b="1">
                  <a:solidFill>
                    <a:srgbClr val="010101"/>
                  </a:solidFill>
                  <a:latin typeface="+mn-lt"/>
                  <a:ea typeface="+mn-ea"/>
                  <a:cs typeface="+mn-ea"/>
                  <a:sym typeface="+mn-lt"/>
                </a:rPr>
                <a:t>THREE</a:t>
              </a:r>
              <a:endParaRPr lang="zh-CN" altLang="en-US" sz="1400">
                <a:latin typeface="+mn-lt"/>
                <a:ea typeface="+mn-ea"/>
                <a:cs typeface="+mn-ea"/>
                <a:sym typeface="+mn-lt"/>
              </a:endParaRPr>
            </a:p>
          </p:txBody>
        </p:sp>
      </p:grpSp>
      <p:sp>
        <p:nvSpPr>
          <p:cNvPr id="2" name="文本框 1">
            <a:extLst>
              <a:ext uri="{FF2B5EF4-FFF2-40B4-BE49-F238E27FC236}">
                <a16:creationId xmlns:a16="http://schemas.microsoft.com/office/drawing/2014/main" id="{8C167C1C-50B6-46B8-B24A-9CB126B44CCC}"/>
              </a:ext>
            </a:extLst>
          </p:cNvPr>
          <p:cNvSpPr txBox="1"/>
          <p:nvPr/>
        </p:nvSpPr>
        <p:spPr>
          <a:xfrm>
            <a:off x="2711624" y="2074933"/>
            <a:ext cx="4248471" cy="3631763"/>
          </a:xfrm>
          <a:prstGeom prst="rect">
            <a:avLst/>
          </a:prstGeom>
          <a:noFill/>
        </p:spPr>
        <p:txBody>
          <a:bodyPr wrap="square" rtlCol="0">
            <a:spAutoFit/>
          </a:bodyPr>
          <a:lstStyle/>
          <a:p>
            <a:r>
              <a:rPr lang="zh-CN" altLang="en-US" sz="11500">
                <a:solidFill>
                  <a:schemeClr val="bg1"/>
                </a:solidFill>
                <a:effectLst>
                  <a:outerShdw blurRad="38100" dist="38100" dir="2700000" algn="tl">
                    <a:srgbClr val="000000">
                      <a:alpha val="43137"/>
                    </a:srgbClr>
                  </a:outerShdw>
                </a:effectLst>
              </a:rPr>
              <a:t>提问休息</a:t>
            </a:r>
          </a:p>
        </p:txBody>
      </p:sp>
      <p:sp>
        <p:nvSpPr>
          <p:cNvPr id="5" name="矩形 4">
            <a:extLst>
              <a:ext uri="{FF2B5EF4-FFF2-40B4-BE49-F238E27FC236}">
                <a16:creationId xmlns:a16="http://schemas.microsoft.com/office/drawing/2014/main" id="{D589BC68-3980-4B2B-9543-62B3A3E77045}"/>
              </a:ext>
            </a:extLst>
          </p:cNvPr>
          <p:cNvSpPr/>
          <p:nvPr/>
        </p:nvSpPr>
        <p:spPr>
          <a:xfrm>
            <a:off x="5951984" y="2924944"/>
            <a:ext cx="3110616" cy="1862048"/>
          </a:xfrm>
          <a:prstGeom prst="rect">
            <a:avLst/>
          </a:prstGeom>
        </p:spPr>
        <p:txBody>
          <a:bodyPr wrap="square">
            <a:spAutoFit/>
          </a:bodyPr>
          <a:lstStyle/>
          <a:p>
            <a:r>
              <a:rPr lang="zh-CN" altLang="en-US" sz="11500">
                <a:solidFill>
                  <a:schemeClr val="bg1"/>
                </a:solidFill>
                <a:effectLst>
                  <a:outerShdw blurRad="38100" dist="38100" dir="2700000" algn="tl">
                    <a:srgbClr val="000000">
                      <a:alpha val="43137"/>
                    </a:srgbClr>
                  </a:outerShdw>
                </a:effectLst>
              </a:rPr>
              <a:t>时间</a:t>
            </a:r>
            <a:endParaRPr lang="zh-CN" altLang="en-US" sz="200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959595"/>
        </a:solidFill>
        <a:effectLst/>
      </p:bgPr>
    </p:bg>
    <p:spTree>
      <p:nvGrpSpPr>
        <p:cNvPr id="1" name=""/>
        <p:cNvGrpSpPr/>
        <p:nvPr/>
      </p:nvGrpSpPr>
      <p:grpSpPr>
        <a:xfrm>
          <a:off x="0" y="0"/>
          <a:ext cx="0" cy="0"/>
          <a:chOff x="0" y="0"/>
          <a:chExt cx="0" cy="0"/>
        </a:xfrm>
      </p:grpSpPr>
      <p:pic>
        <p:nvPicPr>
          <p:cNvPr id="3" name="图片 2">
            <a:extLst/>
          </p:cNvPr>
          <p:cNvPicPr>
            <a:picLocks noChangeAspect="1"/>
          </p:cNvPicPr>
          <p:nvPr/>
        </p:nvPicPr>
        <p:blipFill rotWithShape="1">
          <a:blip r:embed="rId3">
            <a:duotone>
              <a:prstClr val="black"/>
              <a:schemeClr val="accent3">
                <a:tint val="45000"/>
                <a:satMod val="400000"/>
              </a:schemeClr>
            </a:duotone>
            <a:extLst>
              <a:ext uri="{28A0092B-C50C-407E-A947-70E740481C1C}">
                <a14:useLocalDpi xmlns:a14="http://schemas.microsoft.com/office/drawing/2010/main" val="0"/>
              </a:ext>
            </a:extLst>
          </a:blip>
          <a:srcRect l="17921"/>
          <a:stretch/>
        </p:blipFill>
        <p:spPr>
          <a:xfrm>
            <a:off x="34663" y="0"/>
            <a:ext cx="10007080" cy="6858000"/>
          </a:xfrm>
          <a:prstGeom prst="rect">
            <a:avLst/>
          </a:prstGeom>
        </p:spPr>
      </p:pic>
      <p:sp>
        <p:nvSpPr>
          <p:cNvPr id="4" name="矩形 3">
            <a:extLst/>
          </p:cNvPr>
          <p:cNvSpPr/>
          <p:nvPr/>
        </p:nvSpPr>
        <p:spPr>
          <a:xfrm>
            <a:off x="6096001" y="1916676"/>
            <a:ext cx="5759822" cy="4717916"/>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sp>
        <p:nvSpPr>
          <p:cNvPr id="20" name="箭头: 五边形 6">
            <a:extLst/>
          </p:cNvPr>
          <p:cNvSpPr/>
          <p:nvPr/>
        </p:nvSpPr>
        <p:spPr>
          <a:xfrm rot="10800000" flipH="1">
            <a:off x="0" y="404813"/>
            <a:ext cx="7392144" cy="1344612"/>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grpSp>
        <p:nvGrpSpPr>
          <p:cNvPr id="35845" name="组合 22"/>
          <p:cNvGrpSpPr>
            <a:grpSpLocks/>
          </p:cNvGrpSpPr>
          <p:nvPr/>
        </p:nvGrpSpPr>
        <p:grpSpPr bwMode="auto">
          <a:xfrm>
            <a:off x="196850" y="404813"/>
            <a:ext cx="6599175" cy="1614735"/>
            <a:chOff x="-101400" y="2876417"/>
            <a:chExt cx="5049619" cy="1614713"/>
          </a:xfrm>
        </p:grpSpPr>
        <p:sp>
          <p:nvSpPr>
            <p:cNvPr id="25613" name="文本框 13">
              <a:extLst/>
            </p:cNvPr>
            <p:cNvSpPr txBox="1">
              <a:spLocks noChangeArrowheads="1"/>
            </p:cNvSpPr>
            <p:nvPr/>
          </p:nvSpPr>
          <p:spPr bwMode="auto">
            <a:xfrm>
              <a:off x="-101400" y="2876417"/>
              <a:ext cx="1343079" cy="825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600" b="1">
                  <a:solidFill>
                    <a:srgbClr val="010101"/>
                  </a:solidFill>
                  <a:latin typeface="+mn-lt"/>
                  <a:ea typeface="+mn-ea"/>
                  <a:cs typeface="+mn-ea"/>
                  <a:sym typeface="+mn-lt"/>
                </a:rPr>
                <a:t>PART</a:t>
              </a:r>
            </a:p>
          </p:txBody>
        </p:sp>
        <p:sp>
          <p:nvSpPr>
            <p:cNvPr id="25614" name="文本框 14">
              <a:extLst/>
            </p:cNvPr>
            <p:cNvSpPr txBox="1">
              <a:spLocks noChangeArrowheads="1"/>
            </p:cNvSpPr>
            <p:nvPr/>
          </p:nvSpPr>
          <p:spPr bwMode="auto">
            <a:xfrm>
              <a:off x="2085481" y="3182264"/>
              <a:ext cx="2862738" cy="1308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b="1">
                  <a:solidFill>
                    <a:srgbClr val="010101"/>
                  </a:solidFill>
                  <a:latin typeface="+mn-ea"/>
                  <a:ea typeface="+mn-ea"/>
                  <a:cs typeface="+mn-ea"/>
                  <a:sym typeface="+mn-lt"/>
                </a:rPr>
                <a:t>慢性肾病：三期及四期</a:t>
              </a:r>
              <a:endParaRPr lang="en-US" altLang="zh-CN" b="1">
                <a:solidFill>
                  <a:srgbClr val="010101"/>
                </a:solidFill>
                <a:latin typeface="+mn-ea"/>
                <a:ea typeface="+mn-ea"/>
                <a:cs typeface="+mn-ea"/>
                <a:sym typeface="+mn-lt"/>
              </a:endParaRPr>
            </a:p>
          </p:txBody>
        </p:sp>
        <p:cxnSp>
          <p:nvCxnSpPr>
            <p:cNvPr id="24" name="直接连接符 23">
              <a:extLst/>
            </p:cNvPr>
            <p:cNvCxnSpPr>
              <a:cxnSpLocks/>
            </p:cNvCxnSpPr>
            <p:nvPr/>
          </p:nvCxnSpPr>
          <p:spPr>
            <a:xfrm flipH="1">
              <a:off x="489876" y="3171688"/>
              <a:ext cx="1074196" cy="722302"/>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5616" name="矩形 20">
              <a:extLst/>
            </p:cNvPr>
            <p:cNvSpPr>
              <a:spLocks noChangeArrowheads="1"/>
            </p:cNvSpPr>
            <p:nvPr/>
          </p:nvSpPr>
          <p:spPr bwMode="auto">
            <a:xfrm>
              <a:off x="618298" y="3473309"/>
              <a:ext cx="1577182" cy="523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lvl="1">
                <a:lnSpc>
                  <a:spcPct val="100000"/>
                </a:lnSpc>
                <a:spcBef>
                  <a:spcPct val="0"/>
                </a:spcBef>
                <a:buFontTx/>
                <a:buNone/>
                <a:defRPr/>
              </a:pPr>
              <a:r>
                <a:rPr lang="en-US" altLang="zh-CN" sz="2800" b="1">
                  <a:solidFill>
                    <a:srgbClr val="010101"/>
                  </a:solidFill>
                  <a:latin typeface="+mn-lt"/>
                  <a:ea typeface="+mn-ea"/>
                  <a:cs typeface="+mn-ea"/>
                  <a:sym typeface="+mn-lt"/>
                </a:rPr>
                <a:t>THREE</a:t>
              </a:r>
              <a:endParaRPr lang="zh-CN" altLang="en-US" sz="1400">
                <a:latin typeface="+mn-lt"/>
                <a:ea typeface="+mn-ea"/>
                <a:cs typeface="+mn-ea"/>
                <a:sym typeface="+mn-lt"/>
              </a:endParaRPr>
            </a:p>
          </p:txBody>
        </p:sp>
      </p:grpSp>
      <p:grpSp>
        <p:nvGrpSpPr>
          <p:cNvPr id="35846" name="组合 1"/>
          <p:cNvGrpSpPr>
            <a:grpSpLocks/>
          </p:cNvGrpSpPr>
          <p:nvPr/>
        </p:nvGrpSpPr>
        <p:grpSpPr bwMode="auto">
          <a:xfrm>
            <a:off x="6401199" y="2074933"/>
            <a:ext cx="5369428" cy="5907999"/>
            <a:chOff x="6931323" y="2608336"/>
            <a:chExt cx="4672106" cy="5605603"/>
          </a:xfrm>
        </p:grpSpPr>
        <p:grpSp>
          <p:nvGrpSpPr>
            <p:cNvPr id="35847" name="组合 14"/>
            <p:cNvGrpSpPr>
              <a:grpSpLocks/>
            </p:cNvGrpSpPr>
            <p:nvPr/>
          </p:nvGrpSpPr>
          <p:grpSpPr bwMode="auto">
            <a:xfrm>
              <a:off x="6931323" y="2608336"/>
              <a:ext cx="4500246" cy="1142065"/>
              <a:chOff x="3936148" y="1692543"/>
              <a:chExt cx="4500246" cy="1142065"/>
            </a:xfrm>
          </p:grpSpPr>
          <p:sp>
            <p:nvSpPr>
              <p:cNvPr id="25" name="文本框 66">
                <a:extLst/>
              </p:cNvPr>
              <p:cNvSpPr txBox="1">
                <a:spLocks noChangeArrowheads="1"/>
              </p:cNvSpPr>
              <p:nvPr/>
            </p:nvSpPr>
            <p:spPr bwMode="auto">
              <a:xfrm>
                <a:off x="3966309" y="1692543"/>
                <a:ext cx="4258962" cy="438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spcBef>
                    <a:spcPts val="0"/>
                  </a:spcBef>
                  <a:spcAft>
                    <a:spcPts val="0"/>
                  </a:spcAft>
                  <a:defRPr/>
                </a:pPr>
                <a:r>
                  <a:rPr lang="zh-CN" altLang="en-US" sz="2400" b="1" kern="0">
                    <a:solidFill>
                      <a:srgbClr val="4F4F4F"/>
                    </a:solidFill>
                    <a:effectLst>
                      <a:outerShdw blurRad="38100" dist="38100" dir="2700000" algn="tl">
                        <a:srgbClr val="000000">
                          <a:alpha val="43137"/>
                        </a:srgbClr>
                      </a:outerShdw>
                    </a:effectLst>
                    <a:latin typeface="+mn-lt"/>
                    <a:ea typeface="+mn-ea"/>
                    <a:cs typeface="+mn-ea"/>
                    <a:sym typeface="+mn-lt"/>
                  </a:rPr>
                  <a:t>确诊三期到四期肾病</a:t>
                </a:r>
              </a:p>
            </p:txBody>
          </p:sp>
          <p:sp>
            <p:nvSpPr>
              <p:cNvPr id="26" name="矩形 25">
                <a:extLst/>
              </p:cNvPr>
              <p:cNvSpPr/>
              <p:nvPr/>
            </p:nvSpPr>
            <p:spPr>
              <a:xfrm>
                <a:off x="3936148" y="2133752"/>
                <a:ext cx="4500246" cy="700856"/>
              </a:xfrm>
              <a:prstGeom prst="rect">
                <a:avLst/>
              </a:prstGeom>
            </p:spPr>
            <p:txBody>
              <a:bodyPr>
                <a:spAutoFit/>
              </a:bodyPr>
              <a:lstStyle/>
              <a:p>
                <a:pPr eaLnBrk="1" fontAlgn="auto" hangingPunct="1">
                  <a:spcBef>
                    <a:spcPts val="0"/>
                  </a:spcBef>
                  <a:spcAft>
                    <a:spcPts val="0"/>
                  </a:spcAft>
                  <a:defRPr/>
                </a:pPr>
                <a:r>
                  <a:rPr lang="zh-CN" altLang="en-US" sz="1400" kern="0">
                    <a:solidFill>
                      <a:srgbClr val="4F4F4F"/>
                    </a:solidFill>
                    <a:latin typeface="+mn-lt"/>
                    <a:ea typeface="+mn-ea"/>
                    <a:cs typeface="+mn-ea"/>
                    <a:sym typeface="+mn-lt"/>
                  </a:rPr>
                  <a:t>三期：肌酐 </a:t>
                </a:r>
                <a:r>
                  <a:rPr lang="en-US" altLang="zh-CN" sz="1400" kern="0">
                    <a:solidFill>
                      <a:srgbClr val="4F4F4F"/>
                    </a:solidFill>
                    <a:latin typeface="+mn-lt"/>
                    <a:ea typeface="+mn-ea"/>
                    <a:cs typeface="+mn-ea"/>
                    <a:sym typeface="+mn-lt"/>
                  </a:rPr>
                  <a:t>250-440</a:t>
                </a:r>
                <a:r>
                  <a:rPr lang="el-GR" altLang="zh-CN" sz="1400" kern="0">
                    <a:solidFill>
                      <a:srgbClr val="4F4F4F"/>
                    </a:solidFill>
                    <a:latin typeface="+mn-lt"/>
                    <a:ea typeface="+mn-ea"/>
                    <a:cs typeface="+mn-ea"/>
                    <a:sym typeface="+mn-lt"/>
                  </a:rPr>
                  <a:t>μ</a:t>
                </a:r>
                <a:r>
                  <a:rPr lang="en-US" altLang="zh-CN" sz="1400" kern="0">
                    <a:solidFill>
                      <a:srgbClr val="4F4F4F"/>
                    </a:solidFill>
                    <a:latin typeface="+mn-lt"/>
                    <a:ea typeface="+mn-ea"/>
                    <a:cs typeface="+mn-ea"/>
                    <a:sym typeface="+mn-lt"/>
                  </a:rPr>
                  <a:t>mol/L</a:t>
                </a:r>
                <a:r>
                  <a:rPr lang="zh-CN" altLang="en-US" sz="1400" kern="0">
                    <a:solidFill>
                      <a:srgbClr val="4F4F4F"/>
                    </a:solidFill>
                    <a:latin typeface="+mn-lt"/>
                    <a:ea typeface="+mn-ea"/>
                    <a:cs typeface="+mn-ea"/>
                    <a:sym typeface="+mn-lt"/>
                  </a:rPr>
                  <a:t>，或</a:t>
                </a:r>
                <a:r>
                  <a:rPr lang="en-US" altLang="zh-CN" sz="1400" kern="0">
                    <a:solidFill>
                      <a:srgbClr val="4F4F4F"/>
                    </a:solidFill>
                    <a:latin typeface="+mn-lt"/>
                    <a:ea typeface="+mn-ea"/>
                    <a:cs typeface="+mn-ea"/>
                    <a:sym typeface="+mn-lt"/>
                  </a:rPr>
                  <a:t>2.9mg/dl-5.0mg/dl</a:t>
                </a:r>
              </a:p>
              <a:p>
                <a:pPr eaLnBrk="1" fontAlgn="auto" hangingPunct="1">
                  <a:spcBef>
                    <a:spcPts val="0"/>
                  </a:spcBef>
                  <a:spcAft>
                    <a:spcPts val="0"/>
                  </a:spcAft>
                  <a:defRPr/>
                </a:pPr>
                <a:r>
                  <a:rPr lang="zh-CN" altLang="en-US" sz="1400" kern="0">
                    <a:solidFill>
                      <a:srgbClr val="4F4F4F"/>
                    </a:solidFill>
                    <a:latin typeface="+mn-ea"/>
                    <a:ea typeface="+mn-ea"/>
                    <a:cs typeface="+mn-ea"/>
                    <a:sym typeface="+mn-lt"/>
                  </a:rPr>
                  <a:t>四期：肌酐 ＞</a:t>
                </a:r>
                <a:r>
                  <a:rPr lang="en-US" altLang="zh-CN" sz="1400" kern="0">
                    <a:solidFill>
                      <a:srgbClr val="4F4F4F"/>
                    </a:solidFill>
                    <a:latin typeface="+mn-ea"/>
                    <a:ea typeface="+mn-ea"/>
                    <a:cs typeface="+mn-ea"/>
                    <a:sym typeface="+mn-lt"/>
                  </a:rPr>
                  <a:t>440</a:t>
                </a:r>
                <a:r>
                  <a:rPr lang="el-GR" altLang="zh-CN" sz="1400" kern="0">
                    <a:solidFill>
                      <a:srgbClr val="4F4F4F"/>
                    </a:solidFill>
                    <a:latin typeface="+mn-ea"/>
                    <a:ea typeface="+mn-ea"/>
                    <a:cs typeface="+mn-ea"/>
                    <a:sym typeface="+mn-lt"/>
                  </a:rPr>
                  <a:t> μ</a:t>
                </a:r>
                <a:r>
                  <a:rPr lang="en-US" altLang="zh-CN" sz="1400" kern="0">
                    <a:solidFill>
                      <a:srgbClr val="4F4F4F"/>
                    </a:solidFill>
                    <a:latin typeface="+mn-ea"/>
                    <a:ea typeface="+mn-ea"/>
                    <a:cs typeface="+mn-ea"/>
                    <a:sym typeface="+mn-lt"/>
                  </a:rPr>
                  <a:t>mol/L</a:t>
                </a:r>
                <a:r>
                  <a:rPr lang="zh-CN" altLang="en-US" sz="1400" kern="0">
                    <a:solidFill>
                      <a:srgbClr val="4F4F4F"/>
                    </a:solidFill>
                    <a:latin typeface="+mn-ea"/>
                    <a:ea typeface="+mn-ea"/>
                    <a:cs typeface="+mn-ea"/>
                    <a:sym typeface="+mn-lt"/>
                  </a:rPr>
                  <a:t>，或＞</a:t>
                </a:r>
                <a:r>
                  <a:rPr lang="en-US" altLang="zh-CN" sz="1400" kern="0">
                    <a:solidFill>
                      <a:srgbClr val="4F4F4F"/>
                    </a:solidFill>
                    <a:latin typeface="+mn-ea"/>
                    <a:ea typeface="+mn-ea"/>
                    <a:cs typeface="+mn-ea"/>
                    <a:sym typeface="+mn-lt"/>
                  </a:rPr>
                  <a:t>5.0mg/dl</a:t>
                </a:r>
              </a:p>
              <a:p>
                <a:pPr eaLnBrk="1" fontAlgn="auto" hangingPunct="1">
                  <a:spcBef>
                    <a:spcPts val="0"/>
                  </a:spcBef>
                  <a:spcAft>
                    <a:spcPts val="0"/>
                  </a:spcAft>
                  <a:defRPr/>
                </a:pPr>
                <a:endParaRPr lang="zh-CN" altLang="en-US" sz="1400" kern="0">
                  <a:solidFill>
                    <a:srgbClr val="4F4F4F"/>
                  </a:solidFill>
                  <a:latin typeface="+mn-lt"/>
                  <a:ea typeface="+mn-ea"/>
                  <a:cs typeface="+mn-ea"/>
                  <a:sym typeface="+mn-lt"/>
                </a:endParaRPr>
              </a:p>
            </p:txBody>
          </p:sp>
        </p:grpSp>
        <p:sp>
          <p:nvSpPr>
            <p:cNvPr id="21" name="矩形 3">
              <a:extLst/>
            </p:cNvPr>
            <p:cNvSpPr>
              <a:spLocks noChangeArrowheads="1"/>
            </p:cNvSpPr>
            <p:nvPr/>
          </p:nvSpPr>
          <p:spPr bwMode="auto">
            <a:xfrm>
              <a:off x="6931323" y="3703423"/>
              <a:ext cx="4470085"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sp>
          <p:nvSpPr>
            <p:cNvPr id="22" name="矩形 3">
              <a:extLst/>
            </p:cNvPr>
            <p:cNvSpPr>
              <a:spLocks noChangeArrowheads="1"/>
            </p:cNvSpPr>
            <p:nvPr/>
          </p:nvSpPr>
          <p:spPr bwMode="auto">
            <a:xfrm>
              <a:off x="6931323" y="4487442"/>
              <a:ext cx="4470085"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sp>
          <p:nvSpPr>
            <p:cNvPr id="23" name="矩形 3">
              <a:extLst/>
            </p:cNvPr>
            <p:cNvSpPr>
              <a:spLocks noChangeArrowheads="1"/>
            </p:cNvSpPr>
            <p:nvPr/>
          </p:nvSpPr>
          <p:spPr bwMode="auto">
            <a:xfrm>
              <a:off x="6931323" y="3483162"/>
              <a:ext cx="4672106" cy="4730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r>
                <a:rPr lang="zh-CN" altLang="en-US" sz="1800" kern="0">
                  <a:solidFill>
                    <a:srgbClr val="4F4F4F"/>
                  </a:solidFill>
                  <a:latin typeface="+mn-lt"/>
                  <a:ea typeface="+mn-ea"/>
                  <a:cs typeface="+mn-ea"/>
                  <a:sym typeface="+mn-lt"/>
                </a:rPr>
                <a:t>哪些问题这时需要关注？</a:t>
              </a:r>
              <a:endParaRPr lang="en-US" altLang="zh-CN" sz="1800" kern="0">
                <a:solidFill>
                  <a:srgbClr val="4F4F4F"/>
                </a:solidFill>
                <a:latin typeface="+mn-lt"/>
                <a:ea typeface="+mn-ea"/>
                <a:cs typeface="+mn-ea"/>
                <a:sym typeface="+mn-lt"/>
              </a:endParaRPr>
            </a:p>
            <a:p>
              <a:pPr eaLnBrk="1" fontAlgn="auto" hangingPunct="1">
                <a:lnSpc>
                  <a:spcPct val="100000"/>
                </a:lnSpc>
                <a:spcBef>
                  <a:spcPct val="0"/>
                </a:spcBef>
                <a:spcAft>
                  <a:spcPts val="0"/>
                </a:spcAft>
                <a:buFont typeface="Arial" panose="020B0604020202020204" pitchFamily="34" charset="0"/>
                <a:buNone/>
                <a:defRPr/>
              </a:pPr>
              <a:endParaRPr lang="en-US" altLang="zh-CN" sz="1800" kern="0">
                <a:solidFill>
                  <a:srgbClr val="4F4F4F"/>
                </a:solidFill>
                <a:latin typeface="+mn-lt"/>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Ø"/>
                <a:defRPr/>
              </a:pPr>
              <a:r>
                <a:rPr lang="zh-CN" altLang="en-US" sz="1800" kern="0">
                  <a:solidFill>
                    <a:srgbClr val="4F4F4F"/>
                  </a:solidFill>
                  <a:latin typeface="+mn-lt"/>
                  <a:ea typeface="+mn-ea"/>
                  <a:cs typeface="+mn-ea"/>
                  <a:sym typeface="+mn-lt"/>
                </a:rPr>
                <a:t>毒素调节</a:t>
              </a:r>
              <a:endParaRPr lang="en-US" altLang="zh-CN" sz="1800" kern="0">
                <a:solidFill>
                  <a:srgbClr val="4F4F4F"/>
                </a:solidFill>
                <a:latin typeface="+mn-lt"/>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Ø"/>
                <a:defRPr/>
              </a:pPr>
              <a:r>
                <a:rPr lang="zh-CN" altLang="en-US" sz="1800" kern="0">
                  <a:solidFill>
                    <a:srgbClr val="4F4F4F"/>
                  </a:solidFill>
                  <a:latin typeface="+mn-lt"/>
                  <a:ea typeface="+mn-ea"/>
                  <a:cs typeface="+mn-ea"/>
                  <a:sym typeface="+mn-lt"/>
                </a:rPr>
                <a:t>皮下补液</a:t>
              </a:r>
              <a:endParaRPr lang="en-US" altLang="zh-CN" sz="1800" kern="0">
                <a:solidFill>
                  <a:srgbClr val="4F4F4F"/>
                </a:solidFill>
                <a:latin typeface="+mn-lt"/>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Ø"/>
                <a:defRPr/>
              </a:pPr>
              <a:r>
                <a:rPr lang="zh-CN" altLang="en-US" sz="1800" kern="0">
                  <a:solidFill>
                    <a:srgbClr val="4F4F4F"/>
                  </a:solidFill>
                  <a:latin typeface="+mn-lt"/>
                  <a:ea typeface="+mn-ea"/>
                  <a:cs typeface="+mn-ea"/>
                  <a:sym typeface="+mn-lt"/>
                </a:rPr>
                <a:t>对付贫血</a:t>
              </a:r>
              <a:endParaRPr lang="en-US" altLang="zh-CN" sz="1800" kern="0">
                <a:solidFill>
                  <a:srgbClr val="4F4F4F"/>
                </a:solidFill>
                <a:latin typeface="+mn-lt"/>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Ø"/>
                <a:defRPr/>
              </a:pPr>
              <a:r>
                <a:rPr lang="zh-CN" altLang="en-US" sz="1800" kern="0">
                  <a:solidFill>
                    <a:srgbClr val="4F4F4F"/>
                  </a:solidFill>
                  <a:latin typeface="+mn-lt"/>
                  <a:ea typeface="+mn-ea"/>
                  <a:cs typeface="+mn-ea"/>
                  <a:sym typeface="+mn-lt"/>
                </a:rPr>
                <a:t>酸血症</a:t>
              </a:r>
              <a:endParaRPr lang="en-US" altLang="zh-CN" sz="1800" kern="0">
                <a:solidFill>
                  <a:srgbClr val="4F4F4F"/>
                </a:solidFill>
                <a:latin typeface="+mn-lt"/>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Ø"/>
                <a:defRPr/>
              </a:pPr>
              <a:r>
                <a:rPr lang="zh-CN" altLang="en-US" sz="1800" b="1" kern="0">
                  <a:solidFill>
                    <a:srgbClr val="4F4F4F"/>
                  </a:solidFill>
                  <a:latin typeface="+mn-lt"/>
                  <a:ea typeface="+mn-ea"/>
                  <a:cs typeface="+mn-ea"/>
                  <a:sym typeface="+mn-lt"/>
                </a:rPr>
                <a:t>保证食欲！</a:t>
              </a:r>
              <a:endParaRPr lang="en-US" altLang="zh-CN" sz="1800" b="1" kern="0">
                <a:solidFill>
                  <a:srgbClr val="4F4F4F"/>
                </a:solidFill>
                <a:latin typeface="+mn-lt"/>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Ø"/>
                <a:defRPr/>
              </a:pPr>
              <a:r>
                <a:rPr lang="zh-CN" altLang="en-US" sz="1800" kern="0">
                  <a:solidFill>
                    <a:srgbClr val="4F4F4F"/>
                  </a:solidFill>
                  <a:latin typeface="+mn-lt"/>
                  <a:ea typeface="+mn-ea"/>
                  <a:cs typeface="+mn-ea"/>
                  <a:sym typeface="+mn-lt"/>
                </a:rPr>
                <a:t>其它问题</a:t>
              </a:r>
              <a:endParaRPr lang="en-US" altLang="zh-CN" sz="1800" kern="0">
                <a:solidFill>
                  <a:srgbClr val="4F4F4F"/>
                </a:solidFill>
                <a:latin typeface="+mn-lt"/>
                <a:ea typeface="+mn-ea"/>
                <a:cs typeface="+mn-ea"/>
                <a:sym typeface="+mn-lt"/>
              </a:endParaRPr>
            </a:p>
            <a:p>
              <a:pPr marL="1085850" lvl="1" indent="-342900" eaLnBrk="1" fontAlgn="auto" hangingPunct="1">
                <a:lnSpc>
                  <a:spcPct val="100000"/>
                </a:lnSpc>
                <a:spcBef>
                  <a:spcPct val="0"/>
                </a:spcBef>
                <a:spcAft>
                  <a:spcPts val="0"/>
                </a:spcAft>
                <a:defRPr/>
              </a:pPr>
              <a:r>
                <a:rPr lang="en-US" altLang="zh-CN" sz="1400" kern="0">
                  <a:solidFill>
                    <a:srgbClr val="4F4F4F"/>
                  </a:solidFill>
                  <a:latin typeface="+mn-lt"/>
                  <a:ea typeface="+mn-ea"/>
                  <a:cs typeface="+mn-ea"/>
                  <a:sym typeface="+mn-lt"/>
                </a:rPr>
                <a:t>   </a:t>
              </a:r>
              <a:r>
                <a:rPr lang="zh-CN" altLang="en-US" sz="1600" kern="0">
                  <a:solidFill>
                    <a:srgbClr val="4F4F4F"/>
                  </a:solidFill>
                  <a:latin typeface="+mn-lt"/>
                  <a:ea typeface="+mn-ea"/>
                  <a:cs typeface="+mn-ea"/>
                  <a:sym typeface="+mn-lt"/>
                </a:rPr>
                <a:t>腹泻</a:t>
              </a:r>
              <a:endParaRPr lang="en-US" altLang="zh-CN" sz="1600" kern="0">
                <a:solidFill>
                  <a:srgbClr val="4F4F4F"/>
                </a:solidFill>
                <a:latin typeface="+mn-lt"/>
                <a:ea typeface="+mn-ea"/>
                <a:cs typeface="+mn-ea"/>
                <a:sym typeface="+mn-lt"/>
              </a:endParaRPr>
            </a:p>
            <a:p>
              <a:pPr marL="1085850" lvl="1" indent="-342900" eaLnBrk="1" fontAlgn="auto" hangingPunct="1">
                <a:lnSpc>
                  <a:spcPct val="100000"/>
                </a:lnSpc>
                <a:spcBef>
                  <a:spcPct val="0"/>
                </a:spcBef>
                <a:spcAft>
                  <a:spcPts val="0"/>
                </a:spcAft>
                <a:defRPr/>
              </a:pPr>
              <a:r>
                <a:rPr lang="zh-CN" altLang="en-US" sz="1600" kern="0">
                  <a:solidFill>
                    <a:srgbClr val="4F4F4F"/>
                  </a:solidFill>
                  <a:latin typeface="+mn-lt"/>
                  <a:ea typeface="+mn-ea"/>
                  <a:cs typeface="+mn-ea"/>
                  <a:sym typeface="+mn-lt"/>
                </a:rPr>
                <a:t>   口腔溃疡</a:t>
              </a:r>
              <a:endParaRPr lang="en-US" altLang="zh-CN" sz="1600" kern="0">
                <a:solidFill>
                  <a:srgbClr val="4F4F4F"/>
                </a:solidFill>
                <a:latin typeface="+mn-lt"/>
                <a:ea typeface="+mn-ea"/>
                <a:cs typeface="+mn-ea"/>
                <a:sym typeface="+mn-lt"/>
              </a:endParaRPr>
            </a:p>
            <a:p>
              <a:pPr marL="1085850" lvl="1" indent="-342900" eaLnBrk="1" fontAlgn="auto" hangingPunct="1">
                <a:lnSpc>
                  <a:spcPct val="100000"/>
                </a:lnSpc>
                <a:spcBef>
                  <a:spcPct val="0"/>
                </a:spcBef>
                <a:spcAft>
                  <a:spcPts val="0"/>
                </a:spcAft>
                <a:defRPr/>
              </a:pPr>
              <a:r>
                <a:rPr lang="zh-CN" altLang="en-US" sz="1600" kern="0">
                  <a:solidFill>
                    <a:srgbClr val="4F4F4F"/>
                  </a:solidFill>
                  <a:latin typeface="+mn-lt"/>
                  <a:ea typeface="+mn-ea"/>
                  <a:cs typeface="+mn-ea"/>
                  <a:sym typeface="+mn-lt"/>
                </a:rPr>
                <a:t>   便秘</a:t>
              </a:r>
              <a:endParaRPr lang="en-US" altLang="zh-CN" sz="1600" kern="0">
                <a:solidFill>
                  <a:srgbClr val="4F4F4F"/>
                </a:solidFill>
                <a:latin typeface="+mn-lt"/>
                <a:ea typeface="+mn-ea"/>
                <a:cs typeface="+mn-ea"/>
                <a:sym typeface="+mn-lt"/>
              </a:endParaRPr>
            </a:p>
            <a:p>
              <a:pPr marL="1085850" lvl="1" indent="-342900" eaLnBrk="1" fontAlgn="auto" hangingPunct="1">
                <a:lnSpc>
                  <a:spcPct val="100000"/>
                </a:lnSpc>
                <a:spcBef>
                  <a:spcPct val="0"/>
                </a:spcBef>
                <a:spcAft>
                  <a:spcPts val="0"/>
                </a:spcAft>
                <a:defRPr/>
              </a:pPr>
              <a:r>
                <a:rPr lang="en-US" altLang="zh-CN" sz="1600" kern="0">
                  <a:solidFill>
                    <a:srgbClr val="4F4F4F"/>
                  </a:solidFill>
                  <a:latin typeface="+mn-lt"/>
                  <a:ea typeface="+mn-ea"/>
                  <a:cs typeface="+mn-ea"/>
                  <a:sym typeface="+mn-lt"/>
                </a:rPr>
                <a:t>   </a:t>
              </a:r>
              <a:r>
                <a:rPr lang="zh-CN" altLang="en-US" sz="1600" kern="0">
                  <a:solidFill>
                    <a:srgbClr val="4F4F4F"/>
                  </a:solidFill>
                  <a:latin typeface="+mn-lt"/>
                  <a:ea typeface="+mn-ea"/>
                  <a:cs typeface="+mn-ea"/>
                  <a:sym typeface="+mn-lt"/>
                </a:rPr>
                <a:t>呕吐</a:t>
              </a:r>
              <a:endParaRPr lang="en-US" altLang="zh-CN" sz="1600" kern="0">
                <a:solidFill>
                  <a:srgbClr val="4F4F4F"/>
                </a:solidFill>
                <a:latin typeface="+mn-lt"/>
                <a:ea typeface="+mn-ea"/>
                <a:cs typeface="+mn-ea"/>
                <a:sym typeface="+mn-lt"/>
              </a:endParaRPr>
            </a:p>
            <a:p>
              <a:pPr marL="1085850" lvl="1" indent="-342900" eaLnBrk="1" fontAlgn="auto" hangingPunct="1">
                <a:lnSpc>
                  <a:spcPct val="100000"/>
                </a:lnSpc>
                <a:spcBef>
                  <a:spcPct val="0"/>
                </a:spcBef>
                <a:spcAft>
                  <a:spcPts val="0"/>
                </a:spcAft>
                <a:defRPr/>
              </a:pPr>
              <a:r>
                <a:rPr lang="zh-CN" altLang="en-US" sz="1600" kern="0">
                  <a:solidFill>
                    <a:srgbClr val="4F4F4F"/>
                  </a:solidFill>
                  <a:latin typeface="+mn-lt"/>
                  <a:ea typeface="+mn-ea"/>
                  <a:cs typeface="+mn-ea"/>
                  <a:sym typeface="+mn-lt"/>
                </a:rPr>
                <a:t>   尿路感染</a:t>
              </a:r>
              <a:endParaRPr lang="en-US" altLang="zh-CN" sz="1600" kern="0">
                <a:solidFill>
                  <a:srgbClr val="4F4F4F"/>
                </a:solidFill>
                <a:latin typeface="+mn-lt"/>
                <a:ea typeface="+mn-ea"/>
                <a:cs typeface="+mn-ea"/>
                <a:sym typeface="+mn-lt"/>
              </a:endParaRPr>
            </a:p>
            <a:p>
              <a:pPr eaLnBrk="1" fontAlgn="auto" hangingPunct="1">
                <a:lnSpc>
                  <a:spcPct val="100000"/>
                </a:lnSpc>
                <a:spcBef>
                  <a:spcPct val="0"/>
                </a:spcBef>
                <a:spcAft>
                  <a:spcPts val="0"/>
                </a:spcAft>
                <a:buNone/>
                <a:defRPr/>
              </a:pPr>
              <a:endParaRPr lang="en-US" altLang="zh-CN" sz="2000" b="1" kern="0">
                <a:solidFill>
                  <a:srgbClr val="4F4F4F"/>
                </a:solidFill>
                <a:latin typeface="+mn-lt"/>
                <a:ea typeface="+mn-ea"/>
                <a:cs typeface="+mn-ea"/>
                <a:sym typeface="+mn-lt"/>
              </a:endParaRPr>
            </a:p>
            <a:p>
              <a:pPr eaLnBrk="1" fontAlgn="auto" hangingPunct="1">
                <a:lnSpc>
                  <a:spcPct val="100000"/>
                </a:lnSpc>
                <a:spcBef>
                  <a:spcPct val="0"/>
                </a:spcBef>
                <a:spcAft>
                  <a:spcPts val="0"/>
                </a:spcAft>
                <a:buFont typeface="Arial" panose="020B0604020202020204" pitchFamily="34" charset="0"/>
                <a:buNone/>
                <a:defRPr/>
              </a:pPr>
              <a:endParaRPr lang="en-US" altLang="zh-CN" sz="1800" b="1" kern="0">
                <a:solidFill>
                  <a:srgbClr val="4F4F4F"/>
                </a:solidFill>
                <a:latin typeface="+mn-lt"/>
                <a:ea typeface="+mn-ea"/>
                <a:cs typeface="+mn-ea"/>
                <a:sym typeface="+mn-lt"/>
              </a:endParaRPr>
            </a:p>
            <a:p>
              <a:pPr eaLnBrk="1" fontAlgn="auto" hangingPunct="1">
                <a:lnSpc>
                  <a:spcPct val="100000"/>
                </a:lnSpc>
                <a:spcBef>
                  <a:spcPct val="0"/>
                </a:spcBef>
                <a:spcAft>
                  <a:spcPts val="0"/>
                </a:spcAft>
                <a:buFont typeface="Arial" panose="020B0604020202020204" pitchFamily="34" charset="0"/>
                <a:buNone/>
                <a:defRPr/>
              </a:pPr>
              <a:endParaRPr lang="en-US" altLang="zh-CN" sz="1800" b="1" kern="0">
                <a:solidFill>
                  <a:srgbClr val="C00000"/>
                </a:solidFill>
                <a:latin typeface="+mn-lt"/>
                <a:ea typeface="+mn-ea"/>
                <a:cs typeface="+mn-ea"/>
                <a:sym typeface="+mn-lt"/>
              </a:endParaRPr>
            </a:p>
            <a:p>
              <a:pPr eaLnBrk="1" fontAlgn="auto" hangingPunct="1">
                <a:lnSpc>
                  <a:spcPct val="100000"/>
                </a:lnSpc>
                <a:spcBef>
                  <a:spcPct val="0"/>
                </a:spcBef>
                <a:spcAft>
                  <a:spcPts val="0"/>
                </a:spcAft>
                <a:buFont typeface="Arial" panose="020B0604020202020204" pitchFamily="34" charset="0"/>
                <a:buNone/>
                <a:defRPr/>
              </a:pPr>
              <a:endParaRPr lang="en-US" altLang="zh-CN" sz="1800" b="1" kern="0">
                <a:solidFill>
                  <a:srgbClr val="C00000"/>
                </a:solidFill>
                <a:latin typeface="+mn-lt"/>
                <a:ea typeface="+mn-ea"/>
                <a:cs typeface="+mn-ea"/>
                <a:sym typeface="+mn-lt"/>
              </a:endParaRPr>
            </a:p>
            <a:p>
              <a:pPr eaLnBrk="1" fontAlgn="auto" hangingPunct="1">
                <a:lnSpc>
                  <a:spcPct val="100000"/>
                </a:lnSpc>
                <a:spcBef>
                  <a:spcPct val="0"/>
                </a:spcBef>
                <a:spcAft>
                  <a:spcPts val="0"/>
                </a:spcAft>
                <a:buFont typeface="Arial" panose="020B0604020202020204" pitchFamily="34" charset="0"/>
                <a:buNone/>
                <a:defRPr/>
              </a:pPr>
              <a:endParaRPr lang="zh-CN" altLang="en-US" sz="2000" b="1" kern="0">
                <a:solidFill>
                  <a:srgbClr val="4F4F4F"/>
                </a:solidFill>
                <a:latin typeface="+mn-lt"/>
                <a:ea typeface="+mn-ea"/>
                <a:cs typeface="+mn-ea"/>
                <a:sym typeface="+mn-lt"/>
              </a:endParaRPr>
            </a:p>
          </p:txBody>
        </p:sp>
      </p:grpSp>
      <p:sp>
        <p:nvSpPr>
          <p:cNvPr id="2" name="文本框 1">
            <a:extLst>
              <a:ext uri="{FF2B5EF4-FFF2-40B4-BE49-F238E27FC236}">
                <a16:creationId xmlns:a16="http://schemas.microsoft.com/office/drawing/2014/main" id="{8F76D65D-0EA7-479E-9D64-CF9ED1AEC5C8}"/>
              </a:ext>
            </a:extLst>
          </p:cNvPr>
          <p:cNvSpPr txBox="1"/>
          <p:nvPr/>
        </p:nvSpPr>
        <p:spPr>
          <a:xfrm>
            <a:off x="603225" y="2209878"/>
            <a:ext cx="5184576" cy="4339650"/>
          </a:xfrm>
          <a:prstGeom prst="rect">
            <a:avLst/>
          </a:prstGeom>
          <a:noFill/>
        </p:spPr>
        <p:txBody>
          <a:bodyPr wrap="square" rtlCol="0">
            <a:spAutoFit/>
          </a:bodyPr>
          <a:lstStyle/>
          <a:p>
            <a:r>
              <a:rPr lang="zh-CN" altLang="en-US" sz="3200" b="1">
                <a:solidFill>
                  <a:srgbClr val="FFC000"/>
                </a:solidFill>
                <a:effectLst>
                  <a:outerShdw blurRad="38100" dist="38100" dir="2700000" algn="tl">
                    <a:srgbClr val="000000">
                      <a:alpha val="43137"/>
                    </a:srgbClr>
                  </a:outerShdw>
                </a:effectLst>
                <a:latin typeface="+mj-ea"/>
                <a:ea typeface="+mj-ea"/>
              </a:rPr>
              <a:t>问自己这几个问题！</a:t>
            </a:r>
            <a:endParaRPr lang="en-US" altLang="zh-CN" sz="3200" b="1">
              <a:solidFill>
                <a:srgbClr val="FFC000"/>
              </a:solidFill>
              <a:effectLst>
                <a:outerShdw blurRad="38100" dist="38100" dir="2700000" algn="tl">
                  <a:srgbClr val="000000">
                    <a:alpha val="43137"/>
                  </a:srgbClr>
                </a:outerShdw>
              </a:effectLst>
              <a:latin typeface="+mj-ea"/>
              <a:ea typeface="+mj-ea"/>
            </a:endParaRPr>
          </a:p>
          <a:p>
            <a:endParaRPr lang="en-US" altLang="zh-CN" sz="2000">
              <a:solidFill>
                <a:schemeClr val="bg1"/>
              </a:solidFill>
              <a:effectLst>
                <a:outerShdw blurRad="38100" dist="38100" dir="2700000" algn="tl">
                  <a:srgbClr val="000000">
                    <a:alpha val="43137"/>
                  </a:srgbClr>
                </a:outerShdw>
              </a:effectLst>
              <a:latin typeface="+mj-ea"/>
              <a:ea typeface="+mj-ea"/>
            </a:endParaRPr>
          </a:p>
          <a:p>
            <a:pPr marL="285750" indent="-285750">
              <a:buFont typeface="Wingdings" panose="05000000000000000000" pitchFamily="2" charset="2"/>
              <a:buChar char="p"/>
            </a:pPr>
            <a:r>
              <a:rPr lang="zh-CN" altLang="en-US" sz="2000" b="1">
                <a:solidFill>
                  <a:schemeClr val="bg1"/>
                </a:solidFill>
                <a:effectLst>
                  <a:outerShdw blurRad="38100" dist="38100" dir="2700000" algn="tl">
                    <a:srgbClr val="000000">
                      <a:alpha val="43137"/>
                    </a:srgbClr>
                  </a:outerShdw>
                </a:effectLst>
                <a:latin typeface="+mj-ea"/>
                <a:ea typeface="+mj-ea"/>
              </a:rPr>
              <a:t>二期时就该检查的现在有在查吗？</a:t>
            </a:r>
            <a:endParaRPr lang="en-US" altLang="zh-CN" sz="2000" b="1">
              <a:solidFill>
                <a:schemeClr val="bg1"/>
              </a:solidFill>
              <a:effectLst>
                <a:outerShdw blurRad="38100" dist="38100" dir="2700000" algn="tl">
                  <a:srgbClr val="000000">
                    <a:alpha val="43137"/>
                  </a:srgbClr>
                </a:outerShdw>
              </a:effectLst>
              <a:latin typeface="+mj-ea"/>
              <a:ea typeface="+mj-ea"/>
            </a:endParaRPr>
          </a:p>
          <a:p>
            <a:pPr marL="342900" indent="-342900">
              <a:buFont typeface="Arial" panose="020B0604020202020204" pitchFamily="34" charset="0"/>
              <a:buChar char="•"/>
            </a:pPr>
            <a:r>
              <a:rPr lang="zh-CN" altLang="en-US" sz="1600" b="1">
                <a:solidFill>
                  <a:schemeClr val="bg1"/>
                </a:solidFill>
                <a:effectLst>
                  <a:outerShdw blurRad="38100" dist="38100" dir="2700000" algn="tl">
                    <a:srgbClr val="000000">
                      <a:alpha val="43137"/>
                    </a:srgbClr>
                  </a:outerShdw>
                </a:effectLst>
                <a:latin typeface="+mj-ea"/>
                <a:ea typeface="+mj-ea"/>
              </a:rPr>
              <a:t>蛋白尿</a:t>
            </a:r>
            <a:endParaRPr lang="en-US" altLang="zh-CN" sz="1600" b="1">
              <a:solidFill>
                <a:schemeClr val="bg1"/>
              </a:solidFill>
              <a:effectLst>
                <a:outerShdw blurRad="38100" dist="38100" dir="2700000" algn="tl">
                  <a:srgbClr val="000000">
                    <a:alpha val="43137"/>
                  </a:srgbClr>
                </a:outerShdw>
              </a:effectLst>
              <a:latin typeface="+mj-ea"/>
              <a:ea typeface="+mj-ea"/>
            </a:endParaRPr>
          </a:p>
          <a:p>
            <a:pPr marL="342900" indent="-342900">
              <a:buFont typeface="Arial" panose="020B0604020202020204" pitchFamily="34" charset="0"/>
              <a:buChar char="•"/>
            </a:pPr>
            <a:r>
              <a:rPr lang="zh-CN" altLang="en-US" sz="1600" b="1">
                <a:solidFill>
                  <a:schemeClr val="bg1"/>
                </a:solidFill>
                <a:effectLst>
                  <a:outerShdw blurRad="38100" dist="38100" dir="2700000" algn="tl">
                    <a:srgbClr val="000000">
                      <a:alpha val="43137"/>
                    </a:srgbClr>
                  </a:outerShdw>
                </a:effectLst>
                <a:latin typeface="+mj-ea"/>
                <a:ea typeface="+mj-ea"/>
              </a:rPr>
              <a:t>血钾</a:t>
            </a:r>
            <a:endParaRPr lang="en-US" altLang="zh-CN" sz="1600" b="1">
              <a:solidFill>
                <a:schemeClr val="bg1"/>
              </a:solidFill>
              <a:effectLst>
                <a:outerShdw blurRad="38100" dist="38100" dir="2700000" algn="tl">
                  <a:srgbClr val="000000">
                    <a:alpha val="43137"/>
                  </a:srgbClr>
                </a:outerShdw>
              </a:effectLst>
              <a:latin typeface="+mj-ea"/>
              <a:ea typeface="+mj-ea"/>
            </a:endParaRPr>
          </a:p>
          <a:p>
            <a:pPr marL="342900" indent="-342900">
              <a:buFont typeface="Arial" panose="020B0604020202020204" pitchFamily="34" charset="0"/>
              <a:buChar char="•"/>
            </a:pPr>
            <a:r>
              <a:rPr lang="zh-CN" altLang="en-US" sz="1600" b="1">
                <a:solidFill>
                  <a:schemeClr val="bg1"/>
                </a:solidFill>
                <a:effectLst>
                  <a:outerShdw blurRad="38100" dist="38100" dir="2700000" algn="tl">
                    <a:srgbClr val="000000">
                      <a:alpha val="43137"/>
                    </a:srgbClr>
                  </a:outerShdw>
                </a:effectLst>
                <a:latin typeface="+mj-ea"/>
                <a:ea typeface="+mj-ea"/>
              </a:rPr>
              <a:t>血压</a:t>
            </a:r>
            <a:endParaRPr lang="en-US" altLang="zh-CN" sz="1600" b="1">
              <a:solidFill>
                <a:schemeClr val="bg1"/>
              </a:solidFill>
              <a:effectLst>
                <a:outerShdw blurRad="38100" dist="38100" dir="2700000" algn="tl">
                  <a:srgbClr val="000000">
                    <a:alpha val="43137"/>
                  </a:srgbClr>
                </a:outerShdw>
              </a:effectLst>
              <a:latin typeface="+mj-ea"/>
              <a:ea typeface="+mj-ea"/>
            </a:endParaRPr>
          </a:p>
          <a:p>
            <a:pPr marL="342900" indent="-342900">
              <a:buFont typeface="Arial" panose="020B0604020202020204" pitchFamily="34" charset="0"/>
              <a:buChar char="•"/>
            </a:pPr>
            <a:r>
              <a:rPr lang="zh-CN" altLang="en-US" sz="1600" b="1">
                <a:solidFill>
                  <a:schemeClr val="bg1"/>
                </a:solidFill>
                <a:effectLst>
                  <a:outerShdw blurRad="38100" dist="38100" dir="2700000" algn="tl">
                    <a:srgbClr val="000000">
                      <a:alpha val="43137"/>
                    </a:srgbClr>
                  </a:outerShdw>
                </a:effectLst>
                <a:latin typeface="+mj-ea"/>
                <a:ea typeface="+mj-ea"/>
              </a:rPr>
              <a:t>血磷血钙</a:t>
            </a:r>
            <a:endParaRPr lang="en-US" altLang="zh-CN" sz="1600" b="1">
              <a:solidFill>
                <a:schemeClr val="bg1"/>
              </a:solidFill>
              <a:effectLst>
                <a:outerShdw blurRad="38100" dist="38100" dir="2700000" algn="tl">
                  <a:srgbClr val="000000">
                    <a:alpha val="43137"/>
                  </a:srgbClr>
                </a:outerShdw>
              </a:effectLst>
              <a:latin typeface="+mj-ea"/>
              <a:ea typeface="+mj-ea"/>
            </a:endParaRPr>
          </a:p>
          <a:p>
            <a:pPr marL="342900" indent="-342900">
              <a:buFont typeface="Arial" panose="020B0604020202020204" pitchFamily="34" charset="0"/>
              <a:buChar char="•"/>
            </a:pPr>
            <a:endParaRPr lang="en-US" altLang="zh-CN" sz="2000" b="1">
              <a:solidFill>
                <a:schemeClr val="bg1"/>
              </a:solidFill>
              <a:effectLst>
                <a:outerShdw blurRad="38100" dist="38100" dir="2700000" algn="tl">
                  <a:srgbClr val="000000">
                    <a:alpha val="43137"/>
                  </a:srgbClr>
                </a:outerShdw>
              </a:effectLst>
              <a:latin typeface="+mj-ea"/>
              <a:ea typeface="+mj-ea"/>
            </a:endParaRPr>
          </a:p>
          <a:p>
            <a:pPr marL="285750" indent="-285750">
              <a:buFont typeface="Wingdings" panose="05000000000000000000" pitchFamily="2" charset="2"/>
              <a:buChar char="p"/>
            </a:pPr>
            <a:r>
              <a:rPr lang="zh-CN" altLang="en-US" sz="2000" b="1">
                <a:solidFill>
                  <a:schemeClr val="bg1"/>
                </a:solidFill>
                <a:effectLst>
                  <a:outerShdw blurRad="38100" dist="38100" dir="2700000" algn="tl">
                    <a:srgbClr val="000000">
                      <a:alpha val="43137"/>
                    </a:srgbClr>
                  </a:outerShdw>
                </a:effectLst>
                <a:latin typeface="+mj-ea"/>
                <a:ea typeface="+mj-ea"/>
              </a:rPr>
              <a:t>猫有脱水表现吗？是否有必要皮下补液？</a:t>
            </a:r>
            <a:endParaRPr lang="en-US" altLang="zh-CN" sz="2000" b="1">
              <a:solidFill>
                <a:schemeClr val="bg1"/>
              </a:solidFill>
              <a:effectLst>
                <a:outerShdw blurRad="38100" dist="38100" dir="2700000" algn="tl">
                  <a:srgbClr val="000000">
                    <a:alpha val="43137"/>
                  </a:srgbClr>
                </a:outerShdw>
              </a:effectLst>
              <a:latin typeface="+mj-ea"/>
              <a:ea typeface="+mj-ea"/>
            </a:endParaRPr>
          </a:p>
          <a:p>
            <a:endParaRPr lang="en-US" altLang="zh-CN" sz="2000">
              <a:solidFill>
                <a:schemeClr val="bg1"/>
              </a:solidFill>
              <a:effectLst>
                <a:outerShdw blurRad="38100" dist="38100" dir="2700000" algn="tl">
                  <a:srgbClr val="000000">
                    <a:alpha val="43137"/>
                  </a:srgbClr>
                </a:outerShdw>
              </a:effectLst>
              <a:latin typeface="+mj-ea"/>
              <a:ea typeface="+mj-ea"/>
            </a:endParaRPr>
          </a:p>
          <a:p>
            <a:pPr marL="285750" indent="-285750">
              <a:buFont typeface="Wingdings" panose="05000000000000000000" pitchFamily="2" charset="2"/>
              <a:buChar char="p"/>
            </a:pPr>
            <a:r>
              <a:rPr lang="zh-CN" altLang="en-US" sz="2000" b="1">
                <a:solidFill>
                  <a:schemeClr val="bg1"/>
                </a:solidFill>
                <a:effectLst>
                  <a:outerShdw blurRad="38100" dist="38100" dir="2700000" algn="tl">
                    <a:srgbClr val="000000">
                      <a:alpha val="43137"/>
                    </a:srgbClr>
                  </a:outerShdw>
                </a:effectLst>
                <a:latin typeface="+mj-ea"/>
                <a:ea typeface="+mj-ea"/>
              </a:rPr>
              <a:t>做血气检测了吗？血液</a:t>
            </a:r>
            <a:r>
              <a:rPr lang="en-US" altLang="zh-CN" sz="2000" b="1">
                <a:solidFill>
                  <a:schemeClr val="bg1"/>
                </a:solidFill>
                <a:effectLst>
                  <a:outerShdw blurRad="38100" dist="38100" dir="2700000" algn="tl">
                    <a:srgbClr val="000000">
                      <a:alpha val="43137"/>
                    </a:srgbClr>
                  </a:outerShdw>
                </a:effectLst>
                <a:latin typeface="+mj-ea"/>
                <a:ea typeface="+mj-ea"/>
              </a:rPr>
              <a:t>PH</a:t>
            </a:r>
            <a:r>
              <a:rPr lang="zh-CN" altLang="en-US" sz="2000" b="1">
                <a:solidFill>
                  <a:schemeClr val="bg1"/>
                </a:solidFill>
                <a:effectLst>
                  <a:outerShdw blurRad="38100" dist="38100" dir="2700000" algn="tl">
                    <a:srgbClr val="000000">
                      <a:alpha val="43137"/>
                    </a:srgbClr>
                  </a:outerShdw>
                </a:effectLst>
                <a:latin typeface="+mj-ea"/>
                <a:ea typeface="+mj-ea"/>
              </a:rPr>
              <a:t>正常？</a:t>
            </a:r>
            <a:endParaRPr lang="en-US" altLang="zh-CN" sz="2000" b="1">
              <a:solidFill>
                <a:schemeClr val="bg1"/>
              </a:solidFill>
              <a:effectLst>
                <a:outerShdw blurRad="38100" dist="38100" dir="2700000" algn="tl">
                  <a:srgbClr val="000000">
                    <a:alpha val="43137"/>
                  </a:srgbClr>
                </a:outerShdw>
              </a:effectLst>
              <a:latin typeface="+mj-ea"/>
              <a:ea typeface="+mj-ea"/>
            </a:endParaRPr>
          </a:p>
          <a:p>
            <a:pPr marL="285750" indent="-285750">
              <a:buFont typeface="Wingdings" panose="05000000000000000000" pitchFamily="2" charset="2"/>
              <a:buChar char="p"/>
            </a:pPr>
            <a:endParaRPr lang="en-US" altLang="zh-CN" sz="2000" b="1">
              <a:solidFill>
                <a:schemeClr val="bg1"/>
              </a:solidFill>
              <a:effectLst>
                <a:outerShdw blurRad="38100" dist="38100" dir="2700000" algn="tl">
                  <a:srgbClr val="000000">
                    <a:alpha val="43137"/>
                  </a:srgbClr>
                </a:outerShdw>
              </a:effectLst>
              <a:latin typeface="+mj-ea"/>
              <a:ea typeface="+mj-ea"/>
            </a:endParaRPr>
          </a:p>
          <a:p>
            <a:pPr marL="285750" indent="-285750">
              <a:buFont typeface="Wingdings" panose="05000000000000000000" pitchFamily="2" charset="2"/>
              <a:buChar char="p"/>
            </a:pPr>
            <a:r>
              <a:rPr lang="zh-CN" altLang="en-US" sz="2000" b="1">
                <a:solidFill>
                  <a:schemeClr val="bg1"/>
                </a:solidFill>
                <a:effectLst>
                  <a:outerShdw blurRad="38100" dist="38100" dir="2700000" algn="tl">
                    <a:srgbClr val="000000">
                      <a:alpha val="43137"/>
                    </a:srgbClr>
                  </a:outerShdw>
                </a:effectLst>
                <a:latin typeface="+mj-ea"/>
                <a:ea typeface="+mj-ea"/>
              </a:rPr>
              <a:t>学会看血常规了吗？是否发现贫血？</a:t>
            </a:r>
            <a:endParaRPr lang="en-US" altLang="zh-CN" sz="2000" b="1">
              <a:solidFill>
                <a:schemeClr val="bg1"/>
              </a:solidFill>
              <a:effectLst>
                <a:outerShdw blurRad="38100" dist="38100" dir="2700000" algn="tl">
                  <a:srgbClr val="000000">
                    <a:alpha val="43137"/>
                  </a:srgbClr>
                </a:outerShdw>
              </a:effectLst>
              <a:latin typeface="+mj-ea"/>
              <a:ea typeface="+mj-ea"/>
            </a:endParaRPr>
          </a:p>
          <a:p>
            <a:endParaRPr lang="zh-CN" altLang="en-US" sz="2000" b="1">
              <a:solidFill>
                <a:schemeClr val="bg1"/>
              </a:solidFill>
              <a:effectLst>
                <a:outerShdw blurRad="38100" dist="38100" dir="2700000" algn="tl">
                  <a:srgbClr val="000000">
                    <a:alpha val="43137"/>
                  </a:srgbClr>
                </a:outerShdw>
              </a:effectLst>
              <a:latin typeface="+mj-ea"/>
              <a:ea typeface="+mj-ea"/>
            </a:endParaRPr>
          </a:p>
        </p:txBody>
      </p:sp>
    </p:spTree>
    <p:extLst>
      <p:ext uri="{BB962C8B-B14F-4D97-AF65-F5344CB8AC3E}">
        <p14:creationId xmlns:p14="http://schemas.microsoft.com/office/powerpoint/2010/main" val="293353103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0" name="箭头: 五边形 6">
            <a:extLst/>
          </p:cNvPr>
          <p:cNvSpPr/>
          <p:nvPr/>
        </p:nvSpPr>
        <p:spPr>
          <a:xfrm rot="10800000" flipH="1">
            <a:off x="-6324" y="413570"/>
            <a:ext cx="9264352" cy="1344612"/>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grpSp>
        <p:nvGrpSpPr>
          <p:cNvPr id="30724" name="组合 22"/>
          <p:cNvGrpSpPr>
            <a:grpSpLocks/>
          </p:cNvGrpSpPr>
          <p:nvPr/>
        </p:nvGrpSpPr>
        <p:grpSpPr bwMode="auto">
          <a:xfrm>
            <a:off x="196850" y="404813"/>
            <a:ext cx="5779784" cy="1134998"/>
            <a:chOff x="-101400" y="2876417"/>
            <a:chExt cx="5114992" cy="1134983"/>
          </a:xfrm>
        </p:grpSpPr>
        <p:sp>
          <p:nvSpPr>
            <p:cNvPr id="20494" name="文本框 13">
              <a:extLst/>
            </p:cNvPr>
            <p:cNvSpPr txBox="1">
              <a:spLocks noChangeArrowheads="1"/>
            </p:cNvSpPr>
            <p:nvPr/>
          </p:nvSpPr>
          <p:spPr bwMode="auto">
            <a:xfrm>
              <a:off x="-101400" y="2876417"/>
              <a:ext cx="1343136" cy="825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600" b="1">
                  <a:solidFill>
                    <a:srgbClr val="010101"/>
                  </a:solidFill>
                  <a:latin typeface="+mn-lt"/>
                  <a:ea typeface="+mn-ea"/>
                  <a:cs typeface="+mn-ea"/>
                  <a:sym typeface="+mn-lt"/>
                </a:rPr>
                <a:t>PART</a:t>
              </a:r>
            </a:p>
          </p:txBody>
        </p:sp>
        <p:sp>
          <p:nvSpPr>
            <p:cNvPr id="20495" name="文本框 14">
              <a:extLst/>
            </p:cNvPr>
            <p:cNvSpPr txBox="1">
              <a:spLocks noChangeArrowheads="1"/>
            </p:cNvSpPr>
            <p:nvPr/>
          </p:nvSpPr>
          <p:spPr bwMode="auto">
            <a:xfrm>
              <a:off x="2150733" y="3430993"/>
              <a:ext cx="2862859" cy="580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endParaRPr lang="en-US" altLang="zh-CN" sz="2400">
                <a:solidFill>
                  <a:srgbClr val="010101"/>
                </a:solidFill>
                <a:latin typeface="+mn-lt"/>
                <a:ea typeface="+mn-ea"/>
                <a:cs typeface="+mn-ea"/>
                <a:sym typeface="+mn-lt"/>
              </a:endParaRPr>
            </a:p>
          </p:txBody>
        </p:sp>
        <p:cxnSp>
          <p:nvCxnSpPr>
            <p:cNvPr id="24" name="直接连接符 23">
              <a:extLst/>
            </p:cNvPr>
            <p:cNvCxnSpPr>
              <a:cxnSpLocks/>
            </p:cNvCxnSpPr>
            <p:nvPr/>
          </p:nvCxnSpPr>
          <p:spPr>
            <a:xfrm flipH="1">
              <a:off x="489901" y="3171688"/>
              <a:ext cx="1074241" cy="722302"/>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0497" name="矩形 20">
              <a:extLst/>
            </p:cNvPr>
            <p:cNvSpPr>
              <a:spLocks noChangeArrowheads="1"/>
            </p:cNvSpPr>
            <p:nvPr/>
          </p:nvSpPr>
          <p:spPr bwMode="auto">
            <a:xfrm>
              <a:off x="618328" y="3473309"/>
              <a:ext cx="1824424" cy="52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lvl="1">
                <a:lnSpc>
                  <a:spcPct val="100000"/>
                </a:lnSpc>
                <a:spcBef>
                  <a:spcPct val="0"/>
                </a:spcBef>
                <a:buFontTx/>
                <a:buNone/>
                <a:defRPr/>
              </a:pPr>
              <a:r>
                <a:rPr lang="en-US" altLang="zh-CN" sz="2800" b="1">
                  <a:solidFill>
                    <a:srgbClr val="010101"/>
                  </a:solidFill>
                  <a:latin typeface="+mn-lt"/>
                  <a:ea typeface="+mn-ea"/>
                  <a:cs typeface="+mn-ea"/>
                  <a:sym typeface="+mn-lt"/>
                </a:rPr>
                <a:t>THREE</a:t>
              </a:r>
              <a:endParaRPr lang="zh-CN" altLang="en-US" sz="1400">
                <a:latin typeface="+mn-lt"/>
                <a:ea typeface="+mn-ea"/>
                <a:cs typeface="+mn-ea"/>
                <a:sym typeface="+mn-lt"/>
              </a:endParaRPr>
            </a:p>
          </p:txBody>
        </p:sp>
      </p:grpSp>
      <p:sp>
        <p:nvSpPr>
          <p:cNvPr id="8" name="文本框 7"/>
          <p:cNvSpPr txBox="1"/>
          <p:nvPr/>
        </p:nvSpPr>
        <p:spPr>
          <a:xfrm>
            <a:off x="254618" y="2470092"/>
            <a:ext cx="5683126" cy="615553"/>
          </a:xfrm>
          <a:prstGeom prst="rect">
            <a:avLst/>
          </a:prstGeom>
          <a:noFill/>
        </p:spPr>
        <p:txBody>
          <a:bodyPr wrap="square" numCol="2" rtlCol="0">
            <a:spAutoFit/>
          </a:bodyPr>
          <a:lstStyle/>
          <a:p>
            <a:pPr lvl="1"/>
            <a:endParaRPr lang="en-US" altLang="zh-CN" sz="1600" b="1">
              <a:solidFill>
                <a:schemeClr val="tx1">
                  <a:lumMod val="75000"/>
                  <a:lumOff val="25000"/>
                </a:schemeClr>
              </a:solidFill>
              <a:effectLst>
                <a:outerShdw blurRad="38100" dist="38100" dir="2700000" algn="tl">
                  <a:srgbClr val="000000">
                    <a:alpha val="43137"/>
                  </a:srgbClr>
                </a:outerShdw>
              </a:effectLst>
              <a:latin typeface="+mj-ea"/>
            </a:endParaRPr>
          </a:p>
          <a:p>
            <a:endParaRPr lang="zh-CN" altLang="en-US"/>
          </a:p>
        </p:txBody>
      </p:sp>
      <p:sp>
        <p:nvSpPr>
          <p:cNvPr id="2" name="文本框 1"/>
          <p:cNvSpPr txBox="1"/>
          <p:nvPr/>
        </p:nvSpPr>
        <p:spPr>
          <a:xfrm>
            <a:off x="2953041" y="1146051"/>
            <a:ext cx="6539679" cy="461665"/>
          </a:xfrm>
          <a:prstGeom prst="rect">
            <a:avLst/>
          </a:prstGeom>
          <a:noFill/>
        </p:spPr>
        <p:txBody>
          <a:bodyPr wrap="square" rtlCol="0">
            <a:spAutoFit/>
          </a:bodyPr>
          <a:lstStyle/>
          <a:p>
            <a:r>
              <a:rPr lang="zh-CN" altLang="en-US" sz="2400" b="1">
                <a:solidFill>
                  <a:schemeClr val="tx2">
                    <a:lumMod val="75000"/>
                  </a:schemeClr>
                </a:solidFill>
                <a:latin typeface="+mj-ea"/>
                <a:ea typeface="+mj-ea"/>
              </a:rPr>
              <a:t>肠内毒素吸附</a:t>
            </a:r>
          </a:p>
        </p:txBody>
      </p:sp>
      <p:sp>
        <p:nvSpPr>
          <p:cNvPr id="4" name="文本框 3"/>
          <p:cNvSpPr txBox="1"/>
          <p:nvPr/>
        </p:nvSpPr>
        <p:spPr>
          <a:xfrm>
            <a:off x="2897878" y="620688"/>
            <a:ext cx="3078756" cy="461665"/>
          </a:xfrm>
          <a:prstGeom prst="rect">
            <a:avLst/>
          </a:prstGeom>
          <a:noFill/>
        </p:spPr>
        <p:txBody>
          <a:bodyPr wrap="square" rtlCol="0">
            <a:spAutoFit/>
          </a:bodyPr>
          <a:lstStyle/>
          <a:p>
            <a:r>
              <a:rPr lang="zh-CN" altLang="en-US" sz="2400" b="1">
                <a:solidFill>
                  <a:schemeClr val="bg1"/>
                </a:solidFill>
                <a:effectLst>
                  <a:outerShdw blurRad="38100" dist="38100" dir="2700000" algn="tl">
                    <a:srgbClr val="000000">
                      <a:alpha val="43137"/>
                    </a:srgbClr>
                  </a:outerShdw>
                </a:effectLst>
                <a:latin typeface="+mj-ea"/>
                <a:ea typeface="+mj-ea"/>
              </a:rPr>
              <a:t>猫慢性肾病治疗</a:t>
            </a:r>
          </a:p>
        </p:txBody>
      </p:sp>
      <p:sp>
        <p:nvSpPr>
          <p:cNvPr id="21" name="矩形 20">
            <a:extLst>
              <a:ext uri="{FF2B5EF4-FFF2-40B4-BE49-F238E27FC236}">
                <a16:creationId xmlns:a16="http://schemas.microsoft.com/office/drawing/2014/main" id="{665B92FC-B9E6-4B02-BC89-8774CC40B9EB}"/>
              </a:ext>
            </a:extLst>
          </p:cNvPr>
          <p:cNvSpPr/>
          <p:nvPr/>
        </p:nvSpPr>
        <p:spPr>
          <a:xfrm>
            <a:off x="-6324" y="1758182"/>
            <a:ext cx="3355182" cy="50998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sp>
        <p:nvSpPr>
          <p:cNvPr id="22" name="文本框 21">
            <a:extLst>
              <a:ext uri="{FF2B5EF4-FFF2-40B4-BE49-F238E27FC236}">
                <a16:creationId xmlns:a16="http://schemas.microsoft.com/office/drawing/2014/main" id="{3D9C8E33-59E3-4A85-AB15-41BDBA1BF45C}"/>
              </a:ext>
            </a:extLst>
          </p:cNvPr>
          <p:cNvSpPr txBox="1"/>
          <p:nvPr/>
        </p:nvSpPr>
        <p:spPr>
          <a:xfrm>
            <a:off x="582283" y="2108180"/>
            <a:ext cx="2370758" cy="461665"/>
          </a:xfrm>
          <a:prstGeom prst="rect">
            <a:avLst/>
          </a:prstGeom>
          <a:noFill/>
        </p:spPr>
        <p:txBody>
          <a:bodyPr wrap="square" rtlCol="0">
            <a:spAutoFit/>
          </a:bodyPr>
          <a:lstStyle/>
          <a:p>
            <a:r>
              <a:rPr lang="zh-CN" altLang="en-US" sz="2400" b="1">
                <a:solidFill>
                  <a:schemeClr val="tx2">
                    <a:lumMod val="75000"/>
                  </a:schemeClr>
                </a:solidFill>
                <a:latin typeface="+mj-ea"/>
                <a:ea typeface="+mj-ea"/>
              </a:rPr>
              <a:t>口服吸附剂</a:t>
            </a:r>
          </a:p>
        </p:txBody>
      </p:sp>
      <p:sp>
        <p:nvSpPr>
          <p:cNvPr id="23" name="文本框 22">
            <a:extLst>
              <a:ext uri="{FF2B5EF4-FFF2-40B4-BE49-F238E27FC236}">
                <a16:creationId xmlns:a16="http://schemas.microsoft.com/office/drawing/2014/main" id="{040776E4-D042-4527-BDB0-48A53727E301}"/>
              </a:ext>
            </a:extLst>
          </p:cNvPr>
          <p:cNvSpPr txBox="1"/>
          <p:nvPr/>
        </p:nvSpPr>
        <p:spPr>
          <a:xfrm>
            <a:off x="151939" y="2569845"/>
            <a:ext cx="2589752" cy="3970318"/>
          </a:xfrm>
          <a:prstGeom prst="rect">
            <a:avLst/>
          </a:prstGeom>
          <a:noFill/>
        </p:spPr>
        <p:txBody>
          <a:bodyPr wrap="square" rtlCol="0">
            <a:spAutoFit/>
          </a:bodyPr>
          <a:lstStyle/>
          <a:p>
            <a:pPr marL="0" lvl="1"/>
            <a:endParaRPr lang="en-US" altLang="zh-CN" b="1">
              <a:solidFill>
                <a:schemeClr val="tx1">
                  <a:lumMod val="75000"/>
                  <a:lumOff val="25000"/>
                </a:schemeClr>
              </a:solidFill>
              <a:effectLst>
                <a:outerShdw blurRad="38100" dist="38100" dir="2700000" algn="tl">
                  <a:srgbClr val="000000">
                    <a:alpha val="43137"/>
                  </a:srgbClr>
                </a:outerShdw>
              </a:effectLst>
              <a:latin typeface="+mj-ea"/>
              <a:ea typeface="+mj-ea"/>
            </a:endParaRPr>
          </a:p>
          <a:p>
            <a:pPr marL="285750" lvl="1" indent="-285750">
              <a:buFont typeface="Wingdings" panose="05000000000000000000" pitchFamily="2" charset="2"/>
              <a:buChar char="u"/>
            </a:pPr>
            <a:r>
              <a:rPr lang="zh-CN" altLang="en-US" b="1">
                <a:solidFill>
                  <a:schemeClr val="tx1">
                    <a:lumMod val="75000"/>
                    <a:lumOff val="25000"/>
                  </a:schemeClr>
                </a:solidFill>
                <a:effectLst>
                  <a:outerShdw blurRad="38100" dist="38100" dir="2700000" algn="tl">
                    <a:srgbClr val="000000">
                      <a:alpha val="43137"/>
                    </a:srgbClr>
                  </a:outerShdw>
                </a:effectLst>
                <a:latin typeface="+mj-ea"/>
                <a:ea typeface="+mj-ea"/>
              </a:rPr>
              <a:t>如肌酐＞</a:t>
            </a:r>
            <a:r>
              <a:rPr lang="en-US" altLang="zh-CN" b="1">
                <a:solidFill>
                  <a:schemeClr val="tx1">
                    <a:lumMod val="75000"/>
                    <a:lumOff val="25000"/>
                  </a:schemeClr>
                </a:solidFill>
                <a:effectLst>
                  <a:outerShdw blurRad="38100" dist="38100" dir="2700000" algn="tl">
                    <a:srgbClr val="000000">
                      <a:alpha val="43137"/>
                    </a:srgbClr>
                  </a:outerShdw>
                </a:effectLst>
                <a:latin typeface="+mj-ea"/>
                <a:ea typeface="+mj-ea"/>
              </a:rPr>
              <a:t>265</a:t>
            </a:r>
            <a:r>
              <a:rPr lang="zh-CN" altLang="en-US" b="1">
                <a:solidFill>
                  <a:schemeClr val="tx1">
                    <a:lumMod val="75000"/>
                    <a:lumOff val="25000"/>
                  </a:schemeClr>
                </a:solidFill>
                <a:effectLst>
                  <a:outerShdw blurRad="38100" dist="38100" dir="2700000" algn="tl">
                    <a:srgbClr val="000000">
                      <a:alpha val="43137"/>
                    </a:srgbClr>
                  </a:outerShdw>
                </a:effectLst>
                <a:latin typeface="+mj-ea"/>
                <a:ea typeface="+mj-ea"/>
              </a:rPr>
              <a:t>，即</a:t>
            </a:r>
            <a:r>
              <a:rPr lang="en-US" altLang="zh-CN" b="1">
                <a:solidFill>
                  <a:schemeClr val="tx1">
                    <a:lumMod val="75000"/>
                    <a:lumOff val="25000"/>
                  </a:schemeClr>
                </a:solidFill>
                <a:effectLst>
                  <a:outerShdw blurRad="38100" dist="38100" dir="2700000" algn="tl">
                    <a:srgbClr val="000000">
                      <a:alpha val="43137"/>
                    </a:srgbClr>
                  </a:outerShdw>
                </a:effectLst>
                <a:latin typeface="+mj-ea"/>
                <a:ea typeface="+mj-ea"/>
              </a:rPr>
              <a:t>3mg/dl</a:t>
            </a:r>
            <a:r>
              <a:rPr lang="zh-CN" altLang="en-US" b="1">
                <a:solidFill>
                  <a:schemeClr val="tx1">
                    <a:lumMod val="75000"/>
                    <a:lumOff val="25000"/>
                  </a:schemeClr>
                </a:solidFill>
                <a:effectLst>
                  <a:outerShdw blurRad="38100" dist="38100" dir="2700000" algn="tl">
                    <a:srgbClr val="000000">
                      <a:alpha val="43137"/>
                    </a:srgbClr>
                  </a:outerShdw>
                </a:effectLst>
                <a:latin typeface="+mj-ea"/>
                <a:ea typeface="+mj-ea"/>
              </a:rPr>
              <a:t>时考虑做起来</a:t>
            </a:r>
            <a:endParaRPr lang="en-US" altLang="zh-CN" b="1">
              <a:solidFill>
                <a:schemeClr val="tx1">
                  <a:lumMod val="75000"/>
                  <a:lumOff val="25000"/>
                </a:schemeClr>
              </a:solidFill>
              <a:effectLst>
                <a:outerShdw blurRad="38100" dist="38100" dir="2700000" algn="tl">
                  <a:srgbClr val="000000">
                    <a:alpha val="43137"/>
                  </a:srgbClr>
                </a:outerShdw>
              </a:effectLst>
              <a:latin typeface="+mj-ea"/>
              <a:ea typeface="+mj-ea"/>
            </a:endParaRPr>
          </a:p>
          <a:p>
            <a:pPr marL="285750" lvl="1" indent="-285750">
              <a:buFont typeface="Wingdings" panose="05000000000000000000" pitchFamily="2" charset="2"/>
              <a:buChar char="u"/>
            </a:pPr>
            <a:endParaRPr lang="en-US" altLang="zh-CN" b="1">
              <a:solidFill>
                <a:schemeClr val="tx1">
                  <a:lumMod val="75000"/>
                  <a:lumOff val="25000"/>
                </a:schemeClr>
              </a:solidFill>
              <a:effectLst>
                <a:outerShdw blurRad="38100" dist="38100" dir="2700000" algn="tl">
                  <a:srgbClr val="000000">
                    <a:alpha val="43137"/>
                  </a:srgbClr>
                </a:outerShdw>
              </a:effectLst>
              <a:latin typeface="+mj-ea"/>
              <a:ea typeface="+mj-ea"/>
            </a:endParaRPr>
          </a:p>
          <a:p>
            <a:pPr marL="285750" lvl="1" indent="-285750">
              <a:buFont typeface="Wingdings" panose="05000000000000000000" pitchFamily="2" charset="2"/>
              <a:buChar char="u"/>
            </a:pPr>
            <a:r>
              <a:rPr lang="zh-CN" altLang="en-US" b="1">
                <a:solidFill>
                  <a:schemeClr val="tx1">
                    <a:lumMod val="75000"/>
                    <a:lumOff val="25000"/>
                  </a:schemeClr>
                </a:solidFill>
                <a:effectLst>
                  <a:outerShdw blurRad="38100" dist="38100" dir="2700000" algn="tl">
                    <a:srgbClr val="000000">
                      <a:alpha val="43137"/>
                    </a:srgbClr>
                  </a:outerShdw>
                </a:effectLst>
                <a:latin typeface="+mj-ea"/>
                <a:ea typeface="+mj-ea"/>
              </a:rPr>
              <a:t>二期后期也可以考虑</a:t>
            </a:r>
            <a:endParaRPr lang="en-US" altLang="zh-CN" b="1">
              <a:solidFill>
                <a:schemeClr val="tx1">
                  <a:lumMod val="75000"/>
                  <a:lumOff val="25000"/>
                </a:schemeClr>
              </a:solidFill>
              <a:effectLst>
                <a:outerShdw blurRad="38100" dist="38100" dir="2700000" algn="tl">
                  <a:srgbClr val="000000">
                    <a:alpha val="43137"/>
                  </a:srgbClr>
                </a:outerShdw>
              </a:effectLst>
              <a:latin typeface="+mj-ea"/>
              <a:ea typeface="+mj-ea"/>
            </a:endParaRPr>
          </a:p>
          <a:p>
            <a:pPr marL="0" lvl="1"/>
            <a:endParaRPr lang="en-US" altLang="zh-CN" b="1">
              <a:solidFill>
                <a:schemeClr val="tx1">
                  <a:lumMod val="75000"/>
                  <a:lumOff val="25000"/>
                </a:schemeClr>
              </a:solidFill>
              <a:effectLst>
                <a:outerShdw blurRad="38100" dist="38100" dir="2700000" algn="tl">
                  <a:srgbClr val="000000">
                    <a:alpha val="43137"/>
                  </a:srgbClr>
                </a:outerShdw>
              </a:effectLst>
              <a:latin typeface="+mj-ea"/>
              <a:ea typeface="+mj-ea"/>
            </a:endParaRPr>
          </a:p>
          <a:p>
            <a:pPr marL="285750" lvl="1" indent="-285750">
              <a:buFont typeface="Wingdings" panose="05000000000000000000" pitchFamily="2" charset="2"/>
              <a:buChar char="u"/>
            </a:pPr>
            <a:r>
              <a:rPr lang="zh-CN" altLang="en-US" b="1">
                <a:solidFill>
                  <a:schemeClr val="tx1">
                    <a:lumMod val="75000"/>
                    <a:lumOff val="25000"/>
                  </a:schemeClr>
                </a:solidFill>
                <a:effectLst>
                  <a:outerShdw blurRad="38100" dist="38100" dir="2700000" algn="tl">
                    <a:srgbClr val="000000">
                      <a:alpha val="43137"/>
                    </a:srgbClr>
                  </a:outerShdw>
                </a:effectLst>
                <a:latin typeface="+mj-ea"/>
                <a:ea typeface="+mj-ea"/>
              </a:rPr>
              <a:t>作用可能存在，但效果量化困难</a:t>
            </a:r>
            <a:endParaRPr lang="en-US" altLang="zh-CN" b="1">
              <a:solidFill>
                <a:schemeClr val="tx1">
                  <a:lumMod val="75000"/>
                  <a:lumOff val="25000"/>
                </a:schemeClr>
              </a:solidFill>
              <a:effectLst>
                <a:outerShdw blurRad="38100" dist="38100" dir="2700000" algn="tl">
                  <a:srgbClr val="000000">
                    <a:alpha val="43137"/>
                  </a:srgbClr>
                </a:outerShdw>
              </a:effectLst>
              <a:latin typeface="+mj-ea"/>
              <a:ea typeface="+mj-ea"/>
            </a:endParaRPr>
          </a:p>
          <a:p>
            <a:pPr marL="285750" lvl="1" indent="-285750">
              <a:buFont typeface="Wingdings" panose="05000000000000000000" pitchFamily="2" charset="2"/>
              <a:buChar char="u"/>
            </a:pPr>
            <a:endParaRPr lang="en-US" altLang="zh-CN" b="1">
              <a:solidFill>
                <a:schemeClr val="tx1">
                  <a:lumMod val="75000"/>
                  <a:lumOff val="25000"/>
                </a:schemeClr>
              </a:solidFill>
              <a:effectLst>
                <a:outerShdw blurRad="38100" dist="38100" dir="2700000" algn="tl">
                  <a:srgbClr val="000000">
                    <a:alpha val="43137"/>
                  </a:srgbClr>
                </a:outerShdw>
              </a:effectLst>
              <a:latin typeface="+mj-ea"/>
              <a:ea typeface="+mj-ea"/>
            </a:endParaRPr>
          </a:p>
          <a:p>
            <a:pPr marL="285750" lvl="1" indent="-285750">
              <a:buFont typeface="Wingdings" panose="05000000000000000000" pitchFamily="2" charset="2"/>
              <a:buChar char="u"/>
            </a:pPr>
            <a:r>
              <a:rPr lang="zh-CN" altLang="en-US">
                <a:solidFill>
                  <a:srgbClr val="C00000"/>
                </a:solidFill>
                <a:latin typeface="+mj-ea"/>
                <a:ea typeface="+mj-ea"/>
              </a:rPr>
              <a:t>暂时只发现可能影响数值。无证据显示口服吸附剂可以延缓病情发展。</a:t>
            </a:r>
          </a:p>
        </p:txBody>
      </p:sp>
      <p:sp>
        <p:nvSpPr>
          <p:cNvPr id="6" name="文本框 5">
            <a:extLst>
              <a:ext uri="{FF2B5EF4-FFF2-40B4-BE49-F238E27FC236}">
                <a16:creationId xmlns:a16="http://schemas.microsoft.com/office/drawing/2014/main" id="{59823A91-B1F1-4FBB-8B9E-336B014A1841}"/>
              </a:ext>
            </a:extLst>
          </p:cNvPr>
          <p:cNvSpPr txBox="1"/>
          <p:nvPr/>
        </p:nvSpPr>
        <p:spPr>
          <a:xfrm>
            <a:off x="3937465" y="2511073"/>
            <a:ext cx="6696744" cy="2708434"/>
          </a:xfrm>
          <a:prstGeom prst="rect">
            <a:avLst/>
          </a:prstGeom>
          <a:noFill/>
        </p:spPr>
        <p:txBody>
          <a:bodyPr wrap="square" rtlCol="0">
            <a:spAutoFit/>
          </a:bodyPr>
          <a:lstStyle/>
          <a:p>
            <a:endParaRPr lang="en-US" altLang="zh-CN" sz="3200" b="1">
              <a:solidFill>
                <a:schemeClr val="bg1">
                  <a:lumMod val="95000"/>
                </a:schemeClr>
              </a:solidFill>
              <a:effectLst>
                <a:outerShdw blurRad="38100" dist="38100" dir="2700000" algn="tl">
                  <a:srgbClr val="000000">
                    <a:alpha val="43137"/>
                  </a:srgbClr>
                </a:outerShdw>
              </a:effectLst>
              <a:latin typeface="+mj-ea"/>
              <a:ea typeface="+mj-ea"/>
            </a:endParaRPr>
          </a:p>
          <a:p>
            <a:pPr marL="914400" lvl="1" indent="-457200">
              <a:buFont typeface="Wingdings" panose="05000000000000000000" pitchFamily="2" charset="2"/>
              <a:buChar char="n"/>
            </a:pPr>
            <a:r>
              <a:rPr lang="zh-CN" altLang="en-US" sz="3200" b="1">
                <a:solidFill>
                  <a:schemeClr val="bg1"/>
                </a:solidFill>
                <a:effectLst>
                  <a:outerShdw blurRad="38100" dist="38100" dir="2700000" algn="tl">
                    <a:srgbClr val="000000">
                      <a:alpha val="43137"/>
                    </a:srgbClr>
                  </a:outerShdw>
                </a:effectLst>
                <a:latin typeface="+mj-ea"/>
                <a:ea typeface="+mj-ea"/>
              </a:rPr>
              <a:t>壳聚糖（</a:t>
            </a:r>
            <a:r>
              <a:rPr lang="en-US" altLang="zh-CN" sz="3200" b="1">
                <a:solidFill>
                  <a:schemeClr val="bg1"/>
                </a:solidFill>
                <a:effectLst>
                  <a:outerShdw blurRad="38100" dist="38100" dir="2700000" algn="tl">
                    <a:srgbClr val="000000">
                      <a:alpha val="43137"/>
                    </a:srgbClr>
                  </a:outerShdw>
                </a:effectLst>
                <a:latin typeface="+mj-ea"/>
                <a:ea typeface="+mj-ea"/>
              </a:rPr>
              <a:t>Chitosan</a:t>
            </a:r>
            <a:r>
              <a:rPr lang="zh-CN" altLang="en-US" sz="3200" b="1">
                <a:solidFill>
                  <a:schemeClr val="bg1"/>
                </a:solidFill>
                <a:effectLst>
                  <a:outerShdw blurRad="38100" dist="38100" dir="2700000" algn="tl">
                    <a:srgbClr val="000000">
                      <a:alpha val="43137"/>
                    </a:srgbClr>
                  </a:outerShdw>
                </a:effectLst>
                <a:latin typeface="+mj-ea"/>
                <a:ea typeface="+mj-ea"/>
              </a:rPr>
              <a:t>）</a:t>
            </a:r>
            <a:endParaRPr lang="en-US" altLang="zh-CN" sz="3200" b="1">
              <a:solidFill>
                <a:schemeClr val="bg1"/>
              </a:solidFill>
              <a:effectLst>
                <a:outerShdw blurRad="38100" dist="38100" dir="2700000" algn="tl">
                  <a:srgbClr val="000000">
                    <a:alpha val="43137"/>
                  </a:srgbClr>
                </a:outerShdw>
              </a:effectLst>
              <a:latin typeface="+mj-ea"/>
              <a:ea typeface="+mj-ea"/>
            </a:endParaRPr>
          </a:p>
          <a:p>
            <a:pPr marL="914400" lvl="1" indent="-457200">
              <a:buFont typeface="Wingdings" panose="05000000000000000000" pitchFamily="2" charset="2"/>
              <a:buChar char="p"/>
            </a:pPr>
            <a:r>
              <a:rPr lang="zh-CN" altLang="en-US" sz="3200" b="1">
                <a:solidFill>
                  <a:schemeClr val="accent4">
                    <a:lumMod val="40000"/>
                    <a:lumOff val="60000"/>
                  </a:schemeClr>
                </a:solidFill>
                <a:effectLst>
                  <a:outerShdw blurRad="38100" dist="38100" dir="2700000" algn="tl">
                    <a:srgbClr val="000000">
                      <a:alpha val="43137"/>
                    </a:srgbClr>
                  </a:outerShdw>
                </a:effectLst>
                <a:latin typeface="+mj-ea"/>
                <a:ea typeface="+mj-ea"/>
              </a:rPr>
              <a:t>丝兰提取物</a:t>
            </a:r>
            <a:r>
              <a:rPr lang="en-US" altLang="zh-CN" sz="3200" b="1">
                <a:solidFill>
                  <a:schemeClr val="accent4">
                    <a:lumMod val="40000"/>
                    <a:lumOff val="60000"/>
                  </a:schemeClr>
                </a:solidFill>
                <a:effectLst>
                  <a:outerShdw blurRad="38100" dist="38100" dir="2700000" algn="tl">
                    <a:srgbClr val="000000">
                      <a:alpha val="43137"/>
                    </a:srgbClr>
                  </a:outerShdw>
                </a:effectLst>
                <a:latin typeface="+mj-ea"/>
                <a:ea typeface="+mj-ea"/>
              </a:rPr>
              <a:t>?</a:t>
            </a:r>
          </a:p>
          <a:p>
            <a:pPr marL="914400" lvl="1" indent="-457200">
              <a:buFont typeface="Wingdings" panose="05000000000000000000" pitchFamily="2" charset="2"/>
              <a:buChar char="n"/>
            </a:pPr>
            <a:r>
              <a:rPr lang="zh-CN" altLang="en-US" sz="3200" b="1">
                <a:solidFill>
                  <a:schemeClr val="bg1">
                    <a:lumMod val="95000"/>
                  </a:schemeClr>
                </a:solidFill>
                <a:effectLst>
                  <a:outerShdw blurRad="38100" dist="38100" dir="2700000" algn="tl">
                    <a:srgbClr val="000000">
                      <a:alpha val="43137"/>
                    </a:srgbClr>
                  </a:outerShdw>
                </a:effectLst>
                <a:latin typeface="+mj-ea"/>
                <a:ea typeface="+mj-ea"/>
              </a:rPr>
              <a:t>活性炭颗粒</a:t>
            </a:r>
            <a:endParaRPr lang="en-US" altLang="zh-CN" sz="3200" b="1">
              <a:solidFill>
                <a:schemeClr val="bg1">
                  <a:lumMod val="95000"/>
                </a:schemeClr>
              </a:solidFill>
              <a:effectLst>
                <a:outerShdw blurRad="38100" dist="38100" dir="2700000" algn="tl">
                  <a:srgbClr val="000000">
                    <a:alpha val="43137"/>
                  </a:srgbClr>
                </a:outerShdw>
              </a:effectLst>
              <a:latin typeface="+mj-ea"/>
              <a:ea typeface="+mj-ea"/>
            </a:endParaRPr>
          </a:p>
          <a:p>
            <a:endParaRPr lang="en-US" altLang="zh-CN" sz="2400" b="1">
              <a:solidFill>
                <a:schemeClr val="bg1">
                  <a:lumMod val="95000"/>
                </a:schemeClr>
              </a:solidFill>
              <a:latin typeface="+mj-ea"/>
              <a:ea typeface="+mj-ea"/>
            </a:endParaRPr>
          </a:p>
          <a:p>
            <a:endParaRPr lang="zh-CN" altLang="en-US"/>
          </a:p>
        </p:txBody>
      </p:sp>
    </p:spTree>
    <p:extLst>
      <p:ext uri="{BB962C8B-B14F-4D97-AF65-F5344CB8AC3E}">
        <p14:creationId xmlns:p14="http://schemas.microsoft.com/office/powerpoint/2010/main" val="94347209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p:cNvPr>
          <p:cNvGrpSpPr/>
          <p:nvPr/>
        </p:nvGrpSpPr>
        <p:grpSpPr>
          <a:xfrm>
            <a:off x="4850109" y="678004"/>
            <a:ext cx="7320137" cy="1035882"/>
            <a:chOff x="8112223" y="330677"/>
            <a:chExt cx="4194115" cy="1035882"/>
          </a:xfrm>
          <a:effectLst>
            <a:outerShdw blurRad="50800" dist="38100" dir="5400000" algn="t" rotWithShape="0">
              <a:prstClr val="black">
                <a:alpha val="40000"/>
              </a:prstClr>
            </a:outerShdw>
          </a:effectLst>
        </p:grpSpPr>
        <p:sp>
          <p:nvSpPr>
            <p:cNvPr id="27"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8281096" y="330677"/>
              <a:ext cx="3973218" cy="985057"/>
              <a:chOff x="-461843" y="2729730"/>
              <a:chExt cx="4679923" cy="1377463"/>
            </a:xfrm>
          </p:grpSpPr>
          <p:sp>
            <p:nvSpPr>
              <p:cNvPr id="29"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1355254" y="3048121"/>
                <a:ext cx="2862826" cy="81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latin typeface="+mn-lt"/>
                    <a:ea typeface="+mn-ea"/>
                    <a:cs typeface="+mn-ea"/>
                    <a:sym typeface="+mn-lt"/>
                  </a:rPr>
                  <a:t>口服吸附剂：壳聚糖</a:t>
                </a:r>
                <a:endParaRPr lang="en-US" altLang="zh-CN" sz="2400" b="1">
                  <a:solidFill>
                    <a:srgbClr val="010101"/>
                  </a:solidFill>
                  <a:latin typeface="+mn-lt"/>
                  <a:ea typeface="+mn-ea"/>
                  <a:cs typeface="+mn-ea"/>
                  <a:sym typeface="+mn-lt"/>
                </a:endParaRPr>
              </a:p>
            </p:txBody>
          </p:sp>
          <p:cxnSp>
            <p:nvCxnSpPr>
              <p:cNvPr id="31" name="直接连接符 30">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506334" y="3461620"/>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grpSp>
        <p:nvGrpSpPr>
          <p:cNvPr id="37893" name="组合 1"/>
          <p:cNvGrpSpPr>
            <a:grpSpLocks/>
          </p:cNvGrpSpPr>
          <p:nvPr/>
        </p:nvGrpSpPr>
        <p:grpSpPr bwMode="auto">
          <a:xfrm>
            <a:off x="777200" y="2492896"/>
            <a:ext cx="4865878" cy="2973190"/>
            <a:chOff x="6931323" y="2608336"/>
            <a:chExt cx="4500246" cy="2972408"/>
          </a:xfrm>
        </p:grpSpPr>
        <p:grpSp>
          <p:nvGrpSpPr>
            <p:cNvPr id="37894" name="组合 14"/>
            <p:cNvGrpSpPr>
              <a:grpSpLocks/>
            </p:cNvGrpSpPr>
            <p:nvPr/>
          </p:nvGrpSpPr>
          <p:grpSpPr bwMode="auto">
            <a:xfrm>
              <a:off x="6931323" y="2608336"/>
              <a:ext cx="4500246" cy="718135"/>
              <a:chOff x="3936148" y="1692543"/>
              <a:chExt cx="4500246" cy="718135"/>
            </a:xfrm>
          </p:grpSpPr>
          <p:sp>
            <p:nvSpPr>
              <p:cNvPr id="55" name="文本框 66">
                <a:extLst/>
              </p:cNvPr>
              <p:cNvSpPr txBox="1">
                <a:spLocks noChangeArrowheads="1"/>
              </p:cNvSpPr>
              <p:nvPr/>
            </p:nvSpPr>
            <p:spPr bwMode="auto">
              <a:xfrm>
                <a:off x="3966308" y="1692543"/>
                <a:ext cx="4258964" cy="461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spcBef>
                    <a:spcPts val="0"/>
                  </a:spcBef>
                  <a:spcAft>
                    <a:spcPts val="0"/>
                  </a:spcAft>
                  <a:defRPr/>
                </a:pPr>
                <a:endParaRPr lang="zh-CN" altLang="en-US" sz="2400" b="1" kern="0">
                  <a:solidFill>
                    <a:srgbClr val="4F4F4F"/>
                  </a:solidFill>
                  <a:latin typeface="+mn-lt"/>
                  <a:ea typeface="+mn-ea"/>
                  <a:cs typeface="+mn-ea"/>
                  <a:sym typeface="+mn-lt"/>
                </a:endParaRPr>
              </a:p>
            </p:txBody>
          </p:sp>
          <p:sp>
            <p:nvSpPr>
              <p:cNvPr id="56" name="矩形 55">
                <a:extLst/>
              </p:cNvPr>
              <p:cNvSpPr/>
              <p:nvPr/>
            </p:nvSpPr>
            <p:spPr>
              <a:xfrm>
                <a:off x="3936148" y="2133752"/>
                <a:ext cx="4500246" cy="276926"/>
              </a:xfrm>
              <a:prstGeom prst="rect">
                <a:avLst/>
              </a:prstGeom>
            </p:spPr>
            <p:txBody>
              <a:bodyPr>
                <a:spAutoFit/>
              </a:bodyPr>
              <a:lstStyle/>
              <a:p>
                <a:pPr eaLnBrk="1" fontAlgn="auto" hangingPunct="1">
                  <a:spcBef>
                    <a:spcPts val="0"/>
                  </a:spcBef>
                  <a:spcAft>
                    <a:spcPts val="0"/>
                  </a:spcAft>
                  <a:defRPr/>
                </a:pPr>
                <a:endParaRPr lang="zh-CN" altLang="en-US" sz="1200" kern="0">
                  <a:solidFill>
                    <a:srgbClr val="4F4F4F"/>
                  </a:solidFill>
                  <a:latin typeface="+mn-lt"/>
                  <a:ea typeface="+mn-ea"/>
                  <a:cs typeface="+mn-ea"/>
                  <a:sym typeface="+mn-lt"/>
                </a:endParaRPr>
              </a:p>
            </p:txBody>
          </p:sp>
        </p:grpSp>
        <p:sp>
          <p:nvSpPr>
            <p:cNvPr id="53" name="矩形 3">
              <a:extLst/>
            </p:cNvPr>
            <p:cNvSpPr>
              <a:spLocks noChangeArrowheads="1"/>
            </p:cNvSpPr>
            <p:nvPr/>
          </p:nvSpPr>
          <p:spPr bwMode="auto">
            <a:xfrm>
              <a:off x="6931323" y="4487442"/>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sp>
          <p:nvSpPr>
            <p:cNvPr id="54" name="矩形 3">
              <a:extLst/>
            </p:cNvPr>
            <p:cNvSpPr>
              <a:spLocks noChangeArrowheads="1"/>
            </p:cNvSpPr>
            <p:nvPr/>
          </p:nvSpPr>
          <p:spPr bwMode="auto">
            <a:xfrm>
              <a:off x="6931323" y="5273048"/>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grpSp>
      <p:sp>
        <p:nvSpPr>
          <p:cNvPr id="19" name="文本框 18">
            <a:extLst>
              <a:ext uri="{FF2B5EF4-FFF2-40B4-BE49-F238E27FC236}">
                <a16:creationId xmlns:a16="http://schemas.microsoft.com/office/drawing/2014/main" id="{AEE01461-EC3B-414C-A38D-6413179E4729}"/>
              </a:ext>
            </a:extLst>
          </p:cNvPr>
          <p:cNvSpPr txBox="1"/>
          <p:nvPr/>
        </p:nvSpPr>
        <p:spPr>
          <a:xfrm>
            <a:off x="6479416" y="2691339"/>
            <a:ext cx="3600400" cy="2926486"/>
          </a:xfrm>
          <a:prstGeom prst="rect">
            <a:avLst/>
          </a:prstGeom>
          <a:noFill/>
        </p:spPr>
        <p:txBody>
          <a:bodyPr wrap="square" rtlCol="0">
            <a:spAutoFit/>
          </a:bodyPr>
          <a:lstStyle/>
          <a:p>
            <a:endParaRPr lang="zh-CN" altLang="en-US"/>
          </a:p>
        </p:txBody>
      </p:sp>
      <p:sp>
        <p:nvSpPr>
          <p:cNvPr id="5" name="文本框 4">
            <a:extLst>
              <a:ext uri="{FF2B5EF4-FFF2-40B4-BE49-F238E27FC236}">
                <a16:creationId xmlns:a16="http://schemas.microsoft.com/office/drawing/2014/main" id="{48D59AAB-31AD-4E45-A027-B78180DBC380}"/>
              </a:ext>
            </a:extLst>
          </p:cNvPr>
          <p:cNvSpPr txBox="1"/>
          <p:nvPr/>
        </p:nvSpPr>
        <p:spPr>
          <a:xfrm>
            <a:off x="1697303" y="4334604"/>
            <a:ext cx="3705759" cy="1631216"/>
          </a:xfrm>
          <a:prstGeom prst="rect">
            <a:avLst/>
          </a:prstGeom>
          <a:noFill/>
        </p:spPr>
        <p:txBody>
          <a:bodyPr wrap="square" rtlCol="0">
            <a:spAutoFit/>
          </a:bodyPr>
          <a:lstStyle/>
          <a:p>
            <a:r>
              <a:rPr lang="zh-CN" altLang="en-US" sz="4000" b="1"/>
              <a:t>壳聚糖</a:t>
            </a:r>
            <a:r>
              <a:rPr lang="zh-CN" altLang="en-US" sz="1400" b="1">
                <a:latin typeface="+mn-ea"/>
                <a:ea typeface="+mn-ea"/>
              </a:rPr>
              <a:t>（</a:t>
            </a:r>
            <a:r>
              <a:rPr lang="en-US" altLang="zh-CN" sz="1400" b="1">
                <a:latin typeface="+mn-ea"/>
                <a:ea typeface="+mn-ea"/>
              </a:rPr>
              <a:t>Chitosan</a:t>
            </a:r>
            <a:r>
              <a:rPr lang="zh-CN" altLang="en-US" sz="1400" b="1">
                <a:latin typeface="+mn-ea"/>
                <a:ea typeface="+mn-ea"/>
              </a:rPr>
              <a:t>）</a:t>
            </a:r>
            <a:endParaRPr lang="en-US" altLang="zh-CN" sz="1400" b="1">
              <a:latin typeface="+mn-ea"/>
              <a:ea typeface="+mn-ea"/>
            </a:endParaRPr>
          </a:p>
          <a:p>
            <a:r>
              <a:rPr lang="zh-CN" altLang="en-US" sz="1400">
                <a:latin typeface="+mj-ea"/>
                <a:ea typeface="+mj-ea"/>
              </a:rPr>
              <a:t>结合吲哚酚，阻止硫酸吲哚酚增多；这一作用类似活性炭。</a:t>
            </a:r>
            <a:r>
              <a:rPr lang="zh-CN" altLang="en-US" sz="1400">
                <a:solidFill>
                  <a:schemeClr val="tx1">
                    <a:lumMod val="85000"/>
                    <a:lumOff val="15000"/>
                  </a:schemeClr>
                </a:solidFill>
                <a:effectLst>
                  <a:outerShdw blurRad="38100" dist="38100" dir="2700000" algn="tl">
                    <a:srgbClr val="000000">
                      <a:alpha val="43137"/>
                    </a:srgbClr>
                  </a:outerShdw>
                </a:effectLst>
                <a:latin typeface="+mj-ea"/>
                <a:ea typeface="+mj-ea"/>
              </a:rPr>
              <a:t>淘宝任意品牌壳纯壳聚糖胶囊、粉即可</a:t>
            </a:r>
            <a:r>
              <a:rPr lang="en-US" altLang="zh-CN" sz="1400">
                <a:solidFill>
                  <a:schemeClr val="tx1">
                    <a:lumMod val="85000"/>
                    <a:lumOff val="15000"/>
                  </a:schemeClr>
                </a:solidFill>
                <a:effectLst>
                  <a:outerShdw blurRad="38100" dist="38100" dir="2700000" algn="tl">
                    <a:srgbClr val="000000">
                      <a:alpha val="43137"/>
                    </a:srgbClr>
                  </a:outerShdw>
                </a:effectLst>
                <a:latin typeface="+mj-ea"/>
                <a:ea typeface="+mj-ea"/>
              </a:rPr>
              <a:t> </a:t>
            </a:r>
            <a:r>
              <a:rPr lang="zh-CN" altLang="en-US" sz="1400">
                <a:solidFill>
                  <a:schemeClr val="tx1">
                    <a:lumMod val="85000"/>
                    <a:lumOff val="15000"/>
                  </a:schemeClr>
                </a:solidFill>
                <a:effectLst>
                  <a:outerShdw blurRad="38100" dist="38100" dir="2700000" algn="tl">
                    <a:srgbClr val="000000">
                      <a:alpha val="43137"/>
                    </a:srgbClr>
                  </a:outerShdw>
                </a:effectLst>
                <a:latin typeface="+mj-ea"/>
                <a:ea typeface="+mj-ea"/>
              </a:rPr>
              <a:t>。</a:t>
            </a:r>
            <a:r>
              <a:rPr lang="en-US" altLang="zh-CN" sz="1400">
                <a:solidFill>
                  <a:schemeClr val="tx1">
                    <a:lumMod val="85000"/>
                    <a:lumOff val="15000"/>
                  </a:schemeClr>
                </a:solidFill>
                <a:effectLst>
                  <a:outerShdw blurRad="38100" dist="38100" dir="2700000" algn="tl">
                    <a:srgbClr val="000000">
                      <a:alpha val="43137"/>
                    </a:srgbClr>
                  </a:outerShdw>
                </a:effectLst>
                <a:latin typeface="+mj-ea"/>
                <a:ea typeface="+mj-ea"/>
              </a:rPr>
              <a:t>  </a:t>
            </a:r>
          </a:p>
          <a:p>
            <a:endParaRPr lang="zh-CN" altLang="en-US" sz="1400">
              <a:latin typeface="+mj-ea"/>
              <a:ea typeface="+mj-ea"/>
            </a:endParaRPr>
          </a:p>
        </p:txBody>
      </p:sp>
      <p:sp>
        <p:nvSpPr>
          <p:cNvPr id="20" name="文本框 19">
            <a:extLst>
              <a:ext uri="{FF2B5EF4-FFF2-40B4-BE49-F238E27FC236}">
                <a16:creationId xmlns:a16="http://schemas.microsoft.com/office/drawing/2014/main" id="{D87A80B3-FA72-4CDE-A1FD-B5CE5EB3F44C}"/>
              </a:ext>
            </a:extLst>
          </p:cNvPr>
          <p:cNvSpPr txBox="1"/>
          <p:nvPr/>
        </p:nvSpPr>
        <p:spPr>
          <a:xfrm>
            <a:off x="5610468" y="2900402"/>
            <a:ext cx="5454084" cy="3785652"/>
          </a:xfrm>
          <a:prstGeom prst="rect">
            <a:avLst/>
          </a:prstGeom>
          <a:noFill/>
        </p:spPr>
        <p:txBody>
          <a:bodyPr wrap="square" rtlCol="0">
            <a:spAutoFit/>
          </a:bodyPr>
          <a:lstStyle/>
          <a:p>
            <a:pPr marL="800100" lvl="1" indent="-342900">
              <a:buFont typeface="Wingdings" panose="05000000000000000000" pitchFamily="2" charset="2"/>
              <a:buChar char="n"/>
            </a:pPr>
            <a:r>
              <a:rPr lang="zh-CN" altLang="en-US">
                <a:solidFill>
                  <a:schemeClr val="tx1">
                    <a:lumMod val="85000"/>
                    <a:lumOff val="15000"/>
                  </a:schemeClr>
                </a:solidFill>
                <a:effectLst>
                  <a:outerShdw blurRad="38100" dist="38100" dir="2700000" algn="tl">
                    <a:srgbClr val="000000">
                      <a:alpha val="43137"/>
                    </a:srgbClr>
                  </a:outerShdw>
                </a:effectLst>
                <a:latin typeface="+mj-ea"/>
                <a:ea typeface="+mj-ea"/>
              </a:rPr>
              <a:t>临床实验中，服用一个月后在人身上产生了肌酐、尿素氮下降效果。</a:t>
            </a:r>
            <a:endParaRPr lang="en-US" altLang="zh-CN">
              <a:solidFill>
                <a:schemeClr val="tx1">
                  <a:lumMod val="85000"/>
                  <a:lumOff val="15000"/>
                </a:schemeClr>
              </a:solidFill>
              <a:effectLst>
                <a:outerShdw blurRad="38100" dist="38100" dir="2700000" algn="tl">
                  <a:srgbClr val="000000">
                    <a:alpha val="43137"/>
                  </a:srgbClr>
                </a:outerShdw>
              </a:effectLst>
              <a:latin typeface="+mj-ea"/>
              <a:ea typeface="+mj-ea"/>
            </a:endParaRPr>
          </a:p>
          <a:p>
            <a:pPr lvl="1"/>
            <a:r>
              <a:rPr lang="zh-CN" altLang="en-US" sz="1000">
                <a:solidFill>
                  <a:schemeClr val="tx1">
                    <a:lumMod val="85000"/>
                    <a:lumOff val="15000"/>
                  </a:schemeClr>
                </a:solidFill>
                <a:effectLst>
                  <a:outerShdw blurRad="38100" dist="38100" dir="2700000" algn="tl">
                    <a:srgbClr val="000000">
                      <a:alpha val="43137"/>
                    </a:srgbClr>
                  </a:outerShdw>
                </a:effectLst>
                <a:latin typeface="+mj-ea"/>
                <a:ea typeface="+mj-ea"/>
              </a:rPr>
              <a:t>      （</a:t>
            </a:r>
            <a:r>
              <a:rPr lang="en-US" altLang="zh-CN" sz="1000">
                <a:solidFill>
                  <a:schemeClr val="tx1">
                    <a:lumMod val="85000"/>
                    <a:lumOff val="15000"/>
                  </a:schemeClr>
                </a:solidFill>
                <a:effectLst>
                  <a:outerShdw blurRad="38100" dist="38100" dir="2700000" algn="tl">
                    <a:srgbClr val="000000">
                      <a:alpha val="43137"/>
                    </a:srgbClr>
                  </a:outerShdw>
                </a:effectLst>
                <a:latin typeface="+mj-ea"/>
                <a:ea typeface="+mj-ea"/>
              </a:rPr>
              <a:t> </a:t>
            </a:r>
            <a:r>
              <a:rPr lang="en-US" altLang="zh-CN" sz="1000">
                <a:solidFill>
                  <a:schemeClr val="tx1">
                    <a:lumMod val="85000"/>
                    <a:lumOff val="15000"/>
                  </a:schemeClr>
                </a:solidFill>
                <a:effectLst>
                  <a:outerShdw blurRad="38100" dist="38100" dir="2700000" algn="tl">
                    <a:srgbClr val="000000">
                      <a:alpha val="43137"/>
                    </a:srgbClr>
                  </a:outerShdw>
                </a:effectLst>
                <a:latin typeface="+mj-ea"/>
                <a:ea typeface="+mj-ea"/>
                <a:hlinkClick r:id="rId3"/>
              </a:rPr>
              <a:t>https://www.ncbi.nlm.nih.gov/pubmed/9255718</a:t>
            </a:r>
            <a:r>
              <a:rPr lang="zh-CN" altLang="en-US" sz="1000">
                <a:solidFill>
                  <a:schemeClr val="tx1">
                    <a:lumMod val="85000"/>
                    <a:lumOff val="15000"/>
                  </a:schemeClr>
                </a:solidFill>
                <a:effectLst>
                  <a:outerShdw blurRad="38100" dist="38100" dir="2700000" algn="tl">
                    <a:srgbClr val="000000">
                      <a:alpha val="43137"/>
                    </a:srgbClr>
                  </a:outerShdw>
                </a:effectLst>
                <a:latin typeface="+mj-ea"/>
                <a:ea typeface="+mj-ea"/>
              </a:rPr>
              <a:t>）</a:t>
            </a:r>
            <a:endParaRPr lang="en-US" altLang="zh-CN" sz="1000">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a:solidFill>
                  <a:schemeClr val="tx1">
                    <a:lumMod val="85000"/>
                    <a:lumOff val="15000"/>
                  </a:schemeClr>
                </a:solidFill>
                <a:effectLst>
                  <a:outerShdw blurRad="38100" dist="38100" dir="2700000" algn="tl">
                    <a:srgbClr val="000000">
                      <a:alpha val="43137"/>
                    </a:srgbClr>
                  </a:outerShdw>
                </a:effectLst>
                <a:latin typeface="+mj-ea"/>
                <a:ea typeface="+mj-ea"/>
              </a:rPr>
              <a:t>在威隆肾康中有使用，但猫相关实验中剂量可能过低。</a:t>
            </a:r>
            <a:endParaRPr lang="en-US" altLang="zh-CN">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a:solidFill>
                  <a:schemeClr val="tx1">
                    <a:lumMod val="85000"/>
                    <a:lumOff val="15000"/>
                  </a:schemeClr>
                </a:solidFill>
                <a:effectLst>
                  <a:outerShdw blurRad="38100" dist="38100" dir="2700000" algn="tl">
                    <a:srgbClr val="000000">
                      <a:alpha val="43137"/>
                    </a:srgbClr>
                  </a:outerShdw>
                </a:effectLst>
                <a:latin typeface="+mj-ea"/>
                <a:ea typeface="+mj-ea"/>
              </a:rPr>
              <a:t>参考人实验所用剂量，建议每只猫服用量</a:t>
            </a:r>
            <a:r>
              <a:rPr lang="en-US" altLang="zh-CN">
                <a:solidFill>
                  <a:schemeClr val="tx1">
                    <a:lumMod val="85000"/>
                    <a:lumOff val="15000"/>
                  </a:schemeClr>
                </a:solidFill>
                <a:effectLst>
                  <a:outerShdw blurRad="38100" dist="38100" dir="2700000" algn="tl">
                    <a:srgbClr val="000000">
                      <a:alpha val="43137"/>
                    </a:srgbClr>
                  </a:outerShdw>
                </a:effectLst>
                <a:latin typeface="+mj-ea"/>
                <a:ea typeface="+mj-ea"/>
              </a:rPr>
              <a:t>50mg/</a:t>
            </a:r>
            <a:r>
              <a:rPr lang="zh-CN" altLang="en-US">
                <a:solidFill>
                  <a:schemeClr val="tx1">
                    <a:lumMod val="85000"/>
                    <a:lumOff val="15000"/>
                  </a:schemeClr>
                </a:solidFill>
                <a:effectLst>
                  <a:outerShdw blurRad="38100" dist="38100" dir="2700000" algn="tl">
                    <a:srgbClr val="000000">
                      <a:alpha val="43137"/>
                    </a:srgbClr>
                  </a:outerShdw>
                </a:effectLst>
                <a:latin typeface="+mj-ea"/>
                <a:ea typeface="+mj-ea"/>
              </a:rPr>
              <a:t>次，一天</a:t>
            </a:r>
            <a:r>
              <a:rPr lang="en-US" altLang="zh-CN">
                <a:solidFill>
                  <a:schemeClr val="tx1">
                    <a:lumMod val="85000"/>
                    <a:lumOff val="15000"/>
                  </a:schemeClr>
                </a:solidFill>
                <a:effectLst>
                  <a:outerShdw blurRad="38100" dist="38100" dir="2700000" algn="tl">
                    <a:srgbClr val="000000">
                      <a:alpha val="43137"/>
                    </a:srgbClr>
                  </a:outerShdw>
                </a:effectLst>
                <a:latin typeface="+mj-ea"/>
                <a:ea typeface="+mj-ea"/>
              </a:rPr>
              <a:t>2-3</a:t>
            </a:r>
            <a:r>
              <a:rPr lang="zh-CN" altLang="en-US">
                <a:solidFill>
                  <a:schemeClr val="tx1">
                    <a:lumMod val="85000"/>
                    <a:lumOff val="15000"/>
                  </a:schemeClr>
                </a:solidFill>
                <a:effectLst>
                  <a:outerShdw blurRad="38100" dist="38100" dir="2700000" algn="tl">
                    <a:srgbClr val="000000">
                      <a:alpha val="43137"/>
                    </a:srgbClr>
                  </a:outerShdw>
                </a:effectLst>
                <a:latin typeface="+mj-ea"/>
                <a:ea typeface="+mj-ea"/>
              </a:rPr>
              <a:t>次。</a:t>
            </a:r>
            <a:endParaRPr lang="en-US" altLang="zh-CN">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endParaRPr lang="en-US" altLang="zh-CN">
              <a:solidFill>
                <a:schemeClr val="tx1">
                  <a:lumMod val="85000"/>
                  <a:lumOff val="15000"/>
                </a:schemeClr>
              </a:solidFill>
              <a:effectLst>
                <a:outerShdw blurRad="38100" dist="38100" dir="2700000" algn="tl">
                  <a:srgbClr val="000000">
                    <a:alpha val="43137"/>
                  </a:srgbClr>
                </a:outerShdw>
              </a:effectLst>
              <a:latin typeface="+mj-ea"/>
              <a:ea typeface="+mj-ea"/>
            </a:endParaRPr>
          </a:p>
          <a:p>
            <a:pPr lvl="1"/>
            <a:endParaRPr lang="en-US" altLang="zh-CN">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u"/>
            </a:pPr>
            <a:r>
              <a:rPr lang="zh-CN" altLang="en-US">
                <a:solidFill>
                  <a:srgbClr val="C00000"/>
                </a:solidFill>
                <a:effectLst>
                  <a:outerShdw blurRad="38100" dist="38100" dir="2700000" algn="tl">
                    <a:srgbClr val="000000">
                      <a:alpha val="43137"/>
                    </a:srgbClr>
                  </a:outerShdw>
                </a:effectLst>
                <a:latin typeface="+mj-ea"/>
                <a:ea typeface="+mj-ea"/>
              </a:rPr>
              <a:t>海产过敏慎用。可能导致胀气</a:t>
            </a:r>
            <a:r>
              <a:rPr lang="en-US" altLang="zh-CN" sz="1600">
                <a:solidFill>
                  <a:srgbClr val="C00000"/>
                </a:solidFill>
                <a:effectLst>
                  <a:outerShdw blurRad="38100" dist="38100" dir="2700000" algn="tl">
                    <a:srgbClr val="000000">
                      <a:alpha val="43137"/>
                    </a:srgbClr>
                  </a:outerShdw>
                </a:effectLst>
                <a:latin typeface="+mj-ea"/>
                <a:ea typeface="+mj-ea"/>
              </a:rPr>
              <a:t> </a:t>
            </a:r>
            <a:r>
              <a:rPr lang="zh-CN" altLang="en-US" sz="1600">
                <a:solidFill>
                  <a:srgbClr val="C00000"/>
                </a:solidFill>
                <a:effectLst>
                  <a:outerShdw blurRad="38100" dist="38100" dir="2700000" algn="tl">
                    <a:srgbClr val="000000">
                      <a:alpha val="43137"/>
                    </a:srgbClr>
                  </a:outerShdw>
                </a:effectLst>
                <a:latin typeface="+mj-ea"/>
                <a:ea typeface="+mj-ea"/>
              </a:rPr>
              <a:t>，</a:t>
            </a:r>
            <a:r>
              <a:rPr lang="zh-CN" altLang="en-US">
                <a:solidFill>
                  <a:srgbClr val="C00000"/>
                </a:solidFill>
                <a:effectLst>
                  <a:outerShdw blurRad="38100" dist="38100" dir="2700000" algn="tl">
                    <a:srgbClr val="000000">
                      <a:alpha val="43137"/>
                    </a:srgbClr>
                  </a:outerShdw>
                </a:effectLst>
                <a:latin typeface="+mj-ea"/>
                <a:ea typeface="+mj-ea"/>
              </a:rPr>
              <a:t>酌情停用或减半。</a:t>
            </a:r>
            <a:endParaRPr lang="en-US" altLang="zh-CN">
              <a:solidFill>
                <a:srgbClr val="C00000"/>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lvl="1"/>
            <a:endParaRPr lang="en-US" altLang="zh-CN" sz="1600" b="1">
              <a:solidFill>
                <a:schemeClr val="bg1">
                  <a:lumMod val="95000"/>
                </a:schemeClr>
              </a:solidFill>
              <a:effectLst>
                <a:outerShdw blurRad="38100" dist="38100" dir="2700000" algn="tl">
                  <a:srgbClr val="000000">
                    <a:alpha val="43137"/>
                  </a:srgbClr>
                </a:outerShdw>
              </a:effectLst>
              <a:latin typeface="+mj-ea"/>
              <a:ea typeface="+mj-ea"/>
            </a:endParaRPr>
          </a:p>
          <a:p>
            <a:pPr lvl="1"/>
            <a:endParaRPr lang="en-US" altLang="zh-CN" sz="1600" b="1">
              <a:solidFill>
                <a:schemeClr val="bg1"/>
              </a:solidFill>
              <a:effectLst>
                <a:outerShdw blurRad="38100" dist="38100" dir="2700000" algn="tl">
                  <a:srgbClr val="000000">
                    <a:alpha val="43137"/>
                  </a:srgbClr>
                </a:outerShdw>
              </a:effectLst>
              <a:latin typeface="+mj-ea"/>
              <a:ea typeface="+mj-ea"/>
            </a:endParaRPr>
          </a:p>
        </p:txBody>
      </p:sp>
      <p:sp>
        <p:nvSpPr>
          <p:cNvPr id="22" name="文本框 21">
            <a:extLst>
              <a:ext uri="{FF2B5EF4-FFF2-40B4-BE49-F238E27FC236}">
                <a16:creationId xmlns:a16="http://schemas.microsoft.com/office/drawing/2014/main" id="{8680B877-2955-48DE-9D87-E34A49E6BB54}"/>
              </a:ext>
            </a:extLst>
          </p:cNvPr>
          <p:cNvSpPr txBox="1"/>
          <p:nvPr/>
        </p:nvSpPr>
        <p:spPr>
          <a:xfrm>
            <a:off x="3466675" y="1663473"/>
            <a:ext cx="7975187" cy="584775"/>
          </a:xfrm>
          <a:prstGeom prst="rect">
            <a:avLst/>
          </a:prstGeom>
          <a:noFill/>
        </p:spPr>
        <p:txBody>
          <a:bodyPr wrap="square" rtlCol="0">
            <a:spAutoFit/>
          </a:bodyPr>
          <a:lstStyle/>
          <a:p>
            <a:pPr lvl="1"/>
            <a:endParaRPr lang="en-US" altLang="zh-CN" sz="1600" b="1">
              <a:solidFill>
                <a:schemeClr val="bg1">
                  <a:lumMod val="95000"/>
                </a:schemeClr>
              </a:solidFill>
              <a:effectLst>
                <a:outerShdw blurRad="38100" dist="38100" dir="2700000" algn="tl">
                  <a:srgbClr val="000000">
                    <a:alpha val="43137"/>
                  </a:srgbClr>
                </a:outerShdw>
              </a:effectLst>
              <a:latin typeface="+mj-ea"/>
              <a:ea typeface="+mj-ea"/>
            </a:endParaRPr>
          </a:p>
          <a:p>
            <a:pPr lvl="1"/>
            <a:endParaRPr lang="en-US" altLang="zh-CN" sz="1600" b="1">
              <a:solidFill>
                <a:schemeClr val="bg1"/>
              </a:solidFill>
              <a:effectLst>
                <a:outerShdw blurRad="38100" dist="38100" dir="2700000" algn="tl">
                  <a:srgbClr val="000000">
                    <a:alpha val="43137"/>
                  </a:srgbClr>
                </a:outerShdw>
              </a:effectLst>
              <a:latin typeface="+mj-ea"/>
              <a:ea typeface="+mj-ea"/>
            </a:endParaRPr>
          </a:p>
        </p:txBody>
      </p:sp>
      <p:cxnSp>
        <p:nvCxnSpPr>
          <p:cNvPr id="23" name="直接连接符 22">
            <a:extLst>
              <a:ext uri="{FF2B5EF4-FFF2-40B4-BE49-F238E27FC236}">
                <a16:creationId xmlns:a16="http://schemas.microsoft.com/office/drawing/2014/main" id="{A6ED08FA-2943-4D08-91B5-062B4352A4BC}"/>
              </a:ext>
            </a:extLst>
          </p:cNvPr>
          <p:cNvCxnSpPr/>
          <p:nvPr/>
        </p:nvCxnSpPr>
        <p:spPr>
          <a:xfrm flipH="1">
            <a:off x="5641447" y="3159730"/>
            <a:ext cx="19050" cy="1079500"/>
          </a:xfrm>
          <a:prstGeom prst="line">
            <a:avLst/>
          </a:prstGeom>
          <a:ln w="50800">
            <a:solidFill>
              <a:srgbClr val="4F4F4F"/>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6129AE1E-0F85-4B41-AAEC-F654B68C0D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6390" y="2061439"/>
            <a:ext cx="5112604" cy="2320429"/>
          </a:xfrm>
          <a:prstGeom prst="rect">
            <a:avLst/>
          </a:prstGeom>
        </p:spPr>
      </p:pic>
    </p:spTree>
    <p:extLst>
      <p:ext uri="{BB962C8B-B14F-4D97-AF65-F5344CB8AC3E}">
        <p14:creationId xmlns:p14="http://schemas.microsoft.com/office/powerpoint/2010/main" val="176888257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p:cNvPr>
          <p:cNvGrpSpPr/>
          <p:nvPr/>
        </p:nvGrpSpPr>
        <p:grpSpPr>
          <a:xfrm>
            <a:off x="4850109" y="678004"/>
            <a:ext cx="7320137" cy="1035882"/>
            <a:chOff x="8112223" y="330677"/>
            <a:chExt cx="4194115" cy="1035882"/>
          </a:xfrm>
          <a:effectLst>
            <a:outerShdw blurRad="50800" dist="38100" dir="5400000" algn="t" rotWithShape="0">
              <a:prstClr val="black">
                <a:alpha val="40000"/>
              </a:prstClr>
            </a:outerShdw>
          </a:effectLst>
        </p:grpSpPr>
        <p:sp>
          <p:nvSpPr>
            <p:cNvPr id="27"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8281096" y="330677"/>
              <a:ext cx="3973218" cy="985057"/>
              <a:chOff x="-461843" y="2729730"/>
              <a:chExt cx="4679923" cy="1377463"/>
            </a:xfrm>
          </p:grpSpPr>
          <p:sp>
            <p:nvSpPr>
              <p:cNvPr id="29"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1355254" y="3048121"/>
                <a:ext cx="2862826" cy="81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latin typeface="+mn-lt"/>
                    <a:ea typeface="+mn-ea"/>
                    <a:cs typeface="+mn-ea"/>
                    <a:sym typeface="+mn-lt"/>
                  </a:rPr>
                  <a:t>口服吸附剂：活性炭</a:t>
                </a:r>
                <a:endParaRPr lang="en-US" altLang="zh-CN" sz="2400" b="1">
                  <a:solidFill>
                    <a:srgbClr val="010101"/>
                  </a:solidFill>
                  <a:latin typeface="+mn-lt"/>
                  <a:ea typeface="+mn-ea"/>
                  <a:cs typeface="+mn-ea"/>
                  <a:sym typeface="+mn-lt"/>
                </a:endParaRPr>
              </a:p>
            </p:txBody>
          </p:sp>
          <p:cxnSp>
            <p:nvCxnSpPr>
              <p:cNvPr id="31" name="直接连接符 30">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506334" y="3461620"/>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grpSp>
        <p:nvGrpSpPr>
          <p:cNvPr id="37893" name="组合 1"/>
          <p:cNvGrpSpPr>
            <a:grpSpLocks/>
          </p:cNvGrpSpPr>
          <p:nvPr/>
        </p:nvGrpSpPr>
        <p:grpSpPr bwMode="auto">
          <a:xfrm>
            <a:off x="1033736" y="2752635"/>
            <a:ext cx="4865878" cy="2973190"/>
            <a:chOff x="6931323" y="2608336"/>
            <a:chExt cx="4500246" cy="2972408"/>
          </a:xfrm>
        </p:grpSpPr>
        <p:grpSp>
          <p:nvGrpSpPr>
            <p:cNvPr id="37894" name="组合 14"/>
            <p:cNvGrpSpPr>
              <a:grpSpLocks/>
            </p:cNvGrpSpPr>
            <p:nvPr/>
          </p:nvGrpSpPr>
          <p:grpSpPr bwMode="auto">
            <a:xfrm>
              <a:off x="6931323" y="2608336"/>
              <a:ext cx="4500246" cy="718135"/>
              <a:chOff x="3936148" y="1692543"/>
              <a:chExt cx="4500246" cy="718135"/>
            </a:xfrm>
          </p:grpSpPr>
          <p:sp>
            <p:nvSpPr>
              <p:cNvPr id="55" name="文本框 66">
                <a:extLst/>
              </p:cNvPr>
              <p:cNvSpPr txBox="1">
                <a:spLocks noChangeArrowheads="1"/>
              </p:cNvSpPr>
              <p:nvPr/>
            </p:nvSpPr>
            <p:spPr bwMode="auto">
              <a:xfrm>
                <a:off x="3966308" y="1692543"/>
                <a:ext cx="4258964" cy="461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spcBef>
                    <a:spcPts val="0"/>
                  </a:spcBef>
                  <a:spcAft>
                    <a:spcPts val="0"/>
                  </a:spcAft>
                  <a:defRPr/>
                </a:pPr>
                <a:endParaRPr lang="zh-CN" altLang="en-US" sz="2400" b="1" kern="0">
                  <a:solidFill>
                    <a:srgbClr val="4F4F4F"/>
                  </a:solidFill>
                  <a:latin typeface="+mn-lt"/>
                  <a:ea typeface="+mn-ea"/>
                  <a:cs typeface="+mn-ea"/>
                  <a:sym typeface="+mn-lt"/>
                </a:endParaRPr>
              </a:p>
            </p:txBody>
          </p:sp>
          <p:sp>
            <p:nvSpPr>
              <p:cNvPr id="56" name="矩形 55">
                <a:extLst/>
              </p:cNvPr>
              <p:cNvSpPr/>
              <p:nvPr/>
            </p:nvSpPr>
            <p:spPr>
              <a:xfrm>
                <a:off x="3936148" y="2133752"/>
                <a:ext cx="4500246" cy="276926"/>
              </a:xfrm>
              <a:prstGeom prst="rect">
                <a:avLst/>
              </a:prstGeom>
            </p:spPr>
            <p:txBody>
              <a:bodyPr>
                <a:spAutoFit/>
              </a:bodyPr>
              <a:lstStyle/>
              <a:p>
                <a:pPr eaLnBrk="1" fontAlgn="auto" hangingPunct="1">
                  <a:spcBef>
                    <a:spcPts val="0"/>
                  </a:spcBef>
                  <a:spcAft>
                    <a:spcPts val="0"/>
                  </a:spcAft>
                  <a:defRPr/>
                </a:pPr>
                <a:endParaRPr lang="zh-CN" altLang="en-US" sz="1200" kern="0">
                  <a:solidFill>
                    <a:srgbClr val="4F4F4F"/>
                  </a:solidFill>
                  <a:latin typeface="+mn-lt"/>
                  <a:ea typeface="+mn-ea"/>
                  <a:cs typeface="+mn-ea"/>
                  <a:sym typeface="+mn-lt"/>
                </a:endParaRPr>
              </a:p>
            </p:txBody>
          </p:sp>
        </p:grpSp>
        <p:sp>
          <p:nvSpPr>
            <p:cNvPr id="53" name="矩形 3">
              <a:extLst/>
            </p:cNvPr>
            <p:cNvSpPr>
              <a:spLocks noChangeArrowheads="1"/>
            </p:cNvSpPr>
            <p:nvPr/>
          </p:nvSpPr>
          <p:spPr bwMode="auto">
            <a:xfrm>
              <a:off x="6931323" y="4487442"/>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sp>
          <p:nvSpPr>
            <p:cNvPr id="54" name="矩形 3">
              <a:extLst/>
            </p:cNvPr>
            <p:cNvSpPr>
              <a:spLocks noChangeArrowheads="1"/>
            </p:cNvSpPr>
            <p:nvPr/>
          </p:nvSpPr>
          <p:spPr bwMode="auto">
            <a:xfrm>
              <a:off x="6931323" y="5273048"/>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grpSp>
      <p:sp>
        <p:nvSpPr>
          <p:cNvPr id="19" name="文本框 18">
            <a:extLst>
              <a:ext uri="{FF2B5EF4-FFF2-40B4-BE49-F238E27FC236}">
                <a16:creationId xmlns:a16="http://schemas.microsoft.com/office/drawing/2014/main" id="{AEE01461-EC3B-414C-A38D-6413179E4729}"/>
              </a:ext>
            </a:extLst>
          </p:cNvPr>
          <p:cNvSpPr txBox="1"/>
          <p:nvPr/>
        </p:nvSpPr>
        <p:spPr>
          <a:xfrm>
            <a:off x="6519676" y="2697326"/>
            <a:ext cx="3600400" cy="2926486"/>
          </a:xfrm>
          <a:prstGeom prst="rect">
            <a:avLst/>
          </a:prstGeom>
          <a:noFill/>
        </p:spPr>
        <p:txBody>
          <a:bodyPr wrap="square" rtlCol="0">
            <a:spAutoFit/>
          </a:bodyPr>
          <a:lstStyle/>
          <a:p>
            <a:endParaRPr lang="zh-CN" altLang="en-US"/>
          </a:p>
        </p:txBody>
      </p:sp>
      <p:sp>
        <p:nvSpPr>
          <p:cNvPr id="20" name="文本框 19">
            <a:extLst>
              <a:ext uri="{FF2B5EF4-FFF2-40B4-BE49-F238E27FC236}">
                <a16:creationId xmlns:a16="http://schemas.microsoft.com/office/drawing/2014/main" id="{D87A80B3-FA72-4CDE-A1FD-B5CE5EB3F44C}"/>
              </a:ext>
            </a:extLst>
          </p:cNvPr>
          <p:cNvSpPr txBox="1"/>
          <p:nvPr/>
        </p:nvSpPr>
        <p:spPr>
          <a:xfrm>
            <a:off x="5535261" y="2163291"/>
            <a:ext cx="6393387" cy="2954655"/>
          </a:xfrm>
          <a:prstGeom prst="rect">
            <a:avLst/>
          </a:prstGeom>
          <a:noFill/>
        </p:spPr>
        <p:txBody>
          <a:bodyPr wrap="square" rtlCol="0">
            <a:spAutoFit/>
          </a:bodyPr>
          <a:lstStyle/>
          <a:p>
            <a:pPr marL="800100" lvl="1" indent="-342900">
              <a:buFont typeface="Wingdings" panose="05000000000000000000" pitchFamily="2" charset="2"/>
              <a:buChar char="n"/>
            </a:pP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a:solidFill>
                  <a:schemeClr val="tx1">
                    <a:lumMod val="85000"/>
                    <a:lumOff val="15000"/>
                  </a:schemeClr>
                </a:solidFill>
                <a:effectLst>
                  <a:outerShdw blurRad="38100" dist="38100" dir="2700000" algn="tl">
                    <a:srgbClr val="000000">
                      <a:alpha val="43137"/>
                    </a:srgbClr>
                  </a:outerShdw>
                </a:effectLst>
                <a:latin typeface="+mj-ea"/>
                <a:ea typeface="+mj-ea"/>
              </a:rPr>
              <a:t>市面上有多种肾病用活性碳。如人用的爱西特碳片</a:t>
            </a:r>
            <a:r>
              <a:rPr lang="en-US" altLang="zh-CN">
                <a:solidFill>
                  <a:schemeClr val="tx1">
                    <a:lumMod val="85000"/>
                    <a:lumOff val="15000"/>
                  </a:schemeClr>
                </a:solidFill>
                <a:effectLst>
                  <a:outerShdw blurRad="38100" dist="38100" dir="2700000" algn="tl">
                    <a:srgbClr val="000000">
                      <a:alpha val="43137"/>
                    </a:srgbClr>
                  </a:outerShdw>
                </a:effectLst>
                <a:latin typeface="+mj-ea"/>
                <a:ea typeface="+mj-ea"/>
              </a:rPr>
              <a:t>/</a:t>
            </a:r>
            <a:r>
              <a:rPr lang="zh-CN" altLang="en-US">
                <a:solidFill>
                  <a:schemeClr val="tx1">
                    <a:lumMod val="85000"/>
                    <a:lumOff val="15000"/>
                  </a:schemeClr>
                </a:solidFill>
                <a:effectLst>
                  <a:outerShdw blurRad="38100" dist="38100" dir="2700000" algn="tl">
                    <a:srgbClr val="000000">
                      <a:alpha val="43137"/>
                    </a:srgbClr>
                  </a:outerShdw>
                </a:effectLst>
                <a:latin typeface="+mj-ea"/>
                <a:ea typeface="+mj-ea"/>
              </a:rPr>
              <a:t>胶囊，或日本产的猫用产品</a:t>
            </a:r>
            <a:r>
              <a:rPr lang="en-US" altLang="zh-CN">
                <a:effectLst>
                  <a:outerShdw blurRad="38100" dist="38100" dir="2700000" algn="tl">
                    <a:srgbClr val="000000">
                      <a:alpha val="43137"/>
                    </a:srgbClr>
                  </a:outerShdw>
                </a:effectLst>
                <a:latin typeface="+mj-ea"/>
                <a:ea typeface="+mj-ea"/>
              </a:rPr>
              <a:t>Nefguard</a:t>
            </a:r>
            <a:r>
              <a:rPr lang="zh-CN" altLang="en-US">
                <a:effectLst>
                  <a:outerShdw blurRad="38100" dist="38100" dir="2700000" algn="tl">
                    <a:srgbClr val="000000">
                      <a:alpha val="43137"/>
                    </a:srgbClr>
                  </a:outerShdw>
                </a:effectLst>
                <a:latin typeface="+mj-ea"/>
                <a:ea typeface="+mj-ea"/>
              </a:rPr>
              <a:t>、</a:t>
            </a:r>
            <a:r>
              <a:rPr lang="en-US" altLang="zh-CN">
                <a:effectLst>
                  <a:outerShdw blurRad="38100" dist="38100" dir="2700000" algn="tl">
                    <a:srgbClr val="000000">
                      <a:alpha val="43137"/>
                    </a:srgbClr>
                  </a:outerShdw>
                </a:effectLst>
                <a:latin typeface="+mj-ea"/>
                <a:ea typeface="+mj-ea"/>
              </a:rPr>
              <a:t> Covalzin</a:t>
            </a:r>
            <a:r>
              <a:rPr lang="zh-CN" altLang="en-US">
                <a:effectLst>
                  <a:outerShdw blurRad="38100" dist="38100" dir="2700000" algn="tl">
                    <a:srgbClr val="000000">
                      <a:alpha val="43137"/>
                    </a:srgbClr>
                  </a:outerShdw>
                </a:effectLst>
                <a:latin typeface="+mj-ea"/>
                <a:ea typeface="+mj-ea"/>
              </a:rPr>
              <a:t>（即</a:t>
            </a:r>
            <a:r>
              <a:rPr lang="en-US" altLang="zh-CN">
                <a:effectLst>
                  <a:outerShdw blurRad="38100" dist="38100" dir="2700000" algn="tl">
                    <a:srgbClr val="000000">
                      <a:alpha val="43137"/>
                    </a:srgbClr>
                  </a:outerShdw>
                </a:effectLst>
                <a:latin typeface="+mj-ea"/>
                <a:ea typeface="+mj-ea"/>
              </a:rPr>
              <a:t>AST-120</a:t>
            </a:r>
            <a:r>
              <a:rPr lang="zh-CN" altLang="en-US">
                <a:effectLst>
                  <a:outerShdw blurRad="38100" dist="38100" dir="2700000" algn="tl">
                    <a:srgbClr val="000000">
                      <a:alpha val="43137"/>
                    </a:srgbClr>
                  </a:outerShdw>
                </a:effectLst>
                <a:latin typeface="+mj-ea"/>
                <a:ea typeface="+mj-ea"/>
              </a:rPr>
              <a:t>）。</a:t>
            </a:r>
            <a:endParaRPr lang="en-US" altLang="zh-CN">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a:solidFill>
                  <a:schemeClr val="tx1">
                    <a:lumMod val="85000"/>
                    <a:lumOff val="15000"/>
                  </a:schemeClr>
                </a:solidFill>
                <a:effectLst>
                  <a:outerShdw blurRad="38100" dist="38100" dir="2700000" algn="tl">
                    <a:srgbClr val="000000">
                      <a:alpha val="43137"/>
                    </a:srgbClr>
                  </a:outerShdw>
                </a:effectLst>
                <a:latin typeface="+mj-ea"/>
                <a:ea typeface="+mj-ea"/>
              </a:rPr>
              <a:t>其作用主要是结合肠内小分子毒素。</a:t>
            </a:r>
            <a:endParaRPr lang="en-US" altLang="zh-CN">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a:solidFill>
                  <a:schemeClr val="tx1">
                    <a:lumMod val="85000"/>
                    <a:lumOff val="15000"/>
                  </a:schemeClr>
                </a:solidFill>
                <a:effectLst>
                  <a:outerShdw blurRad="38100" dist="38100" dir="2700000" algn="tl">
                    <a:srgbClr val="000000">
                      <a:alpha val="43137"/>
                    </a:srgbClr>
                  </a:outerShdw>
                </a:effectLst>
                <a:latin typeface="+mj-ea"/>
                <a:ea typeface="+mj-ea"/>
              </a:rPr>
              <a:t>各产品在宣传中标榜的是可吸附分子大小、对消化酶的影响程度有差异，以及导致便秘的几率不同。</a:t>
            </a:r>
            <a:endParaRPr lang="en-US" altLang="zh-CN">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endParaRPr lang="en-US" altLang="zh-CN" sz="1400"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endParaRPr lang="en-US" altLang="zh-CN" sz="1200" b="1">
              <a:solidFill>
                <a:schemeClr val="bg1">
                  <a:lumMod val="95000"/>
                </a:schemeClr>
              </a:solidFill>
              <a:effectLst>
                <a:outerShdw blurRad="38100" dist="38100" dir="2700000" algn="tl">
                  <a:srgbClr val="000000">
                    <a:alpha val="43137"/>
                  </a:srgbClr>
                </a:outerShdw>
              </a:effectLst>
              <a:latin typeface="+mj-ea"/>
              <a:ea typeface="+mj-ea"/>
            </a:endParaRPr>
          </a:p>
          <a:p>
            <a:pPr lvl="1"/>
            <a:endParaRPr lang="en-US" altLang="zh-CN" sz="1600" b="1">
              <a:solidFill>
                <a:schemeClr val="bg1"/>
              </a:solidFill>
              <a:effectLst>
                <a:outerShdw blurRad="38100" dist="38100" dir="2700000" algn="tl">
                  <a:srgbClr val="000000">
                    <a:alpha val="43137"/>
                  </a:srgbClr>
                </a:outerShdw>
              </a:effectLst>
              <a:latin typeface="+mj-ea"/>
              <a:ea typeface="+mj-ea"/>
            </a:endParaRPr>
          </a:p>
        </p:txBody>
      </p:sp>
      <p:sp>
        <p:nvSpPr>
          <p:cNvPr id="22" name="文本框 21">
            <a:extLst>
              <a:ext uri="{FF2B5EF4-FFF2-40B4-BE49-F238E27FC236}">
                <a16:creationId xmlns:a16="http://schemas.microsoft.com/office/drawing/2014/main" id="{8680B877-2955-48DE-9D87-E34A49E6BB54}"/>
              </a:ext>
            </a:extLst>
          </p:cNvPr>
          <p:cNvSpPr txBox="1"/>
          <p:nvPr/>
        </p:nvSpPr>
        <p:spPr>
          <a:xfrm>
            <a:off x="3466675" y="1663473"/>
            <a:ext cx="7975187" cy="584775"/>
          </a:xfrm>
          <a:prstGeom prst="rect">
            <a:avLst/>
          </a:prstGeom>
          <a:noFill/>
        </p:spPr>
        <p:txBody>
          <a:bodyPr wrap="square" rtlCol="0">
            <a:spAutoFit/>
          </a:bodyPr>
          <a:lstStyle/>
          <a:p>
            <a:pPr lvl="1"/>
            <a:endParaRPr lang="en-US" altLang="zh-CN" sz="1600" b="1">
              <a:solidFill>
                <a:schemeClr val="bg1">
                  <a:lumMod val="95000"/>
                </a:schemeClr>
              </a:solidFill>
              <a:effectLst>
                <a:outerShdw blurRad="38100" dist="38100" dir="2700000" algn="tl">
                  <a:srgbClr val="000000">
                    <a:alpha val="43137"/>
                  </a:srgbClr>
                </a:outerShdw>
              </a:effectLst>
              <a:latin typeface="+mj-ea"/>
              <a:ea typeface="+mj-ea"/>
            </a:endParaRPr>
          </a:p>
          <a:p>
            <a:pPr lvl="1"/>
            <a:endParaRPr lang="en-US" altLang="zh-CN" sz="1600" b="1">
              <a:solidFill>
                <a:schemeClr val="bg1"/>
              </a:solidFill>
              <a:effectLst>
                <a:outerShdw blurRad="38100" dist="38100" dir="2700000" algn="tl">
                  <a:srgbClr val="000000">
                    <a:alpha val="43137"/>
                  </a:srgbClr>
                </a:outerShdw>
              </a:effectLst>
              <a:latin typeface="+mj-ea"/>
              <a:ea typeface="+mj-ea"/>
            </a:endParaRPr>
          </a:p>
        </p:txBody>
      </p:sp>
      <p:cxnSp>
        <p:nvCxnSpPr>
          <p:cNvPr id="23" name="直接连接符 22">
            <a:extLst>
              <a:ext uri="{FF2B5EF4-FFF2-40B4-BE49-F238E27FC236}">
                <a16:creationId xmlns:a16="http://schemas.microsoft.com/office/drawing/2014/main" id="{A6ED08FA-2943-4D08-91B5-062B4352A4BC}"/>
              </a:ext>
            </a:extLst>
          </p:cNvPr>
          <p:cNvCxnSpPr/>
          <p:nvPr/>
        </p:nvCxnSpPr>
        <p:spPr>
          <a:xfrm flipH="1">
            <a:off x="5641447" y="3159730"/>
            <a:ext cx="19050" cy="1079500"/>
          </a:xfrm>
          <a:prstGeom prst="line">
            <a:avLst/>
          </a:prstGeom>
          <a:ln w="50800">
            <a:solidFill>
              <a:srgbClr val="4F4F4F"/>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D882554A-66F8-4F39-8C8B-2366C93E7C9D}"/>
              </a:ext>
            </a:extLst>
          </p:cNvPr>
          <p:cNvSpPr txBox="1"/>
          <p:nvPr/>
        </p:nvSpPr>
        <p:spPr>
          <a:xfrm>
            <a:off x="5965172" y="5056728"/>
            <a:ext cx="4154904" cy="830997"/>
          </a:xfrm>
          <a:prstGeom prst="rect">
            <a:avLst/>
          </a:prstGeom>
          <a:noFill/>
        </p:spPr>
        <p:txBody>
          <a:bodyPr wrap="square" rtlCol="0">
            <a:spAutoFit/>
          </a:bodyPr>
          <a:lstStyle/>
          <a:p>
            <a:pPr marL="285750" indent="-285750">
              <a:buFont typeface="Wingdings" panose="05000000000000000000" pitchFamily="2" charset="2"/>
              <a:buChar char="u"/>
            </a:pPr>
            <a:r>
              <a:rPr lang="zh-CN" altLang="en-US" sz="1600" b="1">
                <a:solidFill>
                  <a:schemeClr val="accent2">
                    <a:lumMod val="75000"/>
                  </a:schemeClr>
                </a:solidFill>
                <a:latin typeface="+mj-ea"/>
                <a:ea typeface="+mj-ea"/>
              </a:rPr>
              <a:t>不同程度影响营养吸收</a:t>
            </a:r>
            <a:endParaRPr lang="en-US" altLang="zh-CN" sz="1600" b="1">
              <a:solidFill>
                <a:schemeClr val="accent2">
                  <a:lumMod val="75000"/>
                </a:schemeClr>
              </a:solidFill>
              <a:latin typeface="+mj-ea"/>
              <a:ea typeface="+mj-ea"/>
            </a:endParaRPr>
          </a:p>
          <a:p>
            <a:pPr marL="285750" indent="-285750">
              <a:buFont typeface="Wingdings" panose="05000000000000000000" pitchFamily="2" charset="2"/>
              <a:buChar char="u"/>
            </a:pPr>
            <a:r>
              <a:rPr lang="zh-CN" altLang="en-US" sz="1600" b="1">
                <a:solidFill>
                  <a:schemeClr val="accent2">
                    <a:lumMod val="75000"/>
                  </a:schemeClr>
                </a:solidFill>
                <a:latin typeface="+mj-ea"/>
                <a:ea typeface="+mj-ea"/>
              </a:rPr>
              <a:t>有不同几率造成恶心、呕吐与便秘</a:t>
            </a:r>
            <a:endParaRPr lang="en-US" altLang="zh-CN" sz="1600" b="1">
              <a:solidFill>
                <a:schemeClr val="accent2">
                  <a:lumMod val="75000"/>
                </a:schemeClr>
              </a:solidFill>
              <a:latin typeface="+mj-ea"/>
              <a:ea typeface="+mj-ea"/>
            </a:endParaRPr>
          </a:p>
          <a:p>
            <a:pPr marL="285750" indent="-285750">
              <a:buFont typeface="Wingdings" panose="05000000000000000000" pitchFamily="2" charset="2"/>
              <a:buChar char="u"/>
            </a:pPr>
            <a:r>
              <a:rPr lang="zh-CN" altLang="en-US" sz="1600" b="1">
                <a:solidFill>
                  <a:schemeClr val="accent2">
                    <a:lumMod val="75000"/>
                  </a:schemeClr>
                </a:solidFill>
                <a:latin typeface="+mj-ea"/>
                <a:ea typeface="+mj-ea"/>
              </a:rPr>
              <a:t>使用时机较为尴尬，进口品牌价格高</a:t>
            </a:r>
            <a:endParaRPr lang="en-US" altLang="zh-CN" sz="1600" b="1">
              <a:solidFill>
                <a:schemeClr val="accent2">
                  <a:lumMod val="75000"/>
                </a:schemeClr>
              </a:solidFill>
              <a:latin typeface="+mj-ea"/>
              <a:ea typeface="+mj-ea"/>
            </a:endParaRPr>
          </a:p>
        </p:txBody>
      </p:sp>
      <p:pic>
        <p:nvPicPr>
          <p:cNvPr id="6" name="图片 5">
            <a:extLst>
              <a:ext uri="{FF2B5EF4-FFF2-40B4-BE49-F238E27FC236}">
                <a16:creationId xmlns:a16="http://schemas.microsoft.com/office/drawing/2014/main" id="{C31D600F-9412-4991-AE78-E0AB07E689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7618" y="2769221"/>
            <a:ext cx="1492703" cy="1966103"/>
          </a:xfrm>
          <a:prstGeom prst="rect">
            <a:avLst/>
          </a:prstGeom>
        </p:spPr>
      </p:pic>
      <p:pic>
        <p:nvPicPr>
          <p:cNvPr id="8" name="图片 7">
            <a:extLst>
              <a:ext uri="{FF2B5EF4-FFF2-40B4-BE49-F238E27FC236}">
                <a16:creationId xmlns:a16="http://schemas.microsoft.com/office/drawing/2014/main" id="{472E70ED-1A68-4EA0-8045-BC8AC0339B1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43149" y="2711588"/>
            <a:ext cx="2244331" cy="2244331"/>
          </a:xfrm>
          <a:prstGeom prst="rect">
            <a:avLst/>
          </a:prstGeom>
        </p:spPr>
      </p:pic>
      <p:sp>
        <p:nvSpPr>
          <p:cNvPr id="26" name="文本框 25">
            <a:extLst>
              <a:ext uri="{FF2B5EF4-FFF2-40B4-BE49-F238E27FC236}">
                <a16:creationId xmlns:a16="http://schemas.microsoft.com/office/drawing/2014/main" id="{66F5575A-8F96-4B9F-AD78-0757F603259D}"/>
              </a:ext>
            </a:extLst>
          </p:cNvPr>
          <p:cNvSpPr txBox="1"/>
          <p:nvPr/>
        </p:nvSpPr>
        <p:spPr>
          <a:xfrm>
            <a:off x="651833" y="4934845"/>
            <a:ext cx="4573397" cy="1138773"/>
          </a:xfrm>
          <a:prstGeom prst="rect">
            <a:avLst/>
          </a:prstGeom>
          <a:noFill/>
        </p:spPr>
        <p:txBody>
          <a:bodyPr wrap="square" rtlCol="0">
            <a:spAutoFit/>
          </a:bodyPr>
          <a:lstStyle/>
          <a:p>
            <a:r>
              <a:rPr lang="zh-CN" altLang="en-US" sz="4000" b="1"/>
              <a:t>活性炭</a:t>
            </a:r>
            <a:r>
              <a:rPr lang="zh-CN" altLang="en-US" sz="1400" b="1">
                <a:latin typeface="+mj-ea"/>
                <a:ea typeface="+mj-ea"/>
              </a:rPr>
              <a:t>（</a:t>
            </a:r>
            <a:r>
              <a:rPr lang="en-US" altLang="zh-CN" sz="1400" b="1">
                <a:latin typeface="+mj-ea"/>
                <a:ea typeface="+mj-ea"/>
              </a:rPr>
              <a:t>Active Charcoal</a:t>
            </a:r>
            <a:r>
              <a:rPr lang="zh-CN" altLang="en-US" sz="1400" b="1">
                <a:latin typeface="+mj-ea"/>
                <a:ea typeface="+mj-ea"/>
              </a:rPr>
              <a:t>）</a:t>
            </a:r>
            <a:endParaRPr lang="en-US" altLang="zh-CN" sz="1400" b="1">
              <a:latin typeface="+mj-ea"/>
              <a:ea typeface="+mj-ea"/>
            </a:endParaRPr>
          </a:p>
          <a:p>
            <a:r>
              <a:rPr lang="zh-CN" altLang="en-US" sz="1400">
                <a:latin typeface="+mj-ea"/>
                <a:ea typeface="+mj-ea"/>
              </a:rPr>
              <a:t>结合肠道内小分子毒素，尤其可阻止部份吲哚酚以及硫酸吲哚酚的产生。可降低尿素氮和肌酐。</a:t>
            </a:r>
            <a:endParaRPr lang="en-US" altLang="zh-CN" sz="1400">
              <a:latin typeface="+mj-ea"/>
              <a:ea typeface="+mj-ea"/>
            </a:endParaRPr>
          </a:p>
        </p:txBody>
      </p:sp>
    </p:spTree>
    <p:extLst>
      <p:ext uri="{BB962C8B-B14F-4D97-AF65-F5344CB8AC3E}">
        <p14:creationId xmlns:p14="http://schemas.microsoft.com/office/powerpoint/2010/main" val="358872141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p:cNvPr>
          <p:cNvGrpSpPr/>
          <p:nvPr/>
        </p:nvGrpSpPr>
        <p:grpSpPr>
          <a:xfrm>
            <a:off x="4850109" y="678004"/>
            <a:ext cx="7320137" cy="1035882"/>
            <a:chOff x="8112223" y="330677"/>
            <a:chExt cx="4194115" cy="1035882"/>
          </a:xfrm>
          <a:effectLst>
            <a:outerShdw blurRad="50800" dist="38100" dir="5400000" algn="t" rotWithShape="0">
              <a:prstClr val="black">
                <a:alpha val="40000"/>
              </a:prstClr>
            </a:outerShdw>
          </a:effectLst>
        </p:grpSpPr>
        <p:sp>
          <p:nvSpPr>
            <p:cNvPr id="27"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8281096" y="330677"/>
              <a:ext cx="3973218" cy="985057"/>
              <a:chOff x="-461843" y="2729730"/>
              <a:chExt cx="4679923" cy="1377463"/>
            </a:xfrm>
          </p:grpSpPr>
          <p:sp>
            <p:nvSpPr>
              <p:cNvPr id="29"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1355254" y="3048121"/>
                <a:ext cx="2862826" cy="81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latin typeface="+mn-lt"/>
                    <a:ea typeface="+mn-ea"/>
                    <a:cs typeface="+mn-ea"/>
                    <a:sym typeface="+mn-lt"/>
                  </a:rPr>
                  <a:t>口服吸附剂：丝兰提取物</a:t>
                </a:r>
                <a:endParaRPr lang="en-US" altLang="zh-CN" sz="2400" b="1">
                  <a:solidFill>
                    <a:srgbClr val="010101"/>
                  </a:solidFill>
                  <a:latin typeface="+mn-lt"/>
                  <a:ea typeface="+mn-ea"/>
                  <a:cs typeface="+mn-ea"/>
                  <a:sym typeface="+mn-lt"/>
                </a:endParaRPr>
              </a:p>
            </p:txBody>
          </p:sp>
          <p:cxnSp>
            <p:nvCxnSpPr>
              <p:cNvPr id="31" name="直接连接符 30">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506334" y="3461620"/>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grpSp>
        <p:nvGrpSpPr>
          <p:cNvPr id="37893" name="组合 1"/>
          <p:cNvGrpSpPr>
            <a:grpSpLocks/>
          </p:cNvGrpSpPr>
          <p:nvPr/>
        </p:nvGrpSpPr>
        <p:grpSpPr bwMode="auto">
          <a:xfrm>
            <a:off x="777200" y="2492896"/>
            <a:ext cx="4865878" cy="2973190"/>
            <a:chOff x="6931323" y="2608336"/>
            <a:chExt cx="4500246" cy="2972408"/>
          </a:xfrm>
        </p:grpSpPr>
        <p:grpSp>
          <p:nvGrpSpPr>
            <p:cNvPr id="37894" name="组合 14"/>
            <p:cNvGrpSpPr>
              <a:grpSpLocks/>
            </p:cNvGrpSpPr>
            <p:nvPr/>
          </p:nvGrpSpPr>
          <p:grpSpPr bwMode="auto">
            <a:xfrm>
              <a:off x="6931323" y="2608336"/>
              <a:ext cx="4500246" cy="718135"/>
              <a:chOff x="3936148" y="1692543"/>
              <a:chExt cx="4500246" cy="718135"/>
            </a:xfrm>
          </p:grpSpPr>
          <p:sp>
            <p:nvSpPr>
              <p:cNvPr id="55" name="文本框 66">
                <a:extLst/>
              </p:cNvPr>
              <p:cNvSpPr txBox="1">
                <a:spLocks noChangeArrowheads="1"/>
              </p:cNvSpPr>
              <p:nvPr/>
            </p:nvSpPr>
            <p:spPr bwMode="auto">
              <a:xfrm>
                <a:off x="3966308" y="1692543"/>
                <a:ext cx="4258964" cy="461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spcBef>
                    <a:spcPts val="0"/>
                  </a:spcBef>
                  <a:spcAft>
                    <a:spcPts val="0"/>
                  </a:spcAft>
                  <a:defRPr/>
                </a:pPr>
                <a:endParaRPr lang="zh-CN" altLang="en-US" sz="2400" b="1" kern="0">
                  <a:solidFill>
                    <a:srgbClr val="4F4F4F"/>
                  </a:solidFill>
                  <a:latin typeface="+mn-lt"/>
                  <a:ea typeface="+mn-ea"/>
                  <a:cs typeface="+mn-ea"/>
                  <a:sym typeface="+mn-lt"/>
                </a:endParaRPr>
              </a:p>
            </p:txBody>
          </p:sp>
          <p:sp>
            <p:nvSpPr>
              <p:cNvPr id="56" name="矩形 55">
                <a:extLst/>
              </p:cNvPr>
              <p:cNvSpPr/>
              <p:nvPr/>
            </p:nvSpPr>
            <p:spPr>
              <a:xfrm>
                <a:off x="3936148" y="2133752"/>
                <a:ext cx="4500246" cy="276926"/>
              </a:xfrm>
              <a:prstGeom prst="rect">
                <a:avLst/>
              </a:prstGeom>
            </p:spPr>
            <p:txBody>
              <a:bodyPr>
                <a:spAutoFit/>
              </a:bodyPr>
              <a:lstStyle/>
              <a:p>
                <a:pPr eaLnBrk="1" fontAlgn="auto" hangingPunct="1">
                  <a:spcBef>
                    <a:spcPts val="0"/>
                  </a:spcBef>
                  <a:spcAft>
                    <a:spcPts val="0"/>
                  </a:spcAft>
                  <a:defRPr/>
                </a:pPr>
                <a:endParaRPr lang="zh-CN" altLang="en-US" sz="1200" kern="0">
                  <a:solidFill>
                    <a:srgbClr val="4F4F4F"/>
                  </a:solidFill>
                  <a:latin typeface="+mn-lt"/>
                  <a:ea typeface="+mn-ea"/>
                  <a:cs typeface="+mn-ea"/>
                  <a:sym typeface="+mn-lt"/>
                </a:endParaRPr>
              </a:p>
            </p:txBody>
          </p:sp>
        </p:grpSp>
        <p:sp>
          <p:nvSpPr>
            <p:cNvPr id="53" name="矩形 3">
              <a:extLst/>
            </p:cNvPr>
            <p:cNvSpPr>
              <a:spLocks noChangeArrowheads="1"/>
            </p:cNvSpPr>
            <p:nvPr/>
          </p:nvSpPr>
          <p:spPr bwMode="auto">
            <a:xfrm>
              <a:off x="6931323" y="4487442"/>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sp>
          <p:nvSpPr>
            <p:cNvPr id="54" name="矩形 3">
              <a:extLst/>
            </p:cNvPr>
            <p:cNvSpPr>
              <a:spLocks noChangeArrowheads="1"/>
            </p:cNvSpPr>
            <p:nvPr/>
          </p:nvSpPr>
          <p:spPr bwMode="auto">
            <a:xfrm>
              <a:off x="6931323" y="5273048"/>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grpSp>
      <p:sp>
        <p:nvSpPr>
          <p:cNvPr id="19" name="文本框 18">
            <a:extLst>
              <a:ext uri="{FF2B5EF4-FFF2-40B4-BE49-F238E27FC236}">
                <a16:creationId xmlns:a16="http://schemas.microsoft.com/office/drawing/2014/main" id="{AEE01461-EC3B-414C-A38D-6413179E4729}"/>
              </a:ext>
            </a:extLst>
          </p:cNvPr>
          <p:cNvSpPr txBox="1"/>
          <p:nvPr/>
        </p:nvSpPr>
        <p:spPr>
          <a:xfrm>
            <a:off x="6479416" y="2691339"/>
            <a:ext cx="3600400" cy="2926486"/>
          </a:xfrm>
          <a:prstGeom prst="rect">
            <a:avLst/>
          </a:prstGeom>
          <a:noFill/>
        </p:spPr>
        <p:txBody>
          <a:bodyPr wrap="square" rtlCol="0">
            <a:spAutoFit/>
          </a:bodyPr>
          <a:lstStyle/>
          <a:p>
            <a:endParaRPr lang="zh-CN" altLang="en-US"/>
          </a:p>
        </p:txBody>
      </p:sp>
      <p:sp>
        <p:nvSpPr>
          <p:cNvPr id="5" name="文本框 4">
            <a:extLst>
              <a:ext uri="{FF2B5EF4-FFF2-40B4-BE49-F238E27FC236}">
                <a16:creationId xmlns:a16="http://schemas.microsoft.com/office/drawing/2014/main" id="{48D59AAB-31AD-4E45-A027-B78180DBC380}"/>
              </a:ext>
            </a:extLst>
          </p:cNvPr>
          <p:cNvSpPr txBox="1"/>
          <p:nvPr/>
        </p:nvSpPr>
        <p:spPr>
          <a:xfrm>
            <a:off x="887389" y="4573534"/>
            <a:ext cx="4573397" cy="1569660"/>
          </a:xfrm>
          <a:prstGeom prst="rect">
            <a:avLst/>
          </a:prstGeom>
          <a:noFill/>
        </p:spPr>
        <p:txBody>
          <a:bodyPr wrap="square" rtlCol="0">
            <a:spAutoFit/>
          </a:bodyPr>
          <a:lstStyle/>
          <a:p>
            <a:r>
              <a:rPr lang="zh-CN" altLang="en-US" sz="4000" b="1"/>
              <a:t>丝兰提取物</a:t>
            </a:r>
            <a:r>
              <a:rPr lang="zh-CN" altLang="en-US" sz="1400" b="1">
                <a:latin typeface="+mj-ea"/>
                <a:ea typeface="+mj-ea"/>
              </a:rPr>
              <a:t>（</a:t>
            </a:r>
            <a:r>
              <a:rPr lang="en-US" altLang="zh-CN" sz="1400" b="1">
                <a:latin typeface="+mj-ea"/>
                <a:ea typeface="+mj-ea"/>
              </a:rPr>
              <a:t>Yucca extract</a:t>
            </a:r>
            <a:r>
              <a:rPr lang="zh-CN" altLang="en-US" sz="1400" b="1">
                <a:latin typeface="+mj-ea"/>
                <a:ea typeface="+mj-ea"/>
              </a:rPr>
              <a:t>）</a:t>
            </a:r>
            <a:endParaRPr lang="en-US" altLang="zh-CN" sz="1400" b="1">
              <a:latin typeface="+mj-ea"/>
              <a:ea typeface="+mj-ea"/>
            </a:endParaRPr>
          </a:p>
          <a:p>
            <a:r>
              <a:rPr lang="zh-CN" altLang="en-US" sz="1400">
                <a:latin typeface="+mj-ea"/>
                <a:ea typeface="+mj-ea"/>
              </a:rPr>
              <a:t>结合肠道内的氨，减少粪便臭气、吸附毒素。可能提高尿素氮清除速度，减少</a:t>
            </a:r>
            <a:r>
              <a:rPr lang="en-US" altLang="zh-CN" sz="1400">
                <a:latin typeface="+mj-ea"/>
                <a:ea typeface="+mj-ea"/>
              </a:rPr>
              <a:t>BUN</a:t>
            </a:r>
            <a:r>
              <a:rPr lang="zh-CN" altLang="en-US" sz="1400">
                <a:latin typeface="+mj-ea"/>
                <a:ea typeface="+mj-ea"/>
              </a:rPr>
              <a:t>与尿酸。有潜在的抗寄生虫与抗炎功效。</a:t>
            </a:r>
            <a:endParaRPr lang="en-US" altLang="zh-CN" sz="1400">
              <a:latin typeface="+mj-ea"/>
              <a:ea typeface="+mj-ea"/>
            </a:endParaRPr>
          </a:p>
          <a:p>
            <a:endParaRPr lang="en-US" altLang="zh-CN" sz="1400">
              <a:latin typeface="+mj-ea"/>
              <a:ea typeface="+mj-ea"/>
            </a:endParaRPr>
          </a:p>
        </p:txBody>
      </p:sp>
      <p:sp>
        <p:nvSpPr>
          <p:cNvPr id="20" name="文本框 19">
            <a:extLst>
              <a:ext uri="{FF2B5EF4-FFF2-40B4-BE49-F238E27FC236}">
                <a16:creationId xmlns:a16="http://schemas.microsoft.com/office/drawing/2014/main" id="{D87A80B3-FA72-4CDE-A1FD-B5CE5EB3F44C}"/>
              </a:ext>
            </a:extLst>
          </p:cNvPr>
          <p:cNvSpPr txBox="1"/>
          <p:nvPr/>
        </p:nvSpPr>
        <p:spPr>
          <a:xfrm>
            <a:off x="5447413" y="2333472"/>
            <a:ext cx="6121195" cy="3877985"/>
          </a:xfrm>
          <a:prstGeom prst="rect">
            <a:avLst/>
          </a:prstGeom>
          <a:noFill/>
        </p:spPr>
        <p:txBody>
          <a:bodyPr wrap="square" rtlCol="0">
            <a:spAutoFit/>
          </a:bodyPr>
          <a:lstStyle/>
          <a:p>
            <a:pPr marL="800100" lvl="1" indent="-342900">
              <a:buFont typeface="Wingdings" panose="05000000000000000000" pitchFamily="2" charset="2"/>
              <a:buChar char="n"/>
            </a:pP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a:solidFill>
                  <a:schemeClr val="tx1">
                    <a:lumMod val="85000"/>
                    <a:lumOff val="15000"/>
                  </a:schemeClr>
                </a:solidFill>
                <a:effectLst>
                  <a:outerShdw blurRad="38100" dist="38100" dir="2700000" algn="tl">
                    <a:srgbClr val="000000">
                      <a:alpha val="43137"/>
                    </a:srgbClr>
                  </a:outerShdw>
                </a:effectLst>
                <a:latin typeface="+mj-ea"/>
                <a:ea typeface="+mj-ea"/>
              </a:rPr>
              <a:t>丝兰提取物对氨的结合能力似乎来自其中的多糖</a:t>
            </a:r>
            <a:endParaRPr lang="en-US" altLang="zh-CN">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a:solidFill>
                  <a:schemeClr val="tx1">
                    <a:lumMod val="85000"/>
                    <a:lumOff val="15000"/>
                  </a:schemeClr>
                </a:solidFill>
                <a:effectLst>
                  <a:outerShdw blurRad="38100" dist="38100" dir="2700000" algn="tl">
                    <a:srgbClr val="000000">
                      <a:alpha val="43137"/>
                    </a:srgbClr>
                  </a:outerShdw>
                </a:effectLst>
                <a:latin typeface="+mj-ea"/>
                <a:ea typeface="+mj-ea"/>
              </a:rPr>
              <a:t>广泛应用于宠粮，在一些猫肾脏相关产品中有使用（威隆</a:t>
            </a:r>
            <a:r>
              <a:rPr lang="en-US" altLang="zh-CN">
                <a:solidFill>
                  <a:schemeClr val="tx1">
                    <a:lumMod val="85000"/>
                    <a:lumOff val="15000"/>
                  </a:schemeClr>
                </a:solidFill>
                <a:effectLst>
                  <a:outerShdw blurRad="38100" dist="38100" dir="2700000" algn="tl">
                    <a:srgbClr val="000000">
                      <a:alpha val="43137"/>
                    </a:srgbClr>
                  </a:outerShdw>
                </a:effectLst>
                <a:latin typeface="+mj-ea"/>
                <a:ea typeface="+mj-ea"/>
              </a:rPr>
              <a:t>Easypill</a:t>
            </a:r>
            <a:r>
              <a:rPr lang="zh-CN" altLang="en-US">
                <a:solidFill>
                  <a:schemeClr val="tx1">
                    <a:lumMod val="85000"/>
                    <a:lumOff val="15000"/>
                  </a:schemeClr>
                </a:solidFill>
                <a:effectLst>
                  <a:outerShdw blurRad="38100" dist="38100" dir="2700000" algn="tl">
                    <a:srgbClr val="000000">
                      <a:alpha val="43137"/>
                    </a:srgbClr>
                  </a:outerShdw>
                </a:effectLst>
                <a:latin typeface="+mj-ea"/>
                <a:ea typeface="+mj-ea"/>
              </a:rPr>
              <a:t>）</a:t>
            </a:r>
            <a:endParaRPr lang="en-US" altLang="zh-CN">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en-US" altLang="zh-CN">
                <a:solidFill>
                  <a:schemeClr val="tx1">
                    <a:lumMod val="85000"/>
                    <a:lumOff val="15000"/>
                  </a:schemeClr>
                </a:solidFill>
                <a:effectLst>
                  <a:outerShdw blurRad="38100" dist="38100" dir="2700000" algn="tl">
                    <a:srgbClr val="000000">
                      <a:alpha val="43137"/>
                    </a:srgbClr>
                  </a:outerShdw>
                </a:effectLst>
                <a:latin typeface="+mj-ea"/>
              </a:rPr>
              <a:t>Dr.Jean Hofve</a:t>
            </a:r>
            <a:r>
              <a:rPr lang="zh-CN" altLang="en-US">
                <a:solidFill>
                  <a:schemeClr val="tx1">
                    <a:lumMod val="85000"/>
                    <a:lumOff val="15000"/>
                  </a:schemeClr>
                </a:solidFill>
                <a:effectLst>
                  <a:outerShdw blurRad="38100" dist="38100" dir="2700000" algn="tl">
                    <a:srgbClr val="000000">
                      <a:alpha val="43137"/>
                    </a:srgbClr>
                  </a:outerShdw>
                </a:effectLst>
                <a:latin typeface="+mj-ea"/>
                <a:ea typeface="+mj-ea"/>
              </a:rPr>
              <a:t>建议每只猫服用量</a:t>
            </a:r>
            <a:r>
              <a:rPr lang="en-US" altLang="zh-CN">
                <a:solidFill>
                  <a:schemeClr val="tx1">
                    <a:lumMod val="85000"/>
                    <a:lumOff val="15000"/>
                  </a:schemeClr>
                </a:solidFill>
                <a:effectLst>
                  <a:outerShdw blurRad="38100" dist="38100" dir="2700000" algn="tl">
                    <a:srgbClr val="000000">
                      <a:alpha val="43137"/>
                    </a:srgbClr>
                  </a:outerShdw>
                </a:effectLst>
                <a:latin typeface="+mj-ea"/>
                <a:ea typeface="+mj-ea"/>
              </a:rPr>
              <a:t>25-50mg/</a:t>
            </a:r>
            <a:r>
              <a:rPr lang="zh-CN" altLang="en-US">
                <a:solidFill>
                  <a:schemeClr val="tx1">
                    <a:lumMod val="85000"/>
                    <a:lumOff val="15000"/>
                  </a:schemeClr>
                </a:solidFill>
                <a:effectLst>
                  <a:outerShdw blurRad="38100" dist="38100" dir="2700000" algn="tl">
                    <a:srgbClr val="000000">
                      <a:alpha val="43137"/>
                    </a:srgbClr>
                  </a:outerShdw>
                </a:effectLst>
                <a:latin typeface="+mj-ea"/>
                <a:ea typeface="+mj-ea"/>
              </a:rPr>
              <a:t>天</a:t>
            </a:r>
            <a:endParaRPr lang="en-US" altLang="zh-CN">
              <a:solidFill>
                <a:schemeClr val="tx1">
                  <a:lumMod val="85000"/>
                  <a:lumOff val="15000"/>
                </a:schemeClr>
              </a:solidFill>
              <a:effectLst>
                <a:outerShdw blurRad="38100" dist="38100" dir="2700000" algn="tl">
                  <a:srgbClr val="000000">
                    <a:alpha val="43137"/>
                  </a:srgbClr>
                </a:outerShdw>
              </a:effectLst>
              <a:latin typeface="+mj-ea"/>
              <a:ea typeface="+mj-ea"/>
            </a:endParaRPr>
          </a:p>
          <a:p>
            <a:pPr lvl="1"/>
            <a:endParaRPr lang="en-US" altLang="zh-CN">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a:solidFill>
                  <a:schemeClr val="tx1">
                    <a:lumMod val="85000"/>
                    <a:lumOff val="15000"/>
                  </a:schemeClr>
                </a:solidFill>
                <a:effectLst>
                  <a:outerShdw blurRad="38100" dist="38100" dir="2700000" algn="tl">
                    <a:srgbClr val="000000">
                      <a:alpha val="43137"/>
                    </a:srgbClr>
                  </a:outerShdw>
                </a:effectLst>
                <a:latin typeface="+mj-ea"/>
                <a:ea typeface="+mj-ea"/>
              </a:rPr>
              <a:t>但是在</a:t>
            </a:r>
            <a:r>
              <a:rPr lang="en-US" altLang="zh-CN">
                <a:solidFill>
                  <a:schemeClr val="tx1">
                    <a:lumMod val="85000"/>
                    <a:lumOff val="15000"/>
                  </a:schemeClr>
                </a:solidFill>
                <a:effectLst>
                  <a:outerShdw blurRad="38100" dist="38100" dir="2700000" algn="tl">
                    <a:srgbClr val="000000">
                      <a:alpha val="43137"/>
                    </a:srgbClr>
                  </a:outerShdw>
                </a:effectLst>
                <a:latin typeface="+mj-ea"/>
                <a:ea typeface="+mj-ea"/>
              </a:rPr>
              <a:t>1997</a:t>
            </a:r>
            <a:r>
              <a:rPr lang="zh-CN" altLang="en-US">
                <a:solidFill>
                  <a:schemeClr val="tx1">
                    <a:lumMod val="85000"/>
                    <a:lumOff val="15000"/>
                  </a:schemeClr>
                </a:solidFill>
                <a:effectLst>
                  <a:outerShdw blurRad="38100" dist="38100" dir="2700000" algn="tl">
                    <a:srgbClr val="000000">
                      <a:alpha val="43137"/>
                    </a:srgbClr>
                  </a:outerShdw>
                </a:effectLst>
                <a:latin typeface="+mj-ea"/>
                <a:ea typeface="+mj-ea"/>
              </a:rPr>
              <a:t>年的相关研究中，发现丝兰提取物实际会增加猫的</a:t>
            </a:r>
            <a:r>
              <a:rPr lang="en-US" altLang="zh-CN">
                <a:solidFill>
                  <a:schemeClr val="tx1">
                    <a:lumMod val="85000"/>
                    <a:lumOff val="15000"/>
                  </a:schemeClr>
                </a:solidFill>
                <a:effectLst>
                  <a:outerShdw blurRad="38100" dist="38100" dir="2700000" algn="tl">
                    <a:srgbClr val="000000">
                      <a:alpha val="43137"/>
                    </a:srgbClr>
                  </a:outerShdw>
                </a:effectLst>
                <a:latin typeface="+mj-ea"/>
                <a:ea typeface="+mj-ea"/>
              </a:rPr>
              <a:t>BUN</a:t>
            </a:r>
            <a:r>
              <a:rPr lang="zh-CN" altLang="en-US">
                <a:solidFill>
                  <a:schemeClr val="tx1">
                    <a:lumMod val="85000"/>
                    <a:lumOff val="15000"/>
                  </a:schemeClr>
                </a:solidFill>
                <a:effectLst>
                  <a:outerShdw blurRad="38100" dist="38100" dir="2700000" algn="tl">
                    <a:srgbClr val="000000">
                      <a:alpha val="43137"/>
                    </a:srgbClr>
                  </a:outerShdw>
                </a:effectLst>
                <a:latin typeface="+mj-ea"/>
                <a:ea typeface="+mj-ea"/>
              </a:rPr>
              <a:t>，原因可能是皂苷含量达</a:t>
            </a:r>
            <a:r>
              <a:rPr lang="en-US" altLang="zh-CN">
                <a:solidFill>
                  <a:schemeClr val="tx1">
                    <a:lumMod val="85000"/>
                    <a:lumOff val="15000"/>
                  </a:schemeClr>
                </a:solidFill>
                <a:effectLst>
                  <a:outerShdw blurRad="38100" dist="38100" dir="2700000" algn="tl">
                    <a:srgbClr val="000000">
                      <a:alpha val="43137"/>
                    </a:srgbClr>
                  </a:outerShdw>
                </a:effectLst>
                <a:latin typeface="+mj-ea"/>
                <a:ea typeface="+mj-ea"/>
              </a:rPr>
              <a:t>30%</a:t>
            </a:r>
            <a:r>
              <a:rPr lang="zh-CN" altLang="en-US">
                <a:solidFill>
                  <a:schemeClr val="tx1">
                    <a:lumMod val="85000"/>
                    <a:lumOff val="15000"/>
                  </a:schemeClr>
                </a:solidFill>
                <a:effectLst>
                  <a:outerShdw blurRad="38100" dist="38100" dir="2700000" algn="tl">
                    <a:srgbClr val="000000">
                      <a:alpha val="43137"/>
                    </a:srgbClr>
                  </a:outerShdw>
                </a:effectLst>
                <a:latin typeface="+mj-ea"/>
                <a:ea typeface="+mj-ea"/>
              </a:rPr>
              <a:t>增加了肠通透性。</a:t>
            </a:r>
            <a:r>
              <a:rPr lang="zh-CN" altLang="en-US" sz="1200">
                <a:solidFill>
                  <a:schemeClr val="tx1">
                    <a:lumMod val="85000"/>
                    <a:lumOff val="15000"/>
                  </a:schemeClr>
                </a:solidFill>
                <a:effectLst>
                  <a:outerShdw blurRad="38100" dist="38100" dir="2700000" algn="tl">
                    <a:srgbClr val="000000">
                      <a:alpha val="43137"/>
                    </a:srgbClr>
                  </a:outerShdw>
                </a:effectLst>
                <a:latin typeface="+mj-ea"/>
                <a:ea typeface="+mj-ea"/>
              </a:rPr>
              <a:t>（</a:t>
            </a:r>
            <a:r>
              <a:rPr lang="en-US" altLang="zh-CN" sz="1200">
                <a:solidFill>
                  <a:schemeClr val="tx1">
                    <a:lumMod val="85000"/>
                    <a:lumOff val="15000"/>
                  </a:schemeClr>
                </a:solidFill>
                <a:effectLst>
                  <a:outerShdw blurRad="38100" dist="38100" dir="2700000" algn="tl">
                    <a:srgbClr val="000000">
                      <a:alpha val="43137"/>
                    </a:srgbClr>
                  </a:outerShdw>
                </a:effectLst>
                <a:latin typeface="+mj-ea"/>
                <a:ea typeface="+mj-ea"/>
              </a:rPr>
              <a:t> The ameliorating effect of Yucca schidigera extract on canine and feline faecal aroma J. A. LOWE et al.1997)</a:t>
            </a:r>
          </a:p>
          <a:p>
            <a:pPr lvl="1"/>
            <a:endParaRPr lang="en-US" altLang="zh-CN" sz="1200"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endParaRPr lang="en-US" altLang="zh-CN" sz="1400"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endParaRPr lang="en-US" altLang="zh-CN" sz="1200" b="1">
              <a:solidFill>
                <a:schemeClr val="bg1">
                  <a:lumMod val="95000"/>
                </a:schemeClr>
              </a:solidFill>
              <a:effectLst>
                <a:outerShdw blurRad="38100" dist="38100" dir="2700000" algn="tl">
                  <a:srgbClr val="000000">
                    <a:alpha val="43137"/>
                  </a:srgbClr>
                </a:outerShdw>
              </a:effectLst>
              <a:latin typeface="+mj-ea"/>
              <a:ea typeface="+mj-ea"/>
            </a:endParaRPr>
          </a:p>
          <a:p>
            <a:pPr lvl="1"/>
            <a:endParaRPr lang="en-US" altLang="zh-CN" sz="1600" b="1">
              <a:solidFill>
                <a:schemeClr val="bg1"/>
              </a:solidFill>
              <a:effectLst>
                <a:outerShdw blurRad="38100" dist="38100" dir="2700000" algn="tl">
                  <a:srgbClr val="000000">
                    <a:alpha val="43137"/>
                  </a:srgbClr>
                </a:outerShdw>
              </a:effectLst>
              <a:latin typeface="+mj-ea"/>
              <a:ea typeface="+mj-ea"/>
            </a:endParaRPr>
          </a:p>
        </p:txBody>
      </p:sp>
      <p:sp>
        <p:nvSpPr>
          <p:cNvPr id="22" name="文本框 21">
            <a:extLst>
              <a:ext uri="{FF2B5EF4-FFF2-40B4-BE49-F238E27FC236}">
                <a16:creationId xmlns:a16="http://schemas.microsoft.com/office/drawing/2014/main" id="{8680B877-2955-48DE-9D87-E34A49E6BB54}"/>
              </a:ext>
            </a:extLst>
          </p:cNvPr>
          <p:cNvSpPr txBox="1"/>
          <p:nvPr/>
        </p:nvSpPr>
        <p:spPr>
          <a:xfrm>
            <a:off x="3466675" y="1663473"/>
            <a:ext cx="7975187" cy="584775"/>
          </a:xfrm>
          <a:prstGeom prst="rect">
            <a:avLst/>
          </a:prstGeom>
          <a:noFill/>
        </p:spPr>
        <p:txBody>
          <a:bodyPr wrap="square" rtlCol="0">
            <a:spAutoFit/>
          </a:bodyPr>
          <a:lstStyle/>
          <a:p>
            <a:pPr lvl="1"/>
            <a:endParaRPr lang="en-US" altLang="zh-CN" sz="1600" b="1">
              <a:solidFill>
                <a:schemeClr val="bg1">
                  <a:lumMod val="95000"/>
                </a:schemeClr>
              </a:solidFill>
              <a:effectLst>
                <a:outerShdw blurRad="38100" dist="38100" dir="2700000" algn="tl">
                  <a:srgbClr val="000000">
                    <a:alpha val="43137"/>
                  </a:srgbClr>
                </a:outerShdw>
              </a:effectLst>
              <a:latin typeface="+mj-ea"/>
              <a:ea typeface="+mj-ea"/>
            </a:endParaRPr>
          </a:p>
          <a:p>
            <a:pPr lvl="1"/>
            <a:endParaRPr lang="en-US" altLang="zh-CN" sz="1600" b="1">
              <a:solidFill>
                <a:schemeClr val="bg1"/>
              </a:solidFill>
              <a:effectLst>
                <a:outerShdw blurRad="38100" dist="38100" dir="2700000" algn="tl">
                  <a:srgbClr val="000000">
                    <a:alpha val="43137"/>
                  </a:srgbClr>
                </a:outerShdw>
              </a:effectLst>
              <a:latin typeface="+mj-ea"/>
              <a:ea typeface="+mj-ea"/>
            </a:endParaRPr>
          </a:p>
        </p:txBody>
      </p:sp>
      <p:cxnSp>
        <p:nvCxnSpPr>
          <p:cNvPr id="23" name="直接连接符 22">
            <a:extLst>
              <a:ext uri="{FF2B5EF4-FFF2-40B4-BE49-F238E27FC236}">
                <a16:creationId xmlns:a16="http://schemas.microsoft.com/office/drawing/2014/main" id="{A6ED08FA-2943-4D08-91B5-062B4352A4BC}"/>
              </a:ext>
            </a:extLst>
          </p:cNvPr>
          <p:cNvCxnSpPr/>
          <p:nvPr/>
        </p:nvCxnSpPr>
        <p:spPr>
          <a:xfrm flipH="1">
            <a:off x="5641447" y="3159730"/>
            <a:ext cx="19050" cy="1079500"/>
          </a:xfrm>
          <a:prstGeom prst="line">
            <a:avLst/>
          </a:prstGeom>
          <a:ln w="50800">
            <a:solidFill>
              <a:srgbClr val="4F4F4F"/>
            </a:solidFill>
          </a:ln>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D48B7EC2-F087-4291-AE18-0106069A95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5645" y="1988627"/>
            <a:ext cx="2671455" cy="2671455"/>
          </a:xfrm>
          <a:prstGeom prst="rect">
            <a:avLst/>
          </a:prstGeom>
        </p:spPr>
      </p:pic>
    </p:spTree>
    <p:extLst>
      <p:ext uri="{BB962C8B-B14F-4D97-AF65-F5344CB8AC3E}">
        <p14:creationId xmlns:p14="http://schemas.microsoft.com/office/powerpoint/2010/main" val="280540330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0" name="箭头: 五边形 6">
            <a:extLst/>
          </p:cNvPr>
          <p:cNvSpPr/>
          <p:nvPr/>
        </p:nvSpPr>
        <p:spPr>
          <a:xfrm rot="10800000" flipH="1">
            <a:off x="0" y="404813"/>
            <a:ext cx="9264352" cy="1344612"/>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grpSp>
        <p:nvGrpSpPr>
          <p:cNvPr id="30724" name="组合 22"/>
          <p:cNvGrpSpPr>
            <a:grpSpLocks/>
          </p:cNvGrpSpPr>
          <p:nvPr/>
        </p:nvGrpSpPr>
        <p:grpSpPr bwMode="auto">
          <a:xfrm>
            <a:off x="196850" y="404813"/>
            <a:ext cx="5779784" cy="1134998"/>
            <a:chOff x="-101400" y="2876417"/>
            <a:chExt cx="5114992" cy="1134983"/>
          </a:xfrm>
        </p:grpSpPr>
        <p:sp>
          <p:nvSpPr>
            <p:cNvPr id="20494" name="文本框 13">
              <a:extLst/>
            </p:cNvPr>
            <p:cNvSpPr txBox="1">
              <a:spLocks noChangeArrowheads="1"/>
            </p:cNvSpPr>
            <p:nvPr/>
          </p:nvSpPr>
          <p:spPr bwMode="auto">
            <a:xfrm>
              <a:off x="-101400" y="2876417"/>
              <a:ext cx="1343136" cy="825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600" b="1">
                  <a:solidFill>
                    <a:srgbClr val="010101"/>
                  </a:solidFill>
                  <a:latin typeface="+mn-lt"/>
                  <a:ea typeface="+mn-ea"/>
                  <a:cs typeface="+mn-ea"/>
                  <a:sym typeface="+mn-lt"/>
                </a:rPr>
                <a:t>PART</a:t>
              </a:r>
            </a:p>
          </p:txBody>
        </p:sp>
        <p:sp>
          <p:nvSpPr>
            <p:cNvPr id="20495" name="文本框 14">
              <a:extLst/>
            </p:cNvPr>
            <p:cNvSpPr txBox="1">
              <a:spLocks noChangeArrowheads="1"/>
            </p:cNvSpPr>
            <p:nvPr/>
          </p:nvSpPr>
          <p:spPr bwMode="auto">
            <a:xfrm>
              <a:off x="2150733" y="3430993"/>
              <a:ext cx="2862859" cy="580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endParaRPr lang="en-US" altLang="zh-CN" sz="2400">
                <a:solidFill>
                  <a:srgbClr val="010101"/>
                </a:solidFill>
                <a:latin typeface="+mn-lt"/>
                <a:ea typeface="+mn-ea"/>
                <a:cs typeface="+mn-ea"/>
                <a:sym typeface="+mn-lt"/>
              </a:endParaRPr>
            </a:p>
          </p:txBody>
        </p:sp>
        <p:cxnSp>
          <p:nvCxnSpPr>
            <p:cNvPr id="24" name="直接连接符 23">
              <a:extLst/>
            </p:cNvPr>
            <p:cNvCxnSpPr>
              <a:cxnSpLocks/>
            </p:cNvCxnSpPr>
            <p:nvPr/>
          </p:nvCxnSpPr>
          <p:spPr>
            <a:xfrm flipH="1">
              <a:off x="489901" y="3171688"/>
              <a:ext cx="1074241" cy="722302"/>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0497" name="矩形 20">
              <a:extLst/>
            </p:cNvPr>
            <p:cNvSpPr>
              <a:spLocks noChangeArrowheads="1"/>
            </p:cNvSpPr>
            <p:nvPr/>
          </p:nvSpPr>
          <p:spPr bwMode="auto">
            <a:xfrm>
              <a:off x="618328" y="3473309"/>
              <a:ext cx="1824424" cy="52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lvl="1">
                <a:lnSpc>
                  <a:spcPct val="100000"/>
                </a:lnSpc>
                <a:spcBef>
                  <a:spcPct val="0"/>
                </a:spcBef>
                <a:buFontTx/>
                <a:buNone/>
                <a:defRPr/>
              </a:pPr>
              <a:r>
                <a:rPr lang="en-US" altLang="zh-CN" sz="2800" b="1">
                  <a:solidFill>
                    <a:srgbClr val="010101"/>
                  </a:solidFill>
                  <a:latin typeface="+mn-lt"/>
                  <a:ea typeface="+mn-ea"/>
                  <a:cs typeface="+mn-ea"/>
                  <a:sym typeface="+mn-lt"/>
                </a:rPr>
                <a:t>THREE</a:t>
              </a:r>
              <a:endParaRPr lang="zh-CN" altLang="en-US" sz="1400">
                <a:latin typeface="+mn-lt"/>
                <a:ea typeface="+mn-ea"/>
                <a:cs typeface="+mn-ea"/>
                <a:sym typeface="+mn-lt"/>
              </a:endParaRPr>
            </a:p>
          </p:txBody>
        </p:sp>
      </p:grpSp>
      <p:sp>
        <p:nvSpPr>
          <p:cNvPr id="8" name="文本框 7"/>
          <p:cNvSpPr txBox="1"/>
          <p:nvPr/>
        </p:nvSpPr>
        <p:spPr>
          <a:xfrm>
            <a:off x="254618" y="2470092"/>
            <a:ext cx="5683126" cy="615553"/>
          </a:xfrm>
          <a:prstGeom prst="rect">
            <a:avLst/>
          </a:prstGeom>
          <a:noFill/>
        </p:spPr>
        <p:txBody>
          <a:bodyPr wrap="square" numCol="2" rtlCol="0">
            <a:spAutoFit/>
          </a:bodyPr>
          <a:lstStyle/>
          <a:p>
            <a:pPr lvl="1"/>
            <a:endParaRPr lang="en-US" altLang="zh-CN" sz="1600" b="1">
              <a:solidFill>
                <a:schemeClr val="tx1">
                  <a:lumMod val="75000"/>
                  <a:lumOff val="25000"/>
                </a:schemeClr>
              </a:solidFill>
              <a:effectLst>
                <a:outerShdw blurRad="38100" dist="38100" dir="2700000" algn="tl">
                  <a:srgbClr val="000000">
                    <a:alpha val="43137"/>
                  </a:srgbClr>
                </a:outerShdw>
              </a:effectLst>
              <a:latin typeface="+mj-ea"/>
            </a:endParaRPr>
          </a:p>
          <a:p>
            <a:endParaRPr lang="zh-CN" altLang="en-US"/>
          </a:p>
        </p:txBody>
      </p:sp>
      <p:sp>
        <p:nvSpPr>
          <p:cNvPr id="2" name="文本框 1"/>
          <p:cNvSpPr txBox="1"/>
          <p:nvPr/>
        </p:nvSpPr>
        <p:spPr>
          <a:xfrm>
            <a:off x="2953041" y="1146051"/>
            <a:ext cx="6539679" cy="461665"/>
          </a:xfrm>
          <a:prstGeom prst="rect">
            <a:avLst/>
          </a:prstGeom>
          <a:noFill/>
        </p:spPr>
        <p:txBody>
          <a:bodyPr wrap="square" rtlCol="0">
            <a:spAutoFit/>
          </a:bodyPr>
          <a:lstStyle/>
          <a:p>
            <a:r>
              <a:rPr lang="zh-CN" altLang="en-US" sz="2400" b="1">
                <a:solidFill>
                  <a:schemeClr val="tx2">
                    <a:lumMod val="75000"/>
                  </a:schemeClr>
                </a:solidFill>
                <a:latin typeface="+mj-ea"/>
                <a:ea typeface="+mj-ea"/>
              </a:rPr>
              <a:t>尿毒症毒素调节：益生菌益生元</a:t>
            </a:r>
          </a:p>
        </p:txBody>
      </p:sp>
      <p:sp>
        <p:nvSpPr>
          <p:cNvPr id="4" name="文本框 3"/>
          <p:cNvSpPr txBox="1"/>
          <p:nvPr/>
        </p:nvSpPr>
        <p:spPr>
          <a:xfrm>
            <a:off x="3129464" y="637927"/>
            <a:ext cx="3078756" cy="461665"/>
          </a:xfrm>
          <a:prstGeom prst="rect">
            <a:avLst/>
          </a:prstGeom>
          <a:noFill/>
        </p:spPr>
        <p:txBody>
          <a:bodyPr wrap="square" rtlCol="0">
            <a:spAutoFit/>
          </a:bodyPr>
          <a:lstStyle/>
          <a:p>
            <a:r>
              <a:rPr lang="zh-CN" altLang="en-US" sz="2400" b="1">
                <a:solidFill>
                  <a:schemeClr val="bg1"/>
                </a:solidFill>
                <a:effectLst>
                  <a:outerShdw blurRad="38100" dist="38100" dir="2700000" algn="tl">
                    <a:srgbClr val="000000">
                      <a:alpha val="43137"/>
                    </a:srgbClr>
                  </a:outerShdw>
                </a:effectLst>
                <a:latin typeface="+mj-ea"/>
                <a:ea typeface="+mj-ea"/>
              </a:rPr>
              <a:t>猫慢性肾病治疗</a:t>
            </a:r>
          </a:p>
        </p:txBody>
      </p:sp>
      <p:sp>
        <p:nvSpPr>
          <p:cNvPr id="21" name="矩形 20">
            <a:extLst>
              <a:ext uri="{FF2B5EF4-FFF2-40B4-BE49-F238E27FC236}">
                <a16:creationId xmlns:a16="http://schemas.microsoft.com/office/drawing/2014/main" id="{665B92FC-B9E6-4B02-BC89-8774CC40B9EB}"/>
              </a:ext>
            </a:extLst>
          </p:cNvPr>
          <p:cNvSpPr/>
          <p:nvPr/>
        </p:nvSpPr>
        <p:spPr>
          <a:xfrm>
            <a:off x="0" y="1755875"/>
            <a:ext cx="3355182" cy="50998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sp>
        <p:nvSpPr>
          <p:cNvPr id="22" name="文本框 21">
            <a:extLst>
              <a:ext uri="{FF2B5EF4-FFF2-40B4-BE49-F238E27FC236}">
                <a16:creationId xmlns:a16="http://schemas.microsoft.com/office/drawing/2014/main" id="{3D9C8E33-59E3-4A85-AB15-41BDBA1BF45C}"/>
              </a:ext>
            </a:extLst>
          </p:cNvPr>
          <p:cNvSpPr txBox="1"/>
          <p:nvPr/>
        </p:nvSpPr>
        <p:spPr>
          <a:xfrm>
            <a:off x="311413" y="2189395"/>
            <a:ext cx="2806278" cy="830997"/>
          </a:xfrm>
          <a:prstGeom prst="rect">
            <a:avLst/>
          </a:prstGeom>
          <a:noFill/>
        </p:spPr>
        <p:txBody>
          <a:bodyPr wrap="square" rtlCol="0">
            <a:spAutoFit/>
          </a:bodyPr>
          <a:lstStyle/>
          <a:p>
            <a:r>
              <a:rPr lang="zh-CN" altLang="en-US" sz="2400" b="1">
                <a:solidFill>
                  <a:schemeClr val="tx2">
                    <a:lumMod val="75000"/>
                  </a:schemeClr>
                </a:solidFill>
                <a:latin typeface="+mj-ea"/>
                <a:ea typeface="+mj-ea"/>
              </a:rPr>
              <a:t>益生菌益生元做肠内“透析”？</a:t>
            </a:r>
          </a:p>
        </p:txBody>
      </p:sp>
      <p:sp>
        <p:nvSpPr>
          <p:cNvPr id="23" name="文本框 22">
            <a:extLst>
              <a:ext uri="{FF2B5EF4-FFF2-40B4-BE49-F238E27FC236}">
                <a16:creationId xmlns:a16="http://schemas.microsoft.com/office/drawing/2014/main" id="{040776E4-D042-4527-BDB0-48A53727E301}"/>
              </a:ext>
            </a:extLst>
          </p:cNvPr>
          <p:cNvSpPr txBox="1"/>
          <p:nvPr/>
        </p:nvSpPr>
        <p:spPr>
          <a:xfrm>
            <a:off x="116790" y="3366342"/>
            <a:ext cx="2954874" cy="2954655"/>
          </a:xfrm>
          <a:prstGeom prst="rect">
            <a:avLst/>
          </a:prstGeom>
          <a:noFill/>
        </p:spPr>
        <p:txBody>
          <a:bodyPr wrap="square" rtlCol="0">
            <a:spAutoFit/>
          </a:bodyPr>
          <a:lstStyle/>
          <a:p>
            <a:pPr marL="285750" lvl="1" indent="-285750">
              <a:buFont typeface="Wingdings" panose="05000000000000000000" pitchFamily="2" charset="2"/>
              <a:buChar char="u"/>
            </a:pPr>
            <a:r>
              <a:rPr lang="en-US" altLang="zh-CN" sz="1600" b="1">
                <a:solidFill>
                  <a:schemeClr val="tx1">
                    <a:lumMod val="75000"/>
                    <a:lumOff val="25000"/>
                  </a:schemeClr>
                </a:solidFill>
                <a:latin typeface="+mj-ea"/>
                <a:ea typeface="+mj-ea"/>
              </a:rPr>
              <a:t>IRIS</a:t>
            </a:r>
            <a:r>
              <a:rPr lang="zh-CN" altLang="en-US" sz="1600" b="1">
                <a:solidFill>
                  <a:schemeClr val="tx1">
                    <a:lumMod val="75000"/>
                    <a:lumOff val="25000"/>
                  </a:schemeClr>
                </a:solidFill>
                <a:latin typeface="+mj-ea"/>
                <a:ea typeface="+mj-ea"/>
              </a:rPr>
              <a:t>的</a:t>
            </a:r>
            <a:r>
              <a:rPr lang="en-US" altLang="zh-CN" sz="1600" b="1">
                <a:solidFill>
                  <a:schemeClr val="tx1">
                    <a:lumMod val="75000"/>
                    <a:lumOff val="25000"/>
                  </a:schemeClr>
                </a:solidFill>
                <a:latin typeface="+mj-ea"/>
                <a:ea typeface="+mj-ea"/>
              </a:rPr>
              <a:t>Dr. Polzin</a:t>
            </a:r>
            <a:r>
              <a:rPr lang="zh-CN" altLang="en-US" sz="1600" b="1">
                <a:solidFill>
                  <a:schemeClr val="tx1">
                    <a:lumMod val="75000"/>
                    <a:lumOff val="25000"/>
                  </a:schemeClr>
                </a:solidFill>
                <a:latin typeface="+mj-ea"/>
                <a:ea typeface="+mj-ea"/>
              </a:rPr>
              <a:t>等人认为益生菌与益生元可能产生体内“透析”的作用。</a:t>
            </a:r>
            <a:endParaRPr lang="en-US" altLang="zh-CN" sz="1600" b="1">
              <a:solidFill>
                <a:schemeClr val="tx1">
                  <a:lumMod val="75000"/>
                  <a:lumOff val="25000"/>
                </a:schemeClr>
              </a:solidFill>
              <a:latin typeface="+mj-ea"/>
              <a:ea typeface="+mj-ea"/>
            </a:endParaRPr>
          </a:p>
          <a:p>
            <a:pPr marL="0" lvl="1"/>
            <a:endParaRPr lang="en-US" altLang="zh-CN" sz="1600" b="1">
              <a:solidFill>
                <a:schemeClr val="tx1">
                  <a:lumMod val="75000"/>
                  <a:lumOff val="25000"/>
                </a:schemeClr>
              </a:solidFill>
              <a:latin typeface="+mj-ea"/>
              <a:ea typeface="+mj-ea"/>
            </a:endParaRPr>
          </a:p>
          <a:p>
            <a:pPr marL="285750" lvl="1" indent="-285750">
              <a:buFont typeface="Wingdings" panose="05000000000000000000" pitchFamily="2" charset="2"/>
              <a:buChar char="u"/>
            </a:pPr>
            <a:r>
              <a:rPr lang="zh-CN" altLang="en-US" sz="1600" b="1">
                <a:solidFill>
                  <a:schemeClr val="tx1">
                    <a:lumMod val="75000"/>
                    <a:lumOff val="25000"/>
                  </a:schemeClr>
                </a:solidFill>
                <a:latin typeface="+mj-ea"/>
                <a:ea typeface="+mj-ea"/>
              </a:rPr>
              <a:t>观察发现益生菌益生元疗法降低了肾病患者尿素氮。</a:t>
            </a:r>
            <a:r>
              <a:rPr lang="zh-CN" altLang="en-US" sz="1000" b="1">
                <a:solidFill>
                  <a:schemeClr val="tx1">
                    <a:lumMod val="75000"/>
                    <a:lumOff val="25000"/>
                  </a:schemeClr>
                </a:solidFill>
                <a:latin typeface="+mj-ea"/>
                <a:ea typeface="+mj-ea"/>
              </a:rPr>
              <a:t>（</a:t>
            </a:r>
            <a:r>
              <a:rPr lang="en-US" altLang="zh-CN" sz="1000" b="1">
                <a:solidFill>
                  <a:schemeClr val="tx1">
                    <a:lumMod val="75000"/>
                    <a:lumOff val="25000"/>
                  </a:schemeClr>
                </a:solidFill>
                <a:latin typeface="+mj-ea"/>
                <a:ea typeface="+mj-ea"/>
              </a:rPr>
              <a:t> Ranganathan N</a:t>
            </a:r>
            <a:r>
              <a:rPr lang="zh-CN" altLang="en-US" sz="1000" b="1">
                <a:solidFill>
                  <a:schemeClr val="tx1">
                    <a:lumMod val="75000"/>
                    <a:lumOff val="25000"/>
                  </a:schemeClr>
                </a:solidFill>
                <a:latin typeface="+mj-ea"/>
                <a:ea typeface="+mj-ea"/>
              </a:rPr>
              <a:t> </a:t>
            </a:r>
            <a:r>
              <a:rPr lang="en-US" altLang="zh-CN" sz="1000" b="1">
                <a:solidFill>
                  <a:schemeClr val="tx1">
                    <a:lumMod val="75000"/>
                    <a:lumOff val="25000"/>
                  </a:schemeClr>
                </a:solidFill>
                <a:latin typeface="+mj-ea"/>
                <a:ea typeface="+mj-ea"/>
              </a:rPr>
              <a:t>et al. 2010) </a:t>
            </a:r>
            <a:r>
              <a:rPr lang="zh-CN" altLang="en-US" sz="1600" b="1">
                <a:solidFill>
                  <a:schemeClr val="tx1">
                    <a:lumMod val="75000"/>
                    <a:lumOff val="25000"/>
                  </a:schemeClr>
                </a:solidFill>
                <a:latin typeface="+mj-ea"/>
                <a:ea typeface="+mj-ea"/>
              </a:rPr>
              <a:t>也有研究结果认为无效</a:t>
            </a:r>
            <a:r>
              <a:rPr lang="zh-CN" altLang="en-US" sz="1200" b="1">
                <a:solidFill>
                  <a:schemeClr val="tx1">
                    <a:lumMod val="75000"/>
                    <a:lumOff val="25000"/>
                  </a:schemeClr>
                </a:solidFill>
                <a:latin typeface="+mj-ea"/>
                <a:ea typeface="+mj-ea"/>
              </a:rPr>
              <a:t>。</a:t>
            </a:r>
            <a:r>
              <a:rPr lang="zh-CN" altLang="en-US" sz="1000" b="1">
                <a:solidFill>
                  <a:schemeClr val="tx1">
                    <a:lumMod val="75000"/>
                    <a:lumOff val="25000"/>
                  </a:schemeClr>
                </a:solidFill>
                <a:latin typeface="+mj-ea"/>
                <a:ea typeface="+mj-ea"/>
              </a:rPr>
              <a:t>（</a:t>
            </a:r>
            <a:r>
              <a:rPr lang="en-US" altLang="zh-CN" sz="1000" b="1">
                <a:solidFill>
                  <a:schemeClr val="tx1">
                    <a:lumMod val="75000"/>
                    <a:lumOff val="25000"/>
                  </a:schemeClr>
                </a:solidFill>
                <a:latin typeface="+mj-ea"/>
                <a:ea typeface="+mj-ea"/>
              </a:rPr>
              <a:t>Natalia A Borges et al. 2018)</a:t>
            </a:r>
          </a:p>
          <a:p>
            <a:pPr marL="0" lvl="1"/>
            <a:endParaRPr lang="en-US" altLang="zh-CN" sz="1600" b="1">
              <a:solidFill>
                <a:schemeClr val="tx1">
                  <a:lumMod val="75000"/>
                  <a:lumOff val="25000"/>
                </a:schemeClr>
              </a:solidFill>
              <a:latin typeface="+mj-ea"/>
              <a:ea typeface="+mj-ea"/>
            </a:endParaRPr>
          </a:p>
          <a:p>
            <a:pPr marL="285750" lvl="1" indent="-285750">
              <a:buFont typeface="Wingdings" panose="05000000000000000000" pitchFamily="2" charset="2"/>
              <a:buChar char="u"/>
            </a:pPr>
            <a:r>
              <a:rPr lang="zh-CN" altLang="en-US" sz="1600" b="1">
                <a:solidFill>
                  <a:schemeClr val="tx1">
                    <a:lumMod val="75000"/>
                    <a:lumOff val="25000"/>
                  </a:schemeClr>
                </a:solidFill>
                <a:latin typeface="+mj-ea"/>
                <a:ea typeface="+mj-ea"/>
              </a:rPr>
              <a:t>其它尿毒症毒素受何影响并不清楚。</a:t>
            </a:r>
            <a:endParaRPr lang="zh-CN" altLang="en-US" sz="1600" b="1"/>
          </a:p>
        </p:txBody>
      </p:sp>
      <p:sp>
        <p:nvSpPr>
          <p:cNvPr id="6" name="文本框 5">
            <a:extLst>
              <a:ext uri="{FF2B5EF4-FFF2-40B4-BE49-F238E27FC236}">
                <a16:creationId xmlns:a16="http://schemas.microsoft.com/office/drawing/2014/main" id="{59823A91-B1F1-4FBB-8B9E-336B014A1841}"/>
              </a:ext>
            </a:extLst>
          </p:cNvPr>
          <p:cNvSpPr txBox="1"/>
          <p:nvPr/>
        </p:nvSpPr>
        <p:spPr>
          <a:xfrm>
            <a:off x="4359162" y="2470092"/>
            <a:ext cx="6696744" cy="4524315"/>
          </a:xfrm>
          <a:prstGeom prst="rect">
            <a:avLst/>
          </a:prstGeom>
          <a:noFill/>
        </p:spPr>
        <p:txBody>
          <a:bodyPr wrap="square" rtlCol="0">
            <a:spAutoFit/>
          </a:bodyPr>
          <a:lstStyle/>
          <a:p>
            <a:r>
              <a:rPr lang="zh-CN" altLang="en-US" sz="2400" b="1">
                <a:solidFill>
                  <a:srgbClr val="FFC000"/>
                </a:solidFill>
                <a:effectLst>
                  <a:outerShdw blurRad="38100" dist="38100" dir="2700000" algn="tl">
                    <a:srgbClr val="000000">
                      <a:alpha val="43137"/>
                    </a:srgbClr>
                  </a:outerShdw>
                </a:effectLst>
                <a:latin typeface="+mj-ea"/>
                <a:ea typeface="+mj-ea"/>
              </a:rPr>
              <a:t>这一疗法有啥问题？</a:t>
            </a:r>
            <a:endParaRPr lang="en-US" altLang="zh-CN" sz="2400" b="1">
              <a:solidFill>
                <a:srgbClr val="FFC000"/>
              </a:solidFill>
              <a:effectLst>
                <a:outerShdw blurRad="38100" dist="38100" dir="2700000" algn="tl">
                  <a:srgbClr val="000000">
                    <a:alpha val="43137"/>
                  </a:srgbClr>
                </a:outerShdw>
              </a:effectLst>
              <a:latin typeface="+mj-ea"/>
              <a:ea typeface="+mj-ea"/>
            </a:endParaRPr>
          </a:p>
          <a:p>
            <a:pPr marL="457200" indent="-457200">
              <a:buFont typeface="Wingdings" panose="05000000000000000000" pitchFamily="2" charset="2"/>
              <a:buChar char="u"/>
            </a:pPr>
            <a:endParaRPr lang="en-US" altLang="zh-CN" sz="2800" b="1">
              <a:solidFill>
                <a:schemeClr val="bg1">
                  <a:lumMod val="95000"/>
                </a:schemeClr>
              </a:solidFill>
              <a:effectLst>
                <a:outerShdw blurRad="38100" dist="38100" dir="2700000" algn="tl">
                  <a:srgbClr val="000000">
                    <a:alpha val="43137"/>
                  </a:srgbClr>
                </a:outerShdw>
              </a:effectLst>
              <a:latin typeface="+mj-ea"/>
              <a:ea typeface="+mj-ea"/>
            </a:endParaRPr>
          </a:p>
          <a:p>
            <a:pPr marL="342900" indent="-342900">
              <a:buFont typeface="Wingdings" panose="05000000000000000000" pitchFamily="2" charset="2"/>
              <a:buChar char="u"/>
            </a:pPr>
            <a:r>
              <a:rPr lang="zh-CN" altLang="en-US" b="1">
                <a:solidFill>
                  <a:schemeClr val="bg1">
                    <a:lumMod val="95000"/>
                  </a:schemeClr>
                </a:solidFill>
                <a:effectLst>
                  <a:outerShdw blurRad="38100" dist="38100" dir="2700000" algn="tl">
                    <a:srgbClr val="000000">
                      <a:alpha val="43137"/>
                    </a:srgbClr>
                  </a:outerShdw>
                </a:effectLst>
                <a:latin typeface="+mj-ea"/>
                <a:ea typeface="+mj-ea"/>
              </a:rPr>
              <a:t>使用具体哪种菌株最有效没有资料可循，仅提及使用嗜热链球菌、嗜酸乳杆菌与双岐杆菌属</a:t>
            </a:r>
            <a:r>
              <a:rPr lang="zh-CN" altLang="en-US" sz="2400" b="1">
                <a:solidFill>
                  <a:schemeClr val="bg1">
                    <a:lumMod val="95000"/>
                  </a:schemeClr>
                </a:solidFill>
                <a:effectLst>
                  <a:outerShdw blurRad="38100" dist="38100" dir="2700000" algn="tl">
                    <a:srgbClr val="000000">
                      <a:alpha val="43137"/>
                    </a:srgbClr>
                  </a:outerShdw>
                </a:effectLst>
                <a:latin typeface="+mj-ea"/>
                <a:ea typeface="+mj-ea"/>
              </a:rPr>
              <a:t>。</a:t>
            </a:r>
            <a:r>
              <a:rPr lang="zh-CN" altLang="en-US" sz="1400" b="1">
                <a:solidFill>
                  <a:schemeClr val="bg1">
                    <a:lumMod val="95000"/>
                  </a:schemeClr>
                </a:solidFill>
                <a:effectLst>
                  <a:outerShdw blurRad="38100" dist="38100" dir="2700000" algn="tl">
                    <a:srgbClr val="000000">
                      <a:alpha val="43137"/>
                    </a:srgbClr>
                  </a:outerShdw>
                </a:effectLst>
                <a:latin typeface="+mj-ea"/>
                <a:ea typeface="+mj-ea"/>
              </a:rPr>
              <a:t>（</a:t>
            </a:r>
            <a:r>
              <a:rPr lang="en-US" altLang="zh-CN" sz="1400" b="1">
                <a:solidFill>
                  <a:schemeClr val="bg1">
                    <a:lumMod val="95000"/>
                  </a:schemeClr>
                </a:solidFill>
                <a:effectLst>
                  <a:outerShdw blurRad="38100" dist="38100" dir="2700000" algn="tl">
                    <a:srgbClr val="000000">
                      <a:alpha val="43137"/>
                    </a:srgbClr>
                  </a:outerShdw>
                </a:effectLst>
                <a:latin typeface="+mj-ea"/>
                <a:ea typeface="+mj-ea"/>
              </a:rPr>
              <a:t>Polzin</a:t>
            </a:r>
            <a:r>
              <a:rPr lang="zh-CN" altLang="en-US" sz="1400" b="1">
                <a:solidFill>
                  <a:schemeClr val="bg1">
                    <a:lumMod val="95000"/>
                  </a:schemeClr>
                </a:solidFill>
                <a:effectLst>
                  <a:outerShdw blurRad="38100" dist="38100" dir="2700000" algn="tl">
                    <a:srgbClr val="000000">
                      <a:alpha val="43137"/>
                    </a:srgbClr>
                  </a:outerShdw>
                </a:effectLst>
                <a:latin typeface="+mj-ea"/>
                <a:ea typeface="+mj-ea"/>
              </a:rPr>
              <a:t>，</a:t>
            </a:r>
            <a:r>
              <a:rPr lang="en-US" altLang="zh-CN" sz="1400" b="1">
                <a:solidFill>
                  <a:schemeClr val="bg1">
                    <a:lumMod val="95000"/>
                  </a:schemeClr>
                </a:solidFill>
                <a:effectLst>
                  <a:outerShdw blurRad="38100" dist="38100" dir="2700000" algn="tl">
                    <a:srgbClr val="000000">
                      <a:alpha val="43137"/>
                    </a:srgbClr>
                  </a:outerShdw>
                </a:effectLst>
                <a:latin typeface="+mj-ea"/>
                <a:ea typeface="+mj-ea"/>
              </a:rPr>
              <a:t>2009</a:t>
            </a:r>
            <a:r>
              <a:rPr lang="zh-CN" altLang="en-US" sz="1400" b="1">
                <a:solidFill>
                  <a:schemeClr val="bg1">
                    <a:lumMod val="95000"/>
                  </a:schemeClr>
                </a:solidFill>
                <a:effectLst>
                  <a:outerShdw blurRad="38100" dist="38100" dir="2700000" algn="tl">
                    <a:srgbClr val="000000">
                      <a:alpha val="43137"/>
                    </a:srgbClr>
                  </a:outerShdw>
                </a:effectLst>
                <a:latin typeface="+mj-ea"/>
                <a:ea typeface="+mj-ea"/>
              </a:rPr>
              <a:t>）</a:t>
            </a:r>
            <a:endParaRPr lang="en-US" altLang="zh-CN" sz="1400" b="1">
              <a:solidFill>
                <a:schemeClr val="bg1">
                  <a:lumMod val="95000"/>
                </a:schemeClr>
              </a:solidFill>
              <a:effectLst>
                <a:outerShdw blurRad="38100" dist="38100" dir="2700000" algn="tl">
                  <a:srgbClr val="000000">
                    <a:alpha val="43137"/>
                  </a:srgbClr>
                </a:outerShdw>
              </a:effectLst>
              <a:latin typeface="+mj-ea"/>
              <a:ea typeface="+mj-ea"/>
            </a:endParaRPr>
          </a:p>
          <a:p>
            <a:endParaRPr lang="en-US" altLang="zh-CN" sz="2000" b="1">
              <a:solidFill>
                <a:schemeClr val="bg1">
                  <a:lumMod val="95000"/>
                </a:schemeClr>
              </a:solidFill>
              <a:effectLst>
                <a:outerShdw blurRad="38100" dist="38100" dir="2700000" algn="tl">
                  <a:srgbClr val="000000">
                    <a:alpha val="43137"/>
                  </a:srgbClr>
                </a:outerShdw>
              </a:effectLst>
              <a:latin typeface="+mj-ea"/>
              <a:ea typeface="+mj-ea"/>
            </a:endParaRPr>
          </a:p>
          <a:p>
            <a:pPr marL="342900" indent="-342900">
              <a:buFont typeface="Wingdings" panose="05000000000000000000" pitchFamily="2" charset="2"/>
              <a:buChar char="u"/>
            </a:pPr>
            <a:r>
              <a:rPr lang="zh-CN" altLang="en-US" b="1">
                <a:solidFill>
                  <a:schemeClr val="bg1">
                    <a:lumMod val="95000"/>
                  </a:schemeClr>
                </a:solidFill>
                <a:effectLst>
                  <a:outerShdw blurRad="38100" dist="38100" dir="2700000" algn="tl">
                    <a:srgbClr val="000000">
                      <a:alpha val="43137"/>
                    </a:srgbClr>
                  </a:outerShdw>
                </a:effectLst>
                <a:latin typeface="+mj-ea"/>
                <a:ea typeface="+mj-ea"/>
              </a:rPr>
              <a:t>与食物同食可能造成益生菌无效。</a:t>
            </a:r>
            <a:endParaRPr lang="en-US" altLang="zh-CN" b="1">
              <a:solidFill>
                <a:schemeClr val="bg1">
                  <a:lumMod val="95000"/>
                </a:schemeClr>
              </a:solidFill>
              <a:effectLst>
                <a:outerShdw blurRad="38100" dist="38100" dir="2700000" algn="tl">
                  <a:srgbClr val="000000">
                    <a:alpha val="43137"/>
                  </a:srgbClr>
                </a:outerShdw>
              </a:effectLst>
              <a:latin typeface="+mj-ea"/>
              <a:ea typeface="+mj-ea"/>
            </a:endParaRPr>
          </a:p>
          <a:p>
            <a:pPr marL="342900" indent="-342900">
              <a:buFont typeface="Wingdings" panose="05000000000000000000" pitchFamily="2" charset="2"/>
              <a:buChar char="u"/>
            </a:pPr>
            <a:endParaRPr lang="en-US" altLang="zh-CN" b="1">
              <a:solidFill>
                <a:schemeClr val="bg1">
                  <a:lumMod val="95000"/>
                </a:schemeClr>
              </a:solidFill>
              <a:effectLst>
                <a:outerShdw blurRad="38100" dist="38100" dir="2700000" algn="tl">
                  <a:srgbClr val="000000">
                    <a:alpha val="43137"/>
                  </a:srgbClr>
                </a:outerShdw>
              </a:effectLst>
              <a:latin typeface="+mj-ea"/>
              <a:ea typeface="+mj-ea"/>
            </a:endParaRPr>
          </a:p>
          <a:p>
            <a:pPr marL="342900" indent="-342900">
              <a:buFont typeface="Wingdings" panose="05000000000000000000" pitchFamily="2" charset="2"/>
              <a:buChar char="u"/>
            </a:pPr>
            <a:r>
              <a:rPr lang="zh-CN" altLang="en-US" b="1">
                <a:solidFill>
                  <a:schemeClr val="bg1">
                    <a:lumMod val="95000"/>
                  </a:schemeClr>
                </a:solidFill>
                <a:effectLst>
                  <a:outerShdw blurRad="38100" dist="38100" dir="2700000" algn="tl">
                    <a:srgbClr val="000000">
                      <a:alpha val="43137"/>
                    </a:srgbClr>
                  </a:outerShdw>
                </a:effectLst>
                <a:latin typeface="+mj-ea"/>
                <a:ea typeface="+mj-ea"/>
              </a:rPr>
              <a:t>太多益生菌菌株数量不足。</a:t>
            </a:r>
            <a:endParaRPr lang="en-US" altLang="zh-CN" b="1">
              <a:solidFill>
                <a:schemeClr val="bg1">
                  <a:lumMod val="95000"/>
                </a:schemeClr>
              </a:solidFill>
              <a:effectLst>
                <a:outerShdw blurRad="38100" dist="38100" dir="2700000" algn="tl">
                  <a:srgbClr val="000000">
                    <a:alpha val="43137"/>
                  </a:srgbClr>
                </a:outerShdw>
              </a:effectLst>
              <a:latin typeface="+mj-ea"/>
              <a:ea typeface="+mj-ea"/>
            </a:endParaRPr>
          </a:p>
          <a:p>
            <a:endParaRPr lang="en-US" altLang="zh-CN" sz="2400" b="1">
              <a:solidFill>
                <a:schemeClr val="bg1">
                  <a:lumMod val="95000"/>
                </a:schemeClr>
              </a:solidFill>
              <a:latin typeface="+mj-ea"/>
              <a:ea typeface="+mj-ea"/>
            </a:endParaRPr>
          </a:p>
          <a:p>
            <a:endParaRPr lang="en-US" altLang="zh-CN" sz="2400" b="1">
              <a:solidFill>
                <a:schemeClr val="bg1">
                  <a:lumMod val="95000"/>
                </a:schemeClr>
              </a:solidFill>
              <a:latin typeface="+mj-ea"/>
              <a:ea typeface="+mj-ea"/>
            </a:endParaRPr>
          </a:p>
          <a:p>
            <a:endParaRPr lang="en-US" altLang="zh-CN" sz="2400" b="1">
              <a:solidFill>
                <a:schemeClr val="bg1">
                  <a:lumMod val="95000"/>
                </a:schemeClr>
              </a:solidFill>
              <a:latin typeface="+mj-ea"/>
              <a:ea typeface="+mj-ea"/>
            </a:endParaRPr>
          </a:p>
          <a:p>
            <a:endParaRPr lang="en-US" altLang="zh-CN" sz="2400" b="1">
              <a:solidFill>
                <a:schemeClr val="bg1">
                  <a:lumMod val="95000"/>
                </a:schemeClr>
              </a:solidFill>
              <a:latin typeface="+mj-ea"/>
              <a:ea typeface="+mj-ea"/>
            </a:endParaRPr>
          </a:p>
          <a:p>
            <a:endParaRPr lang="zh-CN" altLang="en-US"/>
          </a:p>
        </p:txBody>
      </p:sp>
    </p:spTree>
    <p:extLst>
      <p:ext uri="{BB962C8B-B14F-4D97-AF65-F5344CB8AC3E}">
        <p14:creationId xmlns:p14="http://schemas.microsoft.com/office/powerpoint/2010/main" val="105912301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p:cNvPr>
          <p:cNvGrpSpPr/>
          <p:nvPr/>
        </p:nvGrpSpPr>
        <p:grpSpPr>
          <a:xfrm>
            <a:off x="4850109" y="678004"/>
            <a:ext cx="7320137" cy="1035882"/>
            <a:chOff x="8112223" y="330677"/>
            <a:chExt cx="4194115" cy="1035882"/>
          </a:xfrm>
          <a:effectLst>
            <a:outerShdw blurRad="50800" dist="38100" dir="5400000" algn="t" rotWithShape="0">
              <a:prstClr val="black">
                <a:alpha val="40000"/>
              </a:prstClr>
            </a:outerShdw>
          </a:effectLst>
        </p:grpSpPr>
        <p:sp>
          <p:nvSpPr>
            <p:cNvPr id="27"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8281096" y="330677"/>
              <a:ext cx="3973218" cy="985057"/>
              <a:chOff x="-461843" y="2729730"/>
              <a:chExt cx="4679923" cy="1377463"/>
            </a:xfrm>
          </p:grpSpPr>
          <p:sp>
            <p:nvSpPr>
              <p:cNvPr id="29"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1355254" y="3048121"/>
                <a:ext cx="2862826" cy="81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latin typeface="+mn-lt"/>
                    <a:ea typeface="+mn-ea"/>
                    <a:cs typeface="+mn-ea"/>
                    <a:sym typeface="+mn-lt"/>
                  </a:rPr>
                  <a:t>猫慢性肾病：益生菌</a:t>
                </a:r>
                <a:endParaRPr lang="en-US" altLang="zh-CN" sz="2400" b="1">
                  <a:solidFill>
                    <a:srgbClr val="010101"/>
                  </a:solidFill>
                  <a:latin typeface="+mn-lt"/>
                  <a:ea typeface="+mn-ea"/>
                  <a:cs typeface="+mn-ea"/>
                  <a:sym typeface="+mn-lt"/>
                </a:endParaRPr>
              </a:p>
            </p:txBody>
          </p:sp>
          <p:cxnSp>
            <p:nvCxnSpPr>
              <p:cNvPr id="31" name="直接连接符 30">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506334" y="3461620"/>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grpSp>
        <p:nvGrpSpPr>
          <p:cNvPr id="37893" name="组合 1"/>
          <p:cNvGrpSpPr>
            <a:grpSpLocks/>
          </p:cNvGrpSpPr>
          <p:nvPr/>
        </p:nvGrpSpPr>
        <p:grpSpPr bwMode="auto">
          <a:xfrm>
            <a:off x="1100977" y="2564904"/>
            <a:ext cx="4865878" cy="2973190"/>
            <a:chOff x="6931323" y="2608336"/>
            <a:chExt cx="4500246" cy="2972408"/>
          </a:xfrm>
        </p:grpSpPr>
        <p:grpSp>
          <p:nvGrpSpPr>
            <p:cNvPr id="37894" name="组合 14"/>
            <p:cNvGrpSpPr>
              <a:grpSpLocks/>
            </p:cNvGrpSpPr>
            <p:nvPr/>
          </p:nvGrpSpPr>
          <p:grpSpPr bwMode="auto">
            <a:xfrm>
              <a:off x="6931323" y="2608336"/>
              <a:ext cx="4500246" cy="718135"/>
              <a:chOff x="3936148" y="1692543"/>
              <a:chExt cx="4500246" cy="718135"/>
            </a:xfrm>
          </p:grpSpPr>
          <p:sp>
            <p:nvSpPr>
              <p:cNvPr id="55" name="文本框 66">
                <a:extLst/>
              </p:cNvPr>
              <p:cNvSpPr txBox="1">
                <a:spLocks noChangeArrowheads="1"/>
              </p:cNvSpPr>
              <p:nvPr/>
            </p:nvSpPr>
            <p:spPr bwMode="auto">
              <a:xfrm>
                <a:off x="3966308" y="1692543"/>
                <a:ext cx="4258964" cy="461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spcBef>
                    <a:spcPts val="0"/>
                  </a:spcBef>
                  <a:spcAft>
                    <a:spcPts val="0"/>
                  </a:spcAft>
                  <a:defRPr/>
                </a:pPr>
                <a:endParaRPr lang="zh-CN" altLang="en-US" sz="2400" b="1" kern="0">
                  <a:solidFill>
                    <a:srgbClr val="4F4F4F"/>
                  </a:solidFill>
                  <a:latin typeface="+mn-lt"/>
                  <a:ea typeface="+mn-ea"/>
                  <a:cs typeface="+mn-ea"/>
                  <a:sym typeface="+mn-lt"/>
                </a:endParaRPr>
              </a:p>
            </p:txBody>
          </p:sp>
          <p:sp>
            <p:nvSpPr>
              <p:cNvPr id="56" name="矩形 55">
                <a:extLst/>
              </p:cNvPr>
              <p:cNvSpPr/>
              <p:nvPr/>
            </p:nvSpPr>
            <p:spPr>
              <a:xfrm>
                <a:off x="3936148" y="2133752"/>
                <a:ext cx="4500246" cy="276926"/>
              </a:xfrm>
              <a:prstGeom prst="rect">
                <a:avLst/>
              </a:prstGeom>
            </p:spPr>
            <p:txBody>
              <a:bodyPr>
                <a:spAutoFit/>
              </a:bodyPr>
              <a:lstStyle/>
              <a:p>
                <a:pPr eaLnBrk="1" fontAlgn="auto" hangingPunct="1">
                  <a:spcBef>
                    <a:spcPts val="0"/>
                  </a:spcBef>
                  <a:spcAft>
                    <a:spcPts val="0"/>
                  </a:spcAft>
                  <a:defRPr/>
                </a:pPr>
                <a:endParaRPr lang="zh-CN" altLang="en-US" sz="1200" kern="0">
                  <a:solidFill>
                    <a:srgbClr val="4F4F4F"/>
                  </a:solidFill>
                  <a:latin typeface="+mn-lt"/>
                  <a:ea typeface="+mn-ea"/>
                  <a:cs typeface="+mn-ea"/>
                  <a:sym typeface="+mn-lt"/>
                </a:endParaRPr>
              </a:p>
            </p:txBody>
          </p:sp>
        </p:grpSp>
        <p:sp>
          <p:nvSpPr>
            <p:cNvPr id="53" name="矩形 3">
              <a:extLst/>
            </p:cNvPr>
            <p:cNvSpPr>
              <a:spLocks noChangeArrowheads="1"/>
            </p:cNvSpPr>
            <p:nvPr/>
          </p:nvSpPr>
          <p:spPr bwMode="auto">
            <a:xfrm>
              <a:off x="6931323" y="4487442"/>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sp>
          <p:nvSpPr>
            <p:cNvPr id="54" name="矩形 3">
              <a:extLst/>
            </p:cNvPr>
            <p:cNvSpPr>
              <a:spLocks noChangeArrowheads="1"/>
            </p:cNvSpPr>
            <p:nvPr/>
          </p:nvSpPr>
          <p:spPr bwMode="auto">
            <a:xfrm>
              <a:off x="6931323" y="5273048"/>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grpSp>
      <p:sp>
        <p:nvSpPr>
          <p:cNvPr id="19" name="文本框 18">
            <a:extLst>
              <a:ext uri="{FF2B5EF4-FFF2-40B4-BE49-F238E27FC236}">
                <a16:creationId xmlns:a16="http://schemas.microsoft.com/office/drawing/2014/main" id="{AEE01461-EC3B-414C-A38D-6413179E4729}"/>
              </a:ext>
            </a:extLst>
          </p:cNvPr>
          <p:cNvSpPr txBox="1"/>
          <p:nvPr/>
        </p:nvSpPr>
        <p:spPr>
          <a:xfrm>
            <a:off x="6479416" y="2691339"/>
            <a:ext cx="3600400" cy="2926486"/>
          </a:xfrm>
          <a:prstGeom prst="rect">
            <a:avLst/>
          </a:prstGeom>
          <a:noFill/>
        </p:spPr>
        <p:txBody>
          <a:bodyPr wrap="square" rtlCol="0">
            <a:spAutoFit/>
          </a:bodyPr>
          <a:lstStyle/>
          <a:p>
            <a:endParaRPr lang="zh-CN" altLang="en-US"/>
          </a:p>
        </p:txBody>
      </p:sp>
      <p:sp>
        <p:nvSpPr>
          <p:cNvPr id="5" name="文本框 4">
            <a:extLst>
              <a:ext uri="{FF2B5EF4-FFF2-40B4-BE49-F238E27FC236}">
                <a16:creationId xmlns:a16="http://schemas.microsoft.com/office/drawing/2014/main" id="{48D59AAB-31AD-4E45-A027-B78180DBC380}"/>
              </a:ext>
            </a:extLst>
          </p:cNvPr>
          <p:cNvSpPr txBox="1"/>
          <p:nvPr/>
        </p:nvSpPr>
        <p:spPr>
          <a:xfrm>
            <a:off x="1120353" y="4840768"/>
            <a:ext cx="5043180" cy="523220"/>
          </a:xfrm>
          <a:prstGeom prst="rect">
            <a:avLst/>
          </a:prstGeom>
          <a:noFill/>
        </p:spPr>
        <p:txBody>
          <a:bodyPr wrap="square" rtlCol="0">
            <a:spAutoFit/>
          </a:bodyPr>
          <a:lstStyle/>
          <a:p>
            <a:r>
              <a:rPr lang="zh-CN" altLang="en-US" sz="2800" b="1"/>
              <a:t>肾康安，</a:t>
            </a:r>
            <a:r>
              <a:rPr lang="en-US" altLang="zh-CN" sz="2800" b="1"/>
              <a:t>3</a:t>
            </a:r>
            <a:r>
              <a:rPr lang="zh-CN" altLang="en-US" sz="2800" b="1"/>
              <a:t>种益生菌</a:t>
            </a:r>
            <a:r>
              <a:rPr lang="en-US" altLang="zh-CN" sz="2800" b="1"/>
              <a:t>150</a:t>
            </a:r>
            <a:r>
              <a:rPr lang="zh-CN" altLang="en-US" sz="2800" b="1"/>
              <a:t>亿</a:t>
            </a:r>
            <a:endParaRPr lang="en-US" altLang="zh-CN" sz="1400">
              <a:latin typeface="+mj-ea"/>
              <a:ea typeface="+mj-ea"/>
            </a:endParaRPr>
          </a:p>
        </p:txBody>
      </p:sp>
      <p:sp>
        <p:nvSpPr>
          <p:cNvPr id="20" name="文本框 19">
            <a:extLst>
              <a:ext uri="{FF2B5EF4-FFF2-40B4-BE49-F238E27FC236}">
                <a16:creationId xmlns:a16="http://schemas.microsoft.com/office/drawing/2014/main" id="{D87A80B3-FA72-4CDE-A1FD-B5CE5EB3F44C}"/>
              </a:ext>
            </a:extLst>
          </p:cNvPr>
          <p:cNvSpPr txBox="1"/>
          <p:nvPr/>
        </p:nvSpPr>
        <p:spPr>
          <a:xfrm>
            <a:off x="5447413" y="2274838"/>
            <a:ext cx="6121195" cy="2308324"/>
          </a:xfrm>
          <a:prstGeom prst="rect">
            <a:avLst/>
          </a:prstGeom>
          <a:noFill/>
        </p:spPr>
        <p:txBody>
          <a:bodyPr wrap="square" rtlCol="0">
            <a:spAutoFit/>
          </a:bodyPr>
          <a:lstStyle/>
          <a:p>
            <a:pPr marL="800100" lvl="1" indent="-342900">
              <a:buFont typeface="Wingdings" panose="05000000000000000000" pitchFamily="2" charset="2"/>
              <a:buChar char="n"/>
            </a:pP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b="1">
                <a:solidFill>
                  <a:schemeClr val="tx1">
                    <a:lumMod val="85000"/>
                    <a:lumOff val="15000"/>
                  </a:schemeClr>
                </a:solidFill>
                <a:effectLst>
                  <a:outerShdw blurRad="38100" dist="38100" dir="2700000" algn="tl">
                    <a:srgbClr val="000000">
                      <a:alpha val="43137"/>
                    </a:srgbClr>
                  </a:outerShdw>
                </a:effectLst>
                <a:latin typeface="+mj-ea"/>
                <a:ea typeface="+mj-ea"/>
              </a:rPr>
              <a:t>需要冷藏储存，可能失效</a:t>
            </a: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b="1">
                <a:solidFill>
                  <a:schemeClr val="tx1">
                    <a:lumMod val="85000"/>
                    <a:lumOff val="15000"/>
                  </a:schemeClr>
                </a:solidFill>
                <a:effectLst>
                  <a:outerShdw blurRad="38100" dist="38100" dir="2700000" algn="tl">
                    <a:srgbClr val="000000">
                      <a:alpha val="43137"/>
                    </a:srgbClr>
                  </a:outerShdw>
                </a:effectLst>
                <a:latin typeface="+mj-ea"/>
                <a:ea typeface="+mj-ea"/>
              </a:rPr>
              <a:t>服用请在饭前、空腹时，忌混合大量食物。</a:t>
            </a: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b="1">
                <a:solidFill>
                  <a:schemeClr val="tx1">
                    <a:lumMod val="85000"/>
                    <a:lumOff val="15000"/>
                  </a:schemeClr>
                </a:solidFill>
                <a:effectLst>
                  <a:outerShdw blurRad="38100" dist="38100" dir="2700000" algn="tl">
                    <a:srgbClr val="000000">
                      <a:alpha val="43137"/>
                    </a:srgbClr>
                  </a:outerShdw>
                </a:effectLst>
                <a:latin typeface="+mj-ea"/>
                <a:ea typeface="+mj-ea"/>
              </a:rPr>
              <a:t>相关实验中，部分在用后</a:t>
            </a:r>
            <a:r>
              <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rPr>
              <a:t>2-6</a:t>
            </a:r>
            <a:r>
              <a:rPr lang="zh-CN" altLang="en-US" b="1">
                <a:solidFill>
                  <a:schemeClr val="tx1">
                    <a:lumMod val="85000"/>
                    <a:lumOff val="15000"/>
                  </a:schemeClr>
                </a:solidFill>
                <a:effectLst>
                  <a:outerShdw blurRad="38100" dist="38100" dir="2700000" algn="tl">
                    <a:srgbClr val="000000">
                      <a:alpha val="43137"/>
                    </a:srgbClr>
                  </a:outerShdw>
                </a:effectLst>
                <a:latin typeface="+mj-ea"/>
                <a:ea typeface="+mj-ea"/>
              </a:rPr>
              <a:t>个月降低了肌酐</a:t>
            </a:r>
            <a:r>
              <a:rPr lang="zh-CN" altLang="en-US" sz="1400" b="1">
                <a:solidFill>
                  <a:schemeClr val="tx1">
                    <a:lumMod val="85000"/>
                    <a:lumOff val="15000"/>
                  </a:schemeClr>
                </a:solidFill>
                <a:effectLst>
                  <a:outerShdw blurRad="38100" dist="38100" dir="2700000" algn="tl">
                    <a:srgbClr val="000000">
                      <a:alpha val="43137"/>
                    </a:srgbClr>
                  </a:outerShdw>
                </a:effectLst>
                <a:latin typeface="+mj-ea"/>
                <a:ea typeface="+mj-ea"/>
              </a:rPr>
              <a:t>（</a:t>
            </a:r>
            <a:r>
              <a:rPr lang="en-US" altLang="zh-CN" sz="1400" b="1">
                <a:effectLst>
                  <a:outerShdw blurRad="38100" dist="38100" dir="2700000" algn="tl">
                    <a:srgbClr val="000000">
                      <a:alpha val="43137"/>
                    </a:srgbClr>
                  </a:outerShdw>
                </a:effectLst>
                <a:latin typeface="+mj-ea"/>
                <a:ea typeface="+mj-ea"/>
              </a:rPr>
              <a:t> McCain S</a:t>
            </a:r>
            <a:r>
              <a:rPr lang="zh-CN" altLang="en-US" sz="1400" b="1">
                <a:effectLst>
                  <a:outerShdw blurRad="38100" dist="38100" dir="2700000" algn="tl">
                    <a:srgbClr val="000000">
                      <a:alpha val="43137"/>
                    </a:srgbClr>
                  </a:outerShdw>
                </a:effectLst>
                <a:latin typeface="+mj-ea"/>
                <a:ea typeface="+mj-ea"/>
              </a:rPr>
              <a:t> </a:t>
            </a:r>
            <a:r>
              <a:rPr lang="en-US" altLang="zh-CN" sz="1400" b="1">
                <a:effectLst>
                  <a:outerShdw blurRad="38100" dist="38100" dir="2700000" algn="tl">
                    <a:srgbClr val="000000">
                      <a:alpha val="43137"/>
                    </a:srgbClr>
                  </a:outerShdw>
                </a:effectLst>
                <a:latin typeface="+mj-ea"/>
                <a:ea typeface="+mj-ea"/>
              </a:rPr>
              <a:t>et al.2011)</a:t>
            </a:r>
            <a:r>
              <a:rPr lang="zh-CN" altLang="en-US" b="1">
                <a:effectLst>
                  <a:outerShdw blurRad="38100" dist="38100" dir="2700000" algn="tl">
                    <a:srgbClr val="000000">
                      <a:alpha val="43137"/>
                    </a:srgbClr>
                  </a:outerShdw>
                </a:effectLst>
                <a:latin typeface="+mj-ea"/>
                <a:ea typeface="+mj-ea"/>
              </a:rPr>
              <a:t>，同年的</a:t>
            </a:r>
            <a:r>
              <a:rPr lang="en-US" altLang="zh-CN" b="1">
                <a:effectLst>
                  <a:outerShdw blurRad="38100" dist="38100" dir="2700000" algn="tl">
                    <a:srgbClr val="000000">
                      <a:alpha val="43137"/>
                    </a:srgbClr>
                  </a:outerShdw>
                </a:effectLst>
                <a:latin typeface="+mj-ea"/>
                <a:ea typeface="+mj-ea"/>
              </a:rPr>
              <a:t>ACVIM</a:t>
            </a:r>
            <a:r>
              <a:rPr lang="zh-CN" altLang="en-US" b="1">
                <a:effectLst>
                  <a:outerShdw blurRad="38100" dist="38100" dir="2700000" algn="tl">
                    <a:srgbClr val="000000">
                      <a:alpha val="43137"/>
                    </a:srgbClr>
                  </a:outerShdw>
                </a:effectLst>
                <a:latin typeface="+mj-ea"/>
                <a:ea typeface="+mj-ea"/>
              </a:rPr>
              <a:t>论坛中，</a:t>
            </a:r>
            <a:r>
              <a:rPr lang="en-US" altLang="zh-CN" b="1">
                <a:effectLst>
                  <a:outerShdw blurRad="38100" dist="38100" dir="2700000" algn="tl">
                    <a:srgbClr val="000000">
                      <a:alpha val="43137"/>
                    </a:srgbClr>
                  </a:outerShdw>
                </a:effectLst>
                <a:latin typeface="+mj-ea"/>
                <a:ea typeface="+mj-ea"/>
              </a:rPr>
              <a:t>Polzin</a:t>
            </a:r>
            <a:r>
              <a:rPr lang="zh-CN" altLang="en-US" b="1">
                <a:effectLst>
                  <a:outerShdw blurRad="38100" dist="38100" dir="2700000" algn="tl">
                    <a:srgbClr val="000000">
                      <a:alpha val="43137"/>
                    </a:srgbClr>
                  </a:outerShdw>
                </a:effectLst>
                <a:latin typeface="+mj-ea"/>
                <a:ea typeface="+mj-ea"/>
              </a:rPr>
              <a:t>博士则表示</a:t>
            </a:r>
            <a:r>
              <a:rPr lang="en-US" altLang="zh-CN" b="1">
                <a:effectLst>
                  <a:outerShdw blurRad="38100" dist="38100" dir="2700000" algn="tl">
                    <a:srgbClr val="000000">
                      <a:alpha val="43137"/>
                    </a:srgbClr>
                  </a:outerShdw>
                </a:effectLst>
                <a:latin typeface="+mj-ea"/>
                <a:ea typeface="+mj-ea"/>
              </a:rPr>
              <a:t>Azodyl</a:t>
            </a:r>
            <a:r>
              <a:rPr lang="zh-CN" altLang="en-US" b="1">
                <a:effectLst>
                  <a:outerShdw blurRad="38100" dist="38100" dir="2700000" algn="tl">
                    <a:srgbClr val="000000">
                      <a:alpha val="43137"/>
                    </a:srgbClr>
                  </a:outerShdw>
                </a:effectLst>
                <a:latin typeface="+mj-ea"/>
                <a:ea typeface="+mj-ea"/>
              </a:rPr>
              <a:t>没有产生效果。</a:t>
            </a:r>
            <a:endParaRPr lang="en-US" altLang="zh-CN" b="1">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b="1">
                <a:solidFill>
                  <a:schemeClr val="tx1">
                    <a:lumMod val="85000"/>
                    <a:lumOff val="15000"/>
                  </a:schemeClr>
                </a:solidFill>
                <a:effectLst>
                  <a:outerShdw blurRad="38100" dist="38100" dir="2700000" algn="tl">
                    <a:srgbClr val="000000">
                      <a:alpha val="43137"/>
                    </a:srgbClr>
                  </a:outerShdw>
                </a:effectLst>
                <a:latin typeface="+mj-ea"/>
                <a:ea typeface="+mj-ea"/>
              </a:rPr>
              <a:t>因为需要全程冷链的缘故，不作为头号推荐产品</a:t>
            </a: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p:txBody>
      </p:sp>
      <p:sp>
        <p:nvSpPr>
          <p:cNvPr id="22" name="文本框 21">
            <a:extLst>
              <a:ext uri="{FF2B5EF4-FFF2-40B4-BE49-F238E27FC236}">
                <a16:creationId xmlns:a16="http://schemas.microsoft.com/office/drawing/2014/main" id="{8680B877-2955-48DE-9D87-E34A49E6BB54}"/>
              </a:ext>
            </a:extLst>
          </p:cNvPr>
          <p:cNvSpPr txBox="1"/>
          <p:nvPr/>
        </p:nvSpPr>
        <p:spPr>
          <a:xfrm>
            <a:off x="3593421" y="2093085"/>
            <a:ext cx="7975187" cy="584775"/>
          </a:xfrm>
          <a:prstGeom prst="rect">
            <a:avLst/>
          </a:prstGeom>
          <a:noFill/>
        </p:spPr>
        <p:txBody>
          <a:bodyPr wrap="square" rtlCol="0">
            <a:spAutoFit/>
          </a:bodyPr>
          <a:lstStyle/>
          <a:p>
            <a:pPr lvl="1"/>
            <a:endParaRPr lang="en-US" altLang="zh-CN" sz="1600" b="1">
              <a:solidFill>
                <a:schemeClr val="bg1">
                  <a:lumMod val="95000"/>
                </a:schemeClr>
              </a:solidFill>
              <a:effectLst>
                <a:outerShdw blurRad="38100" dist="38100" dir="2700000" algn="tl">
                  <a:srgbClr val="000000">
                    <a:alpha val="43137"/>
                  </a:srgbClr>
                </a:outerShdw>
              </a:effectLst>
              <a:latin typeface="+mj-ea"/>
              <a:ea typeface="+mj-ea"/>
            </a:endParaRPr>
          </a:p>
          <a:p>
            <a:pPr lvl="1"/>
            <a:endParaRPr lang="en-US" altLang="zh-CN" sz="1600" b="1">
              <a:solidFill>
                <a:schemeClr val="bg1"/>
              </a:solidFill>
              <a:effectLst>
                <a:outerShdw blurRad="38100" dist="38100" dir="2700000" algn="tl">
                  <a:srgbClr val="000000">
                    <a:alpha val="43137"/>
                  </a:srgbClr>
                </a:outerShdw>
              </a:effectLst>
              <a:latin typeface="+mj-ea"/>
              <a:ea typeface="+mj-ea"/>
            </a:endParaRPr>
          </a:p>
        </p:txBody>
      </p:sp>
      <p:cxnSp>
        <p:nvCxnSpPr>
          <p:cNvPr id="23" name="直接连接符 22">
            <a:extLst>
              <a:ext uri="{FF2B5EF4-FFF2-40B4-BE49-F238E27FC236}">
                <a16:creationId xmlns:a16="http://schemas.microsoft.com/office/drawing/2014/main" id="{A6ED08FA-2943-4D08-91B5-062B4352A4BC}"/>
              </a:ext>
            </a:extLst>
          </p:cNvPr>
          <p:cNvCxnSpPr/>
          <p:nvPr/>
        </p:nvCxnSpPr>
        <p:spPr>
          <a:xfrm flipH="1">
            <a:off x="5641447" y="3159730"/>
            <a:ext cx="19050" cy="1079500"/>
          </a:xfrm>
          <a:prstGeom prst="line">
            <a:avLst/>
          </a:prstGeom>
          <a:ln w="50800">
            <a:solidFill>
              <a:srgbClr val="4F4F4F"/>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B2D2E90F-B483-4068-84A9-DF3AB65CB7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87406" y="1765883"/>
            <a:ext cx="3034690" cy="3034690"/>
          </a:xfrm>
          <a:prstGeom prst="rect">
            <a:avLst/>
          </a:prstGeom>
        </p:spPr>
      </p:pic>
    </p:spTree>
    <p:extLst>
      <p:ext uri="{BB962C8B-B14F-4D97-AF65-F5344CB8AC3E}">
        <p14:creationId xmlns:p14="http://schemas.microsoft.com/office/powerpoint/2010/main" val="339276334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p:cNvPr>
          <p:cNvGrpSpPr/>
          <p:nvPr/>
        </p:nvGrpSpPr>
        <p:grpSpPr>
          <a:xfrm>
            <a:off x="4850109" y="678004"/>
            <a:ext cx="7320137" cy="1035882"/>
            <a:chOff x="8112223" y="330677"/>
            <a:chExt cx="4194115" cy="1035882"/>
          </a:xfrm>
          <a:effectLst>
            <a:outerShdw blurRad="50800" dist="38100" dir="5400000" algn="t" rotWithShape="0">
              <a:prstClr val="black">
                <a:alpha val="40000"/>
              </a:prstClr>
            </a:outerShdw>
          </a:effectLst>
        </p:grpSpPr>
        <p:sp>
          <p:nvSpPr>
            <p:cNvPr id="27"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8281096" y="330677"/>
              <a:ext cx="3973218" cy="985057"/>
              <a:chOff x="-461843" y="2729730"/>
              <a:chExt cx="4679923" cy="1377463"/>
            </a:xfrm>
          </p:grpSpPr>
          <p:sp>
            <p:nvSpPr>
              <p:cNvPr id="29"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1355254" y="3048121"/>
                <a:ext cx="2862826" cy="81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latin typeface="+mn-lt"/>
                    <a:ea typeface="+mn-ea"/>
                    <a:cs typeface="+mn-ea"/>
                    <a:sym typeface="+mn-lt"/>
                  </a:rPr>
                  <a:t>猫慢性肾病：益生菌</a:t>
                </a:r>
                <a:endParaRPr lang="en-US" altLang="zh-CN" sz="2400" b="1">
                  <a:solidFill>
                    <a:srgbClr val="010101"/>
                  </a:solidFill>
                  <a:latin typeface="+mn-lt"/>
                  <a:ea typeface="+mn-ea"/>
                  <a:cs typeface="+mn-ea"/>
                  <a:sym typeface="+mn-lt"/>
                </a:endParaRPr>
              </a:p>
            </p:txBody>
          </p:sp>
          <p:cxnSp>
            <p:nvCxnSpPr>
              <p:cNvPr id="31" name="直接连接符 30">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506334" y="3461620"/>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grpSp>
        <p:nvGrpSpPr>
          <p:cNvPr id="37893" name="组合 1"/>
          <p:cNvGrpSpPr>
            <a:grpSpLocks/>
          </p:cNvGrpSpPr>
          <p:nvPr/>
        </p:nvGrpSpPr>
        <p:grpSpPr bwMode="auto">
          <a:xfrm>
            <a:off x="1100977" y="2564904"/>
            <a:ext cx="4865878" cy="2973190"/>
            <a:chOff x="6931323" y="2608336"/>
            <a:chExt cx="4500246" cy="2972408"/>
          </a:xfrm>
        </p:grpSpPr>
        <p:grpSp>
          <p:nvGrpSpPr>
            <p:cNvPr id="37894" name="组合 14"/>
            <p:cNvGrpSpPr>
              <a:grpSpLocks/>
            </p:cNvGrpSpPr>
            <p:nvPr/>
          </p:nvGrpSpPr>
          <p:grpSpPr bwMode="auto">
            <a:xfrm>
              <a:off x="6931323" y="2608336"/>
              <a:ext cx="4500246" cy="718135"/>
              <a:chOff x="3936148" y="1692543"/>
              <a:chExt cx="4500246" cy="718135"/>
            </a:xfrm>
          </p:grpSpPr>
          <p:sp>
            <p:nvSpPr>
              <p:cNvPr id="55" name="文本框 66">
                <a:extLst/>
              </p:cNvPr>
              <p:cNvSpPr txBox="1">
                <a:spLocks noChangeArrowheads="1"/>
              </p:cNvSpPr>
              <p:nvPr/>
            </p:nvSpPr>
            <p:spPr bwMode="auto">
              <a:xfrm>
                <a:off x="3966308" y="1692543"/>
                <a:ext cx="4258964" cy="461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spcBef>
                    <a:spcPts val="0"/>
                  </a:spcBef>
                  <a:spcAft>
                    <a:spcPts val="0"/>
                  </a:spcAft>
                  <a:defRPr/>
                </a:pPr>
                <a:endParaRPr lang="zh-CN" altLang="en-US" sz="2400" b="1" kern="0">
                  <a:solidFill>
                    <a:srgbClr val="4F4F4F"/>
                  </a:solidFill>
                  <a:latin typeface="+mn-lt"/>
                  <a:ea typeface="+mn-ea"/>
                  <a:cs typeface="+mn-ea"/>
                  <a:sym typeface="+mn-lt"/>
                </a:endParaRPr>
              </a:p>
            </p:txBody>
          </p:sp>
          <p:sp>
            <p:nvSpPr>
              <p:cNvPr id="56" name="矩形 55">
                <a:extLst/>
              </p:cNvPr>
              <p:cNvSpPr/>
              <p:nvPr/>
            </p:nvSpPr>
            <p:spPr>
              <a:xfrm>
                <a:off x="3936148" y="2133752"/>
                <a:ext cx="4500246" cy="276926"/>
              </a:xfrm>
              <a:prstGeom prst="rect">
                <a:avLst/>
              </a:prstGeom>
            </p:spPr>
            <p:txBody>
              <a:bodyPr>
                <a:spAutoFit/>
              </a:bodyPr>
              <a:lstStyle/>
              <a:p>
                <a:pPr eaLnBrk="1" fontAlgn="auto" hangingPunct="1">
                  <a:spcBef>
                    <a:spcPts val="0"/>
                  </a:spcBef>
                  <a:spcAft>
                    <a:spcPts val="0"/>
                  </a:spcAft>
                  <a:defRPr/>
                </a:pPr>
                <a:endParaRPr lang="zh-CN" altLang="en-US" sz="1200" kern="0">
                  <a:solidFill>
                    <a:srgbClr val="4F4F4F"/>
                  </a:solidFill>
                  <a:latin typeface="+mn-lt"/>
                  <a:ea typeface="+mn-ea"/>
                  <a:cs typeface="+mn-ea"/>
                  <a:sym typeface="+mn-lt"/>
                </a:endParaRPr>
              </a:p>
            </p:txBody>
          </p:sp>
        </p:grpSp>
        <p:sp>
          <p:nvSpPr>
            <p:cNvPr id="53" name="矩形 3">
              <a:extLst/>
            </p:cNvPr>
            <p:cNvSpPr>
              <a:spLocks noChangeArrowheads="1"/>
            </p:cNvSpPr>
            <p:nvPr/>
          </p:nvSpPr>
          <p:spPr bwMode="auto">
            <a:xfrm>
              <a:off x="6931323" y="4487442"/>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sp>
          <p:nvSpPr>
            <p:cNvPr id="54" name="矩形 3">
              <a:extLst/>
            </p:cNvPr>
            <p:cNvSpPr>
              <a:spLocks noChangeArrowheads="1"/>
            </p:cNvSpPr>
            <p:nvPr/>
          </p:nvSpPr>
          <p:spPr bwMode="auto">
            <a:xfrm>
              <a:off x="6931323" y="5273048"/>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grpSp>
      <p:sp>
        <p:nvSpPr>
          <p:cNvPr id="19" name="文本框 18">
            <a:extLst>
              <a:ext uri="{FF2B5EF4-FFF2-40B4-BE49-F238E27FC236}">
                <a16:creationId xmlns:a16="http://schemas.microsoft.com/office/drawing/2014/main" id="{AEE01461-EC3B-414C-A38D-6413179E4729}"/>
              </a:ext>
            </a:extLst>
          </p:cNvPr>
          <p:cNvSpPr txBox="1"/>
          <p:nvPr/>
        </p:nvSpPr>
        <p:spPr>
          <a:xfrm>
            <a:off x="6479416" y="2691339"/>
            <a:ext cx="3600400" cy="2926486"/>
          </a:xfrm>
          <a:prstGeom prst="rect">
            <a:avLst/>
          </a:prstGeom>
          <a:noFill/>
        </p:spPr>
        <p:txBody>
          <a:bodyPr wrap="square" rtlCol="0">
            <a:spAutoFit/>
          </a:bodyPr>
          <a:lstStyle/>
          <a:p>
            <a:endParaRPr lang="zh-CN" altLang="en-US"/>
          </a:p>
        </p:txBody>
      </p:sp>
      <p:sp>
        <p:nvSpPr>
          <p:cNvPr id="5" name="文本框 4">
            <a:extLst>
              <a:ext uri="{FF2B5EF4-FFF2-40B4-BE49-F238E27FC236}">
                <a16:creationId xmlns:a16="http://schemas.microsoft.com/office/drawing/2014/main" id="{48D59AAB-31AD-4E45-A027-B78180DBC380}"/>
              </a:ext>
            </a:extLst>
          </p:cNvPr>
          <p:cNvSpPr txBox="1"/>
          <p:nvPr/>
        </p:nvSpPr>
        <p:spPr>
          <a:xfrm>
            <a:off x="1257795" y="4860985"/>
            <a:ext cx="4190049" cy="523220"/>
          </a:xfrm>
          <a:prstGeom prst="rect">
            <a:avLst/>
          </a:prstGeom>
          <a:noFill/>
        </p:spPr>
        <p:txBody>
          <a:bodyPr wrap="square" rtlCol="0">
            <a:spAutoFit/>
          </a:bodyPr>
          <a:lstStyle/>
          <a:p>
            <a:r>
              <a:rPr lang="en-US" altLang="zh-CN" sz="2800" b="1"/>
              <a:t>Now 10</a:t>
            </a:r>
            <a:r>
              <a:rPr lang="zh-CN" altLang="en-US" sz="2800" b="1"/>
              <a:t>种益生菌</a:t>
            </a:r>
            <a:r>
              <a:rPr lang="en-US" altLang="zh-CN" sz="2800" b="1"/>
              <a:t>250</a:t>
            </a:r>
            <a:r>
              <a:rPr lang="zh-CN" altLang="en-US" sz="2800" b="1"/>
              <a:t>亿</a:t>
            </a:r>
            <a:endParaRPr lang="en-US" altLang="zh-CN" sz="1400">
              <a:latin typeface="+mj-ea"/>
              <a:ea typeface="+mj-ea"/>
            </a:endParaRPr>
          </a:p>
        </p:txBody>
      </p:sp>
      <p:sp>
        <p:nvSpPr>
          <p:cNvPr id="20" name="文本框 19">
            <a:extLst>
              <a:ext uri="{FF2B5EF4-FFF2-40B4-BE49-F238E27FC236}">
                <a16:creationId xmlns:a16="http://schemas.microsoft.com/office/drawing/2014/main" id="{D87A80B3-FA72-4CDE-A1FD-B5CE5EB3F44C}"/>
              </a:ext>
            </a:extLst>
          </p:cNvPr>
          <p:cNvSpPr txBox="1"/>
          <p:nvPr/>
        </p:nvSpPr>
        <p:spPr>
          <a:xfrm>
            <a:off x="5449579" y="2337217"/>
            <a:ext cx="6121195" cy="3293209"/>
          </a:xfrm>
          <a:prstGeom prst="rect">
            <a:avLst/>
          </a:prstGeom>
          <a:noFill/>
        </p:spPr>
        <p:txBody>
          <a:bodyPr wrap="square" rtlCol="0">
            <a:spAutoFit/>
          </a:bodyPr>
          <a:lstStyle/>
          <a:p>
            <a:pPr marL="800100" lvl="1" indent="-342900">
              <a:buFont typeface="Wingdings" panose="05000000000000000000" pitchFamily="2" charset="2"/>
              <a:buChar char="n"/>
            </a:pP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b="1">
                <a:solidFill>
                  <a:schemeClr val="tx1">
                    <a:lumMod val="85000"/>
                    <a:lumOff val="15000"/>
                  </a:schemeClr>
                </a:solidFill>
                <a:effectLst>
                  <a:outerShdw blurRad="38100" dist="38100" dir="2700000" algn="tl">
                    <a:srgbClr val="000000">
                      <a:alpha val="43137"/>
                    </a:srgbClr>
                  </a:outerShdw>
                </a:effectLst>
                <a:latin typeface="+mj-ea"/>
                <a:ea typeface="+mj-ea"/>
              </a:rPr>
              <a:t>猫服用益生菌产生的效果并不一定</a:t>
            </a: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b="1">
                <a:solidFill>
                  <a:schemeClr val="tx1">
                    <a:lumMod val="85000"/>
                    <a:lumOff val="15000"/>
                  </a:schemeClr>
                </a:solidFill>
                <a:effectLst>
                  <a:outerShdw blurRad="38100" dist="38100" dir="2700000" algn="tl">
                    <a:srgbClr val="000000">
                      <a:alpha val="43137"/>
                    </a:srgbClr>
                  </a:outerShdw>
                </a:effectLst>
                <a:latin typeface="+mj-ea"/>
                <a:ea typeface="+mj-ea"/>
              </a:rPr>
              <a:t>无需冷藏，但最好冷藏。</a:t>
            </a: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b="1">
                <a:solidFill>
                  <a:schemeClr val="tx1">
                    <a:lumMod val="85000"/>
                    <a:lumOff val="15000"/>
                  </a:schemeClr>
                </a:solidFill>
                <a:effectLst>
                  <a:outerShdw blurRad="38100" dist="38100" dir="2700000" algn="tl">
                    <a:srgbClr val="000000">
                      <a:alpha val="43137"/>
                    </a:srgbClr>
                  </a:outerShdw>
                </a:effectLst>
                <a:latin typeface="+mj-ea"/>
                <a:ea typeface="+mj-ea"/>
              </a:rPr>
              <a:t>服用请在饭前、空腹时，忌混合大量食物。</a:t>
            </a: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b="1">
                <a:solidFill>
                  <a:schemeClr val="tx1">
                    <a:lumMod val="85000"/>
                    <a:lumOff val="15000"/>
                  </a:schemeClr>
                </a:solidFill>
                <a:effectLst>
                  <a:outerShdw blurRad="38100" dist="38100" dir="2700000" algn="tl">
                    <a:srgbClr val="000000">
                      <a:alpha val="43137"/>
                    </a:srgbClr>
                  </a:outerShdw>
                </a:effectLst>
                <a:latin typeface="+mj-ea"/>
                <a:ea typeface="+mj-ea"/>
              </a:rPr>
              <a:t>剂量从</a:t>
            </a:r>
            <a:r>
              <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rPr>
              <a:t>1/2</a:t>
            </a:r>
            <a:r>
              <a:rPr lang="zh-CN" altLang="en-US" b="1">
                <a:solidFill>
                  <a:schemeClr val="tx1">
                    <a:lumMod val="85000"/>
                    <a:lumOff val="15000"/>
                  </a:schemeClr>
                </a:solidFill>
                <a:effectLst>
                  <a:outerShdw blurRad="38100" dist="38100" dir="2700000" algn="tl">
                    <a:srgbClr val="000000">
                      <a:alpha val="43137"/>
                    </a:srgbClr>
                  </a:outerShdw>
                </a:effectLst>
                <a:latin typeface="+mj-ea"/>
                <a:ea typeface="+mj-ea"/>
              </a:rPr>
              <a:t>粒尝试，最多</a:t>
            </a:r>
            <a:r>
              <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rPr>
              <a:t>1</a:t>
            </a:r>
            <a:r>
              <a:rPr lang="zh-CN" altLang="en-US" b="1">
                <a:solidFill>
                  <a:schemeClr val="tx1">
                    <a:lumMod val="85000"/>
                    <a:lumOff val="15000"/>
                  </a:schemeClr>
                </a:solidFill>
                <a:effectLst>
                  <a:outerShdw blurRad="38100" dist="38100" dir="2700000" algn="tl">
                    <a:srgbClr val="000000">
                      <a:alpha val="43137"/>
                    </a:srgbClr>
                  </a:outerShdw>
                </a:effectLst>
                <a:latin typeface="+mj-ea"/>
                <a:ea typeface="+mj-ea"/>
              </a:rPr>
              <a:t>粒，可能腹泻。</a:t>
            </a: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b="1">
                <a:solidFill>
                  <a:schemeClr val="tx1">
                    <a:lumMod val="85000"/>
                    <a:lumOff val="15000"/>
                  </a:schemeClr>
                </a:solidFill>
                <a:effectLst>
                  <a:outerShdw blurRad="38100" dist="38100" dir="2700000" algn="tl">
                    <a:srgbClr val="000000">
                      <a:alpha val="43137"/>
                    </a:srgbClr>
                  </a:outerShdw>
                </a:effectLst>
                <a:latin typeface="+mj-ea"/>
                <a:ea typeface="+mj-ea"/>
              </a:rPr>
              <a:t>可</a:t>
            </a:r>
            <a:r>
              <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rPr>
              <a:t>iherb</a:t>
            </a:r>
            <a:r>
              <a:rPr lang="zh-CN" altLang="en-US" b="1">
                <a:solidFill>
                  <a:schemeClr val="tx1">
                    <a:lumMod val="85000"/>
                    <a:lumOff val="15000"/>
                  </a:schemeClr>
                </a:solidFill>
                <a:effectLst>
                  <a:outerShdw blurRad="38100" dist="38100" dir="2700000" algn="tl">
                    <a:srgbClr val="000000">
                      <a:alpha val="43137"/>
                    </a:srgbClr>
                  </a:outerShdw>
                </a:effectLst>
                <a:latin typeface="+mj-ea"/>
                <a:ea typeface="+mj-ea"/>
              </a:rPr>
              <a:t>、淘宝购买</a:t>
            </a: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b="1">
                <a:solidFill>
                  <a:srgbClr val="C00000"/>
                </a:solidFill>
                <a:effectLst>
                  <a:outerShdw blurRad="38100" dist="38100" dir="2700000" algn="tl">
                    <a:srgbClr val="000000">
                      <a:alpha val="43137"/>
                    </a:srgbClr>
                  </a:outerShdw>
                </a:effectLst>
                <a:latin typeface="+mj-ea"/>
                <a:ea typeface="+mj-ea"/>
              </a:rPr>
              <a:t>其它菌株数量达标的通用益生菌亦可！</a:t>
            </a:r>
            <a:endParaRPr lang="en-US" altLang="zh-CN" b="1">
              <a:solidFill>
                <a:srgbClr val="C00000"/>
              </a:solidFill>
              <a:effectLst>
                <a:outerShdw blurRad="38100" dist="38100" dir="2700000" algn="tl">
                  <a:srgbClr val="000000">
                    <a:alpha val="43137"/>
                  </a:srgbClr>
                </a:outerShdw>
              </a:effectLst>
              <a:latin typeface="+mj-ea"/>
              <a:ea typeface="+mj-ea"/>
            </a:endParaRPr>
          </a:p>
          <a:p>
            <a:pPr lvl="1"/>
            <a:endParaRPr lang="en-US" altLang="zh-CN" sz="1400" b="1">
              <a:solidFill>
                <a:srgbClr val="C00000"/>
              </a:solidFill>
              <a:effectLst>
                <a:outerShdw blurRad="38100" dist="38100" dir="2700000" algn="tl">
                  <a:srgbClr val="000000">
                    <a:alpha val="43137"/>
                  </a:srgbClr>
                </a:outerShdw>
              </a:effectLst>
              <a:latin typeface="+mj-ea"/>
              <a:ea typeface="+mj-ea"/>
            </a:endParaRPr>
          </a:p>
          <a:p>
            <a:pPr lvl="1"/>
            <a:endParaRPr lang="en-US" altLang="zh-CN" sz="1400" b="1">
              <a:solidFill>
                <a:schemeClr val="tx1">
                  <a:lumMod val="85000"/>
                  <a:lumOff val="15000"/>
                </a:schemeClr>
              </a:solidFill>
              <a:effectLst>
                <a:outerShdw blurRad="38100" dist="38100" dir="2700000" algn="tl">
                  <a:srgbClr val="000000">
                    <a:alpha val="43137"/>
                  </a:srgbClr>
                </a:outerShdw>
              </a:effectLst>
              <a:latin typeface="+mj-ea"/>
              <a:ea typeface="+mj-ea"/>
            </a:endParaRPr>
          </a:p>
        </p:txBody>
      </p:sp>
      <p:sp>
        <p:nvSpPr>
          <p:cNvPr id="22" name="文本框 21">
            <a:extLst>
              <a:ext uri="{FF2B5EF4-FFF2-40B4-BE49-F238E27FC236}">
                <a16:creationId xmlns:a16="http://schemas.microsoft.com/office/drawing/2014/main" id="{8680B877-2955-48DE-9D87-E34A49E6BB54}"/>
              </a:ext>
            </a:extLst>
          </p:cNvPr>
          <p:cNvSpPr txBox="1"/>
          <p:nvPr/>
        </p:nvSpPr>
        <p:spPr>
          <a:xfrm>
            <a:off x="3593421" y="2093085"/>
            <a:ext cx="7975187" cy="584775"/>
          </a:xfrm>
          <a:prstGeom prst="rect">
            <a:avLst/>
          </a:prstGeom>
          <a:noFill/>
        </p:spPr>
        <p:txBody>
          <a:bodyPr wrap="square" rtlCol="0">
            <a:spAutoFit/>
          </a:bodyPr>
          <a:lstStyle/>
          <a:p>
            <a:pPr lvl="1"/>
            <a:endParaRPr lang="en-US" altLang="zh-CN" sz="1600" b="1">
              <a:solidFill>
                <a:schemeClr val="bg1">
                  <a:lumMod val="95000"/>
                </a:schemeClr>
              </a:solidFill>
              <a:effectLst>
                <a:outerShdw blurRad="38100" dist="38100" dir="2700000" algn="tl">
                  <a:srgbClr val="000000">
                    <a:alpha val="43137"/>
                  </a:srgbClr>
                </a:outerShdw>
              </a:effectLst>
              <a:latin typeface="+mj-ea"/>
              <a:ea typeface="+mj-ea"/>
            </a:endParaRPr>
          </a:p>
          <a:p>
            <a:pPr lvl="1"/>
            <a:endParaRPr lang="en-US" altLang="zh-CN" sz="1600" b="1">
              <a:solidFill>
                <a:schemeClr val="bg1"/>
              </a:solidFill>
              <a:effectLst>
                <a:outerShdw blurRad="38100" dist="38100" dir="2700000" algn="tl">
                  <a:srgbClr val="000000">
                    <a:alpha val="43137"/>
                  </a:srgbClr>
                </a:outerShdw>
              </a:effectLst>
              <a:latin typeface="+mj-ea"/>
              <a:ea typeface="+mj-ea"/>
            </a:endParaRPr>
          </a:p>
        </p:txBody>
      </p:sp>
      <p:cxnSp>
        <p:nvCxnSpPr>
          <p:cNvPr id="23" name="直接连接符 22">
            <a:extLst>
              <a:ext uri="{FF2B5EF4-FFF2-40B4-BE49-F238E27FC236}">
                <a16:creationId xmlns:a16="http://schemas.microsoft.com/office/drawing/2014/main" id="{A6ED08FA-2943-4D08-91B5-062B4352A4BC}"/>
              </a:ext>
            </a:extLst>
          </p:cNvPr>
          <p:cNvCxnSpPr/>
          <p:nvPr/>
        </p:nvCxnSpPr>
        <p:spPr>
          <a:xfrm flipH="1">
            <a:off x="5641447" y="3159730"/>
            <a:ext cx="19050" cy="1079500"/>
          </a:xfrm>
          <a:prstGeom prst="line">
            <a:avLst/>
          </a:prstGeom>
          <a:ln w="50800">
            <a:solidFill>
              <a:srgbClr val="4F4F4F"/>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8C230515-AC76-4E49-9DCA-E6A3C01582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1450" y="2207016"/>
            <a:ext cx="2500080" cy="2500080"/>
          </a:xfrm>
          <a:prstGeom prst="rect">
            <a:avLst/>
          </a:prstGeom>
        </p:spPr>
      </p:pic>
    </p:spTree>
    <p:extLst>
      <p:ext uri="{BB962C8B-B14F-4D97-AF65-F5344CB8AC3E}">
        <p14:creationId xmlns:p14="http://schemas.microsoft.com/office/powerpoint/2010/main" val="180803848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p:cNvPr>
          <p:cNvGrpSpPr/>
          <p:nvPr/>
        </p:nvGrpSpPr>
        <p:grpSpPr>
          <a:xfrm>
            <a:off x="4850109" y="678004"/>
            <a:ext cx="7320137" cy="1035882"/>
            <a:chOff x="8112223" y="330677"/>
            <a:chExt cx="4194115" cy="1035882"/>
          </a:xfrm>
          <a:effectLst>
            <a:outerShdw blurRad="50800" dist="38100" dir="5400000" algn="t" rotWithShape="0">
              <a:prstClr val="black">
                <a:alpha val="40000"/>
              </a:prstClr>
            </a:outerShdw>
          </a:effectLst>
        </p:grpSpPr>
        <p:sp>
          <p:nvSpPr>
            <p:cNvPr id="27"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8281096" y="330677"/>
              <a:ext cx="3973218" cy="985057"/>
              <a:chOff x="-461843" y="2729730"/>
              <a:chExt cx="4679923" cy="1377463"/>
            </a:xfrm>
          </p:grpSpPr>
          <p:sp>
            <p:nvSpPr>
              <p:cNvPr id="29"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1355254" y="3048121"/>
                <a:ext cx="2862826" cy="81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latin typeface="+mn-lt"/>
                    <a:ea typeface="+mn-ea"/>
                    <a:cs typeface="+mn-ea"/>
                    <a:sym typeface="+mn-lt"/>
                  </a:rPr>
                  <a:t>猫慢性肾病：益生元</a:t>
                </a:r>
                <a:endParaRPr lang="en-US" altLang="zh-CN" sz="2400" b="1">
                  <a:solidFill>
                    <a:srgbClr val="010101"/>
                  </a:solidFill>
                  <a:latin typeface="+mn-lt"/>
                  <a:ea typeface="+mn-ea"/>
                  <a:cs typeface="+mn-ea"/>
                  <a:sym typeface="+mn-lt"/>
                </a:endParaRPr>
              </a:p>
            </p:txBody>
          </p:sp>
          <p:cxnSp>
            <p:nvCxnSpPr>
              <p:cNvPr id="31" name="直接连接符 30">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506334" y="3461620"/>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grpSp>
        <p:nvGrpSpPr>
          <p:cNvPr id="37893" name="组合 1"/>
          <p:cNvGrpSpPr>
            <a:grpSpLocks/>
          </p:cNvGrpSpPr>
          <p:nvPr/>
        </p:nvGrpSpPr>
        <p:grpSpPr bwMode="auto">
          <a:xfrm>
            <a:off x="1100977" y="2564904"/>
            <a:ext cx="4865878" cy="2973190"/>
            <a:chOff x="6931323" y="2608336"/>
            <a:chExt cx="4500246" cy="2972408"/>
          </a:xfrm>
        </p:grpSpPr>
        <p:grpSp>
          <p:nvGrpSpPr>
            <p:cNvPr id="37894" name="组合 14"/>
            <p:cNvGrpSpPr>
              <a:grpSpLocks/>
            </p:cNvGrpSpPr>
            <p:nvPr/>
          </p:nvGrpSpPr>
          <p:grpSpPr bwMode="auto">
            <a:xfrm>
              <a:off x="6931323" y="2608336"/>
              <a:ext cx="4500246" cy="718135"/>
              <a:chOff x="3936148" y="1692543"/>
              <a:chExt cx="4500246" cy="718135"/>
            </a:xfrm>
          </p:grpSpPr>
          <p:sp>
            <p:nvSpPr>
              <p:cNvPr id="55" name="文本框 66">
                <a:extLst/>
              </p:cNvPr>
              <p:cNvSpPr txBox="1">
                <a:spLocks noChangeArrowheads="1"/>
              </p:cNvSpPr>
              <p:nvPr/>
            </p:nvSpPr>
            <p:spPr bwMode="auto">
              <a:xfrm>
                <a:off x="3966308" y="1692543"/>
                <a:ext cx="4258964" cy="461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spcBef>
                    <a:spcPts val="0"/>
                  </a:spcBef>
                  <a:spcAft>
                    <a:spcPts val="0"/>
                  </a:spcAft>
                  <a:defRPr/>
                </a:pPr>
                <a:endParaRPr lang="zh-CN" altLang="en-US" sz="2400" b="1" kern="0">
                  <a:solidFill>
                    <a:srgbClr val="4F4F4F"/>
                  </a:solidFill>
                  <a:latin typeface="+mn-lt"/>
                  <a:ea typeface="+mn-ea"/>
                  <a:cs typeface="+mn-ea"/>
                  <a:sym typeface="+mn-lt"/>
                </a:endParaRPr>
              </a:p>
            </p:txBody>
          </p:sp>
          <p:sp>
            <p:nvSpPr>
              <p:cNvPr id="56" name="矩形 55">
                <a:extLst/>
              </p:cNvPr>
              <p:cNvSpPr/>
              <p:nvPr/>
            </p:nvSpPr>
            <p:spPr>
              <a:xfrm>
                <a:off x="3936148" y="2133752"/>
                <a:ext cx="4500246" cy="276926"/>
              </a:xfrm>
              <a:prstGeom prst="rect">
                <a:avLst/>
              </a:prstGeom>
            </p:spPr>
            <p:txBody>
              <a:bodyPr>
                <a:spAutoFit/>
              </a:bodyPr>
              <a:lstStyle/>
              <a:p>
                <a:pPr eaLnBrk="1" fontAlgn="auto" hangingPunct="1">
                  <a:spcBef>
                    <a:spcPts val="0"/>
                  </a:spcBef>
                  <a:spcAft>
                    <a:spcPts val="0"/>
                  </a:spcAft>
                  <a:defRPr/>
                </a:pPr>
                <a:endParaRPr lang="zh-CN" altLang="en-US" sz="1200" kern="0">
                  <a:solidFill>
                    <a:srgbClr val="4F4F4F"/>
                  </a:solidFill>
                  <a:latin typeface="+mn-lt"/>
                  <a:ea typeface="+mn-ea"/>
                  <a:cs typeface="+mn-ea"/>
                  <a:sym typeface="+mn-lt"/>
                </a:endParaRPr>
              </a:p>
            </p:txBody>
          </p:sp>
        </p:grpSp>
        <p:sp>
          <p:nvSpPr>
            <p:cNvPr id="53" name="矩形 3">
              <a:extLst/>
            </p:cNvPr>
            <p:cNvSpPr>
              <a:spLocks noChangeArrowheads="1"/>
            </p:cNvSpPr>
            <p:nvPr/>
          </p:nvSpPr>
          <p:spPr bwMode="auto">
            <a:xfrm>
              <a:off x="6931323" y="4487442"/>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sp>
          <p:nvSpPr>
            <p:cNvPr id="54" name="矩形 3">
              <a:extLst/>
            </p:cNvPr>
            <p:cNvSpPr>
              <a:spLocks noChangeArrowheads="1"/>
            </p:cNvSpPr>
            <p:nvPr/>
          </p:nvSpPr>
          <p:spPr bwMode="auto">
            <a:xfrm>
              <a:off x="6931323" y="5273048"/>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grpSp>
      <p:sp>
        <p:nvSpPr>
          <p:cNvPr id="19" name="文本框 18">
            <a:extLst>
              <a:ext uri="{FF2B5EF4-FFF2-40B4-BE49-F238E27FC236}">
                <a16:creationId xmlns:a16="http://schemas.microsoft.com/office/drawing/2014/main" id="{AEE01461-EC3B-414C-A38D-6413179E4729}"/>
              </a:ext>
            </a:extLst>
          </p:cNvPr>
          <p:cNvSpPr txBox="1"/>
          <p:nvPr/>
        </p:nvSpPr>
        <p:spPr>
          <a:xfrm>
            <a:off x="6479416" y="2691339"/>
            <a:ext cx="3600400" cy="2926486"/>
          </a:xfrm>
          <a:prstGeom prst="rect">
            <a:avLst/>
          </a:prstGeom>
          <a:noFill/>
        </p:spPr>
        <p:txBody>
          <a:bodyPr wrap="square" rtlCol="0">
            <a:spAutoFit/>
          </a:bodyPr>
          <a:lstStyle/>
          <a:p>
            <a:endParaRPr lang="zh-CN" altLang="en-US"/>
          </a:p>
        </p:txBody>
      </p:sp>
      <p:sp>
        <p:nvSpPr>
          <p:cNvPr id="5" name="文本框 4">
            <a:extLst>
              <a:ext uri="{FF2B5EF4-FFF2-40B4-BE49-F238E27FC236}">
                <a16:creationId xmlns:a16="http://schemas.microsoft.com/office/drawing/2014/main" id="{48D59AAB-31AD-4E45-A027-B78180DBC380}"/>
              </a:ext>
            </a:extLst>
          </p:cNvPr>
          <p:cNvSpPr txBox="1"/>
          <p:nvPr/>
        </p:nvSpPr>
        <p:spPr>
          <a:xfrm>
            <a:off x="1356066" y="3361169"/>
            <a:ext cx="2798684" cy="707886"/>
          </a:xfrm>
          <a:prstGeom prst="rect">
            <a:avLst/>
          </a:prstGeom>
          <a:noFill/>
        </p:spPr>
        <p:txBody>
          <a:bodyPr wrap="square" rtlCol="0">
            <a:spAutoFit/>
          </a:bodyPr>
          <a:lstStyle/>
          <a:p>
            <a:r>
              <a:rPr lang="zh-CN" altLang="en-US" sz="1600" b="1">
                <a:latin typeface="+mj-ea"/>
                <a:ea typeface="+mj-ea"/>
              </a:rPr>
              <a:t>刺槐豆胶</a:t>
            </a:r>
            <a:endParaRPr lang="en-US" altLang="zh-CN" sz="1600" b="1">
              <a:latin typeface="+mj-ea"/>
              <a:ea typeface="+mj-ea"/>
            </a:endParaRPr>
          </a:p>
          <a:p>
            <a:r>
              <a:rPr lang="en-US" altLang="zh-CN" sz="1200" b="1">
                <a:latin typeface="+mj-ea"/>
                <a:ea typeface="+mj-ea"/>
              </a:rPr>
              <a:t>0.5ml</a:t>
            </a:r>
            <a:r>
              <a:rPr lang="zh-CN" altLang="en-US" sz="1200" b="1">
                <a:latin typeface="+mj-ea"/>
                <a:ea typeface="+mj-ea"/>
              </a:rPr>
              <a:t>加水</a:t>
            </a:r>
            <a:r>
              <a:rPr lang="en-US" altLang="zh-CN" sz="1200" b="1">
                <a:latin typeface="+mj-ea"/>
                <a:ea typeface="+mj-ea"/>
              </a:rPr>
              <a:t>10ml</a:t>
            </a:r>
            <a:r>
              <a:rPr lang="zh-CN" altLang="en-US" sz="1200" b="1">
                <a:latin typeface="+mj-ea"/>
                <a:ea typeface="+mj-ea"/>
              </a:rPr>
              <a:t>以上混合，掺入湿粮</a:t>
            </a:r>
            <a:endParaRPr lang="en-US" altLang="zh-CN" sz="1200" b="1">
              <a:latin typeface="+mj-ea"/>
              <a:ea typeface="+mj-ea"/>
            </a:endParaRPr>
          </a:p>
          <a:p>
            <a:endParaRPr lang="en-US" altLang="zh-CN" sz="1200">
              <a:latin typeface="+mj-ea"/>
              <a:ea typeface="+mj-ea"/>
            </a:endParaRPr>
          </a:p>
        </p:txBody>
      </p:sp>
      <p:sp>
        <p:nvSpPr>
          <p:cNvPr id="20" name="文本框 19">
            <a:extLst>
              <a:ext uri="{FF2B5EF4-FFF2-40B4-BE49-F238E27FC236}">
                <a16:creationId xmlns:a16="http://schemas.microsoft.com/office/drawing/2014/main" id="{D87A80B3-FA72-4CDE-A1FD-B5CE5EB3F44C}"/>
              </a:ext>
            </a:extLst>
          </p:cNvPr>
          <p:cNvSpPr txBox="1"/>
          <p:nvPr/>
        </p:nvSpPr>
        <p:spPr>
          <a:xfrm>
            <a:off x="5449579" y="2691339"/>
            <a:ext cx="6121195" cy="2769989"/>
          </a:xfrm>
          <a:prstGeom prst="rect">
            <a:avLst/>
          </a:prstGeom>
          <a:noFill/>
        </p:spPr>
        <p:txBody>
          <a:bodyPr wrap="square" rtlCol="0">
            <a:spAutoFit/>
          </a:bodyPr>
          <a:lstStyle/>
          <a:p>
            <a:pPr marL="800100" lvl="1" indent="-342900">
              <a:buFont typeface="Wingdings" panose="05000000000000000000" pitchFamily="2" charset="2"/>
              <a:buChar char="n"/>
            </a:pP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b="1">
                <a:solidFill>
                  <a:schemeClr val="tx1">
                    <a:lumMod val="85000"/>
                    <a:lumOff val="15000"/>
                  </a:schemeClr>
                </a:solidFill>
                <a:effectLst>
                  <a:outerShdw blurRad="38100" dist="38100" dir="2700000" algn="tl">
                    <a:srgbClr val="000000">
                      <a:alpha val="43137"/>
                    </a:srgbClr>
                  </a:outerShdw>
                </a:effectLst>
                <a:latin typeface="+mj-ea"/>
                <a:ea typeface="+mj-ea"/>
              </a:rPr>
              <a:t>益生元即可发酵纤维是肠道益生菌的食粮</a:t>
            </a: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b="1">
                <a:solidFill>
                  <a:schemeClr val="tx1">
                    <a:lumMod val="85000"/>
                    <a:lumOff val="15000"/>
                  </a:schemeClr>
                </a:solidFill>
                <a:effectLst>
                  <a:outerShdw blurRad="38100" dist="38100" dir="2700000" algn="tl">
                    <a:srgbClr val="000000">
                      <a:alpha val="43137"/>
                    </a:srgbClr>
                  </a:outerShdw>
                </a:effectLst>
                <a:latin typeface="+mj-ea"/>
                <a:ea typeface="+mj-ea"/>
              </a:rPr>
              <a:t>可发酵纤维促进菌群繁殖，</a:t>
            </a:r>
            <a:r>
              <a:rPr lang="zh-CN" altLang="en-US" b="1" u="sng">
                <a:solidFill>
                  <a:schemeClr val="tx1">
                    <a:lumMod val="85000"/>
                    <a:lumOff val="15000"/>
                  </a:schemeClr>
                </a:solidFill>
                <a:effectLst>
                  <a:outerShdw blurRad="38100" dist="38100" dir="2700000" algn="tl">
                    <a:srgbClr val="000000">
                      <a:alpha val="43137"/>
                    </a:srgbClr>
                  </a:outerShdw>
                </a:effectLst>
                <a:latin typeface="+mj-ea"/>
                <a:ea typeface="+mj-ea"/>
              </a:rPr>
              <a:t>可能</a:t>
            </a:r>
            <a:r>
              <a:rPr lang="zh-CN" altLang="en-US" b="1">
                <a:solidFill>
                  <a:schemeClr val="tx1">
                    <a:lumMod val="85000"/>
                    <a:lumOff val="15000"/>
                  </a:schemeClr>
                </a:solidFill>
                <a:effectLst>
                  <a:outerShdw blurRad="38100" dist="38100" dir="2700000" algn="tl">
                    <a:srgbClr val="000000">
                      <a:alpha val="43137"/>
                    </a:srgbClr>
                  </a:outerShdw>
                </a:effectLst>
                <a:latin typeface="+mj-ea"/>
                <a:ea typeface="+mj-ea"/>
              </a:rPr>
              <a:t>减少肠道内毒素</a:t>
            </a: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b="1">
                <a:solidFill>
                  <a:schemeClr val="tx1">
                    <a:lumMod val="85000"/>
                    <a:lumOff val="15000"/>
                  </a:schemeClr>
                </a:solidFill>
                <a:effectLst>
                  <a:outerShdw blurRad="38100" dist="38100" dir="2700000" algn="tl">
                    <a:srgbClr val="000000">
                      <a:alpha val="43137"/>
                    </a:srgbClr>
                  </a:outerShdw>
                </a:effectLst>
                <a:latin typeface="+mj-ea"/>
                <a:ea typeface="+mj-ea"/>
              </a:rPr>
              <a:t>处方粮中有广泛应用</a:t>
            </a: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lvl="1"/>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lvl="1"/>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742950" lvl="1" indent="-285750">
              <a:buFont typeface="Wingdings" panose="05000000000000000000" pitchFamily="2" charset="2"/>
              <a:buChar char="u"/>
            </a:pPr>
            <a:endParaRPr lang="en-US" altLang="zh-CN" sz="1600" b="1">
              <a:solidFill>
                <a:srgbClr val="C00000"/>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u"/>
            </a:pPr>
            <a:r>
              <a:rPr lang="zh-CN" altLang="en-US" sz="1600" b="1">
                <a:solidFill>
                  <a:srgbClr val="C00000"/>
                </a:solidFill>
                <a:effectLst>
                  <a:outerShdw blurRad="38100" dist="38100" dir="2700000" algn="tl">
                    <a:srgbClr val="000000">
                      <a:alpha val="43137"/>
                    </a:srgbClr>
                  </a:outerShdw>
                </a:effectLst>
                <a:latin typeface="+mj-ea"/>
                <a:ea typeface="+mj-ea"/>
              </a:rPr>
              <a:t>可发酵纤维过多会造成营养吸收不良</a:t>
            </a:r>
            <a:endParaRPr lang="en-US" altLang="zh-CN" sz="1600" b="1">
              <a:solidFill>
                <a:srgbClr val="C00000"/>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u"/>
            </a:pPr>
            <a:r>
              <a:rPr lang="zh-CN" altLang="en-US" sz="1600" b="1">
                <a:solidFill>
                  <a:srgbClr val="C00000"/>
                </a:solidFill>
                <a:effectLst>
                  <a:outerShdw blurRad="38100" dist="38100" dir="2700000" algn="tl">
                    <a:srgbClr val="000000">
                      <a:alpha val="43137"/>
                    </a:srgbClr>
                  </a:outerShdw>
                </a:effectLst>
                <a:latin typeface="+mj-ea"/>
                <a:ea typeface="+mj-ea"/>
              </a:rPr>
              <a:t>可发酵纤维过多可能引起粪便状况恶化</a:t>
            </a:r>
            <a:endParaRPr lang="en-US" altLang="zh-CN" sz="1600" b="1">
              <a:solidFill>
                <a:srgbClr val="C00000"/>
              </a:solidFill>
              <a:effectLst>
                <a:outerShdw blurRad="38100" dist="38100" dir="2700000" algn="tl">
                  <a:srgbClr val="000000">
                    <a:alpha val="43137"/>
                  </a:srgbClr>
                </a:outerShdw>
              </a:effectLst>
              <a:latin typeface="+mj-ea"/>
              <a:ea typeface="+mj-ea"/>
            </a:endParaRPr>
          </a:p>
        </p:txBody>
      </p:sp>
      <p:sp>
        <p:nvSpPr>
          <p:cNvPr id="22" name="文本框 21">
            <a:extLst>
              <a:ext uri="{FF2B5EF4-FFF2-40B4-BE49-F238E27FC236}">
                <a16:creationId xmlns:a16="http://schemas.microsoft.com/office/drawing/2014/main" id="{8680B877-2955-48DE-9D87-E34A49E6BB54}"/>
              </a:ext>
            </a:extLst>
          </p:cNvPr>
          <p:cNvSpPr txBox="1"/>
          <p:nvPr/>
        </p:nvSpPr>
        <p:spPr>
          <a:xfrm>
            <a:off x="3593421" y="2093085"/>
            <a:ext cx="7975187" cy="584775"/>
          </a:xfrm>
          <a:prstGeom prst="rect">
            <a:avLst/>
          </a:prstGeom>
          <a:noFill/>
        </p:spPr>
        <p:txBody>
          <a:bodyPr wrap="square" rtlCol="0">
            <a:spAutoFit/>
          </a:bodyPr>
          <a:lstStyle/>
          <a:p>
            <a:pPr lvl="1"/>
            <a:endParaRPr lang="en-US" altLang="zh-CN" sz="1600" b="1">
              <a:solidFill>
                <a:schemeClr val="bg1">
                  <a:lumMod val="95000"/>
                </a:schemeClr>
              </a:solidFill>
              <a:effectLst>
                <a:outerShdw blurRad="38100" dist="38100" dir="2700000" algn="tl">
                  <a:srgbClr val="000000">
                    <a:alpha val="43137"/>
                  </a:srgbClr>
                </a:outerShdw>
              </a:effectLst>
              <a:latin typeface="+mj-ea"/>
              <a:ea typeface="+mj-ea"/>
            </a:endParaRPr>
          </a:p>
          <a:p>
            <a:pPr lvl="1"/>
            <a:endParaRPr lang="en-US" altLang="zh-CN" sz="1600" b="1">
              <a:solidFill>
                <a:schemeClr val="bg1"/>
              </a:solidFill>
              <a:effectLst>
                <a:outerShdw blurRad="38100" dist="38100" dir="2700000" algn="tl">
                  <a:srgbClr val="000000">
                    <a:alpha val="43137"/>
                  </a:srgbClr>
                </a:outerShdw>
              </a:effectLst>
              <a:latin typeface="+mj-ea"/>
              <a:ea typeface="+mj-ea"/>
            </a:endParaRPr>
          </a:p>
        </p:txBody>
      </p:sp>
      <p:cxnSp>
        <p:nvCxnSpPr>
          <p:cNvPr id="23" name="直接连接符 22">
            <a:extLst>
              <a:ext uri="{FF2B5EF4-FFF2-40B4-BE49-F238E27FC236}">
                <a16:creationId xmlns:a16="http://schemas.microsoft.com/office/drawing/2014/main" id="{A6ED08FA-2943-4D08-91B5-062B4352A4BC}"/>
              </a:ext>
            </a:extLst>
          </p:cNvPr>
          <p:cNvCxnSpPr/>
          <p:nvPr/>
        </p:nvCxnSpPr>
        <p:spPr>
          <a:xfrm flipH="1">
            <a:off x="5641447" y="3159730"/>
            <a:ext cx="19050" cy="1079500"/>
          </a:xfrm>
          <a:prstGeom prst="line">
            <a:avLst/>
          </a:prstGeom>
          <a:ln w="50800">
            <a:solidFill>
              <a:srgbClr val="4F4F4F"/>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45B879DC-4A82-4B69-AA6A-0E87EC0BA6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8830" y="1662813"/>
            <a:ext cx="1888114" cy="1888114"/>
          </a:xfrm>
          <a:prstGeom prst="rect">
            <a:avLst/>
          </a:prstGeom>
        </p:spPr>
      </p:pic>
      <p:pic>
        <p:nvPicPr>
          <p:cNvPr id="7" name="图片 6">
            <a:extLst>
              <a:ext uri="{FF2B5EF4-FFF2-40B4-BE49-F238E27FC236}">
                <a16:creationId xmlns:a16="http://schemas.microsoft.com/office/drawing/2014/main" id="{771267CE-D31C-4D7D-8889-590504A6E89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02242" y="4154582"/>
            <a:ext cx="1495941" cy="1495941"/>
          </a:xfrm>
          <a:prstGeom prst="rect">
            <a:avLst/>
          </a:prstGeom>
        </p:spPr>
      </p:pic>
      <p:sp>
        <p:nvSpPr>
          <p:cNvPr id="25" name="文本框 24">
            <a:extLst>
              <a:ext uri="{FF2B5EF4-FFF2-40B4-BE49-F238E27FC236}">
                <a16:creationId xmlns:a16="http://schemas.microsoft.com/office/drawing/2014/main" id="{9B6D09DD-4DFE-4B3F-BE8D-E2118FC689F1}"/>
              </a:ext>
            </a:extLst>
          </p:cNvPr>
          <p:cNvSpPr txBox="1"/>
          <p:nvPr/>
        </p:nvSpPr>
        <p:spPr>
          <a:xfrm>
            <a:off x="1356066" y="5409521"/>
            <a:ext cx="2798684" cy="892552"/>
          </a:xfrm>
          <a:prstGeom prst="rect">
            <a:avLst/>
          </a:prstGeom>
          <a:noFill/>
        </p:spPr>
        <p:txBody>
          <a:bodyPr wrap="square" rtlCol="0">
            <a:spAutoFit/>
          </a:bodyPr>
          <a:lstStyle/>
          <a:p>
            <a:r>
              <a:rPr lang="zh-CN" altLang="en-US" sz="1600" b="1">
                <a:latin typeface="+mj-ea"/>
                <a:ea typeface="+mj-ea"/>
              </a:rPr>
              <a:t>阿拉伯胶</a:t>
            </a:r>
            <a:endParaRPr lang="en-US" altLang="zh-CN" sz="1600" b="1">
              <a:latin typeface="+mj-ea"/>
              <a:ea typeface="+mj-ea"/>
            </a:endParaRPr>
          </a:p>
          <a:p>
            <a:r>
              <a:rPr lang="en-US" altLang="zh-CN" sz="1200" b="1">
                <a:latin typeface="+mj-ea"/>
                <a:ea typeface="+mj-ea"/>
              </a:rPr>
              <a:t>1.5ml</a:t>
            </a:r>
            <a:r>
              <a:rPr lang="zh-CN" altLang="en-US" sz="1200" b="1">
                <a:latin typeface="+mj-ea"/>
                <a:ea typeface="+mj-ea"/>
              </a:rPr>
              <a:t>每天。可分批掺入湿粮。含钙，高血钙忌用。</a:t>
            </a:r>
            <a:endParaRPr lang="en-US" altLang="zh-CN" sz="1200" b="1">
              <a:latin typeface="+mj-ea"/>
              <a:ea typeface="+mj-ea"/>
            </a:endParaRPr>
          </a:p>
          <a:p>
            <a:endParaRPr lang="en-US" altLang="zh-CN" sz="1200">
              <a:latin typeface="+mj-ea"/>
              <a:ea typeface="+mj-ea"/>
            </a:endParaRPr>
          </a:p>
        </p:txBody>
      </p:sp>
    </p:spTree>
    <p:extLst>
      <p:ext uri="{BB962C8B-B14F-4D97-AF65-F5344CB8AC3E}">
        <p14:creationId xmlns:p14="http://schemas.microsoft.com/office/powerpoint/2010/main" val="377544061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0" name="箭头: 五边形 6">
            <a:extLst/>
          </p:cNvPr>
          <p:cNvSpPr/>
          <p:nvPr/>
        </p:nvSpPr>
        <p:spPr>
          <a:xfrm rot="10800000" flipH="1">
            <a:off x="0" y="404813"/>
            <a:ext cx="7392144" cy="1344612"/>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grpSp>
        <p:nvGrpSpPr>
          <p:cNvPr id="30724" name="组合 22"/>
          <p:cNvGrpSpPr>
            <a:grpSpLocks/>
          </p:cNvGrpSpPr>
          <p:nvPr/>
        </p:nvGrpSpPr>
        <p:grpSpPr bwMode="auto">
          <a:xfrm>
            <a:off x="196850" y="404813"/>
            <a:ext cx="5779784" cy="1134998"/>
            <a:chOff x="-101400" y="2876417"/>
            <a:chExt cx="5114992" cy="1134983"/>
          </a:xfrm>
        </p:grpSpPr>
        <p:sp>
          <p:nvSpPr>
            <p:cNvPr id="20494" name="文本框 13">
              <a:extLst/>
            </p:cNvPr>
            <p:cNvSpPr txBox="1">
              <a:spLocks noChangeArrowheads="1"/>
            </p:cNvSpPr>
            <p:nvPr/>
          </p:nvSpPr>
          <p:spPr bwMode="auto">
            <a:xfrm>
              <a:off x="-101400" y="2876417"/>
              <a:ext cx="1343136" cy="825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600" b="1">
                  <a:solidFill>
                    <a:srgbClr val="010101"/>
                  </a:solidFill>
                  <a:latin typeface="+mn-lt"/>
                  <a:ea typeface="+mn-ea"/>
                  <a:cs typeface="+mn-ea"/>
                  <a:sym typeface="+mn-lt"/>
                </a:rPr>
                <a:t>PART</a:t>
              </a:r>
            </a:p>
          </p:txBody>
        </p:sp>
        <p:sp>
          <p:nvSpPr>
            <p:cNvPr id="20495" name="文本框 14">
              <a:extLst/>
            </p:cNvPr>
            <p:cNvSpPr txBox="1">
              <a:spLocks noChangeArrowheads="1"/>
            </p:cNvSpPr>
            <p:nvPr/>
          </p:nvSpPr>
          <p:spPr bwMode="auto">
            <a:xfrm>
              <a:off x="2150733" y="3430993"/>
              <a:ext cx="2862859" cy="580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endParaRPr lang="en-US" altLang="zh-CN" sz="2400">
                <a:solidFill>
                  <a:srgbClr val="010101"/>
                </a:solidFill>
                <a:latin typeface="+mn-lt"/>
                <a:ea typeface="+mn-ea"/>
                <a:cs typeface="+mn-ea"/>
                <a:sym typeface="+mn-lt"/>
              </a:endParaRPr>
            </a:p>
          </p:txBody>
        </p:sp>
        <p:cxnSp>
          <p:nvCxnSpPr>
            <p:cNvPr id="24" name="直接连接符 23">
              <a:extLst/>
            </p:cNvPr>
            <p:cNvCxnSpPr>
              <a:cxnSpLocks/>
            </p:cNvCxnSpPr>
            <p:nvPr/>
          </p:nvCxnSpPr>
          <p:spPr>
            <a:xfrm flipH="1">
              <a:off x="489901" y="3171688"/>
              <a:ext cx="1074241" cy="722302"/>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0497" name="矩形 20">
              <a:extLst/>
            </p:cNvPr>
            <p:cNvSpPr>
              <a:spLocks noChangeArrowheads="1"/>
            </p:cNvSpPr>
            <p:nvPr/>
          </p:nvSpPr>
          <p:spPr bwMode="auto">
            <a:xfrm>
              <a:off x="618328" y="3473309"/>
              <a:ext cx="1824424" cy="52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lvl="1">
                <a:lnSpc>
                  <a:spcPct val="100000"/>
                </a:lnSpc>
                <a:spcBef>
                  <a:spcPct val="0"/>
                </a:spcBef>
                <a:buFontTx/>
                <a:buNone/>
                <a:defRPr/>
              </a:pPr>
              <a:r>
                <a:rPr lang="en-US" altLang="zh-CN" sz="2800" b="1">
                  <a:solidFill>
                    <a:srgbClr val="010101"/>
                  </a:solidFill>
                  <a:latin typeface="+mn-lt"/>
                  <a:ea typeface="+mn-ea"/>
                  <a:cs typeface="+mn-ea"/>
                  <a:sym typeface="+mn-lt"/>
                </a:rPr>
                <a:t>THREE</a:t>
              </a:r>
              <a:endParaRPr lang="zh-CN" altLang="en-US" sz="1400">
                <a:latin typeface="+mn-lt"/>
                <a:ea typeface="+mn-ea"/>
                <a:cs typeface="+mn-ea"/>
                <a:sym typeface="+mn-lt"/>
              </a:endParaRPr>
            </a:p>
          </p:txBody>
        </p:sp>
      </p:grpSp>
      <p:sp>
        <p:nvSpPr>
          <p:cNvPr id="8" name="文本框 7"/>
          <p:cNvSpPr txBox="1"/>
          <p:nvPr/>
        </p:nvSpPr>
        <p:spPr>
          <a:xfrm>
            <a:off x="254618" y="2470092"/>
            <a:ext cx="5683126" cy="615553"/>
          </a:xfrm>
          <a:prstGeom prst="rect">
            <a:avLst/>
          </a:prstGeom>
          <a:noFill/>
        </p:spPr>
        <p:txBody>
          <a:bodyPr wrap="square" numCol="2" rtlCol="0">
            <a:spAutoFit/>
          </a:bodyPr>
          <a:lstStyle/>
          <a:p>
            <a:pPr lvl="1"/>
            <a:endParaRPr lang="en-US" altLang="zh-CN" sz="1600" b="1">
              <a:solidFill>
                <a:schemeClr val="tx1">
                  <a:lumMod val="75000"/>
                  <a:lumOff val="25000"/>
                </a:schemeClr>
              </a:solidFill>
              <a:effectLst>
                <a:outerShdw blurRad="38100" dist="38100" dir="2700000" algn="tl">
                  <a:srgbClr val="000000">
                    <a:alpha val="43137"/>
                  </a:srgbClr>
                </a:outerShdw>
              </a:effectLst>
              <a:latin typeface="+mj-ea"/>
            </a:endParaRPr>
          </a:p>
          <a:p>
            <a:endParaRPr lang="zh-CN" altLang="en-US"/>
          </a:p>
        </p:txBody>
      </p:sp>
      <p:sp>
        <p:nvSpPr>
          <p:cNvPr id="2" name="文本框 1"/>
          <p:cNvSpPr txBox="1"/>
          <p:nvPr/>
        </p:nvSpPr>
        <p:spPr>
          <a:xfrm>
            <a:off x="2926404" y="1145317"/>
            <a:ext cx="4721408" cy="461665"/>
          </a:xfrm>
          <a:prstGeom prst="rect">
            <a:avLst/>
          </a:prstGeom>
          <a:noFill/>
        </p:spPr>
        <p:txBody>
          <a:bodyPr wrap="square" rtlCol="0">
            <a:spAutoFit/>
          </a:bodyPr>
          <a:lstStyle/>
          <a:p>
            <a:r>
              <a:rPr lang="zh-CN" altLang="en-US" sz="2400" b="1">
                <a:solidFill>
                  <a:schemeClr val="tx2">
                    <a:lumMod val="75000"/>
                  </a:schemeClr>
                </a:solidFill>
                <a:latin typeface="+mj-ea"/>
                <a:ea typeface="+mj-ea"/>
              </a:rPr>
              <a:t>皮下补液 </a:t>
            </a:r>
            <a:r>
              <a:rPr lang="en-US" altLang="zh-CN" sz="2400" b="1">
                <a:solidFill>
                  <a:schemeClr val="tx2">
                    <a:lumMod val="75000"/>
                  </a:schemeClr>
                </a:solidFill>
                <a:latin typeface="+mj-ea"/>
                <a:ea typeface="+mj-ea"/>
              </a:rPr>
              <a:t>Sub-Q</a:t>
            </a:r>
            <a:endParaRPr lang="zh-CN" altLang="en-US" sz="2400" b="1">
              <a:solidFill>
                <a:schemeClr val="tx2">
                  <a:lumMod val="75000"/>
                </a:schemeClr>
              </a:solidFill>
              <a:latin typeface="+mj-ea"/>
              <a:ea typeface="+mj-ea"/>
            </a:endParaRPr>
          </a:p>
        </p:txBody>
      </p:sp>
      <p:sp>
        <p:nvSpPr>
          <p:cNvPr id="4" name="文本框 3"/>
          <p:cNvSpPr txBox="1"/>
          <p:nvPr/>
        </p:nvSpPr>
        <p:spPr>
          <a:xfrm>
            <a:off x="2897878" y="620688"/>
            <a:ext cx="3078756" cy="461665"/>
          </a:xfrm>
          <a:prstGeom prst="rect">
            <a:avLst/>
          </a:prstGeom>
          <a:noFill/>
        </p:spPr>
        <p:txBody>
          <a:bodyPr wrap="square" rtlCol="0">
            <a:spAutoFit/>
          </a:bodyPr>
          <a:lstStyle/>
          <a:p>
            <a:r>
              <a:rPr lang="zh-CN" altLang="en-US" sz="2400" b="1">
                <a:solidFill>
                  <a:schemeClr val="bg1"/>
                </a:solidFill>
                <a:effectLst>
                  <a:outerShdw blurRad="38100" dist="38100" dir="2700000" algn="tl">
                    <a:srgbClr val="000000">
                      <a:alpha val="43137"/>
                    </a:srgbClr>
                  </a:outerShdw>
                </a:effectLst>
                <a:latin typeface="+mj-ea"/>
                <a:ea typeface="+mj-ea"/>
              </a:rPr>
              <a:t>猫慢性肾病治疗</a:t>
            </a:r>
          </a:p>
        </p:txBody>
      </p:sp>
      <p:sp>
        <p:nvSpPr>
          <p:cNvPr id="6" name="文本框 5">
            <a:extLst>
              <a:ext uri="{FF2B5EF4-FFF2-40B4-BE49-F238E27FC236}">
                <a16:creationId xmlns:a16="http://schemas.microsoft.com/office/drawing/2014/main" id="{AC01123D-EE5D-4ABB-97B0-3D991176699C}"/>
              </a:ext>
            </a:extLst>
          </p:cNvPr>
          <p:cNvSpPr txBox="1"/>
          <p:nvPr/>
        </p:nvSpPr>
        <p:spPr>
          <a:xfrm>
            <a:off x="3881453" y="2088134"/>
            <a:ext cx="7903179" cy="4524315"/>
          </a:xfrm>
          <a:prstGeom prst="rect">
            <a:avLst/>
          </a:prstGeom>
          <a:noFill/>
        </p:spPr>
        <p:txBody>
          <a:bodyPr wrap="square" rtlCol="0">
            <a:spAutoFit/>
          </a:bodyPr>
          <a:lstStyle/>
          <a:p>
            <a:pPr lvl="1"/>
            <a:r>
              <a:rPr lang="zh-CN" altLang="en-US" sz="2800" b="1">
                <a:solidFill>
                  <a:schemeClr val="bg1">
                    <a:lumMod val="95000"/>
                  </a:schemeClr>
                </a:solidFill>
                <a:effectLst>
                  <a:outerShdw blurRad="38100" dist="38100" dir="2700000" algn="tl">
                    <a:srgbClr val="000000">
                      <a:alpha val="43137"/>
                    </a:srgbClr>
                  </a:outerShdw>
                </a:effectLst>
                <a:latin typeface="+mj-ea"/>
                <a:ea typeface="+mj-ea"/>
              </a:rPr>
              <a:t>   主要会选用的溶液：</a:t>
            </a:r>
            <a:endParaRPr lang="en-US" altLang="zh-CN" sz="2800" b="1">
              <a:solidFill>
                <a:schemeClr val="bg1">
                  <a:lumMod val="95000"/>
                </a:schemeClr>
              </a:solidFill>
              <a:effectLst>
                <a:outerShdw blurRad="38100" dist="38100" dir="2700000" algn="tl">
                  <a:srgbClr val="000000">
                    <a:alpha val="43137"/>
                  </a:srgbClr>
                </a:outerShdw>
              </a:effectLst>
              <a:latin typeface="+mj-ea"/>
              <a:ea typeface="+mj-ea"/>
            </a:endParaRPr>
          </a:p>
          <a:p>
            <a:pPr lvl="1"/>
            <a:endParaRPr lang="en-US" altLang="zh-CN" sz="2000" b="1">
              <a:solidFill>
                <a:schemeClr val="bg1">
                  <a:lumMod val="9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sz="2400" b="1">
                <a:solidFill>
                  <a:srgbClr val="FFFF00"/>
                </a:solidFill>
                <a:effectLst>
                  <a:outerShdw blurRad="38100" dist="38100" dir="2700000" algn="tl">
                    <a:srgbClr val="000000">
                      <a:alpha val="43137"/>
                    </a:srgbClr>
                  </a:outerShdw>
                </a:effectLst>
                <a:latin typeface="+mj-ea"/>
                <a:ea typeface="+mj-ea"/>
              </a:rPr>
              <a:t>首选：乳酸林格液</a:t>
            </a:r>
            <a:endParaRPr lang="en-US" altLang="zh-CN" sz="1600" b="1">
              <a:solidFill>
                <a:srgbClr val="FFFF00"/>
              </a:solidFill>
              <a:effectLst>
                <a:outerShdw blurRad="38100" dist="38100" dir="2700000" algn="tl">
                  <a:srgbClr val="000000">
                    <a:alpha val="43137"/>
                  </a:srgbClr>
                </a:outerShdw>
              </a:effectLst>
              <a:latin typeface="+mj-ea"/>
              <a:ea typeface="+mj-ea"/>
            </a:endParaRPr>
          </a:p>
          <a:p>
            <a:pPr lvl="1"/>
            <a:r>
              <a:rPr lang="en-US" altLang="zh-CN" sz="1600" b="1">
                <a:solidFill>
                  <a:schemeClr val="bg1">
                    <a:lumMod val="95000"/>
                  </a:schemeClr>
                </a:solidFill>
                <a:effectLst>
                  <a:outerShdw blurRad="38100" dist="38100" dir="2700000" algn="tl">
                    <a:srgbClr val="000000">
                      <a:alpha val="43137"/>
                    </a:srgbClr>
                  </a:outerShdw>
                </a:effectLst>
                <a:latin typeface="+mj-ea"/>
                <a:ea typeface="+mj-ea"/>
              </a:rPr>
              <a:t>      </a:t>
            </a:r>
            <a:r>
              <a:rPr lang="zh-CN" altLang="en-US" sz="2000" b="1">
                <a:solidFill>
                  <a:schemeClr val="bg1">
                    <a:lumMod val="95000"/>
                  </a:schemeClr>
                </a:solidFill>
                <a:effectLst>
                  <a:outerShdw blurRad="38100" dist="38100" dir="2700000" algn="tl">
                    <a:srgbClr val="000000">
                      <a:alpha val="43137"/>
                    </a:srgbClr>
                  </a:outerShdw>
                </a:effectLst>
                <a:latin typeface="+mj-ea"/>
                <a:ea typeface="+mj-ea"/>
              </a:rPr>
              <a:t>优点：含钾，合适低血钾猫</a:t>
            </a:r>
            <a:endParaRPr lang="en-US" altLang="zh-CN" sz="2000" b="1">
              <a:solidFill>
                <a:schemeClr val="bg1">
                  <a:lumMod val="95000"/>
                </a:schemeClr>
              </a:solidFill>
              <a:effectLst>
                <a:outerShdw blurRad="38100" dist="38100" dir="2700000" algn="tl">
                  <a:srgbClr val="000000">
                    <a:alpha val="43137"/>
                  </a:srgbClr>
                </a:outerShdw>
              </a:effectLst>
              <a:latin typeface="+mj-ea"/>
              <a:ea typeface="+mj-ea"/>
            </a:endParaRPr>
          </a:p>
          <a:p>
            <a:pPr lvl="1"/>
            <a:r>
              <a:rPr lang="en-US" altLang="zh-CN" sz="2000" b="1">
                <a:solidFill>
                  <a:schemeClr val="bg1">
                    <a:lumMod val="95000"/>
                  </a:schemeClr>
                </a:solidFill>
                <a:effectLst>
                  <a:outerShdw blurRad="38100" dist="38100" dir="2700000" algn="tl">
                    <a:srgbClr val="000000">
                      <a:alpha val="43137"/>
                    </a:srgbClr>
                  </a:outerShdw>
                </a:effectLst>
                <a:latin typeface="+mj-ea"/>
                <a:ea typeface="+mj-ea"/>
              </a:rPr>
              <a:t>               </a:t>
            </a:r>
            <a:r>
              <a:rPr lang="zh-CN" altLang="en-US" sz="2000" b="1">
                <a:solidFill>
                  <a:schemeClr val="bg1">
                    <a:lumMod val="95000"/>
                  </a:schemeClr>
                </a:solidFill>
                <a:effectLst>
                  <a:outerShdw blurRad="38100" dist="38100" dir="2700000" algn="tl">
                    <a:srgbClr val="000000">
                      <a:alpha val="43137"/>
                    </a:srgbClr>
                  </a:outerShdw>
                </a:effectLst>
                <a:latin typeface="+mj-ea"/>
                <a:ea typeface="+mj-ea"/>
              </a:rPr>
              <a:t>含缓冲剂，合适血液酸化的猫</a:t>
            </a:r>
            <a:endParaRPr lang="en-US" altLang="zh-CN" sz="2000" b="1">
              <a:solidFill>
                <a:schemeClr val="bg1">
                  <a:lumMod val="95000"/>
                </a:schemeClr>
              </a:solidFill>
              <a:effectLst>
                <a:outerShdw blurRad="38100" dist="38100" dir="2700000" algn="tl">
                  <a:srgbClr val="000000">
                    <a:alpha val="43137"/>
                  </a:srgbClr>
                </a:outerShdw>
              </a:effectLst>
              <a:latin typeface="+mj-ea"/>
              <a:ea typeface="+mj-ea"/>
            </a:endParaRPr>
          </a:p>
          <a:p>
            <a:pPr lvl="1"/>
            <a:endParaRPr lang="en-US" altLang="zh-CN" sz="2000" b="1">
              <a:solidFill>
                <a:schemeClr val="bg1">
                  <a:lumMod val="9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sz="2400" b="1">
                <a:solidFill>
                  <a:srgbClr val="FFFF00"/>
                </a:solidFill>
                <a:effectLst>
                  <a:outerShdw blurRad="38100" dist="38100" dir="2700000" algn="tl">
                    <a:srgbClr val="000000">
                      <a:alpha val="43137"/>
                    </a:srgbClr>
                  </a:outerShdw>
                </a:effectLst>
                <a:latin typeface="+mj-ea"/>
                <a:ea typeface="+mj-ea"/>
              </a:rPr>
              <a:t>或者：生理盐水</a:t>
            </a:r>
            <a:endParaRPr lang="en-US" altLang="zh-CN" sz="1600" b="1">
              <a:solidFill>
                <a:srgbClr val="FFFF00"/>
              </a:solidFill>
              <a:effectLst>
                <a:outerShdw blurRad="38100" dist="38100" dir="2700000" algn="tl">
                  <a:srgbClr val="000000">
                    <a:alpha val="43137"/>
                  </a:srgbClr>
                </a:outerShdw>
              </a:effectLst>
              <a:latin typeface="+mj-ea"/>
              <a:ea typeface="+mj-ea"/>
            </a:endParaRPr>
          </a:p>
          <a:p>
            <a:pPr lvl="1"/>
            <a:r>
              <a:rPr lang="en-US" altLang="zh-CN" sz="1600" b="1">
                <a:solidFill>
                  <a:schemeClr val="bg1">
                    <a:lumMod val="95000"/>
                  </a:schemeClr>
                </a:solidFill>
                <a:effectLst>
                  <a:outerShdw blurRad="38100" dist="38100" dir="2700000" algn="tl">
                    <a:srgbClr val="000000">
                      <a:alpha val="43137"/>
                    </a:srgbClr>
                  </a:outerShdw>
                </a:effectLst>
                <a:latin typeface="+mj-ea"/>
                <a:ea typeface="+mj-ea"/>
              </a:rPr>
              <a:t>      </a:t>
            </a:r>
            <a:r>
              <a:rPr lang="zh-CN" altLang="en-US" sz="2000" b="1">
                <a:solidFill>
                  <a:schemeClr val="bg1">
                    <a:lumMod val="95000"/>
                  </a:schemeClr>
                </a:solidFill>
                <a:effectLst>
                  <a:outerShdw blurRad="38100" dist="38100" dir="2700000" algn="tl">
                    <a:srgbClr val="000000">
                      <a:alpha val="43137"/>
                    </a:srgbClr>
                  </a:outerShdw>
                </a:effectLst>
                <a:latin typeface="+mj-ea"/>
                <a:ea typeface="+mj-ea"/>
              </a:rPr>
              <a:t>优点：可治疗高血钙</a:t>
            </a:r>
            <a:endParaRPr lang="en-US" altLang="zh-CN" sz="2000" b="1">
              <a:solidFill>
                <a:schemeClr val="bg1">
                  <a:lumMod val="95000"/>
                </a:schemeClr>
              </a:solidFill>
              <a:effectLst>
                <a:outerShdw blurRad="38100" dist="38100" dir="2700000" algn="tl">
                  <a:srgbClr val="000000">
                    <a:alpha val="43137"/>
                  </a:srgbClr>
                </a:outerShdw>
              </a:effectLst>
              <a:latin typeface="+mj-ea"/>
              <a:ea typeface="+mj-ea"/>
            </a:endParaRPr>
          </a:p>
          <a:p>
            <a:pPr lvl="1"/>
            <a:r>
              <a:rPr lang="en-US" altLang="zh-CN" sz="2000" b="1">
                <a:solidFill>
                  <a:schemeClr val="bg1">
                    <a:lumMod val="95000"/>
                  </a:schemeClr>
                </a:solidFill>
                <a:effectLst>
                  <a:outerShdw blurRad="38100" dist="38100" dir="2700000" algn="tl">
                    <a:srgbClr val="000000">
                      <a:alpha val="43137"/>
                    </a:srgbClr>
                  </a:outerShdw>
                </a:effectLst>
                <a:latin typeface="+mj-ea"/>
                <a:ea typeface="+mj-ea"/>
              </a:rPr>
              <a:t>               </a:t>
            </a:r>
            <a:r>
              <a:rPr lang="zh-CN" altLang="en-US" sz="2000" b="1">
                <a:solidFill>
                  <a:schemeClr val="bg1">
                    <a:lumMod val="95000"/>
                  </a:schemeClr>
                </a:solidFill>
                <a:effectLst>
                  <a:outerShdw blurRad="38100" dist="38100" dir="2700000" algn="tl">
                    <a:srgbClr val="000000">
                      <a:alpha val="43137"/>
                    </a:srgbClr>
                  </a:outerShdw>
                </a:effectLst>
                <a:latin typeface="+mj-ea"/>
                <a:ea typeface="+mj-ea"/>
              </a:rPr>
              <a:t>合适少部份高血钾猫</a:t>
            </a:r>
            <a:endParaRPr lang="en-US" altLang="zh-CN" sz="2000" b="1">
              <a:solidFill>
                <a:schemeClr val="bg1">
                  <a:lumMod val="95000"/>
                </a:schemeClr>
              </a:solidFill>
              <a:effectLst>
                <a:outerShdw blurRad="38100" dist="38100" dir="2700000" algn="tl">
                  <a:srgbClr val="000000">
                    <a:alpha val="43137"/>
                  </a:srgbClr>
                </a:outerShdw>
              </a:effectLst>
              <a:latin typeface="+mj-ea"/>
              <a:ea typeface="+mj-ea"/>
            </a:endParaRPr>
          </a:p>
          <a:p>
            <a:pPr lvl="1"/>
            <a:endParaRPr lang="en-US" altLang="zh-CN" sz="2000" b="1">
              <a:solidFill>
                <a:schemeClr val="bg1">
                  <a:lumMod val="95000"/>
                </a:schemeClr>
              </a:solidFill>
              <a:effectLst>
                <a:outerShdw blurRad="38100" dist="38100" dir="2700000" algn="tl">
                  <a:srgbClr val="000000">
                    <a:alpha val="43137"/>
                  </a:srgbClr>
                </a:outerShdw>
              </a:effectLst>
              <a:latin typeface="+mj-ea"/>
              <a:ea typeface="+mj-ea"/>
            </a:endParaRPr>
          </a:p>
          <a:p>
            <a:pPr lvl="1"/>
            <a:endParaRPr lang="en-US" altLang="zh-CN" sz="2000" b="1">
              <a:solidFill>
                <a:schemeClr val="bg1">
                  <a:lumMod val="95000"/>
                </a:schemeClr>
              </a:solidFill>
              <a:effectLst>
                <a:outerShdw blurRad="38100" dist="38100" dir="2700000" algn="tl">
                  <a:srgbClr val="000000">
                    <a:alpha val="43137"/>
                  </a:srgbClr>
                </a:outerShdw>
              </a:effectLst>
              <a:latin typeface="+mj-ea"/>
              <a:ea typeface="+mj-ea"/>
            </a:endParaRPr>
          </a:p>
          <a:p>
            <a:pPr marL="342900" indent="-342900">
              <a:buFont typeface="Wingdings" panose="05000000000000000000" pitchFamily="2" charset="2"/>
              <a:buChar char="n"/>
            </a:pPr>
            <a:endParaRPr lang="en-US" altLang="zh-CN" sz="2000" b="1">
              <a:solidFill>
                <a:schemeClr val="bg1">
                  <a:lumMod val="95000"/>
                </a:schemeClr>
              </a:solidFill>
              <a:effectLst>
                <a:outerShdw blurRad="38100" dist="38100" dir="2700000" algn="tl">
                  <a:srgbClr val="000000">
                    <a:alpha val="43137"/>
                  </a:srgbClr>
                </a:outerShdw>
              </a:effectLst>
              <a:latin typeface="+mj-ea"/>
              <a:ea typeface="+mj-ea"/>
            </a:endParaRPr>
          </a:p>
          <a:p>
            <a:endParaRPr lang="en-US" altLang="zh-CN" sz="1600" b="1">
              <a:solidFill>
                <a:schemeClr val="bg1"/>
              </a:solidFill>
              <a:effectLst>
                <a:outerShdw blurRad="38100" dist="38100" dir="2700000" algn="tl">
                  <a:srgbClr val="000000">
                    <a:alpha val="43137"/>
                  </a:srgbClr>
                </a:outerShdw>
              </a:effectLst>
              <a:latin typeface="+mj-ea"/>
              <a:ea typeface="+mj-ea"/>
            </a:endParaRPr>
          </a:p>
          <a:p>
            <a:endParaRPr lang="en-US" altLang="zh-CN" sz="1600" b="1">
              <a:solidFill>
                <a:schemeClr val="bg1"/>
              </a:solidFill>
              <a:effectLst>
                <a:outerShdw blurRad="38100" dist="38100" dir="2700000" algn="tl">
                  <a:srgbClr val="000000">
                    <a:alpha val="43137"/>
                  </a:srgbClr>
                </a:outerShdw>
              </a:effectLst>
              <a:latin typeface="+mj-ea"/>
              <a:ea typeface="+mj-ea"/>
            </a:endParaRPr>
          </a:p>
        </p:txBody>
      </p:sp>
      <p:sp>
        <p:nvSpPr>
          <p:cNvPr id="18" name="文本框 17">
            <a:extLst>
              <a:ext uri="{FF2B5EF4-FFF2-40B4-BE49-F238E27FC236}">
                <a16:creationId xmlns:a16="http://schemas.microsoft.com/office/drawing/2014/main" id="{F176E8DB-02DB-4006-BF9A-05A08FBECDF8}"/>
              </a:ext>
            </a:extLst>
          </p:cNvPr>
          <p:cNvSpPr txBox="1"/>
          <p:nvPr/>
        </p:nvSpPr>
        <p:spPr>
          <a:xfrm>
            <a:off x="-92840" y="1821517"/>
            <a:ext cx="3096344" cy="800219"/>
          </a:xfrm>
          <a:prstGeom prst="rect">
            <a:avLst/>
          </a:prstGeom>
          <a:noFill/>
        </p:spPr>
        <p:txBody>
          <a:bodyPr wrap="square" rtlCol="0">
            <a:spAutoFit/>
          </a:bodyPr>
          <a:lstStyle/>
          <a:p>
            <a:pPr marL="0" lvl="1"/>
            <a:r>
              <a:rPr lang="zh-CN" altLang="en-US" sz="2800" b="1">
                <a:solidFill>
                  <a:schemeClr val="tx1">
                    <a:lumMod val="75000"/>
                    <a:lumOff val="25000"/>
                  </a:schemeClr>
                </a:solidFill>
                <a:effectLst>
                  <a:outerShdw blurRad="38100" dist="38100" dir="2700000" algn="tl">
                    <a:srgbClr val="000000">
                      <a:alpha val="43137"/>
                    </a:srgbClr>
                  </a:outerShdw>
                </a:effectLst>
                <a:latin typeface="+mj-ea"/>
                <a:ea typeface="+mj-ea"/>
              </a:rPr>
              <a:t>血钾 （</a:t>
            </a:r>
            <a:r>
              <a:rPr lang="en-US" altLang="zh-CN" sz="2800" b="1">
                <a:solidFill>
                  <a:schemeClr val="tx1">
                    <a:lumMod val="75000"/>
                    <a:lumOff val="25000"/>
                  </a:schemeClr>
                </a:solidFill>
                <a:effectLst>
                  <a:outerShdw blurRad="38100" dist="38100" dir="2700000" algn="tl">
                    <a:srgbClr val="000000">
                      <a:alpha val="43137"/>
                    </a:srgbClr>
                  </a:outerShdw>
                </a:effectLst>
                <a:latin typeface="+mj-ea"/>
                <a:ea typeface="+mj-ea"/>
              </a:rPr>
              <a:t>K</a:t>
            </a:r>
            <a:r>
              <a:rPr lang="zh-CN" altLang="en-US" sz="2800" b="1">
                <a:solidFill>
                  <a:schemeClr val="tx1">
                    <a:lumMod val="75000"/>
                    <a:lumOff val="25000"/>
                  </a:schemeClr>
                </a:solidFill>
                <a:effectLst>
                  <a:outerShdw blurRad="38100" dist="38100" dir="2700000" algn="tl">
                    <a:srgbClr val="000000">
                      <a:alpha val="43137"/>
                    </a:srgbClr>
                  </a:outerShdw>
                </a:effectLst>
                <a:latin typeface="+mj-ea"/>
                <a:ea typeface="+mj-ea"/>
              </a:rPr>
              <a:t>）</a:t>
            </a:r>
            <a:endParaRPr lang="en-US" altLang="zh-CN" sz="2800" b="1">
              <a:solidFill>
                <a:schemeClr val="tx1">
                  <a:lumMod val="75000"/>
                  <a:lumOff val="25000"/>
                </a:schemeClr>
              </a:solidFill>
              <a:effectLst>
                <a:outerShdw blurRad="38100" dist="38100" dir="2700000" algn="tl">
                  <a:srgbClr val="000000">
                    <a:alpha val="43137"/>
                  </a:srgbClr>
                </a:outerShdw>
              </a:effectLst>
              <a:latin typeface="+mj-ea"/>
              <a:ea typeface="+mj-ea"/>
            </a:endParaRPr>
          </a:p>
          <a:p>
            <a:endParaRPr lang="zh-CN" altLang="en-US"/>
          </a:p>
        </p:txBody>
      </p:sp>
      <p:sp>
        <p:nvSpPr>
          <p:cNvPr id="19" name="矩形 18">
            <a:extLst>
              <a:ext uri="{FF2B5EF4-FFF2-40B4-BE49-F238E27FC236}">
                <a16:creationId xmlns:a16="http://schemas.microsoft.com/office/drawing/2014/main" id="{E05D2C26-2758-480C-B6F3-383127C05BC5}"/>
              </a:ext>
            </a:extLst>
          </p:cNvPr>
          <p:cNvSpPr/>
          <p:nvPr/>
        </p:nvSpPr>
        <p:spPr>
          <a:xfrm>
            <a:off x="0" y="1749426"/>
            <a:ext cx="3791744" cy="510857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sp>
        <p:nvSpPr>
          <p:cNvPr id="21" name="文本框 20">
            <a:extLst>
              <a:ext uri="{FF2B5EF4-FFF2-40B4-BE49-F238E27FC236}">
                <a16:creationId xmlns:a16="http://schemas.microsoft.com/office/drawing/2014/main" id="{F64AB21C-A417-4E5A-8766-747D343E6B5F}"/>
              </a:ext>
            </a:extLst>
          </p:cNvPr>
          <p:cNvSpPr txBox="1"/>
          <p:nvPr/>
        </p:nvSpPr>
        <p:spPr>
          <a:xfrm>
            <a:off x="955701" y="2058924"/>
            <a:ext cx="1782505" cy="523220"/>
          </a:xfrm>
          <a:prstGeom prst="rect">
            <a:avLst/>
          </a:prstGeom>
          <a:noFill/>
        </p:spPr>
        <p:txBody>
          <a:bodyPr wrap="square" rtlCol="0">
            <a:spAutoFit/>
          </a:bodyPr>
          <a:lstStyle/>
          <a:p>
            <a:r>
              <a:rPr lang="zh-CN" altLang="en-US" sz="2800" b="1">
                <a:solidFill>
                  <a:schemeClr val="tx1">
                    <a:lumMod val="75000"/>
                    <a:lumOff val="25000"/>
                  </a:schemeClr>
                </a:solidFill>
                <a:effectLst>
                  <a:outerShdw blurRad="38100" dist="38100" dir="2700000" algn="tl">
                    <a:srgbClr val="000000">
                      <a:alpha val="43137"/>
                    </a:srgbClr>
                  </a:outerShdw>
                </a:effectLst>
                <a:latin typeface="+mj-ea"/>
                <a:ea typeface="+mj-ea"/>
              </a:rPr>
              <a:t>皮下补液</a:t>
            </a:r>
            <a:endParaRPr lang="zh-CN" altLang="en-US" b="1">
              <a:solidFill>
                <a:schemeClr val="tx1">
                  <a:lumMod val="75000"/>
                  <a:lumOff val="25000"/>
                </a:schemeClr>
              </a:solidFill>
              <a:effectLst>
                <a:outerShdw blurRad="38100" dist="38100" dir="2700000" algn="tl">
                  <a:srgbClr val="000000">
                    <a:alpha val="43137"/>
                  </a:srgbClr>
                </a:outerShdw>
              </a:effectLst>
              <a:latin typeface="+mj-ea"/>
              <a:ea typeface="+mj-ea"/>
            </a:endParaRPr>
          </a:p>
        </p:txBody>
      </p:sp>
      <p:sp>
        <p:nvSpPr>
          <p:cNvPr id="9" name="文本框 8">
            <a:extLst>
              <a:ext uri="{FF2B5EF4-FFF2-40B4-BE49-F238E27FC236}">
                <a16:creationId xmlns:a16="http://schemas.microsoft.com/office/drawing/2014/main" id="{9F3AA339-956A-4739-BB25-B611E7BEE193}"/>
              </a:ext>
            </a:extLst>
          </p:cNvPr>
          <p:cNvSpPr txBox="1"/>
          <p:nvPr/>
        </p:nvSpPr>
        <p:spPr>
          <a:xfrm>
            <a:off x="335360" y="5149813"/>
            <a:ext cx="3076868" cy="1569660"/>
          </a:xfrm>
          <a:prstGeom prst="rect">
            <a:avLst/>
          </a:prstGeom>
          <a:noFill/>
        </p:spPr>
        <p:txBody>
          <a:bodyPr wrap="square" rtlCol="0">
            <a:spAutoFit/>
          </a:bodyPr>
          <a:lstStyle/>
          <a:p>
            <a:pPr marL="285750" indent="-285750">
              <a:buFont typeface="Wingdings" panose="05000000000000000000" pitchFamily="2" charset="2"/>
              <a:buChar char="u"/>
            </a:pPr>
            <a:r>
              <a:rPr lang="zh-CN" altLang="en-US" sz="1600" b="1">
                <a:solidFill>
                  <a:schemeClr val="tx1">
                    <a:lumMod val="95000"/>
                    <a:lumOff val="5000"/>
                  </a:schemeClr>
                </a:solidFill>
                <a:effectLst>
                  <a:outerShdw blurRad="38100" dist="38100" dir="2700000" algn="tl">
                    <a:srgbClr val="000000">
                      <a:alpha val="43137"/>
                    </a:srgbClr>
                  </a:outerShdw>
                </a:effectLst>
                <a:latin typeface="+mj-ea"/>
                <a:ea typeface="+mj-ea"/>
              </a:rPr>
              <a:t>终有一天猫怎么喝水也弥补不来尿液造成的流失。</a:t>
            </a:r>
            <a:endParaRPr lang="en-US" altLang="zh-CN" sz="1600" b="1">
              <a:solidFill>
                <a:schemeClr val="tx1">
                  <a:lumMod val="95000"/>
                  <a:lumOff val="5000"/>
                </a:schemeClr>
              </a:solidFill>
              <a:effectLst>
                <a:outerShdw blurRad="38100" dist="38100" dir="2700000" algn="tl">
                  <a:srgbClr val="000000">
                    <a:alpha val="43137"/>
                  </a:srgbClr>
                </a:outerShdw>
              </a:effectLst>
              <a:latin typeface="+mj-ea"/>
              <a:ea typeface="+mj-ea"/>
            </a:endParaRPr>
          </a:p>
          <a:p>
            <a:pPr marL="285750" indent="-285750">
              <a:buFont typeface="Wingdings" panose="05000000000000000000" pitchFamily="2" charset="2"/>
              <a:buChar char="u"/>
            </a:pPr>
            <a:r>
              <a:rPr lang="zh-CN" altLang="en-US" sz="1600" b="1">
                <a:solidFill>
                  <a:schemeClr val="tx1">
                    <a:lumMod val="95000"/>
                    <a:lumOff val="5000"/>
                  </a:schemeClr>
                </a:solidFill>
                <a:effectLst>
                  <a:outerShdw blurRad="38100" dist="38100" dir="2700000" algn="tl">
                    <a:srgbClr val="000000">
                      <a:alpha val="43137"/>
                    </a:srgbClr>
                  </a:outerShdw>
                </a:effectLst>
                <a:latin typeface="+mj-ea"/>
                <a:ea typeface="+mj-ea"/>
              </a:rPr>
              <a:t>肌酐大于</a:t>
            </a:r>
            <a:r>
              <a:rPr lang="en-US" altLang="zh-CN" sz="1600" b="1">
                <a:solidFill>
                  <a:schemeClr val="tx1">
                    <a:lumMod val="95000"/>
                    <a:lumOff val="5000"/>
                  </a:schemeClr>
                </a:solidFill>
                <a:effectLst>
                  <a:outerShdw blurRad="38100" dist="38100" dir="2700000" algn="tl">
                    <a:srgbClr val="000000">
                      <a:alpha val="43137"/>
                    </a:srgbClr>
                  </a:outerShdw>
                </a:effectLst>
                <a:latin typeface="+mj-ea"/>
                <a:ea typeface="+mj-ea"/>
              </a:rPr>
              <a:t>3.5mg/dl</a:t>
            </a:r>
            <a:r>
              <a:rPr lang="zh-CN" altLang="en-US" sz="1600" b="1">
                <a:solidFill>
                  <a:schemeClr val="tx1">
                    <a:lumMod val="95000"/>
                    <a:lumOff val="5000"/>
                  </a:schemeClr>
                </a:solidFill>
                <a:effectLst>
                  <a:outerShdw blurRad="38100" dist="38100" dir="2700000" algn="tl">
                    <a:srgbClr val="000000">
                      <a:alpha val="43137"/>
                    </a:srgbClr>
                  </a:outerShdw>
                </a:effectLst>
                <a:latin typeface="+mj-ea"/>
                <a:ea typeface="+mj-ea"/>
              </a:rPr>
              <a:t>，或大于</a:t>
            </a:r>
            <a:r>
              <a:rPr lang="en-US" altLang="zh-CN" sz="1600" b="1">
                <a:solidFill>
                  <a:schemeClr val="tx1">
                    <a:lumMod val="95000"/>
                    <a:lumOff val="5000"/>
                  </a:schemeClr>
                </a:solidFill>
                <a:effectLst>
                  <a:outerShdw blurRad="38100" dist="38100" dir="2700000" algn="tl">
                    <a:srgbClr val="000000">
                      <a:alpha val="43137"/>
                    </a:srgbClr>
                  </a:outerShdw>
                </a:effectLst>
                <a:latin typeface="+mj-ea"/>
                <a:ea typeface="+mj-ea"/>
              </a:rPr>
              <a:t>300umol/L</a:t>
            </a:r>
            <a:r>
              <a:rPr lang="zh-CN" altLang="en-US" sz="1600" b="1">
                <a:solidFill>
                  <a:schemeClr val="tx1">
                    <a:lumMod val="95000"/>
                    <a:lumOff val="5000"/>
                  </a:schemeClr>
                </a:solidFill>
                <a:effectLst>
                  <a:outerShdw blurRad="38100" dist="38100" dir="2700000" algn="tl">
                    <a:srgbClr val="000000">
                      <a:alpha val="43137"/>
                    </a:srgbClr>
                  </a:outerShdw>
                </a:effectLst>
                <a:latin typeface="+mj-ea"/>
                <a:ea typeface="+mj-ea"/>
              </a:rPr>
              <a:t>，最可能出现饮水量无法弥补损失的情况。</a:t>
            </a:r>
            <a:endParaRPr lang="en-US" altLang="zh-CN" sz="1600" b="1">
              <a:solidFill>
                <a:schemeClr val="tx1">
                  <a:lumMod val="95000"/>
                  <a:lumOff val="5000"/>
                </a:schemeClr>
              </a:solidFill>
              <a:effectLst>
                <a:outerShdw blurRad="38100" dist="38100" dir="2700000" algn="tl">
                  <a:srgbClr val="000000">
                    <a:alpha val="43137"/>
                  </a:srgbClr>
                </a:outerShdw>
              </a:effectLst>
              <a:latin typeface="+mj-ea"/>
              <a:ea typeface="+mj-ea"/>
            </a:endParaRPr>
          </a:p>
          <a:p>
            <a:endParaRPr lang="en-US" altLang="zh-CN" sz="1600" b="1">
              <a:latin typeface="+mn-ea"/>
              <a:ea typeface="+mn-ea"/>
            </a:endParaRPr>
          </a:p>
        </p:txBody>
      </p:sp>
      <p:pic>
        <p:nvPicPr>
          <p:cNvPr id="15" name="图片 14">
            <a:extLst>
              <a:ext uri="{FF2B5EF4-FFF2-40B4-BE49-F238E27FC236}">
                <a16:creationId xmlns:a16="http://schemas.microsoft.com/office/drawing/2014/main" id="{1F00FE9F-7834-497F-B682-4A862B58F4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3387" y="2764180"/>
            <a:ext cx="2900814" cy="2177058"/>
          </a:xfrm>
          <a:prstGeom prst="rect">
            <a:avLst/>
          </a:prstGeom>
        </p:spPr>
      </p:pic>
    </p:spTree>
    <p:extLst>
      <p:ext uri="{BB962C8B-B14F-4D97-AF65-F5344CB8AC3E}">
        <p14:creationId xmlns:p14="http://schemas.microsoft.com/office/powerpoint/2010/main" val="155902513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p:cNvPr>
          <p:cNvGrpSpPr/>
          <p:nvPr/>
        </p:nvGrpSpPr>
        <p:grpSpPr>
          <a:xfrm>
            <a:off x="4865686" y="251627"/>
            <a:ext cx="7320137" cy="1035882"/>
            <a:chOff x="8112223" y="330677"/>
            <a:chExt cx="4194115" cy="1035882"/>
          </a:xfrm>
          <a:effectLst>
            <a:outerShdw blurRad="50800" dist="38100" dir="5400000" algn="t" rotWithShape="0">
              <a:prstClr val="black">
                <a:alpha val="40000"/>
              </a:prstClr>
            </a:outerShdw>
          </a:effectLst>
        </p:grpSpPr>
        <p:sp>
          <p:nvSpPr>
            <p:cNvPr id="27"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8281096" y="330677"/>
              <a:ext cx="3973218" cy="985057"/>
              <a:chOff x="-461843" y="2729730"/>
              <a:chExt cx="4679923" cy="1377463"/>
            </a:xfrm>
          </p:grpSpPr>
          <p:sp>
            <p:nvSpPr>
              <p:cNvPr id="29"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1355254" y="3048121"/>
                <a:ext cx="2862826" cy="81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latin typeface="+mn-lt"/>
                    <a:ea typeface="+mn-ea"/>
                    <a:cs typeface="+mn-ea"/>
                    <a:sym typeface="+mn-lt"/>
                  </a:rPr>
                  <a:t>皮下补液补多少？</a:t>
                </a:r>
                <a:endParaRPr lang="en-US" altLang="zh-CN" sz="2400" b="1">
                  <a:solidFill>
                    <a:srgbClr val="010101"/>
                  </a:solidFill>
                  <a:latin typeface="+mn-lt"/>
                  <a:ea typeface="+mn-ea"/>
                  <a:cs typeface="+mn-ea"/>
                  <a:sym typeface="+mn-lt"/>
                </a:endParaRPr>
              </a:p>
            </p:txBody>
          </p:sp>
          <p:cxnSp>
            <p:nvCxnSpPr>
              <p:cNvPr id="31" name="直接连接符 30">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506334" y="3461620"/>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grpSp>
        <p:nvGrpSpPr>
          <p:cNvPr id="37893" name="组合 1"/>
          <p:cNvGrpSpPr>
            <a:grpSpLocks/>
          </p:cNvGrpSpPr>
          <p:nvPr/>
        </p:nvGrpSpPr>
        <p:grpSpPr bwMode="auto">
          <a:xfrm>
            <a:off x="1100977" y="2564904"/>
            <a:ext cx="4865878" cy="2973190"/>
            <a:chOff x="6931323" y="2608336"/>
            <a:chExt cx="4500246" cy="2972408"/>
          </a:xfrm>
        </p:grpSpPr>
        <p:grpSp>
          <p:nvGrpSpPr>
            <p:cNvPr id="37894" name="组合 14"/>
            <p:cNvGrpSpPr>
              <a:grpSpLocks/>
            </p:cNvGrpSpPr>
            <p:nvPr/>
          </p:nvGrpSpPr>
          <p:grpSpPr bwMode="auto">
            <a:xfrm>
              <a:off x="6931323" y="2608336"/>
              <a:ext cx="4500246" cy="718135"/>
              <a:chOff x="3936148" y="1692543"/>
              <a:chExt cx="4500246" cy="718135"/>
            </a:xfrm>
          </p:grpSpPr>
          <p:sp>
            <p:nvSpPr>
              <p:cNvPr id="55" name="文本框 66">
                <a:extLst/>
              </p:cNvPr>
              <p:cNvSpPr txBox="1">
                <a:spLocks noChangeArrowheads="1"/>
              </p:cNvSpPr>
              <p:nvPr/>
            </p:nvSpPr>
            <p:spPr bwMode="auto">
              <a:xfrm>
                <a:off x="3966308" y="1692543"/>
                <a:ext cx="4258964" cy="461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spcBef>
                    <a:spcPts val="0"/>
                  </a:spcBef>
                  <a:spcAft>
                    <a:spcPts val="0"/>
                  </a:spcAft>
                  <a:defRPr/>
                </a:pPr>
                <a:endParaRPr lang="zh-CN" altLang="en-US" sz="2400" b="1" kern="0">
                  <a:solidFill>
                    <a:srgbClr val="4F4F4F"/>
                  </a:solidFill>
                  <a:latin typeface="+mn-lt"/>
                  <a:ea typeface="+mn-ea"/>
                  <a:cs typeface="+mn-ea"/>
                  <a:sym typeface="+mn-lt"/>
                </a:endParaRPr>
              </a:p>
            </p:txBody>
          </p:sp>
          <p:sp>
            <p:nvSpPr>
              <p:cNvPr id="56" name="矩形 55">
                <a:extLst/>
              </p:cNvPr>
              <p:cNvSpPr/>
              <p:nvPr/>
            </p:nvSpPr>
            <p:spPr>
              <a:xfrm>
                <a:off x="3936148" y="2133752"/>
                <a:ext cx="4500246" cy="276926"/>
              </a:xfrm>
              <a:prstGeom prst="rect">
                <a:avLst/>
              </a:prstGeom>
            </p:spPr>
            <p:txBody>
              <a:bodyPr>
                <a:spAutoFit/>
              </a:bodyPr>
              <a:lstStyle/>
              <a:p>
                <a:pPr eaLnBrk="1" fontAlgn="auto" hangingPunct="1">
                  <a:spcBef>
                    <a:spcPts val="0"/>
                  </a:spcBef>
                  <a:spcAft>
                    <a:spcPts val="0"/>
                  </a:spcAft>
                  <a:defRPr/>
                </a:pPr>
                <a:endParaRPr lang="zh-CN" altLang="en-US" sz="1200" kern="0">
                  <a:solidFill>
                    <a:srgbClr val="4F4F4F"/>
                  </a:solidFill>
                  <a:latin typeface="+mn-lt"/>
                  <a:ea typeface="+mn-ea"/>
                  <a:cs typeface="+mn-ea"/>
                  <a:sym typeface="+mn-lt"/>
                </a:endParaRPr>
              </a:p>
            </p:txBody>
          </p:sp>
        </p:grpSp>
        <p:sp>
          <p:nvSpPr>
            <p:cNvPr id="53" name="矩形 3">
              <a:extLst/>
            </p:cNvPr>
            <p:cNvSpPr>
              <a:spLocks noChangeArrowheads="1"/>
            </p:cNvSpPr>
            <p:nvPr/>
          </p:nvSpPr>
          <p:spPr bwMode="auto">
            <a:xfrm>
              <a:off x="6931323" y="4487442"/>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sp>
          <p:nvSpPr>
            <p:cNvPr id="54" name="矩形 3">
              <a:extLst/>
            </p:cNvPr>
            <p:cNvSpPr>
              <a:spLocks noChangeArrowheads="1"/>
            </p:cNvSpPr>
            <p:nvPr/>
          </p:nvSpPr>
          <p:spPr bwMode="auto">
            <a:xfrm>
              <a:off x="6931323" y="5273048"/>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grpSp>
      <p:sp>
        <p:nvSpPr>
          <p:cNvPr id="19" name="文本框 18">
            <a:extLst>
              <a:ext uri="{FF2B5EF4-FFF2-40B4-BE49-F238E27FC236}">
                <a16:creationId xmlns:a16="http://schemas.microsoft.com/office/drawing/2014/main" id="{AEE01461-EC3B-414C-A38D-6413179E4729}"/>
              </a:ext>
            </a:extLst>
          </p:cNvPr>
          <p:cNvSpPr txBox="1"/>
          <p:nvPr/>
        </p:nvSpPr>
        <p:spPr>
          <a:xfrm>
            <a:off x="6479416" y="2691339"/>
            <a:ext cx="3600400" cy="2926486"/>
          </a:xfrm>
          <a:prstGeom prst="rect">
            <a:avLst/>
          </a:prstGeom>
          <a:noFill/>
        </p:spPr>
        <p:txBody>
          <a:bodyPr wrap="square" rtlCol="0">
            <a:spAutoFit/>
          </a:bodyPr>
          <a:lstStyle/>
          <a:p>
            <a:endParaRPr lang="zh-CN" altLang="en-US"/>
          </a:p>
        </p:txBody>
      </p:sp>
      <p:sp>
        <p:nvSpPr>
          <p:cNvPr id="20" name="文本框 19">
            <a:extLst>
              <a:ext uri="{FF2B5EF4-FFF2-40B4-BE49-F238E27FC236}">
                <a16:creationId xmlns:a16="http://schemas.microsoft.com/office/drawing/2014/main" id="{D87A80B3-FA72-4CDE-A1FD-B5CE5EB3F44C}"/>
              </a:ext>
            </a:extLst>
          </p:cNvPr>
          <p:cNvSpPr txBox="1"/>
          <p:nvPr/>
        </p:nvSpPr>
        <p:spPr>
          <a:xfrm>
            <a:off x="4847607" y="1770618"/>
            <a:ext cx="4280596" cy="4124206"/>
          </a:xfrm>
          <a:prstGeom prst="rect">
            <a:avLst/>
          </a:prstGeom>
          <a:noFill/>
        </p:spPr>
        <p:txBody>
          <a:bodyPr wrap="square" rtlCol="0">
            <a:spAutoFit/>
          </a:bodyPr>
          <a:lstStyle/>
          <a:p>
            <a:pPr marL="800100" lvl="1" indent="-342900">
              <a:buFont typeface="Wingdings" panose="05000000000000000000" pitchFamily="2" charset="2"/>
              <a:buChar char="n"/>
            </a:pP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b="1">
                <a:solidFill>
                  <a:schemeClr val="tx1">
                    <a:lumMod val="85000"/>
                    <a:lumOff val="15000"/>
                  </a:schemeClr>
                </a:solidFill>
                <a:effectLst>
                  <a:outerShdw blurRad="38100" dist="38100" dir="2700000" algn="tl">
                    <a:srgbClr val="000000">
                      <a:alpha val="43137"/>
                    </a:srgbClr>
                  </a:outerShdw>
                </a:effectLst>
                <a:latin typeface="+mj-ea"/>
                <a:ea typeface="+mj-ea"/>
              </a:rPr>
              <a:t>过度补液，指望补液把数值“冲”下来是最常见的错误。</a:t>
            </a: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b="1">
                <a:solidFill>
                  <a:schemeClr val="tx1">
                    <a:lumMod val="85000"/>
                    <a:lumOff val="15000"/>
                  </a:schemeClr>
                </a:solidFill>
                <a:effectLst>
                  <a:outerShdw blurRad="38100" dist="38100" dir="2700000" algn="tl">
                    <a:srgbClr val="000000">
                      <a:alpha val="43137"/>
                    </a:srgbClr>
                  </a:outerShdw>
                </a:effectLst>
                <a:latin typeface="+mj-ea"/>
                <a:ea typeface="+mj-ea"/>
              </a:rPr>
              <a:t>皮下补液主要是为保持猫正常水合，避免滥用造成负担。</a:t>
            </a: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b="1">
                <a:solidFill>
                  <a:srgbClr val="C00000"/>
                </a:solidFill>
                <a:effectLst>
                  <a:outerShdw blurRad="38100" dist="38100" dir="2700000" algn="tl">
                    <a:srgbClr val="000000">
                      <a:alpha val="43137"/>
                    </a:srgbClr>
                  </a:outerShdw>
                </a:effectLst>
                <a:latin typeface="+mj-ea"/>
                <a:ea typeface="+mj-ea"/>
              </a:rPr>
              <a:t>心脏病猫慎用皮下补液！</a:t>
            </a:r>
            <a:endParaRPr lang="en-US" altLang="zh-CN" b="1">
              <a:solidFill>
                <a:srgbClr val="C00000"/>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b="1">
                <a:effectLst>
                  <a:outerShdw blurRad="38100" dist="38100" dir="2700000" algn="tl">
                    <a:srgbClr val="000000">
                      <a:alpha val="43137"/>
                    </a:srgbClr>
                  </a:outerShdw>
                </a:effectLst>
                <a:latin typeface="+mj-ea"/>
                <a:ea typeface="+mj-ea"/>
              </a:rPr>
              <a:t>详细请看公众号</a:t>
            </a:r>
            <a:r>
              <a:rPr lang="en-US" altLang="zh-CN" b="1">
                <a:effectLst>
                  <a:outerShdw blurRad="38100" dist="38100" dir="2700000" algn="tl">
                    <a:srgbClr val="000000">
                      <a:alpha val="43137"/>
                    </a:srgbClr>
                  </a:outerShdw>
                </a:effectLst>
                <a:latin typeface="+mj-ea"/>
                <a:ea typeface="+mj-ea"/>
              </a:rPr>
              <a:t>RawMeat</a:t>
            </a:r>
            <a:r>
              <a:rPr lang="zh-CN" altLang="en-US" b="1">
                <a:effectLst>
                  <a:outerShdw blurRad="38100" dist="38100" dir="2700000" algn="tl">
                    <a:srgbClr val="000000">
                      <a:alpha val="43137"/>
                    </a:srgbClr>
                  </a:outerShdw>
                </a:effectLst>
                <a:latin typeface="+mj-ea"/>
                <a:ea typeface="+mj-ea"/>
              </a:rPr>
              <a:t> 猫疾病栏目：皮下补液完全指南，包括视频指导</a:t>
            </a:r>
          </a:p>
          <a:p>
            <a:pPr marL="800100" lvl="1" indent="-342900">
              <a:buFont typeface="Wingdings" panose="05000000000000000000" pitchFamily="2" charset="2"/>
              <a:buChar char="n"/>
            </a:pP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lvl="1"/>
            <a:endParaRPr lang="en-US" altLang="zh-CN" sz="1400" b="1">
              <a:solidFill>
                <a:srgbClr val="C00000"/>
              </a:solidFill>
              <a:effectLst>
                <a:outerShdw blurRad="38100" dist="38100" dir="2700000" algn="tl">
                  <a:srgbClr val="000000">
                    <a:alpha val="43137"/>
                  </a:srgbClr>
                </a:outerShdw>
              </a:effectLst>
              <a:latin typeface="+mj-ea"/>
              <a:ea typeface="+mj-ea"/>
            </a:endParaRPr>
          </a:p>
          <a:p>
            <a:pPr lvl="1"/>
            <a:endParaRPr lang="en-US" altLang="zh-CN" sz="1400" b="1">
              <a:solidFill>
                <a:schemeClr val="tx1">
                  <a:lumMod val="85000"/>
                  <a:lumOff val="15000"/>
                </a:schemeClr>
              </a:solidFill>
              <a:effectLst>
                <a:outerShdw blurRad="38100" dist="38100" dir="2700000" algn="tl">
                  <a:srgbClr val="000000">
                    <a:alpha val="43137"/>
                  </a:srgbClr>
                </a:outerShdw>
              </a:effectLst>
              <a:latin typeface="+mj-ea"/>
              <a:ea typeface="+mj-ea"/>
            </a:endParaRPr>
          </a:p>
        </p:txBody>
      </p:sp>
      <p:sp>
        <p:nvSpPr>
          <p:cNvPr id="22" name="文本框 21">
            <a:extLst>
              <a:ext uri="{FF2B5EF4-FFF2-40B4-BE49-F238E27FC236}">
                <a16:creationId xmlns:a16="http://schemas.microsoft.com/office/drawing/2014/main" id="{8680B877-2955-48DE-9D87-E34A49E6BB54}"/>
              </a:ext>
            </a:extLst>
          </p:cNvPr>
          <p:cNvSpPr txBox="1"/>
          <p:nvPr/>
        </p:nvSpPr>
        <p:spPr>
          <a:xfrm>
            <a:off x="3632236" y="2045321"/>
            <a:ext cx="7975187" cy="584775"/>
          </a:xfrm>
          <a:prstGeom prst="rect">
            <a:avLst/>
          </a:prstGeom>
          <a:noFill/>
        </p:spPr>
        <p:txBody>
          <a:bodyPr wrap="square" rtlCol="0">
            <a:spAutoFit/>
          </a:bodyPr>
          <a:lstStyle/>
          <a:p>
            <a:pPr lvl="1"/>
            <a:endParaRPr lang="en-US" altLang="zh-CN" sz="1600" b="1">
              <a:solidFill>
                <a:schemeClr val="bg1">
                  <a:lumMod val="95000"/>
                </a:schemeClr>
              </a:solidFill>
              <a:effectLst>
                <a:outerShdw blurRad="38100" dist="38100" dir="2700000" algn="tl">
                  <a:srgbClr val="000000">
                    <a:alpha val="43137"/>
                  </a:srgbClr>
                </a:outerShdw>
              </a:effectLst>
              <a:latin typeface="+mj-ea"/>
              <a:ea typeface="+mj-ea"/>
            </a:endParaRPr>
          </a:p>
          <a:p>
            <a:pPr lvl="1"/>
            <a:endParaRPr lang="en-US" altLang="zh-CN" sz="1600" b="1">
              <a:solidFill>
                <a:schemeClr val="bg1"/>
              </a:solidFill>
              <a:effectLst>
                <a:outerShdw blurRad="38100" dist="38100" dir="2700000" algn="tl">
                  <a:srgbClr val="000000">
                    <a:alpha val="43137"/>
                  </a:srgbClr>
                </a:outerShdw>
              </a:effectLst>
              <a:latin typeface="+mj-ea"/>
              <a:ea typeface="+mj-ea"/>
            </a:endParaRPr>
          </a:p>
        </p:txBody>
      </p:sp>
      <p:cxnSp>
        <p:nvCxnSpPr>
          <p:cNvPr id="23" name="直接连接符 22">
            <a:extLst>
              <a:ext uri="{FF2B5EF4-FFF2-40B4-BE49-F238E27FC236}">
                <a16:creationId xmlns:a16="http://schemas.microsoft.com/office/drawing/2014/main" id="{A6ED08FA-2943-4D08-91B5-062B4352A4BC}"/>
              </a:ext>
            </a:extLst>
          </p:cNvPr>
          <p:cNvCxnSpPr/>
          <p:nvPr/>
        </p:nvCxnSpPr>
        <p:spPr>
          <a:xfrm flipH="1">
            <a:off x="5160426" y="3052462"/>
            <a:ext cx="19050" cy="1079500"/>
          </a:xfrm>
          <a:prstGeom prst="line">
            <a:avLst/>
          </a:prstGeom>
          <a:ln w="50800">
            <a:solidFill>
              <a:srgbClr val="4F4F4F"/>
            </a:solidFill>
          </a:ln>
        </p:spPr>
        <p:style>
          <a:lnRef idx="1">
            <a:schemeClr val="accent1"/>
          </a:lnRef>
          <a:fillRef idx="0">
            <a:schemeClr val="accent1"/>
          </a:fillRef>
          <a:effectRef idx="0">
            <a:schemeClr val="accent1"/>
          </a:effectRef>
          <a:fontRef idx="minor">
            <a:schemeClr val="tx1"/>
          </a:fontRef>
        </p:style>
      </p:cxnSp>
      <p:graphicFrame>
        <p:nvGraphicFramePr>
          <p:cNvPr id="7" name="表格 6">
            <a:extLst>
              <a:ext uri="{FF2B5EF4-FFF2-40B4-BE49-F238E27FC236}">
                <a16:creationId xmlns:a16="http://schemas.microsoft.com/office/drawing/2014/main" id="{C4E8F02F-CCAE-41EB-8E8A-142B0ED35C49}"/>
              </a:ext>
            </a:extLst>
          </p:cNvPr>
          <p:cNvGraphicFramePr>
            <a:graphicFrameLocks noGrp="1"/>
          </p:cNvGraphicFramePr>
          <p:nvPr>
            <p:extLst>
              <p:ext uri="{D42A27DB-BD31-4B8C-83A1-F6EECF244321}">
                <p14:modId xmlns:p14="http://schemas.microsoft.com/office/powerpoint/2010/main" val="271326211"/>
              </p:ext>
            </p:extLst>
          </p:nvPr>
        </p:nvGraphicFramePr>
        <p:xfrm>
          <a:off x="242614" y="1459809"/>
          <a:ext cx="4280596" cy="4022165"/>
        </p:xfrm>
        <a:graphic>
          <a:graphicData uri="http://schemas.openxmlformats.org/drawingml/2006/table">
            <a:tbl>
              <a:tblPr/>
              <a:tblGrid>
                <a:gridCol w="1902472">
                  <a:extLst>
                    <a:ext uri="{9D8B030D-6E8A-4147-A177-3AD203B41FA5}">
                      <a16:colId xmlns:a16="http://schemas.microsoft.com/office/drawing/2014/main" val="2943687450"/>
                    </a:ext>
                  </a:extLst>
                </a:gridCol>
                <a:gridCol w="1358626">
                  <a:extLst>
                    <a:ext uri="{9D8B030D-6E8A-4147-A177-3AD203B41FA5}">
                      <a16:colId xmlns:a16="http://schemas.microsoft.com/office/drawing/2014/main" val="2171724728"/>
                    </a:ext>
                  </a:extLst>
                </a:gridCol>
                <a:gridCol w="1019498">
                  <a:extLst>
                    <a:ext uri="{9D8B030D-6E8A-4147-A177-3AD203B41FA5}">
                      <a16:colId xmlns:a16="http://schemas.microsoft.com/office/drawing/2014/main" val="3849951874"/>
                    </a:ext>
                  </a:extLst>
                </a:gridCol>
              </a:tblGrid>
              <a:tr h="414431">
                <a:tc gridSpan="3">
                  <a:txBody>
                    <a:bodyPr/>
                    <a:lstStyle/>
                    <a:p>
                      <a:pPr algn="ctr" latinLnBrk="1"/>
                      <a:r>
                        <a:rPr lang="zh-CN" altLang="en-US" sz="2400" b="1">
                          <a:effectLst/>
                        </a:rPr>
                        <a:t>专家建议</a:t>
                      </a:r>
                      <a:endParaRPr lang="zh-CN" altLang="en-US" sz="2400">
                        <a:effectLst/>
                      </a:endParaRPr>
                    </a:p>
                  </a:txBody>
                  <a:tcPr marL="42131" marR="42131" marT="42131" marB="42131"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CFCFC"/>
                    </a:solidFill>
                  </a:tcPr>
                </a:tc>
                <a:tc hMerge="1">
                  <a:txBody>
                    <a:bodyPr/>
                    <a:lstStyle/>
                    <a:p>
                      <a:endParaRPr lang="zh-CN" altLang="en-US"/>
                    </a:p>
                  </a:txBody>
                  <a:tcPr>
                    <a:lnL w="9525" cap="flat" cmpd="sng" algn="ctr">
                      <a:solidFill>
                        <a:srgbClr val="D3D3D3"/>
                      </a:solidFill>
                      <a:prstDash val="solid"/>
                      <a:round/>
                      <a:headEnd type="none" w="med" len="med"/>
                      <a:tailEnd type="none" w="med" len="med"/>
                    </a:lnL>
                  </a:tcPr>
                </a:tc>
                <a:tc hMerge="1">
                  <a:txBody>
                    <a:bodyPr/>
                    <a:lstStyle/>
                    <a:p>
                      <a:endParaRPr lang="zh-CN" altLang="en-US"/>
                    </a:p>
                  </a:txBody>
                  <a:tcPr/>
                </a:tc>
                <a:extLst>
                  <a:ext uri="{0D108BD9-81ED-4DB2-BD59-A6C34878D82A}">
                    <a16:rowId xmlns:a16="http://schemas.microsoft.com/office/drawing/2014/main" val="1324410105"/>
                  </a:ext>
                </a:extLst>
              </a:tr>
              <a:tr h="330223">
                <a:tc>
                  <a:txBody>
                    <a:bodyPr/>
                    <a:lstStyle/>
                    <a:p>
                      <a:pPr latinLnBrk="1"/>
                      <a:r>
                        <a:rPr lang="zh-CN" altLang="en-US" sz="1800" b="1">
                          <a:effectLst/>
                        </a:rPr>
                        <a:t>来源</a:t>
                      </a:r>
                      <a:endParaRPr lang="zh-CN" altLang="en-US" sz="1800">
                        <a:effectLst/>
                      </a:endParaRPr>
                    </a:p>
                  </a:txBody>
                  <a:tcPr marL="42131" marR="42131" marT="42131" marB="42131"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7FAFF"/>
                    </a:solidFill>
                  </a:tcPr>
                </a:tc>
                <a:tc>
                  <a:txBody>
                    <a:bodyPr/>
                    <a:lstStyle/>
                    <a:p>
                      <a:pPr latinLnBrk="1"/>
                      <a:r>
                        <a:rPr lang="zh-CN" altLang="en-US" sz="1800" b="1">
                          <a:effectLst/>
                        </a:rPr>
                        <a:t>皮下补液量</a:t>
                      </a:r>
                      <a:endParaRPr lang="zh-CN" altLang="en-US" sz="1800">
                        <a:effectLst/>
                      </a:endParaRPr>
                    </a:p>
                  </a:txBody>
                  <a:tcPr marL="42131" marR="42131" marT="42131" marB="42131"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B w="9525" cap="flat" cmpd="sng" algn="ctr">
                      <a:solidFill>
                        <a:srgbClr val="D3D3D3"/>
                      </a:solidFill>
                      <a:prstDash val="solid"/>
                      <a:round/>
                      <a:headEnd type="none" w="med" len="med"/>
                      <a:tailEnd type="none" w="med" len="med"/>
                    </a:lnB>
                    <a:solidFill>
                      <a:srgbClr val="F7FAFF"/>
                    </a:solidFill>
                  </a:tcPr>
                </a:tc>
                <a:tc>
                  <a:txBody>
                    <a:bodyPr/>
                    <a:lstStyle/>
                    <a:p>
                      <a:pPr latinLnBrk="1"/>
                      <a:r>
                        <a:rPr lang="zh-CN" altLang="en-US" sz="1800" b="1">
                          <a:effectLst/>
                        </a:rPr>
                        <a:t>补液频率</a:t>
                      </a:r>
                      <a:endParaRPr lang="zh-CN" altLang="en-US" sz="1800">
                        <a:effectLst/>
                      </a:endParaRPr>
                    </a:p>
                  </a:txBody>
                  <a:tcPr marL="42131" marR="42131" marT="42131" marB="42131"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7FAFF"/>
                    </a:solidFill>
                  </a:tcPr>
                </a:tc>
                <a:extLst>
                  <a:ext uri="{0D108BD9-81ED-4DB2-BD59-A6C34878D82A}">
                    <a16:rowId xmlns:a16="http://schemas.microsoft.com/office/drawing/2014/main" val="3274912249"/>
                  </a:ext>
                </a:extLst>
              </a:tr>
              <a:tr h="563541">
                <a:tc>
                  <a:txBody>
                    <a:bodyPr/>
                    <a:lstStyle/>
                    <a:p>
                      <a:pPr latinLnBrk="1"/>
                      <a:r>
                        <a:rPr lang="en-US" sz="1400">
                          <a:effectLst>
                            <a:outerShdw blurRad="38100" dist="38100" dir="2700000" algn="tl">
                              <a:srgbClr val="000000">
                                <a:alpha val="43137"/>
                              </a:srgbClr>
                            </a:outerShdw>
                          </a:effectLst>
                        </a:rPr>
                        <a:t>Dr Katherine James</a:t>
                      </a:r>
                    </a:p>
                  </a:txBody>
                  <a:tcPr marL="42131" marR="42131" marT="42131" marB="42131"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CFCFC"/>
                    </a:solidFill>
                  </a:tcPr>
                </a:tc>
                <a:tc>
                  <a:txBody>
                    <a:bodyPr/>
                    <a:lstStyle/>
                    <a:p>
                      <a:pPr latinLnBrk="1"/>
                      <a:r>
                        <a:rPr lang="zh-CN" altLang="en-US" sz="1400">
                          <a:effectLst>
                            <a:outerShdw blurRad="38100" dist="38100" dir="2700000" algn="tl">
                              <a:srgbClr val="000000">
                                <a:alpha val="43137"/>
                              </a:srgbClr>
                            </a:outerShdw>
                          </a:effectLst>
                        </a:rPr>
                        <a:t>小于等于</a:t>
                      </a:r>
                      <a:r>
                        <a:rPr lang="en-US" altLang="zh-CN" sz="1400">
                          <a:effectLst>
                            <a:outerShdw blurRad="38100" dist="38100" dir="2700000" algn="tl">
                              <a:srgbClr val="000000">
                                <a:alpha val="43137"/>
                              </a:srgbClr>
                            </a:outerShdw>
                          </a:effectLst>
                        </a:rPr>
                        <a:t>100</a:t>
                      </a:r>
                      <a:r>
                        <a:rPr lang="en-US" sz="1400">
                          <a:effectLst>
                            <a:outerShdw blurRad="38100" dist="38100" dir="2700000" algn="tl">
                              <a:srgbClr val="000000">
                                <a:alpha val="43137"/>
                              </a:srgbClr>
                            </a:outerShdw>
                          </a:effectLst>
                        </a:rPr>
                        <a:t>ml</a:t>
                      </a:r>
                    </a:p>
                  </a:txBody>
                  <a:tcPr marL="42131" marR="42131" marT="42131" marB="42131"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CFCFC"/>
                    </a:solidFill>
                  </a:tcPr>
                </a:tc>
                <a:tc>
                  <a:txBody>
                    <a:bodyPr/>
                    <a:lstStyle/>
                    <a:p>
                      <a:pPr latinLnBrk="1"/>
                      <a:r>
                        <a:rPr lang="zh-CN" altLang="en-US" sz="1400">
                          <a:effectLst>
                            <a:outerShdw blurRad="38100" dist="38100" dir="2700000" algn="tl">
                              <a:srgbClr val="000000">
                                <a:alpha val="43137"/>
                              </a:srgbClr>
                            </a:outerShdw>
                          </a:effectLst>
                        </a:rPr>
                        <a:t>每天</a:t>
                      </a:r>
                    </a:p>
                  </a:txBody>
                  <a:tcPr marL="42131" marR="42131" marT="42131" marB="42131"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CFCFC"/>
                    </a:solidFill>
                  </a:tcPr>
                </a:tc>
                <a:extLst>
                  <a:ext uri="{0D108BD9-81ED-4DB2-BD59-A6C34878D82A}">
                    <a16:rowId xmlns:a16="http://schemas.microsoft.com/office/drawing/2014/main" val="490091314"/>
                  </a:ext>
                </a:extLst>
              </a:tr>
              <a:tr h="662505">
                <a:tc>
                  <a:txBody>
                    <a:bodyPr/>
                    <a:lstStyle/>
                    <a:p>
                      <a:pPr latinLnBrk="1"/>
                      <a:r>
                        <a:rPr lang="en-US" sz="1400">
                          <a:effectLst>
                            <a:outerShdw blurRad="38100" dist="38100" dir="2700000" algn="tl">
                              <a:srgbClr val="000000">
                                <a:alpha val="43137"/>
                              </a:srgbClr>
                            </a:outerShdw>
                          </a:effectLst>
                        </a:rPr>
                        <a:t>Dr Catherine Langston</a:t>
                      </a:r>
                    </a:p>
                  </a:txBody>
                  <a:tcPr marL="42131" marR="42131" marT="42131" marB="42131"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7FAFF"/>
                    </a:solidFill>
                  </a:tcPr>
                </a:tc>
                <a:tc>
                  <a:txBody>
                    <a:bodyPr/>
                    <a:lstStyle/>
                    <a:p>
                      <a:pPr latinLnBrk="1"/>
                      <a:r>
                        <a:rPr lang="en-US" sz="1400">
                          <a:effectLst>
                            <a:outerShdw blurRad="38100" dist="38100" dir="2700000" algn="tl">
                              <a:srgbClr val="000000">
                                <a:alpha val="43137"/>
                              </a:srgbClr>
                            </a:outerShdw>
                          </a:effectLst>
                        </a:rPr>
                        <a:t>75-100ml</a:t>
                      </a:r>
                      <a:r>
                        <a:rPr lang="zh-CN" altLang="en-US" sz="1400">
                          <a:effectLst>
                            <a:outerShdw blurRad="38100" dist="38100" dir="2700000" algn="tl">
                              <a:srgbClr val="000000">
                                <a:alpha val="43137"/>
                              </a:srgbClr>
                            </a:outerShdw>
                          </a:effectLst>
                        </a:rPr>
                        <a:t>左右</a:t>
                      </a:r>
                    </a:p>
                  </a:txBody>
                  <a:tcPr marL="42131" marR="42131" marT="42131" marB="42131"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7FAFF"/>
                    </a:solidFill>
                  </a:tcPr>
                </a:tc>
                <a:tc>
                  <a:txBody>
                    <a:bodyPr/>
                    <a:lstStyle/>
                    <a:p>
                      <a:pPr latinLnBrk="1"/>
                      <a:r>
                        <a:rPr lang="zh-CN" altLang="en-US" sz="1400">
                          <a:effectLst>
                            <a:outerShdw blurRad="38100" dist="38100" dir="2700000" algn="tl">
                              <a:srgbClr val="000000">
                                <a:alpha val="43137"/>
                              </a:srgbClr>
                            </a:outerShdw>
                          </a:effectLst>
                        </a:rPr>
                        <a:t>每天或隔天</a:t>
                      </a:r>
                    </a:p>
                  </a:txBody>
                  <a:tcPr marL="42131" marR="42131" marT="42131" marB="42131"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7FAFF"/>
                    </a:solidFill>
                  </a:tcPr>
                </a:tc>
                <a:extLst>
                  <a:ext uri="{0D108BD9-81ED-4DB2-BD59-A6C34878D82A}">
                    <a16:rowId xmlns:a16="http://schemas.microsoft.com/office/drawing/2014/main" val="1553748140"/>
                  </a:ext>
                </a:extLst>
              </a:tr>
              <a:tr h="563541">
                <a:tc>
                  <a:txBody>
                    <a:bodyPr/>
                    <a:lstStyle/>
                    <a:p>
                      <a:pPr latinLnBrk="1"/>
                      <a:r>
                        <a:rPr lang="en-US" sz="1400">
                          <a:effectLst>
                            <a:outerShdw blurRad="38100" dist="38100" dir="2700000" algn="tl">
                              <a:srgbClr val="000000">
                                <a:alpha val="43137"/>
                              </a:srgbClr>
                            </a:outerShdw>
                          </a:effectLst>
                        </a:rPr>
                        <a:t>Sparkes A et al.</a:t>
                      </a:r>
                    </a:p>
                  </a:txBody>
                  <a:tcPr marL="42131" marR="42131" marT="42131" marB="42131"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CFCFC"/>
                    </a:solidFill>
                  </a:tcPr>
                </a:tc>
                <a:tc>
                  <a:txBody>
                    <a:bodyPr/>
                    <a:lstStyle/>
                    <a:p>
                      <a:pPr latinLnBrk="1"/>
                      <a:r>
                        <a:rPr lang="en-US" sz="1400">
                          <a:effectLst>
                            <a:outerShdw blurRad="38100" dist="38100" dir="2700000" algn="tl">
                              <a:srgbClr val="000000">
                                <a:alpha val="43137"/>
                              </a:srgbClr>
                            </a:outerShdw>
                          </a:effectLst>
                        </a:rPr>
                        <a:t>75-100ml</a:t>
                      </a:r>
                      <a:r>
                        <a:rPr lang="zh-CN" altLang="en-US" sz="1400">
                          <a:effectLst>
                            <a:outerShdw blurRad="38100" dist="38100" dir="2700000" algn="tl">
                              <a:srgbClr val="000000">
                                <a:alpha val="43137"/>
                              </a:srgbClr>
                            </a:outerShdw>
                          </a:effectLst>
                        </a:rPr>
                        <a:t>左右</a:t>
                      </a:r>
                    </a:p>
                  </a:txBody>
                  <a:tcPr marL="42131" marR="42131" marT="42131" marB="42131"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CFCFC"/>
                    </a:solidFill>
                  </a:tcPr>
                </a:tc>
                <a:tc>
                  <a:txBody>
                    <a:bodyPr/>
                    <a:lstStyle/>
                    <a:p>
                      <a:pPr latinLnBrk="1"/>
                      <a:r>
                        <a:rPr lang="zh-CN" altLang="en-US" sz="1400">
                          <a:effectLst>
                            <a:outerShdw blurRad="38100" dist="38100" dir="2700000" algn="tl">
                              <a:srgbClr val="000000">
                                <a:alpha val="43137"/>
                              </a:srgbClr>
                            </a:outerShdw>
                          </a:effectLst>
                        </a:rPr>
                        <a:t>每</a:t>
                      </a:r>
                      <a:r>
                        <a:rPr lang="en-US" altLang="zh-CN" sz="1400">
                          <a:effectLst>
                            <a:outerShdw blurRad="38100" dist="38100" dir="2700000" algn="tl">
                              <a:srgbClr val="000000">
                                <a:alpha val="43137"/>
                              </a:srgbClr>
                            </a:outerShdw>
                          </a:effectLst>
                        </a:rPr>
                        <a:t>1-3</a:t>
                      </a:r>
                      <a:r>
                        <a:rPr lang="zh-CN" altLang="en-US" sz="1400">
                          <a:effectLst>
                            <a:outerShdw blurRad="38100" dist="38100" dir="2700000" algn="tl">
                              <a:srgbClr val="000000">
                                <a:alpha val="43137"/>
                              </a:srgbClr>
                            </a:outerShdw>
                          </a:effectLst>
                        </a:rPr>
                        <a:t>天</a:t>
                      </a:r>
                    </a:p>
                  </a:txBody>
                  <a:tcPr marL="42131" marR="42131" marT="42131" marB="42131"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CFCFC"/>
                    </a:solidFill>
                  </a:tcPr>
                </a:tc>
                <a:extLst>
                  <a:ext uri="{0D108BD9-81ED-4DB2-BD59-A6C34878D82A}">
                    <a16:rowId xmlns:a16="http://schemas.microsoft.com/office/drawing/2014/main" val="2704928551"/>
                  </a:ext>
                </a:extLst>
              </a:tr>
              <a:tr h="662505">
                <a:tc>
                  <a:txBody>
                    <a:bodyPr/>
                    <a:lstStyle/>
                    <a:p>
                      <a:pPr latinLnBrk="1"/>
                      <a:r>
                        <a:rPr lang="en-US" sz="1400">
                          <a:effectLst>
                            <a:outerShdw blurRad="38100" dist="38100" dir="2700000" algn="tl">
                              <a:srgbClr val="000000">
                                <a:alpha val="43137"/>
                              </a:srgbClr>
                            </a:outerShdw>
                          </a:effectLst>
                        </a:rPr>
                        <a:t>icatcare</a:t>
                      </a:r>
                    </a:p>
                  </a:txBody>
                  <a:tcPr marL="42131" marR="42131" marT="42131" marB="42131"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7FAFF"/>
                    </a:solidFill>
                  </a:tcPr>
                </a:tc>
                <a:tc>
                  <a:txBody>
                    <a:bodyPr/>
                    <a:lstStyle/>
                    <a:p>
                      <a:pPr latinLnBrk="1"/>
                      <a:r>
                        <a:rPr lang="en-US" sz="1400">
                          <a:effectLst>
                            <a:outerShdw blurRad="38100" dist="38100" dir="2700000" algn="tl">
                              <a:srgbClr val="000000">
                                <a:alpha val="43137"/>
                              </a:srgbClr>
                            </a:outerShdw>
                          </a:effectLst>
                        </a:rPr>
                        <a:t>60-100ml</a:t>
                      </a:r>
                      <a:r>
                        <a:rPr lang="zh-CN" altLang="en-US" sz="1400">
                          <a:effectLst>
                            <a:outerShdw blurRad="38100" dist="38100" dir="2700000" algn="tl">
                              <a:srgbClr val="000000">
                                <a:alpha val="43137"/>
                              </a:srgbClr>
                            </a:outerShdw>
                          </a:effectLst>
                        </a:rPr>
                        <a:t>左右</a:t>
                      </a:r>
                    </a:p>
                  </a:txBody>
                  <a:tcPr marL="42131" marR="42131" marT="42131" marB="42131"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7FAFF"/>
                    </a:solidFill>
                  </a:tcPr>
                </a:tc>
                <a:tc>
                  <a:txBody>
                    <a:bodyPr/>
                    <a:lstStyle/>
                    <a:p>
                      <a:pPr latinLnBrk="1"/>
                      <a:r>
                        <a:rPr lang="zh-CN" altLang="en-US" sz="1400">
                          <a:effectLst>
                            <a:outerShdw blurRad="38100" dist="38100" dir="2700000" algn="tl">
                              <a:srgbClr val="000000">
                                <a:alpha val="43137"/>
                              </a:srgbClr>
                            </a:outerShdw>
                          </a:effectLst>
                        </a:rPr>
                        <a:t>每周</a:t>
                      </a:r>
                      <a:r>
                        <a:rPr lang="en-US" altLang="zh-CN" sz="1400">
                          <a:effectLst>
                            <a:outerShdw blurRad="38100" dist="38100" dir="2700000" algn="tl">
                              <a:srgbClr val="000000">
                                <a:alpha val="43137"/>
                              </a:srgbClr>
                            </a:outerShdw>
                          </a:effectLst>
                        </a:rPr>
                        <a:t>2-3</a:t>
                      </a:r>
                      <a:r>
                        <a:rPr lang="zh-CN" altLang="en-US" sz="1400">
                          <a:effectLst>
                            <a:outerShdw blurRad="38100" dist="38100" dir="2700000" algn="tl">
                              <a:srgbClr val="000000">
                                <a:alpha val="43137"/>
                              </a:srgbClr>
                            </a:outerShdw>
                          </a:effectLst>
                        </a:rPr>
                        <a:t>次</a:t>
                      </a:r>
                    </a:p>
                  </a:txBody>
                  <a:tcPr marL="42131" marR="42131" marT="42131" marB="42131"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7FAFF"/>
                    </a:solidFill>
                  </a:tcPr>
                </a:tc>
                <a:extLst>
                  <a:ext uri="{0D108BD9-81ED-4DB2-BD59-A6C34878D82A}">
                    <a16:rowId xmlns:a16="http://schemas.microsoft.com/office/drawing/2014/main" val="4152138731"/>
                  </a:ext>
                </a:extLst>
              </a:tr>
              <a:tr h="761469">
                <a:tc>
                  <a:txBody>
                    <a:bodyPr/>
                    <a:lstStyle/>
                    <a:p>
                      <a:pPr latinLnBrk="1"/>
                      <a:r>
                        <a:rPr lang="en-US" sz="1400">
                          <a:effectLst>
                            <a:outerShdw blurRad="38100" dist="38100" dir="2700000" algn="tl">
                              <a:srgbClr val="000000">
                                <a:alpha val="43137"/>
                              </a:srgbClr>
                            </a:outerShdw>
                          </a:effectLst>
                        </a:rPr>
                        <a:t>Dr David Polzin</a:t>
                      </a:r>
                    </a:p>
                  </a:txBody>
                  <a:tcPr marL="42131" marR="42131" marT="42131" marB="42131"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CFCFC"/>
                    </a:solidFill>
                  </a:tcPr>
                </a:tc>
                <a:tc>
                  <a:txBody>
                    <a:bodyPr/>
                    <a:lstStyle/>
                    <a:p>
                      <a:pPr latinLnBrk="1"/>
                      <a:r>
                        <a:rPr lang="en-US" sz="1400">
                          <a:effectLst>
                            <a:outerShdw blurRad="38100" dist="38100" dir="2700000" algn="tl">
                              <a:srgbClr val="000000">
                                <a:alpha val="43137"/>
                              </a:srgbClr>
                            </a:outerShdw>
                          </a:effectLst>
                        </a:rPr>
                        <a:t>75-100ml</a:t>
                      </a:r>
                      <a:r>
                        <a:rPr lang="zh-CN" altLang="en-US" sz="1400">
                          <a:effectLst>
                            <a:outerShdw blurRad="38100" dist="38100" dir="2700000" algn="tl">
                              <a:srgbClr val="000000">
                                <a:alpha val="43137"/>
                              </a:srgbClr>
                            </a:outerShdw>
                          </a:effectLst>
                        </a:rPr>
                        <a:t>左右</a:t>
                      </a:r>
                    </a:p>
                  </a:txBody>
                  <a:tcPr marL="42131" marR="42131" marT="42131" marB="42131"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CFCFC"/>
                    </a:solidFill>
                  </a:tcPr>
                </a:tc>
                <a:tc>
                  <a:txBody>
                    <a:bodyPr/>
                    <a:lstStyle/>
                    <a:p>
                      <a:pPr latinLnBrk="1"/>
                      <a:r>
                        <a:rPr lang="zh-CN" altLang="en-US" sz="1400">
                          <a:effectLst>
                            <a:outerShdw blurRad="38100" dist="38100" dir="2700000" algn="tl">
                              <a:srgbClr val="000000">
                                <a:alpha val="43137"/>
                              </a:srgbClr>
                            </a:outerShdw>
                          </a:effectLst>
                        </a:rPr>
                        <a:t>每</a:t>
                      </a:r>
                      <a:r>
                        <a:rPr lang="en-US" altLang="zh-CN" sz="1400">
                          <a:effectLst>
                            <a:outerShdw blurRad="38100" dist="38100" dir="2700000" algn="tl">
                              <a:srgbClr val="000000">
                                <a:alpha val="43137"/>
                              </a:srgbClr>
                            </a:outerShdw>
                          </a:effectLst>
                        </a:rPr>
                        <a:t>1-3</a:t>
                      </a:r>
                      <a:r>
                        <a:rPr lang="zh-CN" altLang="en-US" sz="1400">
                          <a:effectLst>
                            <a:outerShdw blurRad="38100" dist="38100" dir="2700000" algn="tl">
                              <a:srgbClr val="000000">
                                <a:alpha val="43137"/>
                              </a:srgbClr>
                            </a:outerShdw>
                          </a:effectLst>
                        </a:rPr>
                        <a:t>天</a:t>
                      </a:r>
                    </a:p>
                  </a:txBody>
                  <a:tcPr marL="42131" marR="42131" marT="42131" marB="42131" anchor="ctr">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CFCFC"/>
                    </a:solidFill>
                  </a:tcPr>
                </a:tc>
                <a:extLst>
                  <a:ext uri="{0D108BD9-81ED-4DB2-BD59-A6C34878D82A}">
                    <a16:rowId xmlns:a16="http://schemas.microsoft.com/office/drawing/2014/main" val="3949428947"/>
                  </a:ext>
                </a:extLst>
              </a:tr>
            </a:tbl>
          </a:graphicData>
        </a:graphic>
      </p:graphicFrame>
      <p:sp>
        <p:nvSpPr>
          <p:cNvPr id="8" name="文本框 7">
            <a:extLst>
              <a:ext uri="{FF2B5EF4-FFF2-40B4-BE49-F238E27FC236}">
                <a16:creationId xmlns:a16="http://schemas.microsoft.com/office/drawing/2014/main" id="{2B10465D-8F41-4A97-8B00-D85DCB8AC00F}"/>
              </a:ext>
            </a:extLst>
          </p:cNvPr>
          <p:cNvSpPr txBox="1"/>
          <p:nvPr/>
        </p:nvSpPr>
        <p:spPr>
          <a:xfrm>
            <a:off x="347910" y="5705539"/>
            <a:ext cx="5031362" cy="584775"/>
          </a:xfrm>
          <a:prstGeom prst="rect">
            <a:avLst/>
          </a:prstGeom>
          <a:noFill/>
        </p:spPr>
        <p:txBody>
          <a:bodyPr wrap="square" rtlCol="0">
            <a:spAutoFit/>
          </a:bodyPr>
          <a:lstStyle/>
          <a:p>
            <a:r>
              <a:rPr lang="zh-CN" altLang="en-US" b="1">
                <a:latin typeface="+mn-ea"/>
                <a:ea typeface="+mn-ea"/>
              </a:rPr>
              <a:t>简易计算方式</a:t>
            </a:r>
            <a:r>
              <a:rPr lang="zh-CN" altLang="en-US">
                <a:latin typeface="+mn-ea"/>
                <a:ea typeface="+mn-ea"/>
              </a:rPr>
              <a:t>：</a:t>
            </a:r>
            <a:r>
              <a:rPr lang="zh-CN" altLang="en-US" sz="1400">
                <a:latin typeface="+mn-ea"/>
                <a:ea typeface="+mn-ea"/>
              </a:rPr>
              <a:t>体重</a:t>
            </a:r>
            <a:r>
              <a:rPr lang="en-US" altLang="zh-CN" sz="1400">
                <a:latin typeface="+mn-ea"/>
                <a:ea typeface="+mn-ea"/>
              </a:rPr>
              <a:t>x2%=</a:t>
            </a:r>
            <a:r>
              <a:rPr lang="zh-CN" altLang="en-US" sz="1400">
                <a:latin typeface="+mn-ea"/>
                <a:ea typeface="+mn-ea"/>
              </a:rPr>
              <a:t>日常补液量</a:t>
            </a:r>
            <a:endParaRPr lang="en-US" altLang="zh-CN" sz="1400">
              <a:latin typeface="+mn-ea"/>
              <a:ea typeface="+mn-ea"/>
            </a:endParaRPr>
          </a:p>
          <a:p>
            <a:r>
              <a:rPr lang="en-US" altLang="zh-CN" sz="1400">
                <a:latin typeface="+mn-ea"/>
                <a:ea typeface="+mn-ea"/>
              </a:rPr>
              <a:t>                              </a:t>
            </a:r>
            <a:r>
              <a:rPr lang="zh-CN" altLang="en-US" sz="1400">
                <a:latin typeface="+mn-ea"/>
                <a:ea typeface="+mn-ea"/>
              </a:rPr>
              <a:t>体重</a:t>
            </a:r>
            <a:r>
              <a:rPr lang="en-US" altLang="zh-CN" sz="1400">
                <a:latin typeface="+mn-ea"/>
                <a:ea typeface="+mn-ea"/>
              </a:rPr>
              <a:t>x5%=</a:t>
            </a:r>
            <a:r>
              <a:rPr lang="zh-CN" altLang="en-US" sz="1400">
                <a:latin typeface="+mn-ea"/>
                <a:ea typeface="+mn-ea"/>
              </a:rPr>
              <a:t>严重脱水紧急补液量</a:t>
            </a:r>
          </a:p>
        </p:txBody>
      </p:sp>
      <p:pic>
        <p:nvPicPr>
          <p:cNvPr id="12" name="图片 11">
            <a:extLst>
              <a:ext uri="{FF2B5EF4-FFF2-40B4-BE49-F238E27FC236}">
                <a16:creationId xmlns:a16="http://schemas.microsoft.com/office/drawing/2014/main" id="{D1B387C5-B98F-4528-939E-61131EE103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8524" y="2238439"/>
            <a:ext cx="2676525" cy="3467100"/>
          </a:xfrm>
          <a:prstGeom prst="rect">
            <a:avLst/>
          </a:prstGeom>
        </p:spPr>
      </p:pic>
    </p:spTree>
    <p:extLst>
      <p:ext uri="{BB962C8B-B14F-4D97-AF65-F5344CB8AC3E}">
        <p14:creationId xmlns:p14="http://schemas.microsoft.com/office/powerpoint/2010/main" val="156342700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0" name="箭头: 五边形 6">
            <a:extLst/>
          </p:cNvPr>
          <p:cNvSpPr/>
          <p:nvPr/>
        </p:nvSpPr>
        <p:spPr>
          <a:xfrm rot="10800000" flipH="1">
            <a:off x="0" y="404813"/>
            <a:ext cx="8760296" cy="1344612"/>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grpSp>
        <p:nvGrpSpPr>
          <p:cNvPr id="30724" name="组合 22"/>
          <p:cNvGrpSpPr>
            <a:grpSpLocks/>
          </p:cNvGrpSpPr>
          <p:nvPr/>
        </p:nvGrpSpPr>
        <p:grpSpPr bwMode="auto">
          <a:xfrm>
            <a:off x="196850" y="404813"/>
            <a:ext cx="5779784" cy="1134998"/>
            <a:chOff x="-101400" y="2876417"/>
            <a:chExt cx="5114992" cy="1134983"/>
          </a:xfrm>
        </p:grpSpPr>
        <p:sp>
          <p:nvSpPr>
            <p:cNvPr id="20494" name="文本框 13">
              <a:extLst/>
            </p:cNvPr>
            <p:cNvSpPr txBox="1">
              <a:spLocks noChangeArrowheads="1"/>
            </p:cNvSpPr>
            <p:nvPr/>
          </p:nvSpPr>
          <p:spPr bwMode="auto">
            <a:xfrm>
              <a:off x="-101400" y="2876417"/>
              <a:ext cx="1343136" cy="825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600" b="1">
                  <a:solidFill>
                    <a:srgbClr val="010101"/>
                  </a:solidFill>
                  <a:latin typeface="+mn-lt"/>
                  <a:ea typeface="+mn-ea"/>
                  <a:cs typeface="+mn-ea"/>
                  <a:sym typeface="+mn-lt"/>
                </a:rPr>
                <a:t>PART</a:t>
              </a:r>
            </a:p>
          </p:txBody>
        </p:sp>
        <p:sp>
          <p:nvSpPr>
            <p:cNvPr id="20495" name="文本框 14">
              <a:extLst/>
            </p:cNvPr>
            <p:cNvSpPr txBox="1">
              <a:spLocks noChangeArrowheads="1"/>
            </p:cNvSpPr>
            <p:nvPr/>
          </p:nvSpPr>
          <p:spPr bwMode="auto">
            <a:xfrm>
              <a:off x="2150733" y="3430993"/>
              <a:ext cx="2862859" cy="580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endParaRPr lang="en-US" altLang="zh-CN" sz="2400">
                <a:solidFill>
                  <a:srgbClr val="010101"/>
                </a:solidFill>
                <a:latin typeface="+mn-lt"/>
                <a:ea typeface="+mn-ea"/>
                <a:cs typeface="+mn-ea"/>
                <a:sym typeface="+mn-lt"/>
              </a:endParaRPr>
            </a:p>
          </p:txBody>
        </p:sp>
        <p:cxnSp>
          <p:nvCxnSpPr>
            <p:cNvPr id="24" name="直接连接符 23">
              <a:extLst/>
            </p:cNvPr>
            <p:cNvCxnSpPr>
              <a:cxnSpLocks/>
            </p:cNvCxnSpPr>
            <p:nvPr/>
          </p:nvCxnSpPr>
          <p:spPr>
            <a:xfrm flipH="1">
              <a:off x="489901" y="3171688"/>
              <a:ext cx="1074241" cy="722302"/>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0497" name="矩形 20">
              <a:extLst/>
            </p:cNvPr>
            <p:cNvSpPr>
              <a:spLocks noChangeArrowheads="1"/>
            </p:cNvSpPr>
            <p:nvPr/>
          </p:nvSpPr>
          <p:spPr bwMode="auto">
            <a:xfrm>
              <a:off x="618328" y="3473309"/>
              <a:ext cx="1824424" cy="52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lvl="1">
                <a:lnSpc>
                  <a:spcPct val="100000"/>
                </a:lnSpc>
                <a:spcBef>
                  <a:spcPct val="0"/>
                </a:spcBef>
                <a:buFontTx/>
                <a:buNone/>
                <a:defRPr/>
              </a:pPr>
              <a:r>
                <a:rPr lang="en-US" altLang="zh-CN" sz="2800" b="1">
                  <a:solidFill>
                    <a:srgbClr val="010101"/>
                  </a:solidFill>
                  <a:latin typeface="+mn-lt"/>
                  <a:ea typeface="+mn-ea"/>
                  <a:cs typeface="+mn-ea"/>
                  <a:sym typeface="+mn-lt"/>
                </a:rPr>
                <a:t>THREE</a:t>
              </a:r>
              <a:endParaRPr lang="zh-CN" altLang="en-US" sz="1400">
                <a:latin typeface="+mn-lt"/>
                <a:ea typeface="+mn-ea"/>
                <a:cs typeface="+mn-ea"/>
                <a:sym typeface="+mn-lt"/>
              </a:endParaRPr>
            </a:p>
          </p:txBody>
        </p:sp>
      </p:grpSp>
      <p:sp>
        <p:nvSpPr>
          <p:cNvPr id="8" name="文本框 7"/>
          <p:cNvSpPr txBox="1"/>
          <p:nvPr/>
        </p:nvSpPr>
        <p:spPr>
          <a:xfrm>
            <a:off x="358792" y="2478926"/>
            <a:ext cx="5683126" cy="615553"/>
          </a:xfrm>
          <a:prstGeom prst="rect">
            <a:avLst/>
          </a:prstGeom>
          <a:noFill/>
        </p:spPr>
        <p:txBody>
          <a:bodyPr wrap="square" numCol="2" rtlCol="0">
            <a:spAutoFit/>
          </a:bodyPr>
          <a:lstStyle/>
          <a:p>
            <a:pPr lvl="1"/>
            <a:endParaRPr lang="en-US" altLang="zh-CN" sz="1600" b="1">
              <a:solidFill>
                <a:schemeClr val="tx1">
                  <a:lumMod val="75000"/>
                  <a:lumOff val="25000"/>
                </a:schemeClr>
              </a:solidFill>
              <a:effectLst>
                <a:outerShdw blurRad="38100" dist="38100" dir="2700000" algn="tl">
                  <a:srgbClr val="000000">
                    <a:alpha val="43137"/>
                  </a:srgbClr>
                </a:outerShdw>
              </a:effectLst>
              <a:latin typeface="+mj-ea"/>
            </a:endParaRPr>
          </a:p>
          <a:p>
            <a:endParaRPr lang="zh-CN" altLang="en-US"/>
          </a:p>
        </p:txBody>
      </p:sp>
      <p:sp>
        <p:nvSpPr>
          <p:cNvPr id="2" name="文本框 1"/>
          <p:cNvSpPr txBox="1"/>
          <p:nvPr/>
        </p:nvSpPr>
        <p:spPr>
          <a:xfrm>
            <a:off x="3003504" y="1116581"/>
            <a:ext cx="5324744" cy="461665"/>
          </a:xfrm>
          <a:prstGeom prst="rect">
            <a:avLst/>
          </a:prstGeom>
          <a:noFill/>
        </p:spPr>
        <p:txBody>
          <a:bodyPr wrap="square" rtlCol="0">
            <a:spAutoFit/>
          </a:bodyPr>
          <a:lstStyle/>
          <a:p>
            <a:r>
              <a:rPr lang="zh-CN" altLang="en-US" sz="2400" b="1">
                <a:solidFill>
                  <a:schemeClr val="tx2">
                    <a:lumMod val="75000"/>
                  </a:schemeClr>
                </a:solidFill>
                <a:latin typeface="+mj-ea"/>
                <a:ea typeface="+mj-ea"/>
              </a:rPr>
              <a:t>代谢性酸中毒</a:t>
            </a:r>
            <a:r>
              <a:rPr lang="en-US" altLang="zh-CN" sz="2400" b="1">
                <a:solidFill>
                  <a:schemeClr val="tx2">
                    <a:lumMod val="75000"/>
                  </a:schemeClr>
                </a:solidFill>
                <a:latin typeface="+mj-ea"/>
                <a:ea typeface="+mj-ea"/>
              </a:rPr>
              <a:t> Metabolic Acidosis</a:t>
            </a:r>
            <a:endParaRPr lang="zh-CN" altLang="en-US" sz="2400" b="1">
              <a:solidFill>
                <a:schemeClr val="tx2">
                  <a:lumMod val="75000"/>
                </a:schemeClr>
              </a:solidFill>
              <a:latin typeface="+mj-ea"/>
              <a:ea typeface="+mj-ea"/>
            </a:endParaRPr>
          </a:p>
        </p:txBody>
      </p:sp>
      <p:sp>
        <p:nvSpPr>
          <p:cNvPr id="4" name="文本框 3"/>
          <p:cNvSpPr txBox="1"/>
          <p:nvPr/>
        </p:nvSpPr>
        <p:spPr>
          <a:xfrm>
            <a:off x="3017244" y="640038"/>
            <a:ext cx="3078756" cy="461665"/>
          </a:xfrm>
          <a:prstGeom prst="rect">
            <a:avLst/>
          </a:prstGeom>
          <a:noFill/>
        </p:spPr>
        <p:txBody>
          <a:bodyPr wrap="square" rtlCol="0">
            <a:spAutoFit/>
          </a:bodyPr>
          <a:lstStyle/>
          <a:p>
            <a:r>
              <a:rPr lang="zh-CN" altLang="en-US" sz="2400" b="1">
                <a:solidFill>
                  <a:schemeClr val="bg1"/>
                </a:solidFill>
                <a:effectLst>
                  <a:outerShdw blurRad="38100" dist="38100" dir="2700000" algn="tl">
                    <a:srgbClr val="000000">
                      <a:alpha val="43137"/>
                    </a:srgbClr>
                  </a:outerShdw>
                </a:effectLst>
                <a:latin typeface="+mj-ea"/>
                <a:ea typeface="+mj-ea"/>
              </a:rPr>
              <a:t>猫慢性肾病治疗</a:t>
            </a:r>
          </a:p>
        </p:txBody>
      </p:sp>
      <p:sp>
        <p:nvSpPr>
          <p:cNvPr id="18" name="文本框 17">
            <a:extLst>
              <a:ext uri="{FF2B5EF4-FFF2-40B4-BE49-F238E27FC236}">
                <a16:creationId xmlns:a16="http://schemas.microsoft.com/office/drawing/2014/main" id="{F176E8DB-02DB-4006-BF9A-05A08FBECDF8}"/>
              </a:ext>
            </a:extLst>
          </p:cNvPr>
          <p:cNvSpPr txBox="1"/>
          <p:nvPr/>
        </p:nvSpPr>
        <p:spPr>
          <a:xfrm>
            <a:off x="-92840" y="1821517"/>
            <a:ext cx="3096344" cy="800219"/>
          </a:xfrm>
          <a:prstGeom prst="rect">
            <a:avLst/>
          </a:prstGeom>
          <a:noFill/>
        </p:spPr>
        <p:txBody>
          <a:bodyPr wrap="square" rtlCol="0">
            <a:spAutoFit/>
          </a:bodyPr>
          <a:lstStyle/>
          <a:p>
            <a:pPr marL="0" lvl="1"/>
            <a:r>
              <a:rPr lang="zh-CN" altLang="en-US" sz="2800" b="1">
                <a:solidFill>
                  <a:schemeClr val="tx1">
                    <a:lumMod val="75000"/>
                    <a:lumOff val="25000"/>
                  </a:schemeClr>
                </a:solidFill>
                <a:effectLst>
                  <a:outerShdw blurRad="38100" dist="38100" dir="2700000" algn="tl">
                    <a:srgbClr val="000000">
                      <a:alpha val="43137"/>
                    </a:srgbClr>
                  </a:outerShdw>
                </a:effectLst>
                <a:latin typeface="+mj-ea"/>
                <a:ea typeface="+mj-ea"/>
              </a:rPr>
              <a:t>血钾 （</a:t>
            </a:r>
            <a:r>
              <a:rPr lang="en-US" altLang="zh-CN" sz="2800" b="1">
                <a:solidFill>
                  <a:schemeClr val="tx1">
                    <a:lumMod val="75000"/>
                    <a:lumOff val="25000"/>
                  </a:schemeClr>
                </a:solidFill>
                <a:effectLst>
                  <a:outerShdw blurRad="38100" dist="38100" dir="2700000" algn="tl">
                    <a:srgbClr val="000000">
                      <a:alpha val="43137"/>
                    </a:srgbClr>
                  </a:outerShdw>
                </a:effectLst>
                <a:latin typeface="+mj-ea"/>
                <a:ea typeface="+mj-ea"/>
              </a:rPr>
              <a:t>K</a:t>
            </a:r>
            <a:r>
              <a:rPr lang="zh-CN" altLang="en-US" sz="2800" b="1">
                <a:solidFill>
                  <a:schemeClr val="tx1">
                    <a:lumMod val="75000"/>
                    <a:lumOff val="25000"/>
                  </a:schemeClr>
                </a:solidFill>
                <a:effectLst>
                  <a:outerShdw blurRad="38100" dist="38100" dir="2700000" algn="tl">
                    <a:srgbClr val="000000">
                      <a:alpha val="43137"/>
                    </a:srgbClr>
                  </a:outerShdw>
                </a:effectLst>
                <a:latin typeface="+mj-ea"/>
                <a:ea typeface="+mj-ea"/>
              </a:rPr>
              <a:t>）</a:t>
            </a:r>
            <a:endParaRPr lang="en-US" altLang="zh-CN" sz="2800" b="1">
              <a:solidFill>
                <a:schemeClr val="tx1">
                  <a:lumMod val="75000"/>
                  <a:lumOff val="25000"/>
                </a:schemeClr>
              </a:solidFill>
              <a:effectLst>
                <a:outerShdw blurRad="38100" dist="38100" dir="2700000" algn="tl">
                  <a:srgbClr val="000000">
                    <a:alpha val="43137"/>
                  </a:srgbClr>
                </a:outerShdw>
              </a:effectLst>
              <a:latin typeface="+mj-ea"/>
              <a:ea typeface="+mj-ea"/>
            </a:endParaRPr>
          </a:p>
          <a:p>
            <a:endParaRPr lang="zh-CN" altLang="en-US"/>
          </a:p>
        </p:txBody>
      </p:sp>
      <p:sp>
        <p:nvSpPr>
          <p:cNvPr id="19" name="矩形 18">
            <a:extLst>
              <a:ext uri="{FF2B5EF4-FFF2-40B4-BE49-F238E27FC236}">
                <a16:creationId xmlns:a16="http://schemas.microsoft.com/office/drawing/2014/main" id="{E05D2C26-2758-480C-B6F3-383127C05BC5}"/>
              </a:ext>
            </a:extLst>
          </p:cNvPr>
          <p:cNvSpPr/>
          <p:nvPr/>
        </p:nvSpPr>
        <p:spPr>
          <a:xfrm>
            <a:off x="-56273" y="1749426"/>
            <a:ext cx="3848017" cy="510857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sp>
        <p:nvSpPr>
          <p:cNvPr id="21" name="文本框 20">
            <a:extLst>
              <a:ext uri="{FF2B5EF4-FFF2-40B4-BE49-F238E27FC236}">
                <a16:creationId xmlns:a16="http://schemas.microsoft.com/office/drawing/2014/main" id="{F64AB21C-A417-4E5A-8766-747D343E6B5F}"/>
              </a:ext>
            </a:extLst>
          </p:cNvPr>
          <p:cNvSpPr txBox="1"/>
          <p:nvPr/>
        </p:nvSpPr>
        <p:spPr>
          <a:xfrm>
            <a:off x="364105" y="2015334"/>
            <a:ext cx="3168352" cy="1015663"/>
          </a:xfrm>
          <a:prstGeom prst="rect">
            <a:avLst/>
          </a:prstGeom>
          <a:noFill/>
        </p:spPr>
        <p:txBody>
          <a:bodyPr wrap="square" rtlCol="0">
            <a:spAutoFit/>
          </a:bodyPr>
          <a:lstStyle/>
          <a:p>
            <a:r>
              <a:rPr lang="zh-CN" altLang="en-US" sz="2000" b="1">
                <a:solidFill>
                  <a:srgbClr val="C00000"/>
                </a:solidFill>
                <a:effectLst>
                  <a:outerShdw blurRad="38100" dist="38100" dir="2700000" algn="tl">
                    <a:srgbClr val="000000">
                      <a:alpha val="43137"/>
                    </a:srgbClr>
                  </a:outerShdw>
                </a:effectLst>
                <a:latin typeface="+mj-ea"/>
                <a:ea typeface="+mj-ea"/>
              </a:rPr>
              <a:t>持续的血液酸化会导致肾病病情的进一步恶化，必须尽快处理！</a:t>
            </a:r>
          </a:p>
        </p:txBody>
      </p:sp>
      <p:sp>
        <p:nvSpPr>
          <p:cNvPr id="9" name="文本框 8">
            <a:extLst>
              <a:ext uri="{FF2B5EF4-FFF2-40B4-BE49-F238E27FC236}">
                <a16:creationId xmlns:a16="http://schemas.microsoft.com/office/drawing/2014/main" id="{9F3AA339-956A-4739-BB25-B611E7BEE193}"/>
              </a:ext>
            </a:extLst>
          </p:cNvPr>
          <p:cNvSpPr txBox="1"/>
          <p:nvPr/>
        </p:nvSpPr>
        <p:spPr>
          <a:xfrm>
            <a:off x="290094" y="3436888"/>
            <a:ext cx="3096344" cy="2831544"/>
          </a:xfrm>
          <a:prstGeom prst="rect">
            <a:avLst/>
          </a:prstGeom>
          <a:noFill/>
        </p:spPr>
        <p:txBody>
          <a:bodyPr wrap="square" rtlCol="0">
            <a:spAutoFit/>
          </a:bodyPr>
          <a:lstStyle/>
          <a:p>
            <a:pPr marL="285750" indent="-285750">
              <a:buFont typeface="Wingdings" panose="05000000000000000000" pitchFamily="2" charset="2"/>
              <a:buChar char="u"/>
            </a:pPr>
            <a:r>
              <a:rPr lang="en-US" altLang="zh-CN" b="1">
                <a:solidFill>
                  <a:schemeClr val="tx1">
                    <a:lumMod val="95000"/>
                    <a:lumOff val="5000"/>
                  </a:schemeClr>
                </a:solidFill>
                <a:effectLst>
                  <a:outerShdw blurRad="38100" dist="38100" dir="2700000" algn="tl">
                    <a:srgbClr val="000000">
                      <a:alpha val="43137"/>
                    </a:srgbClr>
                  </a:outerShdw>
                </a:effectLst>
                <a:latin typeface="+mj-ea"/>
                <a:ea typeface="+mj-ea"/>
              </a:rPr>
              <a:t>7.40</a:t>
            </a:r>
            <a:r>
              <a:rPr lang="zh-CN" altLang="en-US" b="1">
                <a:solidFill>
                  <a:schemeClr val="tx1">
                    <a:lumMod val="95000"/>
                    <a:lumOff val="5000"/>
                  </a:schemeClr>
                </a:solidFill>
                <a:effectLst>
                  <a:outerShdw blurRad="38100" dist="38100" dir="2700000" algn="tl">
                    <a:srgbClr val="000000">
                      <a:alpha val="43137"/>
                    </a:srgbClr>
                  </a:outerShdw>
                </a:effectLst>
                <a:latin typeface="+mj-ea"/>
                <a:ea typeface="+mj-ea"/>
              </a:rPr>
              <a:t>左右是正常血液</a:t>
            </a:r>
            <a:r>
              <a:rPr lang="en-US" altLang="zh-CN" b="1">
                <a:solidFill>
                  <a:schemeClr val="tx1">
                    <a:lumMod val="95000"/>
                    <a:lumOff val="5000"/>
                  </a:schemeClr>
                </a:solidFill>
                <a:effectLst>
                  <a:outerShdw blurRad="38100" dist="38100" dir="2700000" algn="tl">
                    <a:srgbClr val="000000">
                      <a:alpha val="43137"/>
                    </a:srgbClr>
                  </a:outerShdw>
                </a:effectLst>
                <a:latin typeface="+mj-ea"/>
                <a:ea typeface="+mj-ea"/>
              </a:rPr>
              <a:t>PH</a:t>
            </a:r>
          </a:p>
          <a:p>
            <a:pPr marL="285750" indent="-285750">
              <a:buFont typeface="Wingdings" panose="05000000000000000000" pitchFamily="2" charset="2"/>
              <a:buChar char="u"/>
            </a:pPr>
            <a:r>
              <a:rPr lang="en-US" altLang="zh-CN" b="1">
                <a:solidFill>
                  <a:schemeClr val="tx1">
                    <a:lumMod val="95000"/>
                    <a:lumOff val="5000"/>
                  </a:schemeClr>
                </a:solidFill>
                <a:effectLst>
                  <a:outerShdw blurRad="38100" dist="38100" dir="2700000" algn="tl">
                    <a:srgbClr val="000000">
                      <a:alpha val="43137"/>
                    </a:srgbClr>
                  </a:outerShdw>
                </a:effectLst>
                <a:latin typeface="+mj-ea"/>
                <a:ea typeface="+mj-ea"/>
              </a:rPr>
              <a:t>7.35</a:t>
            </a:r>
            <a:r>
              <a:rPr lang="zh-CN" altLang="en-US" b="1">
                <a:solidFill>
                  <a:schemeClr val="tx1">
                    <a:lumMod val="95000"/>
                    <a:lumOff val="5000"/>
                  </a:schemeClr>
                </a:solidFill>
                <a:effectLst>
                  <a:outerShdw blurRad="38100" dist="38100" dir="2700000" algn="tl">
                    <a:srgbClr val="000000">
                      <a:alpha val="43137"/>
                    </a:srgbClr>
                  </a:outerShdw>
                </a:effectLst>
                <a:latin typeface="+mj-ea"/>
                <a:ea typeface="+mj-ea"/>
              </a:rPr>
              <a:t>即血液偏酸。持续如此会产生一些列问题导致病情恶化。</a:t>
            </a:r>
            <a:endParaRPr lang="en-US" altLang="zh-CN" b="1">
              <a:solidFill>
                <a:schemeClr val="tx1">
                  <a:lumMod val="95000"/>
                  <a:lumOff val="5000"/>
                </a:schemeClr>
              </a:solidFill>
              <a:effectLst>
                <a:outerShdw blurRad="38100" dist="38100" dir="2700000" algn="tl">
                  <a:srgbClr val="000000">
                    <a:alpha val="43137"/>
                  </a:srgbClr>
                </a:outerShdw>
              </a:effectLst>
              <a:latin typeface="+mj-ea"/>
              <a:ea typeface="+mj-ea"/>
            </a:endParaRPr>
          </a:p>
          <a:p>
            <a:pPr marL="285750" indent="-285750">
              <a:buFont typeface="Wingdings" panose="05000000000000000000" pitchFamily="2" charset="2"/>
              <a:buChar char="u"/>
            </a:pPr>
            <a:r>
              <a:rPr lang="zh-CN" altLang="en-US" b="1">
                <a:solidFill>
                  <a:schemeClr val="tx1">
                    <a:lumMod val="95000"/>
                    <a:lumOff val="5000"/>
                  </a:schemeClr>
                </a:solidFill>
                <a:effectLst>
                  <a:outerShdw blurRad="38100" dist="38100" dir="2700000" algn="tl">
                    <a:srgbClr val="000000">
                      <a:alpha val="43137"/>
                    </a:srgbClr>
                  </a:outerShdw>
                </a:effectLst>
                <a:latin typeface="+mj-ea"/>
                <a:ea typeface="+mj-ea"/>
              </a:rPr>
              <a:t>肾病猫出现血液酸性化很普遍。三期肾病猫有</a:t>
            </a:r>
            <a:r>
              <a:rPr lang="en-US" altLang="zh-CN" b="1">
                <a:solidFill>
                  <a:schemeClr val="tx1">
                    <a:lumMod val="95000"/>
                    <a:lumOff val="5000"/>
                  </a:schemeClr>
                </a:solidFill>
                <a:effectLst>
                  <a:outerShdw blurRad="38100" dist="38100" dir="2700000" algn="tl">
                    <a:srgbClr val="000000">
                      <a:alpha val="43137"/>
                    </a:srgbClr>
                  </a:outerShdw>
                </a:effectLst>
                <a:latin typeface="+mj-ea"/>
                <a:ea typeface="+mj-ea"/>
              </a:rPr>
              <a:t>15%</a:t>
            </a:r>
            <a:r>
              <a:rPr lang="zh-CN" altLang="en-US" b="1">
                <a:solidFill>
                  <a:schemeClr val="tx1">
                    <a:lumMod val="95000"/>
                    <a:lumOff val="5000"/>
                  </a:schemeClr>
                </a:solidFill>
                <a:effectLst>
                  <a:outerShdw blurRad="38100" dist="38100" dir="2700000" algn="tl">
                    <a:srgbClr val="000000">
                      <a:alpha val="43137"/>
                    </a:srgbClr>
                  </a:outerShdw>
                </a:effectLst>
                <a:latin typeface="+mj-ea"/>
                <a:ea typeface="+mj-ea"/>
              </a:rPr>
              <a:t>存在这问题。三期晚期、四期猫总共有</a:t>
            </a:r>
            <a:r>
              <a:rPr lang="en-US" altLang="zh-CN" b="1">
                <a:solidFill>
                  <a:schemeClr val="tx1">
                    <a:lumMod val="95000"/>
                    <a:lumOff val="5000"/>
                  </a:schemeClr>
                </a:solidFill>
                <a:effectLst>
                  <a:outerShdw blurRad="38100" dist="38100" dir="2700000" algn="tl">
                    <a:srgbClr val="000000">
                      <a:alpha val="43137"/>
                    </a:srgbClr>
                  </a:outerShdw>
                </a:effectLst>
                <a:latin typeface="+mj-ea"/>
                <a:ea typeface="+mj-ea"/>
              </a:rPr>
              <a:t>52%</a:t>
            </a:r>
            <a:r>
              <a:rPr lang="zh-CN" altLang="en-US" b="1">
                <a:solidFill>
                  <a:schemeClr val="tx1">
                    <a:lumMod val="95000"/>
                    <a:lumOff val="5000"/>
                  </a:schemeClr>
                </a:solidFill>
                <a:effectLst>
                  <a:outerShdw blurRad="38100" dist="38100" dir="2700000" algn="tl">
                    <a:srgbClr val="000000">
                      <a:alpha val="43137"/>
                    </a:srgbClr>
                  </a:outerShdw>
                </a:effectLst>
                <a:latin typeface="+mj-ea"/>
                <a:ea typeface="+mj-ea"/>
              </a:rPr>
              <a:t>存在代谢性酸中毒。</a:t>
            </a:r>
            <a:endParaRPr lang="en-US" altLang="zh-CN" b="1">
              <a:solidFill>
                <a:schemeClr val="tx1">
                  <a:lumMod val="95000"/>
                  <a:lumOff val="5000"/>
                </a:schemeClr>
              </a:solidFill>
              <a:effectLst>
                <a:outerShdw blurRad="38100" dist="38100" dir="2700000" algn="tl">
                  <a:srgbClr val="000000">
                    <a:alpha val="43137"/>
                  </a:srgbClr>
                </a:outerShdw>
              </a:effectLst>
              <a:latin typeface="+mj-ea"/>
              <a:ea typeface="+mj-ea"/>
            </a:endParaRPr>
          </a:p>
          <a:p>
            <a:pPr marL="285750" indent="-285750">
              <a:buFont typeface="Wingdings" panose="05000000000000000000" pitchFamily="2" charset="2"/>
              <a:buChar char="u"/>
            </a:pPr>
            <a:endParaRPr lang="en-US" altLang="zh-CN" sz="1600" b="1">
              <a:latin typeface="+mn-ea"/>
              <a:ea typeface="+mn-ea"/>
            </a:endParaRPr>
          </a:p>
        </p:txBody>
      </p:sp>
      <p:sp>
        <p:nvSpPr>
          <p:cNvPr id="12" name="文本框 11">
            <a:extLst>
              <a:ext uri="{FF2B5EF4-FFF2-40B4-BE49-F238E27FC236}">
                <a16:creationId xmlns:a16="http://schemas.microsoft.com/office/drawing/2014/main" id="{93806A5D-E05A-478C-8C17-5E22EB06CC42}"/>
              </a:ext>
            </a:extLst>
          </p:cNvPr>
          <p:cNvSpPr txBox="1"/>
          <p:nvPr/>
        </p:nvSpPr>
        <p:spPr>
          <a:xfrm>
            <a:off x="5514167" y="2405837"/>
            <a:ext cx="6319041" cy="1446550"/>
          </a:xfrm>
          <a:prstGeom prst="rect">
            <a:avLst/>
          </a:prstGeom>
          <a:noFill/>
        </p:spPr>
        <p:txBody>
          <a:bodyPr wrap="square" rtlCol="0">
            <a:spAutoFit/>
          </a:bodyPr>
          <a:lstStyle/>
          <a:p>
            <a:r>
              <a:rPr lang="zh-CN" altLang="en-US" sz="3200" b="1">
                <a:solidFill>
                  <a:schemeClr val="bg1"/>
                </a:solidFill>
                <a:effectLst>
                  <a:outerShdw blurRad="38100" dist="38100" dir="2700000" algn="tl">
                    <a:srgbClr val="000000">
                      <a:alpha val="43137"/>
                    </a:srgbClr>
                  </a:outerShdw>
                </a:effectLst>
                <a:latin typeface="+mj-ea"/>
                <a:ea typeface="+mj-ea"/>
              </a:rPr>
              <a:t>什么时候需要治疗？</a:t>
            </a:r>
            <a:endParaRPr lang="en-US" altLang="zh-CN" sz="3200" b="1">
              <a:solidFill>
                <a:schemeClr val="bg1"/>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u"/>
            </a:pPr>
            <a:r>
              <a:rPr lang="zh-CN" altLang="en-US" sz="3200" b="1">
                <a:solidFill>
                  <a:schemeClr val="bg1"/>
                </a:solidFill>
                <a:effectLst>
                  <a:outerShdw blurRad="38100" dist="38100" dir="2700000" algn="tl">
                    <a:srgbClr val="000000">
                      <a:alpha val="43137"/>
                    </a:srgbClr>
                  </a:outerShdw>
                </a:effectLst>
                <a:latin typeface="+mj-ea"/>
                <a:ea typeface="+mj-ea"/>
              </a:rPr>
              <a:t>血气中</a:t>
            </a:r>
            <a:r>
              <a:rPr lang="en-US" altLang="zh-CN" sz="3200" b="1">
                <a:solidFill>
                  <a:schemeClr val="bg1"/>
                </a:solidFill>
                <a:effectLst>
                  <a:outerShdw blurRad="38100" dist="38100" dir="2700000" algn="tl">
                    <a:srgbClr val="000000">
                      <a:alpha val="43137"/>
                    </a:srgbClr>
                  </a:outerShdw>
                </a:effectLst>
                <a:latin typeface="+mj-ea"/>
                <a:ea typeface="+mj-ea"/>
              </a:rPr>
              <a:t>HCO3</a:t>
            </a:r>
            <a:r>
              <a:rPr lang="zh-CN" altLang="en-US" sz="3200" b="1">
                <a:solidFill>
                  <a:schemeClr val="bg1"/>
                </a:solidFill>
                <a:effectLst>
                  <a:outerShdw blurRad="38100" dist="38100" dir="2700000" algn="tl">
                    <a:srgbClr val="000000">
                      <a:alpha val="43137"/>
                    </a:srgbClr>
                  </a:outerShdw>
                </a:effectLst>
                <a:latin typeface="+mj-ea"/>
                <a:ea typeface="+mj-ea"/>
              </a:rPr>
              <a:t>＜</a:t>
            </a:r>
            <a:r>
              <a:rPr lang="en-US" altLang="zh-CN" sz="3200" b="1">
                <a:solidFill>
                  <a:schemeClr val="bg1"/>
                </a:solidFill>
                <a:effectLst>
                  <a:outerShdw blurRad="38100" dist="38100" dir="2700000" algn="tl">
                    <a:srgbClr val="000000">
                      <a:alpha val="43137"/>
                    </a:srgbClr>
                  </a:outerShdw>
                </a:effectLst>
                <a:latin typeface="+mj-ea"/>
                <a:ea typeface="+mj-ea"/>
              </a:rPr>
              <a:t>16mmol/L</a:t>
            </a:r>
          </a:p>
          <a:p>
            <a:pPr lvl="1"/>
            <a:r>
              <a:rPr lang="zh-CN" altLang="en-US" sz="2400" b="1">
                <a:solidFill>
                  <a:schemeClr val="bg1"/>
                </a:solidFill>
                <a:effectLst>
                  <a:outerShdw blurRad="38100" dist="38100" dir="2700000" algn="tl">
                    <a:srgbClr val="000000">
                      <a:alpha val="43137"/>
                    </a:srgbClr>
                  </a:outerShdw>
                </a:effectLst>
                <a:latin typeface="+mj-ea"/>
                <a:ea typeface="+mj-ea"/>
              </a:rPr>
              <a:t>     血液酸碱度＜</a:t>
            </a:r>
            <a:r>
              <a:rPr lang="en-US" altLang="zh-CN" sz="2400" b="1">
                <a:solidFill>
                  <a:schemeClr val="bg1"/>
                </a:solidFill>
                <a:effectLst>
                  <a:outerShdw blurRad="38100" dist="38100" dir="2700000" algn="tl">
                    <a:srgbClr val="000000">
                      <a:alpha val="43137"/>
                    </a:srgbClr>
                  </a:outerShdw>
                </a:effectLst>
                <a:latin typeface="+mj-ea"/>
                <a:ea typeface="+mj-ea"/>
              </a:rPr>
              <a:t>7.35</a:t>
            </a:r>
            <a:endParaRPr lang="zh-CN" altLang="en-US" sz="2400" b="1">
              <a:solidFill>
                <a:schemeClr val="bg1"/>
              </a:solidFill>
              <a:effectLst>
                <a:outerShdw blurRad="38100" dist="38100" dir="2700000" algn="tl">
                  <a:srgbClr val="000000">
                    <a:alpha val="43137"/>
                  </a:srgbClr>
                </a:outerShdw>
              </a:effectLst>
              <a:latin typeface="+mj-ea"/>
              <a:ea typeface="+mj-ea"/>
            </a:endParaRPr>
          </a:p>
        </p:txBody>
      </p:sp>
      <p:pic>
        <p:nvPicPr>
          <p:cNvPr id="5" name="图片 4">
            <a:extLst>
              <a:ext uri="{FF2B5EF4-FFF2-40B4-BE49-F238E27FC236}">
                <a16:creationId xmlns:a16="http://schemas.microsoft.com/office/drawing/2014/main" id="{171EB0DB-6D82-45E5-A940-9E4EAE42FD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65876" y="4161822"/>
            <a:ext cx="4891038" cy="2106610"/>
          </a:xfrm>
          <a:prstGeom prst="rect">
            <a:avLst/>
          </a:prstGeom>
        </p:spPr>
      </p:pic>
      <p:sp>
        <p:nvSpPr>
          <p:cNvPr id="17" name="文本框 21">
            <a:extLst>
              <a:ext uri="{FF2B5EF4-FFF2-40B4-BE49-F238E27FC236}">
                <a16:creationId xmlns:a16="http://schemas.microsoft.com/office/drawing/2014/main" id="{1F978ACC-2F32-4869-94BA-3E8EF7046234}"/>
              </a:ext>
            </a:extLst>
          </p:cNvPr>
          <p:cNvSpPr txBox="1">
            <a:spLocks noChangeArrowheads="1"/>
          </p:cNvSpPr>
          <p:nvPr/>
        </p:nvSpPr>
        <p:spPr bwMode="auto">
          <a:xfrm>
            <a:off x="9165470" y="220640"/>
            <a:ext cx="2782888" cy="88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r" eaLnBrk="1" hangingPunct="1">
              <a:lnSpc>
                <a:spcPct val="150000"/>
              </a:lnSpc>
              <a:spcBef>
                <a:spcPct val="0"/>
              </a:spcBef>
              <a:buFontTx/>
              <a:buNone/>
              <a:defRPr/>
            </a:pPr>
            <a:r>
              <a:rPr lang="zh-CN" altLang="en-US" sz="1800" b="1">
                <a:solidFill>
                  <a:srgbClr val="0F0F0F"/>
                </a:solidFill>
                <a:latin typeface="等线" panose="02010600030101010101" pitchFamily="2" charset="-122"/>
                <a:ea typeface="等线" panose="02010600030101010101" pitchFamily="2" charset="-122"/>
                <a:cs typeface="+mn-ea"/>
                <a:sym typeface="+mn-lt"/>
              </a:rPr>
              <a:t>厨子</a:t>
            </a:r>
            <a:r>
              <a:rPr lang="en-US" altLang="zh-CN" sz="1800" b="1">
                <a:solidFill>
                  <a:srgbClr val="0F0F0F"/>
                </a:solidFill>
                <a:latin typeface="等线" panose="02010600030101010101" pitchFamily="2" charset="-122"/>
                <a:ea typeface="等线" panose="02010600030101010101" pitchFamily="2" charset="-122"/>
                <a:cs typeface="+mn-ea"/>
                <a:sym typeface="+mn-lt"/>
              </a:rPr>
              <a:t>@</a:t>
            </a:r>
            <a:r>
              <a:rPr lang="zh-CN" altLang="en-US" sz="1800" b="1">
                <a:solidFill>
                  <a:srgbClr val="0F0F0F"/>
                </a:solidFill>
                <a:latin typeface="等线" panose="02010600030101010101" pitchFamily="2" charset="-122"/>
                <a:ea typeface="等线" panose="02010600030101010101" pitchFamily="2" charset="-122"/>
                <a:cs typeface="+mn-ea"/>
                <a:sym typeface="+mn-lt"/>
              </a:rPr>
              <a:t>公众号</a:t>
            </a:r>
            <a:r>
              <a:rPr lang="en-US" altLang="zh-CN" sz="1800" b="1">
                <a:solidFill>
                  <a:srgbClr val="0F0F0F"/>
                </a:solidFill>
                <a:latin typeface="等线" panose="02010600030101010101" pitchFamily="2" charset="-122"/>
                <a:ea typeface="等线" panose="02010600030101010101" pitchFamily="2" charset="-122"/>
                <a:cs typeface="+mn-ea"/>
                <a:sym typeface="+mn-lt"/>
              </a:rPr>
              <a:t>Raw Meat</a:t>
            </a:r>
          </a:p>
          <a:p>
            <a:pPr algn="r" eaLnBrk="1" hangingPunct="1">
              <a:lnSpc>
                <a:spcPct val="150000"/>
              </a:lnSpc>
              <a:spcBef>
                <a:spcPct val="0"/>
              </a:spcBef>
              <a:buFontTx/>
              <a:buNone/>
              <a:defRPr/>
            </a:pPr>
            <a:r>
              <a:rPr lang="en-US" altLang="zh-CN" sz="1800" b="1">
                <a:solidFill>
                  <a:srgbClr val="0F0F0F"/>
                </a:solidFill>
                <a:latin typeface="等线" panose="02010600030101010101" pitchFamily="2" charset="-122"/>
                <a:ea typeface="等线" panose="02010600030101010101" pitchFamily="2" charset="-122"/>
                <a:cs typeface="+mn-ea"/>
                <a:sym typeface="+mn-lt"/>
              </a:rPr>
              <a:t>2018 Aug</a:t>
            </a:r>
          </a:p>
        </p:txBody>
      </p:sp>
    </p:spTree>
    <p:extLst>
      <p:ext uri="{BB962C8B-B14F-4D97-AF65-F5344CB8AC3E}">
        <p14:creationId xmlns:p14="http://schemas.microsoft.com/office/powerpoint/2010/main" val="151484842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859A750C-7FF3-4F90-A796-86BE8EDD60E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27656" y="2538365"/>
            <a:ext cx="2339106" cy="2339106"/>
          </a:xfrm>
          <a:prstGeom prst="rect">
            <a:avLst/>
          </a:prstGeom>
        </p:spPr>
      </p:pic>
      <p:grpSp>
        <p:nvGrpSpPr>
          <p:cNvPr id="17" name="组合 16">
            <a:extLst/>
          </p:cNvPr>
          <p:cNvGrpSpPr/>
          <p:nvPr/>
        </p:nvGrpSpPr>
        <p:grpSpPr>
          <a:xfrm>
            <a:off x="4007769" y="534971"/>
            <a:ext cx="8162478" cy="1178915"/>
            <a:chOff x="7629599" y="187644"/>
            <a:chExt cx="4676739" cy="1178915"/>
          </a:xfrm>
          <a:effectLst>
            <a:outerShdw blurRad="50800" dist="38100" dir="5400000" algn="t" rotWithShape="0">
              <a:prstClr val="black">
                <a:alpha val="40000"/>
              </a:prstClr>
            </a:outerShdw>
          </a:effectLst>
        </p:grpSpPr>
        <p:sp>
          <p:nvSpPr>
            <p:cNvPr id="27" name="箭头: 五边形 6">
              <a:extLst/>
            </p:cNvPr>
            <p:cNvSpPr/>
            <p:nvPr/>
          </p:nvSpPr>
          <p:spPr>
            <a:xfrm flipH="1">
              <a:off x="7629599" y="404664"/>
              <a:ext cx="4676739"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7818029" y="187644"/>
              <a:ext cx="4436286" cy="1110187"/>
              <a:chOff x="-1007275" y="2529717"/>
              <a:chExt cx="5225356" cy="1552439"/>
            </a:xfrm>
          </p:grpSpPr>
          <p:sp>
            <p:nvSpPr>
              <p:cNvPr id="29" name="文本框 13">
                <a:extLst/>
              </p:cNvPr>
              <p:cNvSpPr txBox="1">
                <a:spLocks noChangeArrowheads="1"/>
              </p:cNvSpPr>
              <p:nvPr/>
            </p:nvSpPr>
            <p:spPr bwMode="auto">
              <a:xfrm>
                <a:off x="-1007275" y="2529717"/>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714609" y="3048121"/>
                <a:ext cx="3503472" cy="81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latin typeface="+mn-lt"/>
                    <a:ea typeface="+mn-ea"/>
                    <a:cs typeface="+mn-ea"/>
                    <a:sym typeface="+mn-lt"/>
                  </a:rPr>
                  <a:t>猫慢性肾病治疗：矫正代谢性酸中毒</a:t>
                </a:r>
                <a:endParaRPr lang="en-US" altLang="zh-CN" sz="2400" b="1">
                  <a:solidFill>
                    <a:srgbClr val="010101"/>
                  </a:solidFill>
                  <a:latin typeface="+mn-lt"/>
                  <a:ea typeface="+mn-ea"/>
                  <a:cs typeface="+mn-ea"/>
                  <a:sym typeface="+mn-lt"/>
                </a:endParaRPr>
              </a:p>
            </p:txBody>
          </p:sp>
          <p:cxnSp>
            <p:nvCxnSpPr>
              <p:cNvPr id="31" name="直接连接符 30">
                <a:extLst/>
              </p:cNvPr>
              <p:cNvCxnSpPr>
                <a:cxnSpLocks/>
              </p:cNvCxnSpPr>
              <p:nvPr/>
            </p:nvCxnSpPr>
            <p:spPr>
              <a:xfrm flipH="1">
                <a:off x="-442778" y="3180446"/>
                <a:ext cx="468592" cy="706937"/>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174743" y="3436583"/>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grpSp>
        <p:nvGrpSpPr>
          <p:cNvPr id="37893" name="组合 1"/>
          <p:cNvGrpSpPr>
            <a:grpSpLocks/>
          </p:cNvGrpSpPr>
          <p:nvPr/>
        </p:nvGrpSpPr>
        <p:grpSpPr bwMode="auto">
          <a:xfrm>
            <a:off x="1100977" y="2564904"/>
            <a:ext cx="4865878" cy="2973190"/>
            <a:chOff x="6931323" y="2608336"/>
            <a:chExt cx="4500246" cy="2972408"/>
          </a:xfrm>
        </p:grpSpPr>
        <p:grpSp>
          <p:nvGrpSpPr>
            <p:cNvPr id="37894" name="组合 14"/>
            <p:cNvGrpSpPr>
              <a:grpSpLocks/>
            </p:cNvGrpSpPr>
            <p:nvPr/>
          </p:nvGrpSpPr>
          <p:grpSpPr bwMode="auto">
            <a:xfrm>
              <a:off x="6931323" y="2608336"/>
              <a:ext cx="4500246" cy="718135"/>
              <a:chOff x="3936148" y="1692543"/>
              <a:chExt cx="4500246" cy="718135"/>
            </a:xfrm>
          </p:grpSpPr>
          <p:sp>
            <p:nvSpPr>
              <p:cNvPr id="55" name="文本框 66">
                <a:extLst/>
              </p:cNvPr>
              <p:cNvSpPr txBox="1">
                <a:spLocks noChangeArrowheads="1"/>
              </p:cNvSpPr>
              <p:nvPr/>
            </p:nvSpPr>
            <p:spPr bwMode="auto">
              <a:xfrm>
                <a:off x="3966308" y="1692543"/>
                <a:ext cx="4258964" cy="461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spcBef>
                    <a:spcPts val="0"/>
                  </a:spcBef>
                  <a:spcAft>
                    <a:spcPts val="0"/>
                  </a:spcAft>
                  <a:defRPr/>
                </a:pPr>
                <a:endParaRPr lang="zh-CN" altLang="en-US" sz="2400" b="1" kern="0">
                  <a:solidFill>
                    <a:srgbClr val="4F4F4F"/>
                  </a:solidFill>
                  <a:latin typeface="+mn-lt"/>
                  <a:ea typeface="+mn-ea"/>
                  <a:cs typeface="+mn-ea"/>
                  <a:sym typeface="+mn-lt"/>
                </a:endParaRPr>
              </a:p>
            </p:txBody>
          </p:sp>
          <p:sp>
            <p:nvSpPr>
              <p:cNvPr id="56" name="矩形 55">
                <a:extLst/>
              </p:cNvPr>
              <p:cNvSpPr/>
              <p:nvPr/>
            </p:nvSpPr>
            <p:spPr>
              <a:xfrm>
                <a:off x="3936148" y="2133752"/>
                <a:ext cx="4500246" cy="276926"/>
              </a:xfrm>
              <a:prstGeom prst="rect">
                <a:avLst/>
              </a:prstGeom>
            </p:spPr>
            <p:txBody>
              <a:bodyPr>
                <a:spAutoFit/>
              </a:bodyPr>
              <a:lstStyle/>
              <a:p>
                <a:pPr eaLnBrk="1" fontAlgn="auto" hangingPunct="1">
                  <a:spcBef>
                    <a:spcPts val="0"/>
                  </a:spcBef>
                  <a:spcAft>
                    <a:spcPts val="0"/>
                  </a:spcAft>
                  <a:defRPr/>
                </a:pPr>
                <a:endParaRPr lang="zh-CN" altLang="en-US" sz="1200" kern="0">
                  <a:solidFill>
                    <a:srgbClr val="4F4F4F"/>
                  </a:solidFill>
                  <a:latin typeface="+mn-lt"/>
                  <a:ea typeface="+mn-ea"/>
                  <a:cs typeface="+mn-ea"/>
                  <a:sym typeface="+mn-lt"/>
                </a:endParaRPr>
              </a:p>
            </p:txBody>
          </p:sp>
        </p:grpSp>
        <p:sp>
          <p:nvSpPr>
            <p:cNvPr id="53" name="矩形 3">
              <a:extLst/>
            </p:cNvPr>
            <p:cNvSpPr>
              <a:spLocks noChangeArrowheads="1"/>
            </p:cNvSpPr>
            <p:nvPr/>
          </p:nvSpPr>
          <p:spPr bwMode="auto">
            <a:xfrm>
              <a:off x="6931323" y="4487442"/>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sp>
          <p:nvSpPr>
            <p:cNvPr id="54" name="矩形 3">
              <a:extLst/>
            </p:cNvPr>
            <p:cNvSpPr>
              <a:spLocks noChangeArrowheads="1"/>
            </p:cNvSpPr>
            <p:nvPr/>
          </p:nvSpPr>
          <p:spPr bwMode="auto">
            <a:xfrm>
              <a:off x="6931323" y="5273048"/>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grpSp>
      <p:sp>
        <p:nvSpPr>
          <p:cNvPr id="5" name="文本框 4">
            <a:extLst>
              <a:ext uri="{FF2B5EF4-FFF2-40B4-BE49-F238E27FC236}">
                <a16:creationId xmlns:a16="http://schemas.microsoft.com/office/drawing/2014/main" id="{48D59AAB-31AD-4E45-A027-B78180DBC380}"/>
              </a:ext>
            </a:extLst>
          </p:cNvPr>
          <p:cNvSpPr txBox="1"/>
          <p:nvPr/>
        </p:nvSpPr>
        <p:spPr>
          <a:xfrm>
            <a:off x="2171737" y="2183137"/>
            <a:ext cx="4190049" cy="523220"/>
          </a:xfrm>
          <a:prstGeom prst="rect">
            <a:avLst/>
          </a:prstGeom>
          <a:noFill/>
        </p:spPr>
        <p:txBody>
          <a:bodyPr wrap="square" rtlCol="0">
            <a:spAutoFit/>
          </a:bodyPr>
          <a:lstStyle/>
          <a:p>
            <a:r>
              <a:rPr lang="zh-CN" altLang="en-US" sz="2800" b="1"/>
              <a:t>碳酸氢钠片</a:t>
            </a:r>
            <a:endParaRPr lang="en-US" altLang="zh-CN" sz="1400">
              <a:latin typeface="+mj-ea"/>
              <a:ea typeface="+mj-ea"/>
            </a:endParaRPr>
          </a:p>
        </p:txBody>
      </p:sp>
      <p:cxnSp>
        <p:nvCxnSpPr>
          <p:cNvPr id="23" name="直接连接符 22">
            <a:extLst>
              <a:ext uri="{FF2B5EF4-FFF2-40B4-BE49-F238E27FC236}">
                <a16:creationId xmlns:a16="http://schemas.microsoft.com/office/drawing/2014/main" id="{A6ED08FA-2943-4D08-91B5-062B4352A4BC}"/>
              </a:ext>
            </a:extLst>
          </p:cNvPr>
          <p:cNvCxnSpPr/>
          <p:nvPr/>
        </p:nvCxnSpPr>
        <p:spPr>
          <a:xfrm flipH="1">
            <a:off x="5719530" y="3168168"/>
            <a:ext cx="19050" cy="1079500"/>
          </a:xfrm>
          <a:prstGeom prst="line">
            <a:avLst/>
          </a:prstGeom>
          <a:ln w="50800">
            <a:solidFill>
              <a:srgbClr val="4F4F4F"/>
            </a:solidFill>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2B3EF790-0D49-4C51-AC07-EB48104EF2C4}"/>
              </a:ext>
            </a:extLst>
          </p:cNvPr>
          <p:cNvSpPr txBox="1"/>
          <p:nvPr/>
        </p:nvSpPr>
        <p:spPr>
          <a:xfrm>
            <a:off x="7888607" y="2183137"/>
            <a:ext cx="4190049" cy="523220"/>
          </a:xfrm>
          <a:prstGeom prst="rect">
            <a:avLst/>
          </a:prstGeom>
          <a:noFill/>
        </p:spPr>
        <p:txBody>
          <a:bodyPr wrap="square" rtlCol="0">
            <a:spAutoFit/>
          </a:bodyPr>
          <a:lstStyle/>
          <a:p>
            <a:r>
              <a:rPr lang="zh-CN" altLang="en-US" sz="2800" b="1"/>
              <a:t>柠檬酸钾片</a:t>
            </a:r>
            <a:endParaRPr lang="en-US" altLang="zh-CN" sz="1400">
              <a:latin typeface="+mj-ea"/>
              <a:ea typeface="+mj-ea"/>
            </a:endParaRPr>
          </a:p>
        </p:txBody>
      </p:sp>
      <p:sp>
        <p:nvSpPr>
          <p:cNvPr id="6" name="文本框 5">
            <a:extLst>
              <a:ext uri="{FF2B5EF4-FFF2-40B4-BE49-F238E27FC236}">
                <a16:creationId xmlns:a16="http://schemas.microsoft.com/office/drawing/2014/main" id="{7B608218-4F2E-44A0-8E04-A0633D2811E6}"/>
              </a:ext>
            </a:extLst>
          </p:cNvPr>
          <p:cNvSpPr txBox="1"/>
          <p:nvPr/>
        </p:nvSpPr>
        <p:spPr>
          <a:xfrm>
            <a:off x="1775520" y="4949117"/>
            <a:ext cx="3024336" cy="588977"/>
          </a:xfrm>
          <a:prstGeom prst="rect">
            <a:avLst/>
          </a:prstGeom>
          <a:noFill/>
        </p:spPr>
        <p:txBody>
          <a:bodyPr wrap="square" rtlCol="0">
            <a:spAutoFit/>
          </a:bodyPr>
          <a:lstStyle/>
          <a:p>
            <a:endParaRPr lang="zh-CN" altLang="en-US"/>
          </a:p>
        </p:txBody>
      </p:sp>
      <p:sp>
        <p:nvSpPr>
          <p:cNvPr id="7" name="文本框 6">
            <a:extLst>
              <a:ext uri="{FF2B5EF4-FFF2-40B4-BE49-F238E27FC236}">
                <a16:creationId xmlns:a16="http://schemas.microsoft.com/office/drawing/2014/main" id="{63EEBA34-46FE-4602-BAF5-8D5D726F4CA9}"/>
              </a:ext>
            </a:extLst>
          </p:cNvPr>
          <p:cNvSpPr txBox="1"/>
          <p:nvPr/>
        </p:nvSpPr>
        <p:spPr>
          <a:xfrm>
            <a:off x="1525625" y="4898026"/>
            <a:ext cx="3312368" cy="1754326"/>
          </a:xfrm>
          <a:prstGeom prst="rect">
            <a:avLst/>
          </a:prstGeom>
          <a:noFill/>
        </p:spPr>
        <p:txBody>
          <a:bodyPr wrap="square" rtlCol="0">
            <a:spAutoFit/>
          </a:bodyPr>
          <a:lstStyle/>
          <a:p>
            <a:pPr marL="285750" indent="-285750">
              <a:buFont typeface="Wingdings" panose="05000000000000000000" pitchFamily="2" charset="2"/>
              <a:buChar char="u"/>
            </a:pPr>
            <a:r>
              <a:rPr lang="zh-CN" altLang="en-US">
                <a:latin typeface="+mj-ea"/>
                <a:ea typeface="+mj-ea"/>
              </a:rPr>
              <a:t>剂量调整有些繁琐，这里建议较低剂量。每公斤体重</a:t>
            </a:r>
            <a:r>
              <a:rPr lang="en-US" altLang="zh-CN">
                <a:latin typeface="+mj-ea"/>
                <a:ea typeface="+mj-ea"/>
              </a:rPr>
              <a:t>5-10</a:t>
            </a:r>
            <a:r>
              <a:rPr lang="zh-CN" altLang="en-US">
                <a:latin typeface="+mj-ea"/>
                <a:ea typeface="+mj-ea"/>
              </a:rPr>
              <a:t>毫克，一天</a:t>
            </a:r>
            <a:r>
              <a:rPr lang="en-US" altLang="zh-CN">
                <a:latin typeface="+mj-ea"/>
                <a:ea typeface="+mj-ea"/>
              </a:rPr>
              <a:t>2-3</a:t>
            </a:r>
            <a:r>
              <a:rPr lang="zh-CN" altLang="en-US">
                <a:latin typeface="+mj-ea"/>
                <a:ea typeface="+mj-ea"/>
              </a:rPr>
              <a:t>次。</a:t>
            </a:r>
            <a:endParaRPr lang="en-US" altLang="zh-CN">
              <a:latin typeface="+mj-ea"/>
              <a:ea typeface="+mj-ea"/>
            </a:endParaRPr>
          </a:p>
          <a:p>
            <a:pPr marL="285750" indent="-285750">
              <a:buFont typeface="Wingdings" panose="05000000000000000000" pitchFamily="2" charset="2"/>
              <a:buChar char="u"/>
            </a:pPr>
            <a:r>
              <a:rPr lang="zh-CN" altLang="en-US">
                <a:latin typeface="+mj-ea"/>
                <a:ea typeface="+mj-ea"/>
              </a:rPr>
              <a:t>人用版一片</a:t>
            </a:r>
            <a:r>
              <a:rPr lang="en-US" altLang="zh-CN">
                <a:latin typeface="+mj-ea"/>
                <a:ea typeface="+mj-ea"/>
              </a:rPr>
              <a:t>500mg</a:t>
            </a:r>
            <a:r>
              <a:rPr lang="zh-CN" altLang="en-US">
                <a:latin typeface="+mj-ea"/>
                <a:ea typeface="+mj-ea"/>
              </a:rPr>
              <a:t>，请注意</a:t>
            </a:r>
            <a:endParaRPr lang="en-US" altLang="zh-CN">
              <a:latin typeface="+mj-ea"/>
              <a:ea typeface="+mj-ea"/>
            </a:endParaRPr>
          </a:p>
          <a:p>
            <a:pPr marL="285750" indent="-285750">
              <a:buFont typeface="Wingdings" panose="05000000000000000000" pitchFamily="2" charset="2"/>
              <a:buChar char="u"/>
            </a:pPr>
            <a:r>
              <a:rPr lang="zh-CN" altLang="en-US">
                <a:latin typeface="+mj-ea"/>
                <a:ea typeface="+mj-ea"/>
              </a:rPr>
              <a:t>会降低血钾，请注意</a:t>
            </a:r>
            <a:endParaRPr lang="en-US" altLang="zh-CN">
              <a:latin typeface="+mj-ea"/>
              <a:ea typeface="+mj-ea"/>
            </a:endParaRPr>
          </a:p>
          <a:p>
            <a:pPr marL="285750" indent="-285750">
              <a:buFont typeface="Wingdings" panose="05000000000000000000" pitchFamily="2" charset="2"/>
              <a:buChar char="u"/>
            </a:pPr>
            <a:r>
              <a:rPr lang="zh-CN" altLang="en-US">
                <a:latin typeface="+mj-ea"/>
                <a:ea typeface="+mj-ea"/>
              </a:rPr>
              <a:t>需要医师指导</a:t>
            </a:r>
            <a:endParaRPr lang="en-US" altLang="zh-CN">
              <a:latin typeface="+mj-ea"/>
              <a:ea typeface="+mj-ea"/>
            </a:endParaRPr>
          </a:p>
        </p:txBody>
      </p:sp>
      <p:pic>
        <p:nvPicPr>
          <p:cNvPr id="9" name="图片 8">
            <a:extLst>
              <a:ext uri="{FF2B5EF4-FFF2-40B4-BE49-F238E27FC236}">
                <a16:creationId xmlns:a16="http://schemas.microsoft.com/office/drawing/2014/main" id="{74256B6C-1AC6-48B1-ADAD-AD830BD994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32018" y="2750090"/>
            <a:ext cx="1022970" cy="1877009"/>
          </a:xfrm>
          <a:prstGeom prst="rect">
            <a:avLst/>
          </a:prstGeom>
        </p:spPr>
      </p:pic>
      <p:sp>
        <p:nvSpPr>
          <p:cNvPr id="10" name="矩形 9">
            <a:extLst>
              <a:ext uri="{FF2B5EF4-FFF2-40B4-BE49-F238E27FC236}">
                <a16:creationId xmlns:a16="http://schemas.microsoft.com/office/drawing/2014/main" id="{670ED083-A154-43DD-B493-37355DB5BEA6}"/>
              </a:ext>
            </a:extLst>
          </p:cNvPr>
          <p:cNvSpPr/>
          <p:nvPr/>
        </p:nvSpPr>
        <p:spPr>
          <a:xfrm>
            <a:off x="7104112" y="4851859"/>
            <a:ext cx="6096000" cy="1200329"/>
          </a:xfrm>
          <a:prstGeom prst="rect">
            <a:avLst/>
          </a:prstGeom>
        </p:spPr>
        <p:txBody>
          <a:bodyPr>
            <a:spAutoFit/>
          </a:bodyPr>
          <a:lstStyle/>
          <a:p>
            <a:r>
              <a:rPr lang="zh-CN" altLang="en-US" b="1">
                <a:latin typeface="+mj-ea"/>
              </a:rPr>
              <a:t>如果用药片</a:t>
            </a:r>
            <a:r>
              <a:rPr lang="zh-CN" altLang="en-US">
                <a:latin typeface="+mj-ea"/>
              </a:rPr>
              <a:t>：</a:t>
            </a:r>
            <a:endParaRPr lang="en-US" altLang="zh-CN">
              <a:latin typeface="+mj-ea"/>
            </a:endParaRPr>
          </a:p>
          <a:p>
            <a:pPr marL="285750" indent="-285750">
              <a:buFont typeface="Wingdings" panose="05000000000000000000" pitchFamily="2" charset="2"/>
              <a:buChar char="u"/>
            </a:pPr>
            <a:r>
              <a:rPr lang="en-US" altLang="zh-CN">
                <a:latin typeface="+mn-ea"/>
                <a:ea typeface="+mn-ea"/>
              </a:rPr>
              <a:t>3kg</a:t>
            </a:r>
            <a:r>
              <a:rPr lang="zh-CN" altLang="en-US">
                <a:latin typeface="+mn-ea"/>
                <a:ea typeface="+mn-ea"/>
              </a:rPr>
              <a:t>的猫每日一片，分两次</a:t>
            </a:r>
            <a:endParaRPr lang="en-US" altLang="zh-CN">
              <a:latin typeface="+mn-ea"/>
              <a:ea typeface="+mn-ea"/>
            </a:endParaRPr>
          </a:p>
          <a:p>
            <a:pPr marL="285750" indent="-285750">
              <a:buFont typeface="Wingdings" panose="05000000000000000000" pitchFamily="2" charset="2"/>
              <a:buChar char="u"/>
            </a:pPr>
            <a:r>
              <a:rPr lang="en-US" altLang="zh-CN">
                <a:latin typeface="+mn-ea"/>
                <a:ea typeface="+mn-ea"/>
              </a:rPr>
              <a:t>4kg</a:t>
            </a:r>
            <a:r>
              <a:rPr lang="zh-CN" altLang="en-US">
                <a:latin typeface="+mn-ea"/>
                <a:ea typeface="+mn-ea"/>
              </a:rPr>
              <a:t>的猫每日一片半，分两次</a:t>
            </a:r>
            <a:endParaRPr lang="en-US" altLang="zh-CN">
              <a:latin typeface="+mn-ea"/>
              <a:ea typeface="+mn-ea"/>
            </a:endParaRPr>
          </a:p>
          <a:p>
            <a:pPr marL="285750" indent="-285750">
              <a:buFont typeface="Wingdings" panose="05000000000000000000" pitchFamily="2" charset="2"/>
              <a:buChar char="u"/>
            </a:pPr>
            <a:r>
              <a:rPr lang="zh-CN" altLang="en-US">
                <a:latin typeface="+mn-ea"/>
                <a:ea typeface="+mn-ea"/>
              </a:rPr>
              <a:t>高血钾忌用</a:t>
            </a:r>
            <a:endParaRPr lang="en-US" altLang="zh-CN">
              <a:latin typeface="+mn-ea"/>
              <a:ea typeface="+mn-ea"/>
            </a:endParaRPr>
          </a:p>
        </p:txBody>
      </p:sp>
    </p:spTree>
    <p:extLst>
      <p:ext uri="{BB962C8B-B14F-4D97-AF65-F5344CB8AC3E}">
        <p14:creationId xmlns:p14="http://schemas.microsoft.com/office/powerpoint/2010/main" val="53058438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0" name="箭头: 五边形 6">
            <a:extLst/>
          </p:cNvPr>
          <p:cNvSpPr/>
          <p:nvPr/>
        </p:nvSpPr>
        <p:spPr>
          <a:xfrm rot="10800000" flipH="1">
            <a:off x="0" y="404813"/>
            <a:ext cx="7392144" cy="1344612"/>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grpSp>
        <p:nvGrpSpPr>
          <p:cNvPr id="30724" name="组合 22"/>
          <p:cNvGrpSpPr>
            <a:grpSpLocks/>
          </p:cNvGrpSpPr>
          <p:nvPr/>
        </p:nvGrpSpPr>
        <p:grpSpPr bwMode="auto">
          <a:xfrm>
            <a:off x="196850" y="404813"/>
            <a:ext cx="5779784" cy="1134998"/>
            <a:chOff x="-101400" y="2876417"/>
            <a:chExt cx="5114992" cy="1134983"/>
          </a:xfrm>
        </p:grpSpPr>
        <p:sp>
          <p:nvSpPr>
            <p:cNvPr id="20494" name="文本框 13">
              <a:extLst/>
            </p:cNvPr>
            <p:cNvSpPr txBox="1">
              <a:spLocks noChangeArrowheads="1"/>
            </p:cNvSpPr>
            <p:nvPr/>
          </p:nvSpPr>
          <p:spPr bwMode="auto">
            <a:xfrm>
              <a:off x="-101400" y="2876417"/>
              <a:ext cx="1343136" cy="825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600" b="1">
                  <a:solidFill>
                    <a:srgbClr val="010101"/>
                  </a:solidFill>
                  <a:latin typeface="+mn-lt"/>
                  <a:ea typeface="+mn-ea"/>
                  <a:cs typeface="+mn-ea"/>
                  <a:sym typeface="+mn-lt"/>
                </a:rPr>
                <a:t>PART</a:t>
              </a:r>
            </a:p>
          </p:txBody>
        </p:sp>
        <p:sp>
          <p:nvSpPr>
            <p:cNvPr id="20495" name="文本框 14">
              <a:extLst/>
            </p:cNvPr>
            <p:cNvSpPr txBox="1">
              <a:spLocks noChangeArrowheads="1"/>
            </p:cNvSpPr>
            <p:nvPr/>
          </p:nvSpPr>
          <p:spPr bwMode="auto">
            <a:xfrm>
              <a:off x="2150733" y="3430993"/>
              <a:ext cx="2862859" cy="580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endParaRPr lang="en-US" altLang="zh-CN" sz="2400">
                <a:solidFill>
                  <a:srgbClr val="010101"/>
                </a:solidFill>
                <a:latin typeface="+mn-lt"/>
                <a:ea typeface="+mn-ea"/>
                <a:cs typeface="+mn-ea"/>
                <a:sym typeface="+mn-lt"/>
              </a:endParaRPr>
            </a:p>
          </p:txBody>
        </p:sp>
        <p:cxnSp>
          <p:nvCxnSpPr>
            <p:cNvPr id="24" name="直接连接符 23">
              <a:extLst/>
            </p:cNvPr>
            <p:cNvCxnSpPr>
              <a:cxnSpLocks/>
            </p:cNvCxnSpPr>
            <p:nvPr/>
          </p:nvCxnSpPr>
          <p:spPr>
            <a:xfrm flipH="1">
              <a:off x="489901" y="3171688"/>
              <a:ext cx="1074241" cy="722302"/>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0497" name="矩形 20">
              <a:extLst/>
            </p:cNvPr>
            <p:cNvSpPr>
              <a:spLocks noChangeArrowheads="1"/>
            </p:cNvSpPr>
            <p:nvPr/>
          </p:nvSpPr>
          <p:spPr bwMode="auto">
            <a:xfrm>
              <a:off x="618328" y="3473309"/>
              <a:ext cx="1824424" cy="52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lvl="1">
                <a:lnSpc>
                  <a:spcPct val="100000"/>
                </a:lnSpc>
                <a:spcBef>
                  <a:spcPct val="0"/>
                </a:spcBef>
                <a:buFontTx/>
                <a:buNone/>
                <a:defRPr/>
              </a:pPr>
              <a:r>
                <a:rPr lang="en-US" altLang="zh-CN" sz="2800" b="1">
                  <a:solidFill>
                    <a:srgbClr val="010101"/>
                  </a:solidFill>
                  <a:latin typeface="+mn-lt"/>
                  <a:ea typeface="+mn-ea"/>
                  <a:cs typeface="+mn-ea"/>
                  <a:sym typeface="+mn-lt"/>
                </a:rPr>
                <a:t>THREE</a:t>
              </a:r>
              <a:endParaRPr lang="zh-CN" altLang="en-US" sz="1400">
                <a:latin typeface="+mn-lt"/>
                <a:ea typeface="+mn-ea"/>
                <a:cs typeface="+mn-ea"/>
                <a:sym typeface="+mn-lt"/>
              </a:endParaRPr>
            </a:p>
          </p:txBody>
        </p:sp>
      </p:grpSp>
      <p:sp>
        <p:nvSpPr>
          <p:cNvPr id="8" name="文本框 7"/>
          <p:cNvSpPr txBox="1"/>
          <p:nvPr/>
        </p:nvSpPr>
        <p:spPr>
          <a:xfrm>
            <a:off x="254618" y="2470092"/>
            <a:ext cx="5683126" cy="615553"/>
          </a:xfrm>
          <a:prstGeom prst="rect">
            <a:avLst/>
          </a:prstGeom>
          <a:noFill/>
        </p:spPr>
        <p:txBody>
          <a:bodyPr wrap="square" numCol="2" rtlCol="0">
            <a:spAutoFit/>
          </a:bodyPr>
          <a:lstStyle/>
          <a:p>
            <a:pPr lvl="1"/>
            <a:endParaRPr lang="en-US" altLang="zh-CN" sz="1600" b="1">
              <a:solidFill>
                <a:schemeClr val="tx1">
                  <a:lumMod val="75000"/>
                  <a:lumOff val="25000"/>
                </a:schemeClr>
              </a:solidFill>
              <a:effectLst>
                <a:outerShdw blurRad="38100" dist="38100" dir="2700000" algn="tl">
                  <a:srgbClr val="000000">
                    <a:alpha val="43137"/>
                  </a:srgbClr>
                </a:outerShdw>
              </a:effectLst>
              <a:latin typeface="+mj-ea"/>
            </a:endParaRPr>
          </a:p>
          <a:p>
            <a:endParaRPr lang="zh-CN" altLang="en-US"/>
          </a:p>
        </p:txBody>
      </p:sp>
      <p:sp>
        <p:nvSpPr>
          <p:cNvPr id="2" name="文本框 1"/>
          <p:cNvSpPr txBox="1"/>
          <p:nvPr/>
        </p:nvSpPr>
        <p:spPr>
          <a:xfrm>
            <a:off x="2926404" y="1145317"/>
            <a:ext cx="4721408" cy="461665"/>
          </a:xfrm>
          <a:prstGeom prst="rect">
            <a:avLst/>
          </a:prstGeom>
          <a:noFill/>
        </p:spPr>
        <p:txBody>
          <a:bodyPr wrap="square" rtlCol="0">
            <a:spAutoFit/>
          </a:bodyPr>
          <a:lstStyle/>
          <a:p>
            <a:r>
              <a:rPr lang="zh-CN" altLang="en-US" sz="2400" b="1">
                <a:solidFill>
                  <a:schemeClr val="tx2">
                    <a:lumMod val="75000"/>
                  </a:schemeClr>
                </a:solidFill>
                <a:latin typeface="+mj-ea"/>
                <a:ea typeface="+mj-ea"/>
              </a:rPr>
              <a:t>贫血治疗</a:t>
            </a:r>
          </a:p>
        </p:txBody>
      </p:sp>
      <p:sp>
        <p:nvSpPr>
          <p:cNvPr id="4" name="文本框 3"/>
          <p:cNvSpPr txBox="1"/>
          <p:nvPr/>
        </p:nvSpPr>
        <p:spPr>
          <a:xfrm>
            <a:off x="2897878" y="620688"/>
            <a:ext cx="3078756" cy="461665"/>
          </a:xfrm>
          <a:prstGeom prst="rect">
            <a:avLst/>
          </a:prstGeom>
          <a:noFill/>
        </p:spPr>
        <p:txBody>
          <a:bodyPr wrap="square" rtlCol="0">
            <a:spAutoFit/>
          </a:bodyPr>
          <a:lstStyle/>
          <a:p>
            <a:r>
              <a:rPr lang="zh-CN" altLang="en-US" sz="2400" b="1">
                <a:solidFill>
                  <a:schemeClr val="bg1"/>
                </a:solidFill>
                <a:effectLst>
                  <a:outerShdw blurRad="38100" dist="38100" dir="2700000" algn="tl">
                    <a:srgbClr val="000000">
                      <a:alpha val="43137"/>
                    </a:srgbClr>
                  </a:outerShdw>
                </a:effectLst>
                <a:latin typeface="+mj-ea"/>
                <a:ea typeface="+mj-ea"/>
              </a:rPr>
              <a:t>猫慢性肾病治疗</a:t>
            </a:r>
          </a:p>
        </p:txBody>
      </p:sp>
      <p:sp>
        <p:nvSpPr>
          <p:cNvPr id="18" name="文本框 17">
            <a:extLst>
              <a:ext uri="{FF2B5EF4-FFF2-40B4-BE49-F238E27FC236}">
                <a16:creationId xmlns:a16="http://schemas.microsoft.com/office/drawing/2014/main" id="{F176E8DB-02DB-4006-BF9A-05A08FBECDF8}"/>
              </a:ext>
            </a:extLst>
          </p:cNvPr>
          <p:cNvSpPr txBox="1"/>
          <p:nvPr/>
        </p:nvSpPr>
        <p:spPr>
          <a:xfrm>
            <a:off x="-92840" y="1821517"/>
            <a:ext cx="3096344" cy="800219"/>
          </a:xfrm>
          <a:prstGeom prst="rect">
            <a:avLst/>
          </a:prstGeom>
          <a:noFill/>
        </p:spPr>
        <p:txBody>
          <a:bodyPr wrap="square" rtlCol="0">
            <a:spAutoFit/>
          </a:bodyPr>
          <a:lstStyle/>
          <a:p>
            <a:pPr marL="0" lvl="1"/>
            <a:r>
              <a:rPr lang="zh-CN" altLang="en-US" sz="2800" b="1">
                <a:solidFill>
                  <a:schemeClr val="tx1">
                    <a:lumMod val="75000"/>
                    <a:lumOff val="25000"/>
                  </a:schemeClr>
                </a:solidFill>
                <a:effectLst>
                  <a:outerShdw blurRad="38100" dist="38100" dir="2700000" algn="tl">
                    <a:srgbClr val="000000">
                      <a:alpha val="43137"/>
                    </a:srgbClr>
                  </a:outerShdw>
                </a:effectLst>
                <a:latin typeface="+mj-ea"/>
                <a:ea typeface="+mj-ea"/>
              </a:rPr>
              <a:t>血钾 （</a:t>
            </a:r>
            <a:r>
              <a:rPr lang="en-US" altLang="zh-CN" sz="2800" b="1">
                <a:solidFill>
                  <a:schemeClr val="tx1">
                    <a:lumMod val="75000"/>
                    <a:lumOff val="25000"/>
                  </a:schemeClr>
                </a:solidFill>
                <a:effectLst>
                  <a:outerShdw blurRad="38100" dist="38100" dir="2700000" algn="tl">
                    <a:srgbClr val="000000">
                      <a:alpha val="43137"/>
                    </a:srgbClr>
                  </a:outerShdw>
                </a:effectLst>
                <a:latin typeface="+mj-ea"/>
                <a:ea typeface="+mj-ea"/>
              </a:rPr>
              <a:t>K</a:t>
            </a:r>
            <a:r>
              <a:rPr lang="zh-CN" altLang="en-US" sz="2800" b="1">
                <a:solidFill>
                  <a:schemeClr val="tx1">
                    <a:lumMod val="75000"/>
                    <a:lumOff val="25000"/>
                  </a:schemeClr>
                </a:solidFill>
                <a:effectLst>
                  <a:outerShdw blurRad="38100" dist="38100" dir="2700000" algn="tl">
                    <a:srgbClr val="000000">
                      <a:alpha val="43137"/>
                    </a:srgbClr>
                  </a:outerShdw>
                </a:effectLst>
                <a:latin typeface="+mj-ea"/>
                <a:ea typeface="+mj-ea"/>
              </a:rPr>
              <a:t>）</a:t>
            </a:r>
            <a:endParaRPr lang="en-US" altLang="zh-CN" sz="2800" b="1">
              <a:solidFill>
                <a:schemeClr val="tx1">
                  <a:lumMod val="75000"/>
                  <a:lumOff val="25000"/>
                </a:schemeClr>
              </a:solidFill>
              <a:effectLst>
                <a:outerShdw blurRad="38100" dist="38100" dir="2700000" algn="tl">
                  <a:srgbClr val="000000">
                    <a:alpha val="43137"/>
                  </a:srgbClr>
                </a:outerShdw>
              </a:effectLst>
              <a:latin typeface="+mj-ea"/>
              <a:ea typeface="+mj-ea"/>
            </a:endParaRPr>
          </a:p>
          <a:p>
            <a:endParaRPr lang="zh-CN" altLang="en-US"/>
          </a:p>
        </p:txBody>
      </p:sp>
      <p:sp>
        <p:nvSpPr>
          <p:cNvPr id="19" name="矩形 18">
            <a:extLst>
              <a:ext uri="{FF2B5EF4-FFF2-40B4-BE49-F238E27FC236}">
                <a16:creationId xmlns:a16="http://schemas.microsoft.com/office/drawing/2014/main" id="{E05D2C26-2758-480C-B6F3-383127C05BC5}"/>
              </a:ext>
            </a:extLst>
          </p:cNvPr>
          <p:cNvSpPr/>
          <p:nvPr/>
        </p:nvSpPr>
        <p:spPr>
          <a:xfrm>
            <a:off x="0" y="1749426"/>
            <a:ext cx="3791744" cy="510857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sp>
        <p:nvSpPr>
          <p:cNvPr id="21" name="文本框 20">
            <a:extLst>
              <a:ext uri="{FF2B5EF4-FFF2-40B4-BE49-F238E27FC236}">
                <a16:creationId xmlns:a16="http://schemas.microsoft.com/office/drawing/2014/main" id="{F64AB21C-A417-4E5A-8766-747D343E6B5F}"/>
              </a:ext>
            </a:extLst>
          </p:cNvPr>
          <p:cNvSpPr txBox="1"/>
          <p:nvPr/>
        </p:nvSpPr>
        <p:spPr>
          <a:xfrm>
            <a:off x="311696" y="1851959"/>
            <a:ext cx="3168352" cy="830997"/>
          </a:xfrm>
          <a:prstGeom prst="rect">
            <a:avLst/>
          </a:prstGeom>
          <a:noFill/>
        </p:spPr>
        <p:txBody>
          <a:bodyPr wrap="square" rtlCol="0">
            <a:spAutoFit/>
          </a:bodyPr>
          <a:lstStyle/>
          <a:p>
            <a:r>
              <a:rPr lang="en-US" altLang="zh-CN" sz="1600" b="1">
                <a:solidFill>
                  <a:srgbClr val="C00000"/>
                </a:solidFill>
                <a:effectLst>
                  <a:outerShdw blurRad="38100" dist="38100" dir="2700000" algn="tl">
                    <a:srgbClr val="000000">
                      <a:alpha val="43137"/>
                    </a:srgbClr>
                  </a:outerShdw>
                </a:effectLst>
                <a:latin typeface="+mj-ea"/>
                <a:ea typeface="+mj-ea"/>
              </a:rPr>
              <a:t>30-65%</a:t>
            </a:r>
            <a:r>
              <a:rPr lang="zh-CN" altLang="en-US" sz="1600" b="1">
                <a:solidFill>
                  <a:srgbClr val="C00000"/>
                </a:solidFill>
                <a:effectLst>
                  <a:outerShdw blurRad="38100" dist="38100" dir="2700000" algn="tl">
                    <a:srgbClr val="000000">
                      <a:alpha val="43137"/>
                    </a:srgbClr>
                  </a:outerShdw>
                </a:effectLst>
                <a:latin typeface="+mj-ea"/>
                <a:ea typeface="+mj-ea"/>
              </a:rPr>
              <a:t>的肾病猫最终会贫血。不加治疗的严重贫血会比肾病更快地害死猫！</a:t>
            </a:r>
            <a:endParaRPr lang="zh-CN" altLang="en-US" sz="1100" b="1">
              <a:solidFill>
                <a:srgbClr val="C00000"/>
              </a:solidFill>
              <a:effectLst>
                <a:outerShdw blurRad="38100" dist="38100" dir="2700000" algn="tl">
                  <a:srgbClr val="000000">
                    <a:alpha val="43137"/>
                  </a:srgbClr>
                </a:outerShdw>
              </a:effectLst>
              <a:latin typeface="+mj-ea"/>
              <a:ea typeface="+mj-ea"/>
            </a:endParaRPr>
          </a:p>
        </p:txBody>
      </p:sp>
      <p:sp>
        <p:nvSpPr>
          <p:cNvPr id="9" name="文本框 8">
            <a:extLst>
              <a:ext uri="{FF2B5EF4-FFF2-40B4-BE49-F238E27FC236}">
                <a16:creationId xmlns:a16="http://schemas.microsoft.com/office/drawing/2014/main" id="{9F3AA339-956A-4739-BB25-B611E7BEE193}"/>
              </a:ext>
            </a:extLst>
          </p:cNvPr>
          <p:cNvSpPr txBox="1"/>
          <p:nvPr/>
        </p:nvSpPr>
        <p:spPr>
          <a:xfrm>
            <a:off x="204486" y="4982328"/>
            <a:ext cx="3275561" cy="1600438"/>
          </a:xfrm>
          <a:prstGeom prst="rect">
            <a:avLst/>
          </a:prstGeom>
          <a:noFill/>
        </p:spPr>
        <p:txBody>
          <a:bodyPr wrap="square" rtlCol="0">
            <a:spAutoFit/>
          </a:bodyPr>
          <a:lstStyle/>
          <a:p>
            <a:pPr marL="285750" indent="-285750">
              <a:buFont typeface="Wingdings" panose="05000000000000000000" pitchFamily="2" charset="2"/>
              <a:buChar char="u"/>
            </a:pPr>
            <a:r>
              <a:rPr lang="zh-CN" altLang="en-US" sz="1400" b="1">
                <a:solidFill>
                  <a:schemeClr val="tx1">
                    <a:lumMod val="95000"/>
                    <a:lumOff val="5000"/>
                  </a:schemeClr>
                </a:solidFill>
                <a:effectLst>
                  <a:outerShdw blurRad="38100" dist="38100" dir="2700000" algn="tl">
                    <a:srgbClr val="000000">
                      <a:alpha val="43137"/>
                    </a:srgbClr>
                  </a:outerShdw>
                </a:effectLst>
                <a:latin typeface="+mj-ea"/>
                <a:ea typeface="+mj-ea"/>
              </a:rPr>
              <a:t>肾脏参与分泌刺激骨髓造血的荷尔蒙，肾病发生后这一功能会减弱。</a:t>
            </a:r>
            <a:endParaRPr lang="en-US" altLang="zh-CN" sz="1400" b="1">
              <a:solidFill>
                <a:schemeClr val="tx1">
                  <a:lumMod val="95000"/>
                  <a:lumOff val="5000"/>
                </a:schemeClr>
              </a:solidFill>
              <a:effectLst>
                <a:outerShdw blurRad="38100" dist="38100" dir="2700000" algn="tl">
                  <a:srgbClr val="000000">
                    <a:alpha val="43137"/>
                  </a:srgbClr>
                </a:outerShdw>
              </a:effectLst>
              <a:latin typeface="+mj-ea"/>
              <a:ea typeface="+mj-ea"/>
            </a:endParaRPr>
          </a:p>
          <a:p>
            <a:pPr marL="285750" indent="-285750">
              <a:buFont typeface="Wingdings" panose="05000000000000000000" pitchFamily="2" charset="2"/>
              <a:buChar char="u"/>
            </a:pPr>
            <a:r>
              <a:rPr lang="zh-CN" altLang="en-US" sz="1400" b="1">
                <a:solidFill>
                  <a:schemeClr val="tx1">
                    <a:lumMod val="95000"/>
                    <a:lumOff val="5000"/>
                  </a:schemeClr>
                </a:solidFill>
                <a:effectLst>
                  <a:outerShdw blurRad="38100" dist="38100" dir="2700000" algn="tl">
                    <a:srgbClr val="000000">
                      <a:alpha val="43137"/>
                    </a:srgbClr>
                  </a:outerShdw>
                </a:effectLst>
                <a:latin typeface="+mj-ea"/>
                <a:ea typeface="+mj-ea"/>
              </a:rPr>
              <a:t>肾病猫使用的</a:t>
            </a:r>
            <a:r>
              <a:rPr lang="en-US" altLang="zh-CN" sz="1400" b="1">
                <a:solidFill>
                  <a:schemeClr val="tx1">
                    <a:lumMod val="95000"/>
                    <a:lumOff val="5000"/>
                  </a:schemeClr>
                </a:solidFill>
                <a:effectLst>
                  <a:outerShdw blurRad="38100" dist="38100" dir="2700000" algn="tl">
                    <a:srgbClr val="000000">
                      <a:alpha val="43137"/>
                    </a:srgbClr>
                  </a:outerShdw>
                </a:effectLst>
                <a:latin typeface="+mj-ea"/>
                <a:ea typeface="+mj-ea"/>
              </a:rPr>
              <a:t>F5</a:t>
            </a:r>
            <a:r>
              <a:rPr lang="zh-CN" altLang="en-US" sz="1400" b="1">
                <a:solidFill>
                  <a:schemeClr val="tx1">
                    <a:lumMod val="95000"/>
                    <a:lumOff val="5000"/>
                  </a:schemeClr>
                </a:solidFill>
                <a:effectLst>
                  <a:outerShdw blurRad="38100" dist="38100" dir="2700000" algn="tl">
                    <a:srgbClr val="000000">
                      <a:alpha val="43137"/>
                    </a:srgbClr>
                  </a:outerShdw>
                </a:effectLst>
                <a:latin typeface="+mj-ea"/>
                <a:ea typeface="+mj-ea"/>
              </a:rPr>
              <a:t>、替米沙坦有加剧贫血的几率</a:t>
            </a:r>
            <a:endParaRPr lang="en-US" altLang="zh-CN" sz="1400" b="1">
              <a:solidFill>
                <a:schemeClr val="tx1">
                  <a:lumMod val="95000"/>
                  <a:lumOff val="5000"/>
                </a:schemeClr>
              </a:solidFill>
              <a:effectLst>
                <a:outerShdw blurRad="38100" dist="38100" dir="2700000" algn="tl">
                  <a:srgbClr val="000000">
                    <a:alpha val="43137"/>
                  </a:srgbClr>
                </a:outerShdw>
              </a:effectLst>
              <a:latin typeface="+mj-ea"/>
              <a:ea typeface="+mj-ea"/>
            </a:endParaRPr>
          </a:p>
          <a:p>
            <a:pPr marL="285750" indent="-285750">
              <a:buFont typeface="Wingdings" panose="05000000000000000000" pitchFamily="2" charset="2"/>
              <a:buChar char="u"/>
            </a:pPr>
            <a:r>
              <a:rPr lang="zh-CN" altLang="en-US" sz="1400" b="1">
                <a:solidFill>
                  <a:schemeClr val="tx1">
                    <a:lumMod val="95000"/>
                    <a:lumOff val="5000"/>
                  </a:schemeClr>
                </a:solidFill>
                <a:effectLst>
                  <a:outerShdw blurRad="38100" dist="38100" dir="2700000" algn="tl">
                    <a:srgbClr val="000000">
                      <a:alpha val="43137"/>
                    </a:srgbClr>
                  </a:outerShdw>
                </a:effectLst>
                <a:latin typeface="+mj-ea"/>
                <a:ea typeface="+mj-ea"/>
              </a:rPr>
              <a:t>尿毒症毒素会缩短红细胞的生命周期。</a:t>
            </a:r>
            <a:endParaRPr lang="en-US" altLang="zh-CN" sz="1400" b="1">
              <a:solidFill>
                <a:schemeClr val="tx1">
                  <a:lumMod val="95000"/>
                  <a:lumOff val="5000"/>
                </a:schemeClr>
              </a:solidFill>
              <a:effectLst>
                <a:outerShdw blurRad="38100" dist="38100" dir="2700000" algn="tl">
                  <a:srgbClr val="000000">
                    <a:alpha val="43137"/>
                  </a:srgbClr>
                </a:outerShdw>
              </a:effectLst>
              <a:latin typeface="+mj-ea"/>
              <a:ea typeface="+mj-ea"/>
            </a:endParaRPr>
          </a:p>
          <a:p>
            <a:pPr marL="285750" indent="-285750">
              <a:buFont typeface="Wingdings" panose="05000000000000000000" pitchFamily="2" charset="2"/>
              <a:buChar char="u"/>
            </a:pPr>
            <a:r>
              <a:rPr lang="zh-CN" altLang="en-US" sz="1400" b="1">
                <a:solidFill>
                  <a:schemeClr val="tx1">
                    <a:lumMod val="95000"/>
                    <a:lumOff val="5000"/>
                  </a:schemeClr>
                </a:solidFill>
                <a:effectLst>
                  <a:outerShdw blurRad="38100" dist="38100" dir="2700000" algn="tl">
                    <a:srgbClr val="000000">
                      <a:alpha val="43137"/>
                    </a:srgbClr>
                  </a:outerShdw>
                </a:effectLst>
                <a:latin typeface="+mj-ea"/>
                <a:ea typeface="+mj-ea"/>
              </a:rPr>
              <a:t>维生素</a:t>
            </a:r>
            <a:r>
              <a:rPr lang="en-US" altLang="zh-CN" sz="1400" b="1">
                <a:solidFill>
                  <a:schemeClr val="tx1">
                    <a:lumMod val="95000"/>
                    <a:lumOff val="5000"/>
                  </a:schemeClr>
                </a:solidFill>
                <a:effectLst>
                  <a:outerShdw blurRad="38100" dist="38100" dir="2700000" algn="tl">
                    <a:srgbClr val="000000">
                      <a:alpha val="43137"/>
                    </a:srgbClr>
                  </a:outerShdw>
                </a:effectLst>
                <a:latin typeface="+mj-ea"/>
                <a:ea typeface="+mj-ea"/>
              </a:rPr>
              <a:t>B</a:t>
            </a:r>
            <a:r>
              <a:rPr lang="zh-CN" altLang="en-US" sz="1400" b="1">
                <a:solidFill>
                  <a:schemeClr val="tx1">
                    <a:lumMod val="95000"/>
                    <a:lumOff val="5000"/>
                  </a:schemeClr>
                </a:solidFill>
                <a:effectLst>
                  <a:outerShdw blurRad="38100" dist="38100" dir="2700000" algn="tl">
                    <a:srgbClr val="000000">
                      <a:alpha val="43137"/>
                    </a:srgbClr>
                  </a:outerShdw>
                </a:effectLst>
                <a:latin typeface="+mj-ea"/>
                <a:ea typeface="+mj-ea"/>
              </a:rPr>
              <a:t>缺乏加剧贫血</a:t>
            </a:r>
            <a:endParaRPr lang="en-US" altLang="zh-CN" sz="1400" b="1">
              <a:latin typeface="+mn-ea"/>
              <a:ea typeface="+mn-ea"/>
            </a:endParaRPr>
          </a:p>
        </p:txBody>
      </p:sp>
      <p:pic>
        <p:nvPicPr>
          <p:cNvPr id="10" name="图片 9">
            <a:extLst>
              <a:ext uri="{FF2B5EF4-FFF2-40B4-BE49-F238E27FC236}">
                <a16:creationId xmlns:a16="http://schemas.microsoft.com/office/drawing/2014/main" id="{FC12486C-C58D-41FC-9752-AD43AAA613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3742" y="2764180"/>
            <a:ext cx="2158359" cy="2158359"/>
          </a:xfrm>
          <a:prstGeom prst="rect">
            <a:avLst/>
          </a:prstGeom>
        </p:spPr>
      </p:pic>
      <p:sp>
        <p:nvSpPr>
          <p:cNvPr id="12" name="文本框 11">
            <a:extLst>
              <a:ext uri="{FF2B5EF4-FFF2-40B4-BE49-F238E27FC236}">
                <a16:creationId xmlns:a16="http://schemas.microsoft.com/office/drawing/2014/main" id="{93806A5D-E05A-478C-8C17-5E22EB06CC42}"/>
              </a:ext>
            </a:extLst>
          </p:cNvPr>
          <p:cNvSpPr txBox="1"/>
          <p:nvPr/>
        </p:nvSpPr>
        <p:spPr>
          <a:xfrm>
            <a:off x="5087888" y="2304010"/>
            <a:ext cx="4608512" cy="2369880"/>
          </a:xfrm>
          <a:prstGeom prst="rect">
            <a:avLst/>
          </a:prstGeom>
          <a:noFill/>
        </p:spPr>
        <p:txBody>
          <a:bodyPr wrap="square" rtlCol="0">
            <a:spAutoFit/>
          </a:bodyPr>
          <a:lstStyle/>
          <a:p>
            <a:r>
              <a:rPr lang="zh-CN" altLang="en-US" sz="2800" b="1">
                <a:solidFill>
                  <a:schemeClr val="bg1"/>
                </a:solidFill>
                <a:effectLst>
                  <a:outerShdw blurRad="38100" dist="38100" dir="2700000" algn="tl">
                    <a:srgbClr val="000000">
                      <a:alpha val="43137"/>
                    </a:srgbClr>
                  </a:outerShdw>
                </a:effectLst>
                <a:latin typeface="+mj-ea"/>
                <a:ea typeface="+mj-ea"/>
              </a:rPr>
              <a:t>主要会使用肾病猫贫血疗法</a:t>
            </a:r>
            <a:endParaRPr lang="en-US" altLang="zh-CN" sz="2800" b="1">
              <a:solidFill>
                <a:schemeClr val="bg1"/>
              </a:solidFill>
              <a:effectLst>
                <a:outerShdw blurRad="38100" dist="38100" dir="2700000" algn="tl">
                  <a:srgbClr val="000000">
                    <a:alpha val="43137"/>
                  </a:srgbClr>
                </a:outerShdw>
              </a:effectLst>
              <a:latin typeface="+mj-ea"/>
              <a:ea typeface="+mj-ea"/>
            </a:endParaRPr>
          </a:p>
          <a:p>
            <a:endParaRPr lang="en-US" altLang="zh-CN" sz="2400" b="1">
              <a:solidFill>
                <a:schemeClr val="bg1"/>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u"/>
            </a:pPr>
            <a:r>
              <a:rPr lang="zh-CN" altLang="en-US" sz="2400" b="1">
                <a:solidFill>
                  <a:schemeClr val="bg1"/>
                </a:solidFill>
                <a:effectLst>
                  <a:outerShdw blurRad="38100" dist="38100" dir="2700000" algn="tl">
                    <a:srgbClr val="000000">
                      <a:alpha val="43137"/>
                    </a:srgbClr>
                  </a:outerShdw>
                </a:effectLst>
                <a:latin typeface="+mj-ea"/>
                <a:ea typeface="+mj-ea"/>
              </a:rPr>
              <a:t>维生素</a:t>
            </a:r>
            <a:r>
              <a:rPr lang="en-US" altLang="zh-CN" sz="2400" b="1">
                <a:solidFill>
                  <a:schemeClr val="bg1"/>
                </a:solidFill>
                <a:effectLst>
                  <a:outerShdw blurRad="38100" dist="38100" dir="2700000" algn="tl">
                    <a:srgbClr val="000000">
                      <a:alpha val="43137"/>
                    </a:srgbClr>
                  </a:outerShdw>
                </a:effectLst>
                <a:latin typeface="+mj-ea"/>
                <a:ea typeface="+mj-ea"/>
              </a:rPr>
              <a:t>B</a:t>
            </a:r>
            <a:r>
              <a:rPr lang="zh-CN" altLang="en-US" sz="2400" b="1">
                <a:solidFill>
                  <a:schemeClr val="bg1"/>
                </a:solidFill>
                <a:effectLst>
                  <a:outerShdw blurRad="38100" dist="38100" dir="2700000" algn="tl">
                    <a:srgbClr val="000000">
                      <a:alpha val="43137"/>
                    </a:srgbClr>
                  </a:outerShdw>
                </a:effectLst>
                <a:latin typeface="+mj-ea"/>
                <a:ea typeface="+mj-ea"/>
              </a:rPr>
              <a:t>族补充</a:t>
            </a:r>
            <a:endParaRPr lang="en-US" altLang="zh-CN" sz="2400" b="1">
              <a:solidFill>
                <a:schemeClr val="bg1"/>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u"/>
            </a:pPr>
            <a:r>
              <a:rPr lang="zh-CN" altLang="en-US" sz="2400" b="1">
                <a:solidFill>
                  <a:schemeClr val="bg1"/>
                </a:solidFill>
                <a:effectLst>
                  <a:outerShdw blurRad="38100" dist="38100" dir="2700000" algn="tl">
                    <a:srgbClr val="000000">
                      <a:alpha val="43137"/>
                    </a:srgbClr>
                  </a:outerShdw>
                </a:effectLst>
                <a:latin typeface="+mj-ea"/>
                <a:ea typeface="+mj-ea"/>
              </a:rPr>
              <a:t>铁制剂补充</a:t>
            </a:r>
            <a:endParaRPr lang="en-US" altLang="zh-CN" sz="2400" b="1">
              <a:solidFill>
                <a:schemeClr val="bg1"/>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u"/>
            </a:pPr>
            <a:r>
              <a:rPr lang="zh-CN" altLang="en-US" sz="2400" b="1">
                <a:solidFill>
                  <a:schemeClr val="bg1"/>
                </a:solidFill>
                <a:effectLst>
                  <a:outerShdw blurRad="38100" dist="38100" dir="2700000" algn="tl">
                    <a:srgbClr val="000000">
                      <a:alpha val="43137"/>
                    </a:srgbClr>
                  </a:outerShdw>
                </a:effectLst>
                <a:latin typeface="+mj-ea"/>
                <a:ea typeface="+mj-ea"/>
              </a:rPr>
              <a:t>促红素（</a:t>
            </a:r>
            <a:r>
              <a:rPr lang="en-US" altLang="zh-CN" sz="2400" b="1">
                <a:solidFill>
                  <a:schemeClr val="bg1"/>
                </a:solidFill>
                <a:effectLst>
                  <a:outerShdw blurRad="38100" dist="38100" dir="2700000" algn="tl">
                    <a:srgbClr val="000000">
                      <a:alpha val="43137"/>
                    </a:srgbClr>
                  </a:outerShdw>
                </a:effectLst>
                <a:latin typeface="+mj-ea"/>
                <a:ea typeface="+mj-ea"/>
              </a:rPr>
              <a:t>EPO</a:t>
            </a:r>
            <a:r>
              <a:rPr lang="zh-CN" altLang="en-US" sz="2400" b="1">
                <a:solidFill>
                  <a:schemeClr val="bg1"/>
                </a:solidFill>
                <a:effectLst>
                  <a:outerShdw blurRad="38100" dist="38100" dir="2700000" algn="tl">
                    <a:srgbClr val="000000">
                      <a:alpha val="43137"/>
                    </a:srgbClr>
                  </a:outerShdw>
                </a:effectLst>
                <a:latin typeface="+mj-ea"/>
                <a:ea typeface="+mj-ea"/>
              </a:rPr>
              <a:t>）</a:t>
            </a:r>
            <a:endParaRPr lang="en-US" altLang="zh-CN" sz="2400" b="1">
              <a:solidFill>
                <a:schemeClr val="bg1"/>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u"/>
            </a:pPr>
            <a:r>
              <a:rPr lang="zh-CN" altLang="en-US" sz="2400" b="1">
                <a:solidFill>
                  <a:schemeClr val="bg1"/>
                </a:solidFill>
                <a:effectLst>
                  <a:outerShdw blurRad="38100" dist="38100" dir="2700000" algn="tl">
                    <a:srgbClr val="000000">
                      <a:alpha val="43137"/>
                    </a:srgbClr>
                  </a:outerShdw>
                </a:effectLst>
                <a:latin typeface="+mj-ea"/>
                <a:ea typeface="+mj-ea"/>
              </a:rPr>
              <a:t>输血</a:t>
            </a:r>
          </a:p>
        </p:txBody>
      </p:sp>
      <p:sp>
        <p:nvSpPr>
          <p:cNvPr id="17" name="文本框 21">
            <a:extLst>
              <a:ext uri="{FF2B5EF4-FFF2-40B4-BE49-F238E27FC236}">
                <a16:creationId xmlns:a16="http://schemas.microsoft.com/office/drawing/2014/main" id="{367350AD-DED3-410A-8BF8-F864EE7E18DB}"/>
              </a:ext>
            </a:extLst>
          </p:cNvPr>
          <p:cNvSpPr txBox="1">
            <a:spLocks noChangeArrowheads="1"/>
          </p:cNvSpPr>
          <p:nvPr/>
        </p:nvSpPr>
        <p:spPr bwMode="auto">
          <a:xfrm>
            <a:off x="9080500" y="5648325"/>
            <a:ext cx="2782888" cy="88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r" eaLnBrk="1" hangingPunct="1">
              <a:lnSpc>
                <a:spcPct val="150000"/>
              </a:lnSpc>
              <a:spcBef>
                <a:spcPct val="0"/>
              </a:spcBef>
              <a:buFontTx/>
              <a:buNone/>
              <a:defRPr/>
            </a:pPr>
            <a:r>
              <a:rPr lang="zh-CN" altLang="en-US" sz="1800" b="1">
                <a:solidFill>
                  <a:srgbClr val="0F0F0F"/>
                </a:solidFill>
                <a:latin typeface="等线" panose="02010600030101010101" pitchFamily="2" charset="-122"/>
                <a:ea typeface="等线" panose="02010600030101010101" pitchFamily="2" charset="-122"/>
                <a:cs typeface="+mn-ea"/>
                <a:sym typeface="+mn-lt"/>
              </a:rPr>
              <a:t>厨子</a:t>
            </a:r>
            <a:r>
              <a:rPr lang="en-US" altLang="zh-CN" sz="1800" b="1">
                <a:solidFill>
                  <a:srgbClr val="0F0F0F"/>
                </a:solidFill>
                <a:latin typeface="等线" panose="02010600030101010101" pitchFamily="2" charset="-122"/>
                <a:ea typeface="等线" panose="02010600030101010101" pitchFamily="2" charset="-122"/>
                <a:cs typeface="+mn-ea"/>
                <a:sym typeface="+mn-lt"/>
              </a:rPr>
              <a:t>@</a:t>
            </a:r>
            <a:r>
              <a:rPr lang="zh-CN" altLang="en-US" sz="1800" b="1">
                <a:solidFill>
                  <a:srgbClr val="0F0F0F"/>
                </a:solidFill>
                <a:latin typeface="等线" panose="02010600030101010101" pitchFamily="2" charset="-122"/>
                <a:ea typeface="等线" panose="02010600030101010101" pitchFamily="2" charset="-122"/>
                <a:cs typeface="+mn-ea"/>
                <a:sym typeface="+mn-lt"/>
              </a:rPr>
              <a:t>公众号</a:t>
            </a:r>
            <a:r>
              <a:rPr lang="en-US" altLang="zh-CN" sz="1800" b="1">
                <a:solidFill>
                  <a:srgbClr val="0F0F0F"/>
                </a:solidFill>
                <a:latin typeface="等线" panose="02010600030101010101" pitchFamily="2" charset="-122"/>
                <a:ea typeface="等线" panose="02010600030101010101" pitchFamily="2" charset="-122"/>
                <a:cs typeface="+mn-ea"/>
                <a:sym typeface="+mn-lt"/>
              </a:rPr>
              <a:t>Raw Meat</a:t>
            </a:r>
          </a:p>
          <a:p>
            <a:pPr algn="r" eaLnBrk="1" hangingPunct="1">
              <a:lnSpc>
                <a:spcPct val="150000"/>
              </a:lnSpc>
              <a:spcBef>
                <a:spcPct val="0"/>
              </a:spcBef>
              <a:buFontTx/>
              <a:buNone/>
              <a:defRPr/>
            </a:pPr>
            <a:r>
              <a:rPr lang="en-US" altLang="zh-CN" sz="1800" b="1">
                <a:solidFill>
                  <a:srgbClr val="0F0F0F"/>
                </a:solidFill>
                <a:latin typeface="等线" panose="02010600030101010101" pitchFamily="2" charset="-122"/>
                <a:ea typeface="等线" panose="02010600030101010101" pitchFamily="2" charset="-122"/>
                <a:cs typeface="+mn-ea"/>
                <a:sym typeface="+mn-lt"/>
              </a:rPr>
              <a:t>2018 Aug</a:t>
            </a:r>
          </a:p>
        </p:txBody>
      </p:sp>
    </p:spTree>
    <p:extLst>
      <p:ext uri="{BB962C8B-B14F-4D97-AF65-F5344CB8AC3E}">
        <p14:creationId xmlns:p14="http://schemas.microsoft.com/office/powerpoint/2010/main" val="311586219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p:cNvPr>
          <p:cNvGrpSpPr/>
          <p:nvPr/>
        </p:nvGrpSpPr>
        <p:grpSpPr>
          <a:xfrm>
            <a:off x="4850109" y="678004"/>
            <a:ext cx="7320137" cy="1035882"/>
            <a:chOff x="8112223" y="330677"/>
            <a:chExt cx="4194115" cy="1035882"/>
          </a:xfrm>
          <a:effectLst>
            <a:outerShdw blurRad="50800" dist="38100" dir="5400000" algn="t" rotWithShape="0">
              <a:prstClr val="black">
                <a:alpha val="40000"/>
              </a:prstClr>
            </a:outerShdw>
          </a:effectLst>
        </p:grpSpPr>
        <p:sp>
          <p:nvSpPr>
            <p:cNvPr id="27"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8281096" y="330677"/>
              <a:ext cx="3998285" cy="985057"/>
              <a:chOff x="-461843" y="2729730"/>
              <a:chExt cx="4709449" cy="1377463"/>
            </a:xfrm>
          </p:grpSpPr>
          <p:sp>
            <p:nvSpPr>
              <p:cNvPr id="29"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1384780" y="3006840"/>
                <a:ext cx="2862826" cy="81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latin typeface="+mn-lt"/>
                    <a:ea typeface="+mn-ea"/>
                    <a:cs typeface="+mn-ea"/>
                    <a:sym typeface="+mn-lt"/>
                  </a:rPr>
                  <a:t>猫慢性肾病：贫血严重程度</a:t>
                </a:r>
                <a:endParaRPr lang="en-US" altLang="zh-CN" sz="2400" b="1">
                  <a:solidFill>
                    <a:srgbClr val="010101"/>
                  </a:solidFill>
                  <a:latin typeface="+mn-lt"/>
                  <a:ea typeface="+mn-ea"/>
                  <a:cs typeface="+mn-ea"/>
                  <a:sym typeface="+mn-lt"/>
                </a:endParaRPr>
              </a:p>
            </p:txBody>
          </p:sp>
          <p:cxnSp>
            <p:nvCxnSpPr>
              <p:cNvPr id="31" name="直接连接符 30">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506334" y="3461620"/>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sp>
        <p:nvSpPr>
          <p:cNvPr id="19" name="文本框 18">
            <a:extLst>
              <a:ext uri="{FF2B5EF4-FFF2-40B4-BE49-F238E27FC236}">
                <a16:creationId xmlns:a16="http://schemas.microsoft.com/office/drawing/2014/main" id="{AEE01461-EC3B-414C-A38D-6413179E4729}"/>
              </a:ext>
            </a:extLst>
          </p:cNvPr>
          <p:cNvSpPr txBox="1"/>
          <p:nvPr/>
        </p:nvSpPr>
        <p:spPr>
          <a:xfrm>
            <a:off x="6479416" y="2691339"/>
            <a:ext cx="3600400" cy="2926486"/>
          </a:xfrm>
          <a:prstGeom prst="rect">
            <a:avLst/>
          </a:prstGeom>
          <a:noFill/>
        </p:spPr>
        <p:txBody>
          <a:bodyPr wrap="square" rtlCol="0">
            <a:spAutoFit/>
          </a:bodyPr>
          <a:lstStyle/>
          <a:p>
            <a:endParaRPr lang="zh-CN" altLang="en-US"/>
          </a:p>
        </p:txBody>
      </p:sp>
      <p:sp>
        <p:nvSpPr>
          <p:cNvPr id="22" name="文本框 21">
            <a:extLst>
              <a:ext uri="{FF2B5EF4-FFF2-40B4-BE49-F238E27FC236}">
                <a16:creationId xmlns:a16="http://schemas.microsoft.com/office/drawing/2014/main" id="{8680B877-2955-48DE-9D87-E34A49E6BB54}"/>
              </a:ext>
            </a:extLst>
          </p:cNvPr>
          <p:cNvSpPr txBox="1"/>
          <p:nvPr/>
        </p:nvSpPr>
        <p:spPr>
          <a:xfrm>
            <a:off x="3593421" y="2093085"/>
            <a:ext cx="7975187" cy="584775"/>
          </a:xfrm>
          <a:prstGeom prst="rect">
            <a:avLst/>
          </a:prstGeom>
          <a:noFill/>
        </p:spPr>
        <p:txBody>
          <a:bodyPr wrap="square" rtlCol="0">
            <a:spAutoFit/>
          </a:bodyPr>
          <a:lstStyle/>
          <a:p>
            <a:pPr lvl="1"/>
            <a:endParaRPr lang="en-US" altLang="zh-CN" sz="1600" b="1">
              <a:solidFill>
                <a:schemeClr val="bg1">
                  <a:lumMod val="95000"/>
                </a:schemeClr>
              </a:solidFill>
              <a:effectLst>
                <a:outerShdw blurRad="38100" dist="38100" dir="2700000" algn="tl">
                  <a:srgbClr val="000000">
                    <a:alpha val="43137"/>
                  </a:srgbClr>
                </a:outerShdw>
              </a:effectLst>
              <a:latin typeface="+mj-ea"/>
              <a:ea typeface="+mj-ea"/>
            </a:endParaRPr>
          </a:p>
          <a:p>
            <a:pPr lvl="1"/>
            <a:endParaRPr lang="en-US" altLang="zh-CN" sz="1600" b="1">
              <a:solidFill>
                <a:schemeClr val="bg1"/>
              </a:solidFill>
              <a:effectLst>
                <a:outerShdw blurRad="38100" dist="38100" dir="2700000" algn="tl">
                  <a:srgbClr val="000000">
                    <a:alpha val="43137"/>
                  </a:srgbClr>
                </a:outerShdw>
              </a:effectLst>
              <a:latin typeface="+mj-ea"/>
              <a:ea typeface="+mj-ea"/>
            </a:endParaRPr>
          </a:p>
        </p:txBody>
      </p:sp>
      <p:cxnSp>
        <p:nvCxnSpPr>
          <p:cNvPr id="23" name="直接连接符 22">
            <a:extLst>
              <a:ext uri="{FF2B5EF4-FFF2-40B4-BE49-F238E27FC236}">
                <a16:creationId xmlns:a16="http://schemas.microsoft.com/office/drawing/2014/main" id="{A6ED08FA-2943-4D08-91B5-062B4352A4BC}"/>
              </a:ext>
            </a:extLst>
          </p:cNvPr>
          <p:cNvCxnSpPr/>
          <p:nvPr/>
        </p:nvCxnSpPr>
        <p:spPr>
          <a:xfrm flipH="1">
            <a:off x="5641447" y="3159730"/>
            <a:ext cx="19050" cy="1079500"/>
          </a:xfrm>
          <a:prstGeom prst="line">
            <a:avLst/>
          </a:prstGeom>
          <a:ln w="50800">
            <a:solidFill>
              <a:srgbClr val="4F4F4F"/>
            </a:solidFill>
          </a:ln>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A8C8BD01-DC3B-45DD-BEFD-455DFD2488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6072" y="2385472"/>
            <a:ext cx="5572536" cy="3156446"/>
          </a:xfrm>
          <a:prstGeom prst="rect">
            <a:avLst/>
          </a:prstGeom>
        </p:spPr>
      </p:pic>
      <p:graphicFrame>
        <p:nvGraphicFramePr>
          <p:cNvPr id="6" name="表格 5">
            <a:extLst>
              <a:ext uri="{FF2B5EF4-FFF2-40B4-BE49-F238E27FC236}">
                <a16:creationId xmlns:a16="http://schemas.microsoft.com/office/drawing/2014/main" id="{BD93C93C-9A88-4166-B764-F8CE253E86F5}"/>
              </a:ext>
            </a:extLst>
          </p:cNvPr>
          <p:cNvGraphicFramePr>
            <a:graphicFrameLocks noGrp="1"/>
          </p:cNvGraphicFramePr>
          <p:nvPr>
            <p:extLst>
              <p:ext uri="{D42A27DB-BD31-4B8C-83A1-F6EECF244321}">
                <p14:modId xmlns:p14="http://schemas.microsoft.com/office/powerpoint/2010/main" val="3234090042"/>
              </p:ext>
            </p:extLst>
          </p:nvPr>
        </p:nvGraphicFramePr>
        <p:xfrm>
          <a:off x="1415480" y="2780928"/>
          <a:ext cx="3715727" cy="2225040"/>
        </p:xfrm>
        <a:graphic>
          <a:graphicData uri="http://schemas.openxmlformats.org/drawingml/2006/table">
            <a:tbl>
              <a:tblPr firstRow="1" bandRow="1">
                <a:tableStyleId>{5C22544A-7EE6-4342-B048-85BDC9FD1C3A}</a:tableStyleId>
              </a:tblPr>
              <a:tblGrid>
                <a:gridCol w="1862912">
                  <a:extLst>
                    <a:ext uri="{9D8B030D-6E8A-4147-A177-3AD203B41FA5}">
                      <a16:colId xmlns:a16="http://schemas.microsoft.com/office/drawing/2014/main" val="1721284399"/>
                    </a:ext>
                  </a:extLst>
                </a:gridCol>
                <a:gridCol w="1852815">
                  <a:extLst>
                    <a:ext uri="{9D8B030D-6E8A-4147-A177-3AD203B41FA5}">
                      <a16:colId xmlns:a16="http://schemas.microsoft.com/office/drawing/2014/main" val="747179007"/>
                    </a:ext>
                  </a:extLst>
                </a:gridCol>
              </a:tblGrid>
              <a:tr h="370840">
                <a:tc>
                  <a:txBody>
                    <a:bodyPr/>
                    <a:lstStyle/>
                    <a:p>
                      <a:r>
                        <a:rPr lang="en-US" altLang="zh-CN">
                          <a:effectLst>
                            <a:outerShdw blurRad="38100" dist="38100" dir="2700000" algn="tl">
                              <a:srgbClr val="000000">
                                <a:alpha val="43137"/>
                              </a:srgbClr>
                            </a:outerShdw>
                          </a:effectLst>
                        </a:rPr>
                        <a:t>HCT</a:t>
                      </a:r>
                      <a:r>
                        <a:rPr lang="zh-CN" altLang="en-US">
                          <a:effectLst>
                            <a:outerShdw blurRad="38100" dist="38100" dir="2700000" algn="tl">
                              <a:srgbClr val="000000">
                                <a:alpha val="43137"/>
                              </a:srgbClr>
                            </a:outerShdw>
                          </a:effectLst>
                        </a:rPr>
                        <a:t>比例</a:t>
                      </a:r>
                    </a:p>
                  </a:txBody>
                  <a:tcPr>
                    <a:solidFill>
                      <a:schemeClr val="accent1">
                        <a:lumMod val="40000"/>
                        <a:lumOff val="60000"/>
                      </a:schemeClr>
                    </a:solidFill>
                  </a:tcPr>
                </a:tc>
                <a:tc>
                  <a:txBody>
                    <a:bodyPr/>
                    <a:lstStyle/>
                    <a:p>
                      <a:r>
                        <a:rPr lang="zh-CN" altLang="en-US">
                          <a:effectLst>
                            <a:outerShdw blurRad="38100" dist="38100" dir="2700000" algn="tl">
                              <a:srgbClr val="000000">
                                <a:alpha val="43137"/>
                              </a:srgbClr>
                            </a:outerShdw>
                          </a:effectLst>
                        </a:rPr>
                        <a:t>贫血程度</a:t>
                      </a:r>
                    </a:p>
                  </a:txBody>
                  <a:tcPr>
                    <a:solidFill>
                      <a:schemeClr val="accent1">
                        <a:lumMod val="40000"/>
                        <a:lumOff val="60000"/>
                      </a:schemeClr>
                    </a:solidFill>
                  </a:tcPr>
                </a:tc>
                <a:extLst>
                  <a:ext uri="{0D108BD9-81ED-4DB2-BD59-A6C34878D82A}">
                    <a16:rowId xmlns:a16="http://schemas.microsoft.com/office/drawing/2014/main" val="2869181017"/>
                  </a:ext>
                </a:extLst>
              </a:tr>
              <a:tr h="370840">
                <a:tc>
                  <a:txBody>
                    <a:bodyPr/>
                    <a:lstStyle/>
                    <a:p>
                      <a:r>
                        <a:rPr lang="zh-CN" altLang="en-US"/>
                        <a:t>≥</a:t>
                      </a:r>
                      <a:r>
                        <a:rPr lang="en-US" altLang="zh-CN"/>
                        <a:t>30</a:t>
                      </a:r>
                      <a:endParaRPr lang="zh-CN" altLang="en-US"/>
                    </a:p>
                  </a:txBody>
                  <a:tcPr>
                    <a:solidFill>
                      <a:schemeClr val="bg1">
                        <a:lumMod val="95000"/>
                      </a:schemeClr>
                    </a:solidFill>
                  </a:tcPr>
                </a:tc>
                <a:tc>
                  <a:txBody>
                    <a:bodyPr/>
                    <a:lstStyle/>
                    <a:p>
                      <a:r>
                        <a:rPr lang="zh-CN" altLang="en-US" b="1">
                          <a:solidFill>
                            <a:schemeClr val="tx1"/>
                          </a:solidFill>
                          <a:effectLst>
                            <a:outerShdw blurRad="38100" dist="38100" dir="2700000" algn="tl">
                              <a:srgbClr val="000000">
                                <a:alpha val="43137"/>
                              </a:srgbClr>
                            </a:outerShdw>
                          </a:effectLst>
                        </a:rPr>
                        <a:t>无妨</a:t>
                      </a:r>
                    </a:p>
                  </a:txBody>
                  <a:tcPr>
                    <a:solidFill>
                      <a:schemeClr val="accent2">
                        <a:lumMod val="20000"/>
                        <a:lumOff val="80000"/>
                      </a:schemeClr>
                    </a:solidFill>
                  </a:tcPr>
                </a:tc>
                <a:extLst>
                  <a:ext uri="{0D108BD9-81ED-4DB2-BD59-A6C34878D82A}">
                    <a16:rowId xmlns:a16="http://schemas.microsoft.com/office/drawing/2014/main" val="1855773342"/>
                  </a:ext>
                </a:extLst>
              </a:tr>
              <a:tr h="370840">
                <a:tc>
                  <a:txBody>
                    <a:bodyPr/>
                    <a:lstStyle/>
                    <a:p>
                      <a:r>
                        <a:rPr lang="en-US" altLang="zh-CN"/>
                        <a:t>20-29</a:t>
                      </a:r>
                      <a:r>
                        <a:rPr lang="zh-CN" altLang="en-US" sz="1400"/>
                        <a:t>（或</a:t>
                      </a:r>
                      <a:r>
                        <a:rPr lang="en-US" altLang="zh-CN" sz="1400"/>
                        <a:t>20-25</a:t>
                      </a:r>
                      <a:r>
                        <a:rPr lang="zh-CN" altLang="en-US" sz="1400"/>
                        <a:t>）</a:t>
                      </a:r>
                      <a:endParaRPr lang="zh-CN" altLang="en-US"/>
                    </a:p>
                  </a:txBody>
                  <a:tcPr>
                    <a:solidFill>
                      <a:schemeClr val="bg1">
                        <a:lumMod val="95000"/>
                      </a:schemeClr>
                    </a:solidFill>
                  </a:tcPr>
                </a:tc>
                <a:tc>
                  <a:txBody>
                    <a:bodyPr/>
                    <a:lstStyle/>
                    <a:p>
                      <a:r>
                        <a:rPr lang="zh-CN" altLang="en-US" b="1">
                          <a:solidFill>
                            <a:schemeClr val="tx1"/>
                          </a:solidFill>
                          <a:effectLst>
                            <a:outerShdw blurRad="38100" dist="38100" dir="2700000" algn="tl">
                              <a:srgbClr val="000000">
                                <a:alpha val="43137"/>
                              </a:srgbClr>
                            </a:outerShdw>
                          </a:effectLst>
                        </a:rPr>
                        <a:t>轻度贫血</a:t>
                      </a:r>
                    </a:p>
                  </a:txBody>
                  <a:tcPr>
                    <a:solidFill>
                      <a:schemeClr val="accent2">
                        <a:lumMod val="40000"/>
                        <a:lumOff val="60000"/>
                      </a:schemeClr>
                    </a:solidFill>
                  </a:tcPr>
                </a:tc>
                <a:extLst>
                  <a:ext uri="{0D108BD9-81ED-4DB2-BD59-A6C34878D82A}">
                    <a16:rowId xmlns:a16="http://schemas.microsoft.com/office/drawing/2014/main" val="3037960976"/>
                  </a:ext>
                </a:extLst>
              </a:tr>
              <a:tr h="370840">
                <a:tc>
                  <a:txBody>
                    <a:bodyPr/>
                    <a:lstStyle/>
                    <a:p>
                      <a:r>
                        <a:rPr lang="en-US" altLang="zh-CN"/>
                        <a:t>15-19</a:t>
                      </a:r>
                      <a:endParaRPr lang="zh-CN" altLang="en-US"/>
                    </a:p>
                  </a:txBody>
                  <a:tcPr>
                    <a:solidFill>
                      <a:schemeClr val="bg1">
                        <a:lumMod val="95000"/>
                      </a:schemeClr>
                    </a:solidFill>
                  </a:tcPr>
                </a:tc>
                <a:tc>
                  <a:txBody>
                    <a:bodyPr/>
                    <a:lstStyle/>
                    <a:p>
                      <a:r>
                        <a:rPr lang="zh-CN" altLang="en-US" b="1">
                          <a:solidFill>
                            <a:schemeClr val="tx1"/>
                          </a:solidFill>
                          <a:effectLst>
                            <a:outerShdw blurRad="38100" dist="38100" dir="2700000" algn="tl">
                              <a:srgbClr val="000000">
                                <a:alpha val="43137"/>
                              </a:srgbClr>
                            </a:outerShdw>
                          </a:effectLst>
                        </a:rPr>
                        <a:t>明显贫血</a:t>
                      </a:r>
                    </a:p>
                  </a:txBody>
                  <a:tcPr>
                    <a:solidFill>
                      <a:schemeClr val="accent2">
                        <a:lumMod val="60000"/>
                        <a:lumOff val="40000"/>
                      </a:schemeClr>
                    </a:solidFill>
                  </a:tcPr>
                </a:tc>
                <a:extLst>
                  <a:ext uri="{0D108BD9-81ED-4DB2-BD59-A6C34878D82A}">
                    <a16:rowId xmlns:a16="http://schemas.microsoft.com/office/drawing/2014/main" val="3933769286"/>
                  </a:ext>
                </a:extLst>
              </a:tr>
              <a:tr h="370840">
                <a:tc>
                  <a:txBody>
                    <a:bodyPr/>
                    <a:lstStyle/>
                    <a:p>
                      <a:r>
                        <a:rPr lang="en-US" altLang="zh-CN"/>
                        <a:t>11-15</a:t>
                      </a:r>
                      <a:endParaRPr lang="zh-CN" altLang="en-US"/>
                    </a:p>
                  </a:txBody>
                  <a:tcPr>
                    <a:solidFill>
                      <a:schemeClr val="bg1">
                        <a:lumMod val="95000"/>
                      </a:schemeClr>
                    </a:solidFill>
                  </a:tcPr>
                </a:tc>
                <a:tc>
                  <a:txBody>
                    <a:bodyPr/>
                    <a:lstStyle/>
                    <a:p>
                      <a:r>
                        <a:rPr lang="zh-CN" altLang="en-US" b="1">
                          <a:solidFill>
                            <a:schemeClr val="bg1">
                              <a:lumMod val="95000"/>
                            </a:schemeClr>
                          </a:solidFill>
                          <a:effectLst>
                            <a:outerShdw blurRad="38100" dist="38100" dir="2700000" algn="tl">
                              <a:srgbClr val="000000">
                                <a:alpha val="43137"/>
                              </a:srgbClr>
                            </a:outerShdw>
                          </a:effectLst>
                        </a:rPr>
                        <a:t>严重贫血！</a:t>
                      </a:r>
                    </a:p>
                  </a:txBody>
                  <a:tcPr>
                    <a:solidFill>
                      <a:schemeClr val="accent2">
                        <a:lumMod val="75000"/>
                      </a:schemeClr>
                    </a:solidFill>
                  </a:tcPr>
                </a:tc>
                <a:extLst>
                  <a:ext uri="{0D108BD9-81ED-4DB2-BD59-A6C34878D82A}">
                    <a16:rowId xmlns:a16="http://schemas.microsoft.com/office/drawing/2014/main" val="1008612773"/>
                  </a:ext>
                </a:extLst>
              </a:tr>
              <a:tr h="370840">
                <a:tc>
                  <a:txBody>
                    <a:bodyPr/>
                    <a:lstStyle/>
                    <a:p>
                      <a:r>
                        <a:rPr lang="zh-CN" altLang="en-US"/>
                        <a:t>＜</a:t>
                      </a:r>
                      <a:r>
                        <a:rPr lang="en-US" altLang="zh-CN"/>
                        <a:t>10</a:t>
                      </a:r>
                      <a:endParaRPr lang="zh-CN" altLang="en-US"/>
                    </a:p>
                  </a:txBody>
                  <a:tcPr>
                    <a:solidFill>
                      <a:schemeClr val="bg1">
                        <a:lumMod val="95000"/>
                      </a:schemeClr>
                    </a:solidFill>
                  </a:tcPr>
                </a:tc>
                <a:tc>
                  <a:txBody>
                    <a:bodyPr/>
                    <a:lstStyle/>
                    <a:p>
                      <a:r>
                        <a:rPr lang="zh-CN" altLang="en-US" b="1">
                          <a:solidFill>
                            <a:schemeClr val="bg1"/>
                          </a:solidFill>
                          <a:effectLst>
                            <a:outerShdw blurRad="38100" dist="38100" dir="2700000" algn="tl">
                              <a:srgbClr val="000000">
                                <a:alpha val="43137"/>
                              </a:srgbClr>
                            </a:outerShdw>
                          </a:effectLst>
                        </a:rPr>
                        <a:t>生命危险</a:t>
                      </a:r>
                    </a:p>
                  </a:txBody>
                  <a:tcPr>
                    <a:solidFill>
                      <a:srgbClr val="C00000"/>
                    </a:solidFill>
                  </a:tcPr>
                </a:tc>
                <a:extLst>
                  <a:ext uri="{0D108BD9-81ED-4DB2-BD59-A6C34878D82A}">
                    <a16:rowId xmlns:a16="http://schemas.microsoft.com/office/drawing/2014/main" val="287830140"/>
                  </a:ext>
                </a:extLst>
              </a:tr>
            </a:tbl>
          </a:graphicData>
        </a:graphic>
      </p:graphicFrame>
    </p:spTree>
    <p:extLst>
      <p:ext uri="{BB962C8B-B14F-4D97-AF65-F5344CB8AC3E}">
        <p14:creationId xmlns:p14="http://schemas.microsoft.com/office/powerpoint/2010/main" val="45643409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p:cNvPr>
          <p:cNvGrpSpPr/>
          <p:nvPr/>
        </p:nvGrpSpPr>
        <p:grpSpPr>
          <a:xfrm>
            <a:off x="4850109" y="678004"/>
            <a:ext cx="7320137" cy="1035882"/>
            <a:chOff x="8112223" y="330677"/>
            <a:chExt cx="4194115" cy="1035882"/>
          </a:xfrm>
          <a:effectLst>
            <a:outerShdw blurRad="50800" dist="38100" dir="5400000" algn="t" rotWithShape="0">
              <a:prstClr val="black">
                <a:alpha val="40000"/>
              </a:prstClr>
            </a:outerShdw>
          </a:effectLst>
        </p:grpSpPr>
        <p:sp>
          <p:nvSpPr>
            <p:cNvPr id="27"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8281096" y="330677"/>
              <a:ext cx="3998285" cy="985057"/>
              <a:chOff x="-461843" y="2729730"/>
              <a:chExt cx="4709449" cy="1377463"/>
            </a:xfrm>
          </p:grpSpPr>
          <p:sp>
            <p:nvSpPr>
              <p:cNvPr id="29"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1384780" y="3006840"/>
                <a:ext cx="2862826" cy="81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latin typeface="+mn-lt"/>
                    <a:ea typeface="+mn-ea"/>
                    <a:cs typeface="+mn-ea"/>
                    <a:sym typeface="+mn-lt"/>
                  </a:rPr>
                  <a:t>猫慢性肾病：贫血治疗</a:t>
                </a:r>
                <a:endParaRPr lang="en-US" altLang="zh-CN" sz="2400" b="1">
                  <a:solidFill>
                    <a:srgbClr val="010101"/>
                  </a:solidFill>
                  <a:latin typeface="+mn-lt"/>
                  <a:ea typeface="+mn-ea"/>
                  <a:cs typeface="+mn-ea"/>
                  <a:sym typeface="+mn-lt"/>
                </a:endParaRPr>
              </a:p>
            </p:txBody>
          </p:sp>
          <p:cxnSp>
            <p:nvCxnSpPr>
              <p:cNvPr id="31" name="直接连接符 30">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506334" y="3461620"/>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sp>
        <p:nvSpPr>
          <p:cNvPr id="19" name="文本框 18">
            <a:extLst>
              <a:ext uri="{FF2B5EF4-FFF2-40B4-BE49-F238E27FC236}">
                <a16:creationId xmlns:a16="http://schemas.microsoft.com/office/drawing/2014/main" id="{AEE01461-EC3B-414C-A38D-6413179E4729}"/>
              </a:ext>
            </a:extLst>
          </p:cNvPr>
          <p:cNvSpPr txBox="1"/>
          <p:nvPr/>
        </p:nvSpPr>
        <p:spPr>
          <a:xfrm>
            <a:off x="6479416" y="2691339"/>
            <a:ext cx="3600400" cy="2926486"/>
          </a:xfrm>
          <a:prstGeom prst="rect">
            <a:avLst/>
          </a:prstGeom>
          <a:noFill/>
        </p:spPr>
        <p:txBody>
          <a:bodyPr wrap="square" rtlCol="0">
            <a:spAutoFit/>
          </a:bodyPr>
          <a:lstStyle/>
          <a:p>
            <a:endParaRPr lang="zh-CN" altLang="en-US"/>
          </a:p>
        </p:txBody>
      </p:sp>
      <p:sp>
        <p:nvSpPr>
          <p:cNvPr id="22" name="文本框 21">
            <a:extLst>
              <a:ext uri="{FF2B5EF4-FFF2-40B4-BE49-F238E27FC236}">
                <a16:creationId xmlns:a16="http://schemas.microsoft.com/office/drawing/2014/main" id="{8680B877-2955-48DE-9D87-E34A49E6BB54}"/>
              </a:ext>
            </a:extLst>
          </p:cNvPr>
          <p:cNvSpPr txBox="1"/>
          <p:nvPr/>
        </p:nvSpPr>
        <p:spPr>
          <a:xfrm>
            <a:off x="3593421" y="2093085"/>
            <a:ext cx="7975187" cy="584775"/>
          </a:xfrm>
          <a:prstGeom prst="rect">
            <a:avLst/>
          </a:prstGeom>
          <a:noFill/>
        </p:spPr>
        <p:txBody>
          <a:bodyPr wrap="square" rtlCol="0">
            <a:spAutoFit/>
          </a:bodyPr>
          <a:lstStyle/>
          <a:p>
            <a:pPr lvl="1"/>
            <a:endParaRPr lang="en-US" altLang="zh-CN" sz="1600" b="1">
              <a:solidFill>
                <a:schemeClr val="bg1">
                  <a:lumMod val="95000"/>
                </a:schemeClr>
              </a:solidFill>
              <a:effectLst>
                <a:outerShdw blurRad="38100" dist="38100" dir="2700000" algn="tl">
                  <a:srgbClr val="000000">
                    <a:alpha val="43137"/>
                  </a:srgbClr>
                </a:outerShdw>
              </a:effectLst>
              <a:latin typeface="+mj-ea"/>
              <a:ea typeface="+mj-ea"/>
            </a:endParaRPr>
          </a:p>
          <a:p>
            <a:pPr lvl="1"/>
            <a:endParaRPr lang="en-US" altLang="zh-CN" sz="1600" b="1">
              <a:solidFill>
                <a:schemeClr val="bg1"/>
              </a:solidFill>
              <a:effectLst>
                <a:outerShdw blurRad="38100" dist="38100" dir="2700000" algn="tl">
                  <a:srgbClr val="000000">
                    <a:alpha val="43137"/>
                  </a:srgbClr>
                </a:outerShdw>
              </a:effectLst>
              <a:latin typeface="+mj-ea"/>
              <a:ea typeface="+mj-ea"/>
            </a:endParaRPr>
          </a:p>
        </p:txBody>
      </p:sp>
      <p:graphicFrame>
        <p:nvGraphicFramePr>
          <p:cNvPr id="2" name="表格 1">
            <a:extLst>
              <a:ext uri="{FF2B5EF4-FFF2-40B4-BE49-F238E27FC236}">
                <a16:creationId xmlns:a16="http://schemas.microsoft.com/office/drawing/2014/main" id="{A24703D3-8234-4503-BEEF-2BF9628F165B}"/>
              </a:ext>
            </a:extLst>
          </p:cNvPr>
          <p:cNvGraphicFramePr>
            <a:graphicFrameLocks noGrp="1"/>
          </p:cNvGraphicFramePr>
          <p:nvPr>
            <p:extLst>
              <p:ext uri="{D42A27DB-BD31-4B8C-83A1-F6EECF244321}">
                <p14:modId xmlns:p14="http://schemas.microsoft.com/office/powerpoint/2010/main" val="1180237234"/>
              </p:ext>
            </p:extLst>
          </p:nvPr>
        </p:nvGraphicFramePr>
        <p:xfrm>
          <a:off x="1487488" y="2126307"/>
          <a:ext cx="8952366" cy="3872190"/>
        </p:xfrm>
        <a:graphic>
          <a:graphicData uri="http://schemas.openxmlformats.org/drawingml/2006/table">
            <a:tbl>
              <a:tblPr firstRow="1" bandRow="1">
                <a:tableStyleId>{5C22544A-7EE6-4342-B048-85BDC9FD1C3A}</a:tableStyleId>
              </a:tblPr>
              <a:tblGrid>
                <a:gridCol w="1436121">
                  <a:extLst>
                    <a:ext uri="{9D8B030D-6E8A-4147-A177-3AD203B41FA5}">
                      <a16:colId xmlns:a16="http://schemas.microsoft.com/office/drawing/2014/main" val="3119345522"/>
                    </a:ext>
                  </a:extLst>
                </a:gridCol>
                <a:gridCol w="1796161">
                  <a:extLst>
                    <a:ext uri="{9D8B030D-6E8A-4147-A177-3AD203B41FA5}">
                      <a16:colId xmlns:a16="http://schemas.microsoft.com/office/drawing/2014/main" val="2398582187"/>
                    </a:ext>
                  </a:extLst>
                </a:gridCol>
                <a:gridCol w="2127762">
                  <a:extLst>
                    <a:ext uri="{9D8B030D-6E8A-4147-A177-3AD203B41FA5}">
                      <a16:colId xmlns:a16="http://schemas.microsoft.com/office/drawing/2014/main" val="4018284307"/>
                    </a:ext>
                  </a:extLst>
                </a:gridCol>
                <a:gridCol w="1796161">
                  <a:extLst>
                    <a:ext uri="{9D8B030D-6E8A-4147-A177-3AD203B41FA5}">
                      <a16:colId xmlns:a16="http://schemas.microsoft.com/office/drawing/2014/main" val="3275852503"/>
                    </a:ext>
                  </a:extLst>
                </a:gridCol>
                <a:gridCol w="1796161">
                  <a:extLst>
                    <a:ext uri="{9D8B030D-6E8A-4147-A177-3AD203B41FA5}">
                      <a16:colId xmlns:a16="http://schemas.microsoft.com/office/drawing/2014/main" val="3283988314"/>
                    </a:ext>
                  </a:extLst>
                </a:gridCol>
              </a:tblGrid>
              <a:tr h="763230">
                <a:tc>
                  <a:txBody>
                    <a:bodyPr/>
                    <a:lstStyle/>
                    <a:p>
                      <a:pPr algn="ctr"/>
                      <a:r>
                        <a:rPr lang="en-US" altLang="zh-CN">
                          <a:effectLst>
                            <a:outerShdw blurRad="38100" dist="38100" dir="2700000" algn="tl">
                              <a:srgbClr val="000000">
                                <a:alpha val="43137"/>
                              </a:srgbClr>
                            </a:outerShdw>
                          </a:effectLst>
                          <a:latin typeface="+mj-ea"/>
                          <a:ea typeface="+mj-ea"/>
                        </a:rPr>
                        <a:t>HCT</a:t>
                      </a:r>
                      <a:r>
                        <a:rPr lang="zh-CN" altLang="en-US">
                          <a:effectLst>
                            <a:outerShdw blurRad="38100" dist="38100" dir="2700000" algn="tl">
                              <a:srgbClr val="000000">
                                <a:alpha val="43137"/>
                              </a:srgbClr>
                            </a:outerShdw>
                          </a:effectLst>
                          <a:latin typeface="+mj-ea"/>
                          <a:ea typeface="+mj-ea"/>
                        </a:rPr>
                        <a:t>比例</a:t>
                      </a:r>
                    </a:p>
                  </a:txBody>
                  <a:tcPr anchor="ctr">
                    <a:solidFill>
                      <a:schemeClr val="accent1">
                        <a:lumMod val="50000"/>
                      </a:schemeClr>
                    </a:solidFill>
                  </a:tcPr>
                </a:tc>
                <a:tc>
                  <a:txBody>
                    <a:bodyPr/>
                    <a:lstStyle/>
                    <a:p>
                      <a:pPr algn="ctr"/>
                      <a:r>
                        <a:rPr lang="zh-CN" altLang="en-US">
                          <a:effectLst>
                            <a:outerShdw blurRad="38100" dist="38100" dir="2700000" algn="tl">
                              <a:srgbClr val="000000">
                                <a:alpha val="43137"/>
                              </a:srgbClr>
                            </a:outerShdw>
                          </a:effectLst>
                          <a:latin typeface="+mj-ea"/>
                          <a:ea typeface="+mj-ea"/>
                        </a:rPr>
                        <a:t>补充维生素</a:t>
                      </a:r>
                      <a:r>
                        <a:rPr lang="en-US" altLang="zh-CN">
                          <a:effectLst>
                            <a:outerShdw blurRad="38100" dist="38100" dir="2700000" algn="tl">
                              <a:srgbClr val="000000">
                                <a:alpha val="43137"/>
                              </a:srgbClr>
                            </a:outerShdw>
                          </a:effectLst>
                          <a:latin typeface="+mj-ea"/>
                          <a:ea typeface="+mj-ea"/>
                        </a:rPr>
                        <a:t>B</a:t>
                      </a:r>
                      <a:endParaRPr lang="zh-CN" altLang="en-US">
                        <a:effectLst>
                          <a:outerShdw blurRad="38100" dist="38100" dir="2700000" algn="tl">
                            <a:srgbClr val="000000">
                              <a:alpha val="43137"/>
                            </a:srgbClr>
                          </a:outerShdw>
                        </a:effectLst>
                        <a:latin typeface="+mj-ea"/>
                        <a:ea typeface="+mj-ea"/>
                      </a:endParaRPr>
                    </a:p>
                  </a:txBody>
                  <a:tcPr anchor="ctr">
                    <a:solidFill>
                      <a:schemeClr val="accent1">
                        <a:lumMod val="50000"/>
                      </a:schemeClr>
                    </a:solidFill>
                  </a:tcPr>
                </a:tc>
                <a:tc>
                  <a:txBody>
                    <a:bodyPr/>
                    <a:lstStyle/>
                    <a:p>
                      <a:pPr algn="ctr"/>
                      <a:r>
                        <a:rPr lang="zh-CN" altLang="en-US">
                          <a:effectLst>
                            <a:outerShdw blurRad="38100" dist="38100" dir="2700000" algn="tl">
                              <a:srgbClr val="000000">
                                <a:alpha val="43137"/>
                              </a:srgbClr>
                            </a:outerShdw>
                          </a:effectLst>
                          <a:latin typeface="+mj-ea"/>
                          <a:ea typeface="+mj-ea"/>
                        </a:rPr>
                        <a:t>打</a:t>
                      </a:r>
                      <a:r>
                        <a:rPr lang="en-US" altLang="zh-CN">
                          <a:effectLst>
                            <a:outerShdw blurRad="38100" dist="38100" dir="2700000" algn="tl">
                              <a:srgbClr val="000000">
                                <a:alpha val="43137"/>
                              </a:srgbClr>
                            </a:outerShdw>
                          </a:effectLst>
                          <a:latin typeface="+mj-ea"/>
                          <a:ea typeface="+mj-ea"/>
                        </a:rPr>
                        <a:t>EPO</a:t>
                      </a:r>
                      <a:r>
                        <a:rPr lang="zh-CN" altLang="en-US">
                          <a:effectLst>
                            <a:outerShdw blurRad="38100" dist="38100" dir="2700000" algn="tl">
                              <a:srgbClr val="000000">
                                <a:alpha val="43137"/>
                              </a:srgbClr>
                            </a:outerShdw>
                          </a:effectLst>
                          <a:latin typeface="+mj-ea"/>
                          <a:ea typeface="+mj-ea"/>
                        </a:rPr>
                        <a:t>促红素</a:t>
                      </a:r>
                    </a:p>
                  </a:txBody>
                  <a:tcPr anchor="ctr">
                    <a:solidFill>
                      <a:schemeClr val="accent1">
                        <a:lumMod val="50000"/>
                      </a:schemeClr>
                    </a:solidFill>
                  </a:tcPr>
                </a:tc>
                <a:tc>
                  <a:txBody>
                    <a:bodyPr/>
                    <a:lstStyle/>
                    <a:p>
                      <a:pPr algn="ctr"/>
                      <a:r>
                        <a:rPr lang="zh-CN" altLang="en-US">
                          <a:effectLst>
                            <a:outerShdw blurRad="38100" dist="38100" dir="2700000" algn="tl">
                              <a:srgbClr val="000000">
                                <a:alpha val="43137"/>
                              </a:srgbClr>
                            </a:outerShdw>
                          </a:effectLst>
                          <a:latin typeface="+mj-ea"/>
                          <a:ea typeface="+mj-ea"/>
                        </a:rPr>
                        <a:t>补铁</a:t>
                      </a:r>
                    </a:p>
                  </a:txBody>
                  <a:tcPr anchor="ctr">
                    <a:solidFill>
                      <a:schemeClr val="accent1">
                        <a:lumMod val="50000"/>
                      </a:schemeClr>
                    </a:solidFill>
                  </a:tcPr>
                </a:tc>
                <a:tc>
                  <a:txBody>
                    <a:bodyPr/>
                    <a:lstStyle/>
                    <a:p>
                      <a:pPr algn="ctr"/>
                      <a:r>
                        <a:rPr lang="zh-CN" altLang="en-US">
                          <a:effectLst>
                            <a:outerShdw blurRad="38100" dist="38100" dir="2700000" algn="tl">
                              <a:srgbClr val="000000">
                                <a:alpha val="43137"/>
                              </a:srgbClr>
                            </a:outerShdw>
                          </a:effectLst>
                          <a:latin typeface="+mj-ea"/>
                          <a:ea typeface="+mj-ea"/>
                        </a:rPr>
                        <a:t>输血</a:t>
                      </a:r>
                      <a:endParaRPr lang="en-US" altLang="zh-CN">
                        <a:effectLst>
                          <a:outerShdw blurRad="38100" dist="38100" dir="2700000" algn="tl">
                            <a:srgbClr val="000000">
                              <a:alpha val="43137"/>
                            </a:srgbClr>
                          </a:outerShdw>
                        </a:effectLst>
                        <a:latin typeface="+mj-ea"/>
                        <a:ea typeface="+mj-ea"/>
                      </a:endParaRPr>
                    </a:p>
                    <a:p>
                      <a:pPr algn="ctr"/>
                      <a:r>
                        <a:rPr lang="zh-CN" altLang="en-US" sz="900">
                          <a:effectLst>
                            <a:outerShdw blurRad="38100" dist="38100" dir="2700000" algn="tl">
                              <a:srgbClr val="000000">
                                <a:alpha val="43137"/>
                              </a:srgbClr>
                            </a:outerShdw>
                          </a:effectLst>
                          <a:latin typeface="+mj-ea"/>
                          <a:ea typeface="+mj-ea"/>
                        </a:rPr>
                        <a:t>单次输血支撑</a:t>
                      </a:r>
                      <a:r>
                        <a:rPr lang="en-US" altLang="zh-CN" sz="900">
                          <a:effectLst>
                            <a:outerShdw blurRad="38100" dist="38100" dir="2700000" algn="tl">
                              <a:srgbClr val="000000">
                                <a:alpha val="43137"/>
                              </a:srgbClr>
                            </a:outerShdw>
                          </a:effectLst>
                          <a:latin typeface="+mj-ea"/>
                          <a:ea typeface="+mj-ea"/>
                        </a:rPr>
                        <a:t>4-5</a:t>
                      </a:r>
                      <a:r>
                        <a:rPr lang="zh-CN" altLang="en-US" sz="900">
                          <a:effectLst>
                            <a:outerShdw blurRad="38100" dist="38100" dir="2700000" algn="tl">
                              <a:srgbClr val="000000">
                                <a:alpha val="43137"/>
                              </a:srgbClr>
                            </a:outerShdw>
                          </a:effectLst>
                          <a:latin typeface="+mj-ea"/>
                          <a:ea typeface="+mj-ea"/>
                        </a:rPr>
                        <a:t>周，</a:t>
                      </a:r>
                      <a:r>
                        <a:rPr lang="en-US" altLang="zh-CN" sz="900">
                          <a:effectLst>
                            <a:outerShdw blurRad="38100" dist="38100" dir="2700000" algn="tl">
                              <a:srgbClr val="000000">
                                <a:alpha val="43137"/>
                              </a:srgbClr>
                            </a:outerShdw>
                          </a:effectLst>
                          <a:latin typeface="+mj-ea"/>
                          <a:ea typeface="+mj-ea"/>
                        </a:rPr>
                        <a:t>4-5</a:t>
                      </a:r>
                      <a:r>
                        <a:rPr lang="zh-CN" altLang="en-US" sz="900">
                          <a:effectLst>
                            <a:outerShdw blurRad="38100" dist="38100" dir="2700000" algn="tl">
                              <a:srgbClr val="000000">
                                <a:alpha val="43137"/>
                              </a:srgbClr>
                            </a:outerShdw>
                          </a:effectLst>
                          <a:latin typeface="+mj-ea"/>
                          <a:ea typeface="+mj-ea"/>
                        </a:rPr>
                        <a:t>次后可能失效</a:t>
                      </a:r>
                    </a:p>
                  </a:txBody>
                  <a:tcPr anchor="ctr">
                    <a:solidFill>
                      <a:schemeClr val="accent1">
                        <a:lumMod val="50000"/>
                      </a:schemeClr>
                    </a:solidFill>
                  </a:tcPr>
                </a:tc>
                <a:extLst>
                  <a:ext uri="{0D108BD9-81ED-4DB2-BD59-A6C34878D82A}">
                    <a16:rowId xmlns:a16="http://schemas.microsoft.com/office/drawing/2014/main" val="90274591"/>
                  </a:ext>
                </a:extLst>
              </a:tr>
              <a:tr h="0">
                <a:tc>
                  <a:txBody>
                    <a:bodyPr/>
                    <a:lstStyle/>
                    <a:p>
                      <a:pPr algn="ctr"/>
                      <a:r>
                        <a:rPr lang="zh-CN" altLang="en-US" sz="2000" b="1">
                          <a:solidFill>
                            <a:schemeClr val="tx1">
                              <a:lumMod val="95000"/>
                              <a:lumOff val="5000"/>
                            </a:schemeClr>
                          </a:solidFill>
                          <a:effectLst>
                            <a:outerShdw blurRad="38100" dist="38100" dir="2700000" algn="tl">
                              <a:srgbClr val="000000">
                                <a:alpha val="43137"/>
                              </a:srgbClr>
                            </a:outerShdw>
                          </a:effectLst>
                        </a:rPr>
                        <a:t>＞</a:t>
                      </a:r>
                      <a:r>
                        <a:rPr lang="en-US" altLang="zh-CN" sz="2000" b="1">
                          <a:solidFill>
                            <a:schemeClr val="tx1">
                              <a:lumMod val="95000"/>
                              <a:lumOff val="5000"/>
                            </a:schemeClr>
                          </a:solidFill>
                          <a:effectLst>
                            <a:outerShdw blurRad="38100" dist="38100" dir="2700000" algn="tl">
                              <a:srgbClr val="000000">
                                <a:alpha val="43137"/>
                              </a:srgbClr>
                            </a:outerShdw>
                          </a:effectLst>
                        </a:rPr>
                        <a:t>20</a:t>
                      </a:r>
                      <a:endParaRPr lang="zh-CN" altLang="en-US" sz="2000" b="1">
                        <a:solidFill>
                          <a:schemeClr val="tx1">
                            <a:lumMod val="95000"/>
                            <a:lumOff val="5000"/>
                          </a:schemeClr>
                        </a:solidFill>
                        <a:effectLst>
                          <a:outerShdw blurRad="38100" dist="38100" dir="2700000" algn="tl">
                            <a:srgbClr val="000000">
                              <a:alpha val="43137"/>
                            </a:srgbClr>
                          </a:outerShdw>
                        </a:effectLst>
                      </a:endParaRPr>
                    </a:p>
                  </a:txBody>
                  <a:tcPr/>
                </a:tc>
                <a:tc>
                  <a:txBody>
                    <a:bodyPr/>
                    <a:lstStyle/>
                    <a:p>
                      <a:pPr algn="ctr"/>
                      <a:r>
                        <a:rPr lang="zh-CN" altLang="en-US" sz="2400" b="1">
                          <a:solidFill>
                            <a:schemeClr val="accent6"/>
                          </a:solidFill>
                          <a:effectLst>
                            <a:outerShdw blurRad="38100" dist="38100" dir="2700000" algn="tl">
                              <a:srgbClr val="000000">
                                <a:alpha val="43137"/>
                              </a:srgbClr>
                            </a:outerShdw>
                          </a:effectLst>
                          <a:latin typeface="方正姚体" panose="02010601030101010101" pitchFamily="2" charset="-122"/>
                          <a:ea typeface="方正姚体" panose="02010601030101010101" pitchFamily="2" charset="-122"/>
                        </a:rPr>
                        <a:t>√</a:t>
                      </a:r>
                    </a:p>
                  </a:txBody>
                  <a:tcPr anchor="ctr"/>
                </a:tc>
                <a:tc>
                  <a:txBody>
                    <a:bodyPr/>
                    <a:lstStyle/>
                    <a:p>
                      <a:pPr algn="ctr"/>
                      <a:r>
                        <a:rPr lang="en-US" altLang="zh-CN" sz="3600" b="1">
                          <a:solidFill>
                            <a:srgbClr val="FF0000"/>
                          </a:solidFill>
                          <a:effectLst>
                            <a:outerShdw blurRad="38100" dist="38100" dir="2700000" algn="tl">
                              <a:srgbClr val="000000">
                                <a:alpha val="43137"/>
                              </a:srgbClr>
                            </a:outerShdw>
                          </a:effectLst>
                          <a:latin typeface="+mj-ea"/>
                          <a:ea typeface="+mj-ea"/>
                          <a:cs typeface="Calibri" panose="020F0502020204030204" pitchFamily="34" charset="0"/>
                        </a:rPr>
                        <a:t>X</a:t>
                      </a:r>
                      <a:endParaRPr lang="zh-CN" altLang="en-US" sz="3600" b="1">
                        <a:solidFill>
                          <a:srgbClr val="FF0000"/>
                        </a:solidFill>
                        <a:effectLst>
                          <a:outerShdw blurRad="38100" dist="38100" dir="2700000" algn="tl">
                            <a:srgbClr val="000000">
                              <a:alpha val="43137"/>
                            </a:srgbClr>
                          </a:outerShdw>
                        </a:effectLst>
                        <a:latin typeface="+mj-ea"/>
                        <a:ea typeface="+mj-ea"/>
                        <a:cs typeface="Calibri" panose="020F0502020204030204" pitchFamily="34" charset="0"/>
                      </a:endParaRPr>
                    </a:p>
                  </a:txBody>
                  <a:tcPr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3600" b="1" kern="1200">
                          <a:solidFill>
                            <a:srgbClr val="FFC000"/>
                          </a:solidFill>
                          <a:effectLst>
                            <a:outerShdw blurRad="38100" dist="38100" dir="2700000" algn="tl">
                              <a:srgbClr val="000000">
                                <a:alpha val="43137"/>
                              </a:srgbClr>
                            </a:outerShdw>
                          </a:effectLst>
                          <a:latin typeface="+mn-ea"/>
                          <a:ea typeface="+mn-ea"/>
                          <a:cs typeface="Calibri" panose="020F0502020204030204" pitchFamily="34" charset="0"/>
                        </a:rPr>
                        <a:t> ？</a:t>
                      </a:r>
                      <a:endParaRPr lang="zh-CN" altLang="en-US" sz="3600" b="1">
                        <a:solidFill>
                          <a:srgbClr val="FFC000"/>
                        </a:solidFill>
                        <a:effectLst>
                          <a:outerShdw blurRad="38100" dist="38100" dir="2700000" algn="tl">
                            <a:srgbClr val="000000">
                              <a:alpha val="43137"/>
                            </a:srgbClr>
                          </a:outerShdw>
                        </a:effectLst>
                        <a:latin typeface="+mn-ea"/>
                        <a:ea typeface="+mn-ea"/>
                      </a:endParaRPr>
                    </a:p>
                  </a:txBody>
                  <a:tcPr anchor="ctr"/>
                </a:tc>
                <a:tc>
                  <a:txBody>
                    <a:bodyPr/>
                    <a:lstStyle/>
                    <a:p>
                      <a:pPr algn="ctr"/>
                      <a:r>
                        <a:rPr lang="en-US" altLang="zh-CN" sz="3600" b="1">
                          <a:solidFill>
                            <a:srgbClr val="FF0000"/>
                          </a:solidFill>
                          <a:effectLst>
                            <a:outerShdw blurRad="38100" dist="38100" dir="2700000" algn="tl">
                              <a:srgbClr val="000000">
                                <a:alpha val="43137"/>
                              </a:srgbClr>
                            </a:outerShdw>
                          </a:effectLst>
                          <a:latin typeface="+mn-ea"/>
                          <a:ea typeface="+mn-ea"/>
                        </a:rPr>
                        <a:t>X</a:t>
                      </a:r>
                      <a:endParaRPr lang="zh-CN" altLang="en-US" sz="3600" b="1">
                        <a:solidFill>
                          <a:srgbClr val="FF0000"/>
                        </a:solidFill>
                        <a:effectLst>
                          <a:outerShdw blurRad="38100" dist="38100" dir="2700000" algn="tl">
                            <a:srgbClr val="000000">
                              <a:alpha val="43137"/>
                            </a:srgbClr>
                          </a:outerShdw>
                        </a:effectLst>
                        <a:latin typeface="+mn-ea"/>
                        <a:ea typeface="+mn-ea"/>
                      </a:endParaRPr>
                    </a:p>
                  </a:txBody>
                  <a:tcPr anchor="ctr"/>
                </a:tc>
                <a:extLst>
                  <a:ext uri="{0D108BD9-81ED-4DB2-BD59-A6C34878D82A}">
                    <a16:rowId xmlns:a16="http://schemas.microsoft.com/office/drawing/2014/main" val="1155235108"/>
                  </a:ext>
                </a:extLst>
              </a:tr>
              <a:tr h="763230">
                <a:tc>
                  <a:txBody>
                    <a:bodyPr/>
                    <a:lstStyle/>
                    <a:p>
                      <a:pPr algn="ctr"/>
                      <a:r>
                        <a:rPr lang="en-US" altLang="zh-CN" sz="2000" b="1">
                          <a:solidFill>
                            <a:schemeClr val="tx1">
                              <a:lumMod val="95000"/>
                              <a:lumOff val="5000"/>
                            </a:schemeClr>
                          </a:solidFill>
                          <a:effectLst>
                            <a:outerShdw blurRad="38100" dist="38100" dir="2700000" algn="tl">
                              <a:srgbClr val="000000">
                                <a:alpha val="43137"/>
                              </a:srgbClr>
                            </a:outerShdw>
                          </a:effectLst>
                        </a:rPr>
                        <a:t>15-19</a:t>
                      </a:r>
                      <a:endParaRPr lang="zh-CN" altLang="en-US" sz="2000" b="1">
                        <a:solidFill>
                          <a:schemeClr val="tx1">
                            <a:lumMod val="95000"/>
                            <a:lumOff val="5000"/>
                          </a:schemeClr>
                        </a:solidFill>
                        <a:effectLst>
                          <a:outerShdw blurRad="38100" dist="38100" dir="2700000" algn="tl">
                            <a:srgbClr val="000000">
                              <a:alpha val="43137"/>
                            </a:srgbClr>
                          </a:outerShdw>
                        </a:effectLs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1">
                          <a:solidFill>
                            <a:schemeClr val="accent6">
                              <a:lumMod val="75000"/>
                            </a:schemeClr>
                          </a:solidFill>
                          <a:effectLst>
                            <a:outerShdw blurRad="38100" dist="38100" dir="2700000" algn="tl">
                              <a:srgbClr val="000000">
                                <a:alpha val="43137"/>
                              </a:srgbClr>
                            </a:outerShdw>
                          </a:effectLst>
                          <a:latin typeface="方正姚体" panose="02010601030101010101" pitchFamily="2" charset="-122"/>
                          <a:ea typeface="方正姚体" panose="02010601030101010101" pitchFamily="2" charset="-122"/>
                        </a:rPr>
                        <a:t>√</a:t>
                      </a:r>
                    </a:p>
                    <a:p>
                      <a:pPr algn="ctr"/>
                      <a:endParaRPr lang="zh-CN" altLang="en-US" sz="2400" b="1">
                        <a:solidFill>
                          <a:schemeClr val="accent6">
                            <a:lumMod val="75000"/>
                          </a:schemeClr>
                        </a:solidFill>
                        <a:effectLst>
                          <a:outerShdw blurRad="38100" dist="38100" dir="2700000" algn="tl">
                            <a:srgbClr val="000000">
                              <a:alpha val="43137"/>
                            </a:srgbClr>
                          </a:outerShdw>
                        </a:effectLst>
                        <a:latin typeface="方正姚体" panose="02010601030101010101" pitchFamily="2" charset="-122"/>
                        <a:ea typeface="方正姚体" panose="02010601030101010101" pitchFamily="2" charset="-122"/>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1">
                          <a:solidFill>
                            <a:schemeClr val="accent6">
                              <a:lumMod val="75000"/>
                            </a:schemeClr>
                          </a:solidFill>
                          <a:effectLst>
                            <a:outerShdw blurRad="38100" dist="38100" dir="2700000" algn="tl">
                              <a:srgbClr val="000000">
                                <a:alpha val="43137"/>
                              </a:srgbClr>
                            </a:outerShdw>
                          </a:effectLst>
                          <a:latin typeface="方正姚体" panose="02010601030101010101" pitchFamily="2" charset="-122"/>
                          <a:ea typeface="方正姚体" panose="02010601030101010101" pitchFamily="2" charset="-122"/>
                        </a:rPr>
                        <a:t>√</a:t>
                      </a:r>
                    </a:p>
                    <a:p>
                      <a:pPr algn="ctr"/>
                      <a:endParaRPr lang="zh-CN" altLang="en-US" sz="2400" b="1">
                        <a:solidFill>
                          <a:schemeClr val="accent6">
                            <a:lumMod val="75000"/>
                          </a:schemeClr>
                        </a:solidFill>
                        <a:effectLst>
                          <a:outerShdw blurRad="38100" dist="38100" dir="2700000" algn="tl">
                            <a:srgbClr val="000000">
                              <a:alpha val="43137"/>
                            </a:srgbClr>
                          </a:outerShdw>
                        </a:effectLst>
                        <a:latin typeface="方正姚体" panose="02010601030101010101" pitchFamily="2" charset="-122"/>
                        <a:ea typeface="方正姚体" panose="02010601030101010101" pitchFamily="2" charset="-122"/>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1">
                          <a:solidFill>
                            <a:schemeClr val="accent6">
                              <a:lumMod val="75000"/>
                            </a:schemeClr>
                          </a:solidFill>
                          <a:effectLst>
                            <a:outerShdw blurRad="38100" dist="38100" dir="2700000" algn="tl">
                              <a:srgbClr val="000000">
                                <a:alpha val="43137"/>
                              </a:srgbClr>
                            </a:outerShdw>
                          </a:effectLst>
                          <a:latin typeface="方正姚体" panose="02010601030101010101" pitchFamily="2" charset="-122"/>
                          <a:ea typeface="方正姚体" panose="02010601030101010101" pitchFamily="2" charset="-122"/>
                        </a:rPr>
                        <a:t>√</a:t>
                      </a:r>
                    </a:p>
                    <a:p>
                      <a:pPr algn="ctr"/>
                      <a:endParaRPr lang="zh-CN" altLang="en-US" sz="2400" b="1">
                        <a:solidFill>
                          <a:schemeClr val="accent6">
                            <a:lumMod val="75000"/>
                          </a:schemeClr>
                        </a:solidFill>
                        <a:effectLst>
                          <a:outerShdw blurRad="38100" dist="38100" dir="2700000" algn="tl">
                            <a:srgbClr val="000000">
                              <a:alpha val="43137"/>
                            </a:srgbClr>
                          </a:outerShdw>
                        </a:effectLst>
                        <a:latin typeface="方正姚体" panose="02010601030101010101" pitchFamily="2" charset="-122"/>
                        <a:ea typeface="方正姚体" panose="02010601030101010101" pitchFamily="2" charset="-122"/>
                      </a:endParaRPr>
                    </a:p>
                  </a:txBody>
                  <a:tcPr/>
                </a:tc>
                <a:tc>
                  <a:txBody>
                    <a:bodyPr/>
                    <a:lstStyle/>
                    <a:p>
                      <a:pPr lvl="0" algn="ctr"/>
                      <a:r>
                        <a:rPr lang="zh-CN" altLang="en-US" sz="3600" b="1">
                          <a:solidFill>
                            <a:srgbClr val="FFC000"/>
                          </a:solidFill>
                          <a:effectLst>
                            <a:outerShdw blurRad="38100" dist="38100" dir="2700000" algn="tl">
                              <a:srgbClr val="000000">
                                <a:alpha val="43137"/>
                              </a:srgbClr>
                            </a:outerShdw>
                          </a:effectLst>
                          <a:latin typeface="+mj-ea"/>
                          <a:ea typeface="+mj-ea"/>
                        </a:rPr>
                        <a:t> ？</a:t>
                      </a:r>
                    </a:p>
                  </a:txBody>
                  <a:tcPr/>
                </a:tc>
                <a:extLst>
                  <a:ext uri="{0D108BD9-81ED-4DB2-BD59-A6C34878D82A}">
                    <a16:rowId xmlns:a16="http://schemas.microsoft.com/office/drawing/2014/main" val="2613258389"/>
                  </a:ext>
                </a:extLst>
              </a:tr>
              <a:tr h="785682">
                <a:tc>
                  <a:txBody>
                    <a:bodyPr/>
                    <a:lstStyle/>
                    <a:p>
                      <a:pPr algn="ctr"/>
                      <a:r>
                        <a:rPr lang="zh-CN" altLang="en-US" sz="2000" b="1">
                          <a:solidFill>
                            <a:schemeClr val="tx1">
                              <a:lumMod val="95000"/>
                              <a:lumOff val="5000"/>
                            </a:schemeClr>
                          </a:solidFill>
                          <a:effectLst>
                            <a:outerShdw blurRad="38100" dist="38100" dir="2700000" algn="tl">
                              <a:srgbClr val="000000">
                                <a:alpha val="43137"/>
                              </a:srgbClr>
                            </a:outerShdw>
                          </a:effectLst>
                        </a:rPr>
                        <a:t>＜</a:t>
                      </a:r>
                      <a:r>
                        <a:rPr lang="en-US" altLang="zh-CN" sz="2000" b="1">
                          <a:solidFill>
                            <a:schemeClr val="tx1">
                              <a:lumMod val="95000"/>
                              <a:lumOff val="5000"/>
                            </a:schemeClr>
                          </a:solidFill>
                          <a:effectLst>
                            <a:outerShdw blurRad="38100" dist="38100" dir="2700000" algn="tl">
                              <a:srgbClr val="000000">
                                <a:alpha val="43137"/>
                              </a:srgbClr>
                            </a:outerShdw>
                          </a:effectLst>
                        </a:rPr>
                        <a:t>15</a:t>
                      </a:r>
                      <a:endParaRPr lang="zh-CN" altLang="en-US" sz="2000" b="1">
                        <a:solidFill>
                          <a:schemeClr val="tx1">
                            <a:lumMod val="95000"/>
                            <a:lumOff val="5000"/>
                          </a:schemeClr>
                        </a:solidFill>
                        <a:effectLst>
                          <a:outerShdw blurRad="38100" dist="38100" dir="2700000" algn="tl">
                            <a:srgbClr val="000000">
                              <a:alpha val="43137"/>
                            </a:srgbClr>
                          </a:outerShdw>
                        </a:effectLs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1">
                          <a:solidFill>
                            <a:schemeClr val="accent6">
                              <a:lumMod val="75000"/>
                            </a:schemeClr>
                          </a:solidFill>
                          <a:effectLst>
                            <a:outerShdw blurRad="38100" dist="38100" dir="2700000" algn="tl">
                              <a:srgbClr val="000000">
                                <a:alpha val="43137"/>
                              </a:srgbClr>
                            </a:outerShdw>
                          </a:effectLst>
                          <a:latin typeface="方正姚体" panose="02010601030101010101" pitchFamily="2" charset="-122"/>
                          <a:ea typeface="方正姚体" panose="02010601030101010101" pitchFamily="2" charset="-122"/>
                        </a:rPr>
                        <a:t>√</a:t>
                      </a:r>
                    </a:p>
                    <a:p>
                      <a:pPr algn="ctr"/>
                      <a:endParaRPr lang="zh-CN" altLang="en-US" sz="2400" b="1">
                        <a:solidFill>
                          <a:schemeClr val="accent6">
                            <a:lumMod val="75000"/>
                          </a:schemeClr>
                        </a:solidFill>
                        <a:effectLst>
                          <a:outerShdw blurRad="38100" dist="38100" dir="2700000" algn="tl">
                            <a:srgbClr val="000000">
                              <a:alpha val="43137"/>
                            </a:srgbClr>
                          </a:outerShdw>
                        </a:effectLst>
                        <a:latin typeface="方正姚体" panose="02010601030101010101" pitchFamily="2" charset="-122"/>
                        <a:ea typeface="方正姚体" panose="02010601030101010101" pitchFamily="2" charset="-122"/>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1">
                          <a:solidFill>
                            <a:schemeClr val="accent6">
                              <a:lumMod val="75000"/>
                            </a:schemeClr>
                          </a:solidFill>
                          <a:effectLst>
                            <a:outerShdw blurRad="38100" dist="38100" dir="2700000" algn="tl">
                              <a:srgbClr val="000000">
                                <a:alpha val="43137"/>
                              </a:srgbClr>
                            </a:outerShdw>
                          </a:effectLst>
                          <a:latin typeface="方正姚体" panose="02010601030101010101" pitchFamily="2" charset="-122"/>
                          <a:ea typeface="方正姚体" panose="02010601030101010101" pitchFamily="2" charset="-122"/>
                        </a:rPr>
                        <a:t>√</a:t>
                      </a:r>
                    </a:p>
                    <a:p>
                      <a:pPr algn="ctr"/>
                      <a:endParaRPr lang="zh-CN" altLang="en-US" sz="2400" b="1">
                        <a:solidFill>
                          <a:schemeClr val="accent6">
                            <a:lumMod val="75000"/>
                          </a:schemeClr>
                        </a:solidFill>
                        <a:effectLst>
                          <a:outerShdw blurRad="38100" dist="38100" dir="2700000" algn="tl">
                            <a:srgbClr val="000000">
                              <a:alpha val="43137"/>
                            </a:srgbClr>
                          </a:outerShdw>
                        </a:effectLst>
                        <a:latin typeface="方正姚体" panose="02010601030101010101" pitchFamily="2" charset="-122"/>
                        <a:ea typeface="方正姚体" panose="02010601030101010101" pitchFamily="2" charset="-122"/>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1">
                          <a:solidFill>
                            <a:schemeClr val="accent6">
                              <a:lumMod val="75000"/>
                            </a:schemeClr>
                          </a:solidFill>
                          <a:effectLst>
                            <a:outerShdw blurRad="38100" dist="38100" dir="2700000" algn="tl">
                              <a:srgbClr val="000000">
                                <a:alpha val="43137"/>
                              </a:srgbClr>
                            </a:outerShdw>
                          </a:effectLst>
                          <a:latin typeface="方正姚体" panose="02010601030101010101" pitchFamily="2" charset="-122"/>
                          <a:ea typeface="方正姚体" panose="02010601030101010101" pitchFamily="2" charset="-122"/>
                        </a:rPr>
                        <a:t>√</a:t>
                      </a:r>
                    </a:p>
                    <a:p>
                      <a:pPr algn="ctr"/>
                      <a:endParaRPr lang="zh-CN" altLang="en-US" sz="2400" b="1">
                        <a:solidFill>
                          <a:schemeClr val="accent6">
                            <a:lumMod val="75000"/>
                          </a:schemeClr>
                        </a:solidFill>
                        <a:effectLst>
                          <a:outerShdw blurRad="38100" dist="38100" dir="2700000" algn="tl">
                            <a:srgbClr val="000000">
                              <a:alpha val="43137"/>
                            </a:srgbClr>
                          </a:outerShdw>
                        </a:effectLst>
                        <a:latin typeface="方正姚体" panose="02010601030101010101" pitchFamily="2" charset="-122"/>
                        <a:ea typeface="方正姚体" panose="02010601030101010101" pitchFamily="2" charset="-122"/>
                      </a:endParaRPr>
                    </a:p>
                  </a:txBody>
                  <a:tcPr/>
                </a:tc>
                <a:tc>
                  <a:txBody>
                    <a:bodyPr/>
                    <a:lstStyle/>
                    <a:p>
                      <a:pPr lvl="0" algn="ctr"/>
                      <a:r>
                        <a:rPr lang="zh-CN" altLang="en-US" sz="3600" b="1">
                          <a:solidFill>
                            <a:srgbClr val="FFC000"/>
                          </a:solidFill>
                          <a:effectLst>
                            <a:outerShdw blurRad="38100" dist="38100" dir="2700000" algn="tl">
                              <a:srgbClr val="000000">
                                <a:alpha val="43137"/>
                              </a:srgbClr>
                            </a:outerShdw>
                          </a:effectLst>
                          <a:latin typeface="+mj-ea"/>
                          <a:ea typeface="+mj-ea"/>
                        </a:rPr>
                        <a:t> ？</a:t>
                      </a:r>
                    </a:p>
                  </a:txBody>
                  <a:tcPr/>
                </a:tc>
                <a:extLst>
                  <a:ext uri="{0D108BD9-81ED-4DB2-BD59-A6C34878D82A}">
                    <a16:rowId xmlns:a16="http://schemas.microsoft.com/office/drawing/2014/main" val="1979585031"/>
                  </a:ext>
                </a:extLst>
              </a:tr>
              <a:tr h="763230">
                <a:tc>
                  <a:txBody>
                    <a:bodyPr/>
                    <a:lstStyle/>
                    <a:p>
                      <a:pPr algn="ctr"/>
                      <a:r>
                        <a:rPr lang="zh-CN" altLang="en-US" sz="2000" b="1">
                          <a:solidFill>
                            <a:schemeClr val="tx1">
                              <a:lumMod val="95000"/>
                              <a:lumOff val="5000"/>
                            </a:schemeClr>
                          </a:solidFill>
                          <a:effectLst>
                            <a:outerShdw blurRad="38100" dist="38100" dir="2700000" algn="tl">
                              <a:srgbClr val="000000">
                                <a:alpha val="43137"/>
                              </a:srgbClr>
                            </a:outerShdw>
                          </a:effectLst>
                        </a:rPr>
                        <a:t>＜</a:t>
                      </a:r>
                      <a:r>
                        <a:rPr lang="en-US" altLang="zh-CN" sz="2000" b="1">
                          <a:solidFill>
                            <a:schemeClr val="tx1">
                              <a:lumMod val="95000"/>
                              <a:lumOff val="5000"/>
                            </a:schemeClr>
                          </a:solidFill>
                          <a:effectLst>
                            <a:outerShdw blurRad="38100" dist="38100" dir="2700000" algn="tl">
                              <a:srgbClr val="000000">
                                <a:alpha val="43137"/>
                              </a:srgbClr>
                            </a:outerShdw>
                          </a:effectLst>
                        </a:rPr>
                        <a:t>10</a:t>
                      </a:r>
                      <a:endParaRPr lang="zh-CN" altLang="en-US" sz="2000" b="1">
                        <a:solidFill>
                          <a:schemeClr val="tx1">
                            <a:lumMod val="95000"/>
                            <a:lumOff val="5000"/>
                          </a:schemeClr>
                        </a:solidFill>
                        <a:effectLst>
                          <a:outerShdw blurRad="38100" dist="38100" dir="2700000" algn="tl">
                            <a:srgbClr val="000000">
                              <a:alpha val="43137"/>
                            </a:srgbClr>
                          </a:outerShdw>
                        </a:effectLs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1">
                          <a:solidFill>
                            <a:schemeClr val="accent6">
                              <a:lumMod val="75000"/>
                            </a:schemeClr>
                          </a:solidFill>
                          <a:effectLst>
                            <a:outerShdw blurRad="38100" dist="38100" dir="2700000" algn="tl">
                              <a:srgbClr val="000000">
                                <a:alpha val="43137"/>
                              </a:srgbClr>
                            </a:outerShdw>
                          </a:effectLst>
                          <a:latin typeface="方正姚体" panose="02010601030101010101" pitchFamily="2" charset="-122"/>
                          <a:ea typeface="方正姚体" panose="02010601030101010101" pitchFamily="2" charset="-122"/>
                        </a:rPr>
                        <a:t>√</a:t>
                      </a:r>
                    </a:p>
                    <a:p>
                      <a:pPr algn="ctr"/>
                      <a:endParaRPr lang="zh-CN" altLang="en-US" sz="2400" b="1">
                        <a:solidFill>
                          <a:schemeClr val="accent6">
                            <a:lumMod val="75000"/>
                          </a:schemeClr>
                        </a:solidFill>
                        <a:effectLst>
                          <a:outerShdw blurRad="38100" dist="38100" dir="2700000" algn="tl">
                            <a:srgbClr val="000000">
                              <a:alpha val="43137"/>
                            </a:srgbClr>
                          </a:outerShdw>
                        </a:effectLst>
                        <a:latin typeface="方正姚体" panose="02010601030101010101" pitchFamily="2" charset="-122"/>
                        <a:ea typeface="方正姚体" panose="02010601030101010101" pitchFamily="2" charset="-122"/>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1">
                          <a:solidFill>
                            <a:schemeClr val="accent6">
                              <a:lumMod val="75000"/>
                            </a:schemeClr>
                          </a:solidFill>
                          <a:effectLst>
                            <a:outerShdw blurRad="38100" dist="38100" dir="2700000" algn="tl">
                              <a:srgbClr val="000000">
                                <a:alpha val="43137"/>
                              </a:srgbClr>
                            </a:outerShdw>
                          </a:effectLst>
                          <a:latin typeface="方正姚体" panose="02010601030101010101" pitchFamily="2" charset="-122"/>
                          <a:ea typeface="方正姚体" panose="02010601030101010101" pitchFamily="2" charset="-122"/>
                        </a:rPr>
                        <a:t>√</a:t>
                      </a:r>
                    </a:p>
                    <a:p>
                      <a:pPr algn="ctr"/>
                      <a:endParaRPr lang="zh-CN" altLang="en-US" sz="2400" b="1">
                        <a:solidFill>
                          <a:schemeClr val="accent6">
                            <a:lumMod val="75000"/>
                          </a:schemeClr>
                        </a:solidFill>
                        <a:effectLst>
                          <a:outerShdw blurRad="38100" dist="38100" dir="2700000" algn="tl">
                            <a:srgbClr val="000000">
                              <a:alpha val="43137"/>
                            </a:srgbClr>
                          </a:outerShdw>
                        </a:effectLst>
                        <a:latin typeface="方正姚体" panose="02010601030101010101" pitchFamily="2" charset="-122"/>
                        <a:ea typeface="方正姚体" panose="02010601030101010101" pitchFamily="2" charset="-122"/>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1">
                          <a:solidFill>
                            <a:schemeClr val="accent6">
                              <a:lumMod val="75000"/>
                            </a:schemeClr>
                          </a:solidFill>
                          <a:effectLst>
                            <a:outerShdw blurRad="38100" dist="38100" dir="2700000" algn="tl">
                              <a:srgbClr val="000000">
                                <a:alpha val="43137"/>
                              </a:srgbClr>
                            </a:outerShdw>
                          </a:effectLst>
                          <a:latin typeface="方正姚体" panose="02010601030101010101" pitchFamily="2" charset="-122"/>
                          <a:ea typeface="方正姚体" panose="02010601030101010101" pitchFamily="2" charset="-122"/>
                        </a:rPr>
                        <a:t>√</a:t>
                      </a:r>
                    </a:p>
                    <a:p>
                      <a:pPr algn="ctr"/>
                      <a:endParaRPr lang="zh-CN" altLang="en-US" sz="2400" b="1">
                        <a:solidFill>
                          <a:schemeClr val="accent6">
                            <a:lumMod val="75000"/>
                          </a:schemeClr>
                        </a:solidFill>
                        <a:effectLst>
                          <a:outerShdw blurRad="38100" dist="38100" dir="2700000" algn="tl">
                            <a:srgbClr val="000000">
                              <a:alpha val="43137"/>
                            </a:srgbClr>
                          </a:outerShdw>
                        </a:effectLst>
                        <a:latin typeface="方正姚体" panose="02010601030101010101" pitchFamily="2" charset="-122"/>
                        <a:ea typeface="方正姚体" panose="02010601030101010101" pitchFamily="2" charset="-122"/>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1">
                          <a:solidFill>
                            <a:schemeClr val="accent6">
                              <a:lumMod val="75000"/>
                            </a:schemeClr>
                          </a:solidFill>
                          <a:effectLst>
                            <a:outerShdw blurRad="38100" dist="38100" dir="2700000" algn="tl">
                              <a:srgbClr val="000000">
                                <a:alpha val="43137"/>
                              </a:srgbClr>
                            </a:outerShdw>
                          </a:effectLst>
                          <a:latin typeface="方正姚体" panose="02010601030101010101" pitchFamily="2" charset="-122"/>
                          <a:ea typeface="方正姚体" panose="02010601030101010101" pitchFamily="2" charset="-122"/>
                        </a:rPr>
                        <a:t>√</a:t>
                      </a:r>
                    </a:p>
                    <a:p>
                      <a:pPr algn="ctr"/>
                      <a:endParaRPr lang="zh-CN" altLang="en-US" sz="2400" b="1">
                        <a:effectLst>
                          <a:outerShdw blurRad="38100" dist="38100" dir="2700000" algn="tl">
                            <a:srgbClr val="000000">
                              <a:alpha val="43137"/>
                            </a:srgbClr>
                          </a:outerShdw>
                        </a:effectLst>
                        <a:latin typeface="方正姚体" panose="02010601030101010101" pitchFamily="2" charset="-122"/>
                        <a:ea typeface="方正姚体" panose="02010601030101010101" pitchFamily="2" charset="-122"/>
                      </a:endParaRPr>
                    </a:p>
                  </a:txBody>
                  <a:tcPr/>
                </a:tc>
                <a:extLst>
                  <a:ext uri="{0D108BD9-81ED-4DB2-BD59-A6C34878D82A}">
                    <a16:rowId xmlns:a16="http://schemas.microsoft.com/office/drawing/2014/main" val="2077589826"/>
                  </a:ext>
                </a:extLst>
              </a:tr>
            </a:tbl>
          </a:graphicData>
        </a:graphic>
      </p:graphicFrame>
    </p:spTree>
    <p:extLst>
      <p:ext uri="{BB962C8B-B14F-4D97-AF65-F5344CB8AC3E}">
        <p14:creationId xmlns:p14="http://schemas.microsoft.com/office/powerpoint/2010/main" val="86578780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p:cNvPr>
          <p:cNvGrpSpPr/>
          <p:nvPr/>
        </p:nvGrpSpPr>
        <p:grpSpPr>
          <a:xfrm>
            <a:off x="4850109" y="678004"/>
            <a:ext cx="7320137" cy="1035882"/>
            <a:chOff x="8112223" y="330677"/>
            <a:chExt cx="4194115" cy="1035882"/>
          </a:xfrm>
          <a:effectLst>
            <a:outerShdw blurRad="50800" dist="38100" dir="5400000" algn="t" rotWithShape="0">
              <a:prstClr val="black">
                <a:alpha val="40000"/>
              </a:prstClr>
            </a:outerShdw>
          </a:effectLst>
        </p:grpSpPr>
        <p:sp>
          <p:nvSpPr>
            <p:cNvPr id="27"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8281096" y="330677"/>
              <a:ext cx="3998285" cy="985057"/>
              <a:chOff x="-461843" y="2729730"/>
              <a:chExt cx="4709449" cy="1377463"/>
            </a:xfrm>
          </p:grpSpPr>
          <p:sp>
            <p:nvSpPr>
              <p:cNvPr id="29"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1384780" y="3006840"/>
                <a:ext cx="2862826" cy="81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latin typeface="+mn-lt"/>
                    <a:ea typeface="+mn-ea"/>
                    <a:cs typeface="+mn-ea"/>
                    <a:sym typeface="+mn-lt"/>
                  </a:rPr>
                  <a:t>猫慢性肾病：促红素</a:t>
                </a:r>
                <a:endParaRPr lang="en-US" altLang="zh-CN" sz="2400" b="1">
                  <a:solidFill>
                    <a:srgbClr val="010101"/>
                  </a:solidFill>
                  <a:latin typeface="+mn-lt"/>
                  <a:ea typeface="+mn-ea"/>
                  <a:cs typeface="+mn-ea"/>
                  <a:sym typeface="+mn-lt"/>
                </a:endParaRPr>
              </a:p>
            </p:txBody>
          </p:sp>
          <p:cxnSp>
            <p:nvCxnSpPr>
              <p:cNvPr id="31" name="直接连接符 30">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506334" y="3461620"/>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sp>
        <p:nvSpPr>
          <p:cNvPr id="19" name="文本框 18">
            <a:extLst>
              <a:ext uri="{FF2B5EF4-FFF2-40B4-BE49-F238E27FC236}">
                <a16:creationId xmlns:a16="http://schemas.microsoft.com/office/drawing/2014/main" id="{AEE01461-EC3B-414C-A38D-6413179E4729}"/>
              </a:ext>
            </a:extLst>
          </p:cNvPr>
          <p:cNvSpPr txBox="1"/>
          <p:nvPr/>
        </p:nvSpPr>
        <p:spPr>
          <a:xfrm>
            <a:off x="6479416" y="2691339"/>
            <a:ext cx="3600400" cy="2926486"/>
          </a:xfrm>
          <a:prstGeom prst="rect">
            <a:avLst/>
          </a:prstGeom>
          <a:noFill/>
        </p:spPr>
        <p:txBody>
          <a:bodyPr wrap="square" rtlCol="0">
            <a:spAutoFit/>
          </a:bodyPr>
          <a:lstStyle/>
          <a:p>
            <a:endParaRPr lang="zh-CN" altLang="en-US"/>
          </a:p>
        </p:txBody>
      </p:sp>
      <p:sp>
        <p:nvSpPr>
          <p:cNvPr id="22" name="文本框 21">
            <a:extLst>
              <a:ext uri="{FF2B5EF4-FFF2-40B4-BE49-F238E27FC236}">
                <a16:creationId xmlns:a16="http://schemas.microsoft.com/office/drawing/2014/main" id="{8680B877-2955-48DE-9D87-E34A49E6BB54}"/>
              </a:ext>
            </a:extLst>
          </p:cNvPr>
          <p:cNvSpPr txBox="1"/>
          <p:nvPr/>
        </p:nvSpPr>
        <p:spPr>
          <a:xfrm>
            <a:off x="3593421" y="2093085"/>
            <a:ext cx="7975187" cy="584775"/>
          </a:xfrm>
          <a:prstGeom prst="rect">
            <a:avLst/>
          </a:prstGeom>
          <a:noFill/>
        </p:spPr>
        <p:txBody>
          <a:bodyPr wrap="square" rtlCol="0">
            <a:spAutoFit/>
          </a:bodyPr>
          <a:lstStyle/>
          <a:p>
            <a:pPr lvl="1"/>
            <a:endParaRPr lang="en-US" altLang="zh-CN" sz="1600" b="1">
              <a:solidFill>
                <a:schemeClr val="bg1">
                  <a:lumMod val="95000"/>
                </a:schemeClr>
              </a:solidFill>
              <a:effectLst>
                <a:outerShdw blurRad="38100" dist="38100" dir="2700000" algn="tl">
                  <a:srgbClr val="000000">
                    <a:alpha val="43137"/>
                  </a:srgbClr>
                </a:outerShdw>
              </a:effectLst>
              <a:latin typeface="+mj-ea"/>
              <a:ea typeface="+mj-ea"/>
            </a:endParaRPr>
          </a:p>
          <a:p>
            <a:pPr lvl="1"/>
            <a:endParaRPr lang="en-US" altLang="zh-CN" sz="1600" b="1">
              <a:solidFill>
                <a:schemeClr val="bg1"/>
              </a:solidFill>
              <a:effectLst>
                <a:outerShdw blurRad="38100" dist="38100" dir="2700000" algn="tl">
                  <a:srgbClr val="000000">
                    <a:alpha val="43137"/>
                  </a:srgbClr>
                </a:outerShdw>
              </a:effectLst>
              <a:latin typeface="+mj-ea"/>
              <a:ea typeface="+mj-ea"/>
            </a:endParaRPr>
          </a:p>
        </p:txBody>
      </p:sp>
      <p:graphicFrame>
        <p:nvGraphicFramePr>
          <p:cNvPr id="2" name="表格 1">
            <a:extLst>
              <a:ext uri="{FF2B5EF4-FFF2-40B4-BE49-F238E27FC236}">
                <a16:creationId xmlns:a16="http://schemas.microsoft.com/office/drawing/2014/main" id="{A24703D3-8234-4503-BEEF-2BF9628F165B}"/>
              </a:ext>
            </a:extLst>
          </p:cNvPr>
          <p:cNvGraphicFramePr>
            <a:graphicFrameLocks noGrp="1"/>
          </p:cNvGraphicFramePr>
          <p:nvPr>
            <p:extLst>
              <p:ext uri="{D42A27DB-BD31-4B8C-83A1-F6EECF244321}">
                <p14:modId xmlns:p14="http://schemas.microsoft.com/office/powerpoint/2010/main" val="1750823180"/>
              </p:ext>
            </p:extLst>
          </p:nvPr>
        </p:nvGraphicFramePr>
        <p:xfrm>
          <a:off x="6579470" y="2329438"/>
          <a:ext cx="3563883" cy="3872190"/>
        </p:xfrm>
        <a:graphic>
          <a:graphicData uri="http://schemas.openxmlformats.org/drawingml/2006/table">
            <a:tbl>
              <a:tblPr firstRow="1" bandRow="1">
                <a:tableStyleId>{5C22544A-7EE6-4342-B048-85BDC9FD1C3A}</a:tableStyleId>
              </a:tblPr>
              <a:tblGrid>
                <a:gridCol w="1436121">
                  <a:extLst>
                    <a:ext uri="{9D8B030D-6E8A-4147-A177-3AD203B41FA5}">
                      <a16:colId xmlns:a16="http://schemas.microsoft.com/office/drawing/2014/main" val="3119345522"/>
                    </a:ext>
                  </a:extLst>
                </a:gridCol>
                <a:gridCol w="2127762">
                  <a:extLst>
                    <a:ext uri="{9D8B030D-6E8A-4147-A177-3AD203B41FA5}">
                      <a16:colId xmlns:a16="http://schemas.microsoft.com/office/drawing/2014/main" val="4018284307"/>
                    </a:ext>
                  </a:extLst>
                </a:gridCol>
              </a:tblGrid>
              <a:tr h="763230">
                <a:tc>
                  <a:txBody>
                    <a:bodyPr/>
                    <a:lstStyle/>
                    <a:p>
                      <a:pPr algn="ctr"/>
                      <a:r>
                        <a:rPr lang="en-US" altLang="zh-CN">
                          <a:effectLst>
                            <a:outerShdw blurRad="38100" dist="38100" dir="2700000" algn="tl">
                              <a:srgbClr val="000000">
                                <a:alpha val="43137"/>
                              </a:srgbClr>
                            </a:outerShdw>
                          </a:effectLst>
                          <a:latin typeface="+mj-ea"/>
                          <a:ea typeface="+mj-ea"/>
                        </a:rPr>
                        <a:t>HCT</a:t>
                      </a:r>
                      <a:r>
                        <a:rPr lang="zh-CN" altLang="en-US">
                          <a:effectLst>
                            <a:outerShdw blurRad="38100" dist="38100" dir="2700000" algn="tl">
                              <a:srgbClr val="000000">
                                <a:alpha val="43137"/>
                              </a:srgbClr>
                            </a:outerShdw>
                          </a:effectLst>
                          <a:latin typeface="+mj-ea"/>
                          <a:ea typeface="+mj-ea"/>
                        </a:rPr>
                        <a:t>比例</a:t>
                      </a:r>
                    </a:p>
                  </a:txBody>
                  <a:tcPr anchor="ctr">
                    <a:solidFill>
                      <a:schemeClr val="accent1">
                        <a:lumMod val="50000"/>
                      </a:schemeClr>
                    </a:solidFill>
                  </a:tcPr>
                </a:tc>
                <a:tc>
                  <a:txBody>
                    <a:bodyPr/>
                    <a:lstStyle/>
                    <a:p>
                      <a:pPr algn="ctr"/>
                      <a:r>
                        <a:rPr lang="zh-CN" altLang="en-US">
                          <a:effectLst>
                            <a:outerShdw blurRad="38100" dist="38100" dir="2700000" algn="tl">
                              <a:srgbClr val="000000">
                                <a:alpha val="43137"/>
                              </a:srgbClr>
                            </a:outerShdw>
                          </a:effectLst>
                          <a:latin typeface="+mj-ea"/>
                          <a:ea typeface="+mj-ea"/>
                        </a:rPr>
                        <a:t>打</a:t>
                      </a:r>
                      <a:r>
                        <a:rPr lang="en-US" altLang="zh-CN">
                          <a:effectLst>
                            <a:outerShdw blurRad="38100" dist="38100" dir="2700000" algn="tl">
                              <a:srgbClr val="000000">
                                <a:alpha val="43137"/>
                              </a:srgbClr>
                            </a:outerShdw>
                          </a:effectLst>
                          <a:latin typeface="+mj-ea"/>
                          <a:ea typeface="+mj-ea"/>
                        </a:rPr>
                        <a:t>EPO</a:t>
                      </a:r>
                      <a:r>
                        <a:rPr lang="zh-CN" altLang="en-US">
                          <a:effectLst>
                            <a:outerShdw blurRad="38100" dist="38100" dir="2700000" algn="tl">
                              <a:srgbClr val="000000">
                                <a:alpha val="43137"/>
                              </a:srgbClr>
                            </a:outerShdw>
                          </a:effectLst>
                          <a:latin typeface="+mj-ea"/>
                          <a:ea typeface="+mj-ea"/>
                        </a:rPr>
                        <a:t>促红素</a:t>
                      </a:r>
                    </a:p>
                  </a:txBody>
                  <a:tcPr anchor="ctr">
                    <a:solidFill>
                      <a:schemeClr val="accent1">
                        <a:lumMod val="50000"/>
                      </a:schemeClr>
                    </a:solidFill>
                  </a:tcPr>
                </a:tc>
                <a:extLst>
                  <a:ext uri="{0D108BD9-81ED-4DB2-BD59-A6C34878D82A}">
                    <a16:rowId xmlns:a16="http://schemas.microsoft.com/office/drawing/2014/main" val="90274591"/>
                  </a:ext>
                </a:extLst>
              </a:tr>
              <a:tr h="0">
                <a:tc>
                  <a:txBody>
                    <a:bodyPr/>
                    <a:lstStyle/>
                    <a:p>
                      <a:pPr algn="ctr"/>
                      <a:r>
                        <a:rPr lang="zh-CN" altLang="en-US" sz="2000" b="1">
                          <a:solidFill>
                            <a:schemeClr val="tx1">
                              <a:lumMod val="95000"/>
                              <a:lumOff val="5000"/>
                            </a:schemeClr>
                          </a:solidFill>
                          <a:effectLst>
                            <a:outerShdw blurRad="38100" dist="38100" dir="2700000" algn="tl">
                              <a:srgbClr val="000000">
                                <a:alpha val="43137"/>
                              </a:srgbClr>
                            </a:outerShdw>
                          </a:effectLst>
                        </a:rPr>
                        <a:t>＞</a:t>
                      </a:r>
                      <a:r>
                        <a:rPr lang="en-US" altLang="zh-CN" sz="2000" b="1">
                          <a:solidFill>
                            <a:schemeClr val="tx1">
                              <a:lumMod val="95000"/>
                              <a:lumOff val="5000"/>
                            </a:schemeClr>
                          </a:solidFill>
                          <a:effectLst>
                            <a:outerShdw blurRad="38100" dist="38100" dir="2700000" algn="tl">
                              <a:srgbClr val="000000">
                                <a:alpha val="43137"/>
                              </a:srgbClr>
                            </a:outerShdw>
                          </a:effectLst>
                        </a:rPr>
                        <a:t>20</a:t>
                      </a:r>
                      <a:endParaRPr lang="zh-CN" altLang="en-US" sz="2000" b="1">
                        <a:solidFill>
                          <a:schemeClr val="tx1">
                            <a:lumMod val="95000"/>
                            <a:lumOff val="5000"/>
                          </a:schemeClr>
                        </a:solidFill>
                        <a:effectLst>
                          <a:outerShdw blurRad="38100" dist="38100" dir="2700000" algn="tl">
                            <a:srgbClr val="000000">
                              <a:alpha val="43137"/>
                            </a:srgbClr>
                          </a:outerShdw>
                        </a:effectLst>
                      </a:endParaRPr>
                    </a:p>
                  </a:txBody>
                  <a:tcPr/>
                </a:tc>
                <a:tc>
                  <a:txBody>
                    <a:bodyPr/>
                    <a:lstStyle/>
                    <a:p>
                      <a:pPr algn="ctr"/>
                      <a:r>
                        <a:rPr lang="en-US" altLang="zh-CN" sz="3600" b="1">
                          <a:solidFill>
                            <a:srgbClr val="FF0000"/>
                          </a:solidFill>
                          <a:effectLst>
                            <a:outerShdw blurRad="38100" dist="38100" dir="2700000" algn="tl">
                              <a:srgbClr val="000000">
                                <a:alpha val="43137"/>
                              </a:srgbClr>
                            </a:outerShdw>
                          </a:effectLst>
                          <a:latin typeface="+mj-ea"/>
                          <a:ea typeface="+mj-ea"/>
                          <a:cs typeface="Calibri" panose="020F0502020204030204" pitchFamily="34" charset="0"/>
                        </a:rPr>
                        <a:t>X</a:t>
                      </a:r>
                      <a:endParaRPr lang="zh-CN" altLang="en-US" sz="3600" b="1">
                        <a:solidFill>
                          <a:srgbClr val="FF0000"/>
                        </a:solidFill>
                        <a:effectLst>
                          <a:outerShdw blurRad="38100" dist="38100" dir="2700000" algn="tl">
                            <a:srgbClr val="000000">
                              <a:alpha val="43137"/>
                            </a:srgbClr>
                          </a:outerShdw>
                        </a:effectLst>
                        <a:latin typeface="+mj-ea"/>
                        <a:ea typeface="+mj-ea"/>
                        <a:cs typeface="Calibri" panose="020F0502020204030204" pitchFamily="34" charset="0"/>
                      </a:endParaRPr>
                    </a:p>
                  </a:txBody>
                  <a:tcPr anchor="b"/>
                </a:tc>
                <a:extLst>
                  <a:ext uri="{0D108BD9-81ED-4DB2-BD59-A6C34878D82A}">
                    <a16:rowId xmlns:a16="http://schemas.microsoft.com/office/drawing/2014/main" val="1155235108"/>
                  </a:ext>
                </a:extLst>
              </a:tr>
              <a:tr h="763230">
                <a:tc>
                  <a:txBody>
                    <a:bodyPr/>
                    <a:lstStyle/>
                    <a:p>
                      <a:pPr algn="ctr"/>
                      <a:r>
                        <a:rPr lang="en-US" altLang="zh-CN" sz="2000" b="1">
                          <a:solidFill>
                            <a:schemeClr val="tx1">
                              <a:lumMod val="95000"/>
                              <a:lumOff val="5000"/>
                            </a:schemeClr>
                          </a:solidFill>
                          <a:effectLst>
                            <a:outerShdw blurRad="38100" dist="38100" dir="2700000" algn="tl">
                              <a:srgbClr val="000000">
                                <a:alpha val="43137"/>
                              </a:srgbClr>
                            </a:outerShdw>
                          </a:effectLst>
                        </a:rPr>
                        <a:t>15-19</a:t>
                      </a:r>
                      <a:endParaRPr lang="zh-CN" altLang="en-US" sz="2000" b="1">
                        <a:solidFill>
                          <a:schemeClr val="tx1">
                            <a:lumMod val="95000"/>
                            <a:lumOff val="5000"/>
                          </a:schemeClr>
                        </a:solidFill>
                        <a:effectLst>
                          <a:outerShdw blurRad="38100" dist="38100" dir="2700000" algn="tl">
                            <a:srgbClr val="000000">
                              <a:alpha val="43137"/>
                            </a:srgbClr>
                          </a:outerShdw>
                        </a:effectLs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1">
                          <a:solidFill>
                            <a:schemeClr val="accent6">
                              <a:lumMod val="75000"/>
                            </a:schemeClr>
                          </a:solidFill>
                          <a:effectLst>
                            <a:outerShdw blurRad="38100" dist="38100" dir="2700000" algn="tl">
                              <a:srgbClr val="000000">
                                <a:alpha val="43137"/>
                              </a:srgbClr>
                            </a:outerShdw>
                          </a:effectLst>
                          <a:latin typeface="方正姚体" panose="02010601030101010101" pitchFamily="2" charset="-122"/>
                          <a:ea typeface="方正姚体" panose="02010601030101010101" pitchFamily="2" charset="-122"/>
                        </a:rPr>
                        <a:t>√</a:t>
                      </a:r>
                    </a:p>
                    <a:p>
                      <a:pPr algn="ctr"/>
                      <a:endParaRPr lang="zh-CN" altLang="en-US" sz="2400" b="1">
                        <a:solidFill>
                          <a:schemeClr val="accent6">
                            <a:lumMod val="75000"/>
                          </a:schemeClr>
                        </a:solidFill>
                        <a:effectLst>
                          <a:outerShdw blurRad="38100" dist="38100" dir="2700000" algn="tl">
                            <a:srgbClr val="000000">
                              <a:alpha val="43137"/>
                            </a:srgbClr>
                          </a:outerShdw>
                        </a:effectLst>
                        <a:latin typeface="方正姚体" panose="02010601030101010101" pitchFamily="2" charset="-122"/>
                        <a:ea typeface="方正姚体" panose="02010601030101010101" pitchFamily="2" charset="-122"/>
                      </a:endParaRPr>
                    </a:p>
                  </a:txBody>
                  <a:tcPr/>
                </a:tc>
                <a:extLst>
                  <a:ext uri="{0D108BD9-81ED-4DB2-BD59-A6C34878D82A}">
                    <a16:rowId xmlns:a16="http://schemas.microsoft.com/office/drawing/2014/main" val="2613258389"/>
                  </a:ext>
                </a:extLst>
              </a:tr>
              <a:tr h="785682">
                <a:tc>
                  <a:txBody>
                    <a:bodyPr/>
                    <a:lstStyle/>
                    <a:p>
                      <a:pPr algn="ctr"/>
                      <a:r>
                        <a:rPr lang="zh-CN" altLang="en-US" sz="2000" b="1">
                          <a:solidFill>
                            <a:schemeClr val="tx1">
                              <a:lumMod val="95000"/>
                              <a:lumOff val="5000"/>
                            </a:schemeClr>
                          </a:solidFill>
                          <a:effectLst>
                            <a:outerShdw blurRad="38100" dist="38100" dir="2700000" algn="tl">
                              <a:srgbClr val="000000">
                                <a:alpha val="43137"/>
                              </a:srgbClr>
                            </a:outerShdw>
                          </a:effectLst>
                        </a:rPr>
                        <a:t>＜</a:t>
                      </a:r>
                      <a:r>
                        <a:rPr lang="en-US" altLang="zh-CN" sz="2000" b="1">
                          <a:solidFill>
                            <a:schemeClr val="tx1">
                              <a:lumMod val="95000"/>
                              <a:lumOff val="5000"/>
                            </a:schemeClr>
                          </a:solidFill>
                          <a:effectLst>
                            <a:outerShdw blurRad="38100" dist="38100" dir="2700000" algn="tl">
                              <a:srgbClr val="000000">
                                <a:alpha val="43137"/>
                              </a:srgbClr>
                            </a:outerShdw>
                          </a:effectLst>
                        </a:rPr>
                        <a:t>15</a:t>
                      </a:r>
                      <a:endParaRPr lang="zh-CN" altLang="en-US" sz="2000" b="1">
                        <a:solidFill>
                          <a:schemeClr val="tx1">
                            <a:lumMod val="95000"/>
                            <a:lumOff val="5000"/>
                          </a:schemeClr>
                        </a:solidFill>
                        <a:effectLst>
                          <a:outerShdw blurRad="38100" dist="38100" dir="2700000" algn="tl">
                            <a:srgbClr val="000000">
                              <a:alpha val="43137"/>
                            </a:srgbClr>
                          </a:outerShdw>
                        </a:effectLs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1">
                          <a:solidFill>
                            <a:schemeClr val="accent6">
                              <a:lumMod val="75000"/>
                            </a:schemeClr>
                          </a:solidFill>
                          <a:effectLst>
                            <a:outerShdw blurRad="38100" dist="38100" dir="2700000" algn="tl">
                              <a:srgbClr val="000000">
                                <a:alpha val="43137"/>
                              </a:srgbClr>
                            </a:outerShdw>
                          </a:effectLst>
                          <a:latin typeface="方正姚体" panose="02010601030101010101" pitchFamily="2" charset="-122"/>
                          <a:ea typeface="方正姚体" panose="02010601030101010101" pitchFamily="2" charset="-122"/>
                        </a:rPr>
                        <a:t>√</a:t>
                      </a:r>
                    </a:p>
                    <a:p>
                      <a:pPr algn="ctr"/>
                      <a:endParaRPr lang="zh-CN" altLang="en-US" sz="2400" b="1">
                        <a:solidFill>
                          <a:schemeClr val="accent6">
                            <a:lumMod val="75000"/>
                          </a:schemeClr>
                        </a:solidFill>
                        <a:effectLst>
                          <a:outerShdw blurRad="38100" dist="38100" dir="2700000" algn="tl">
                            <a:srgbClr val="000000">
                              <a:alpha val="43137"/>
                            </a:srgbClr>
                          </a:outerShdw>
                        </a:effectLst>
                        <a:latin typeface="方正姚体" panose="02010601030101010101" pitchFamily="2" charset="-122"/>
                        <a:ea typeface="方正姚体" panose="02010601030101010101" pitchFamily="2" charset="-122"/>
                      </a:endParaRPr>
                    </a:p>
                  </a:txBody>
                  <a:tcPr/>
                </a:tc>
                <a:extLst>
                  <a:ext uri="{0D108BD9-81ED-4DB2-BD59-A6C34878D82A}">
                    <a16:rowId xmlns:a16="http://schemas.microsoft.com/office/drawing/2014/main" val="1979585031"/>
                  </a:ext>
                </a:extLst>
              </a:tr>
              <a:tr h="763230">
                <a:tc>
                  <a:txBody>
                    <a:bodyPr/>
                    <a:lstStyle/>
                    <a:p>
                      <a:pPr algn="ctr"/>
                      <a:r>
                        <a:rPr lang="zh-CN" altLang="en-US" sz="2000" b="1">
                          <a:solidFill>
                            <a:schemeClr val="tx1">
                              <a:lumMod val="95000"/>
                              <a:lumOff val="5000"/>
                            </a:schemeClr>
                          </a:solidFill>
                          <a:effectLst>
                            <a:outerShdw blurRad="38100" dist="38100" dir="2700000" algn="tl">
                              <a:srgbClr val="000000">
                                <a:alpha val="43137"/>
                              </a:srgbClr>
                            </a:outerShdw>
                          </a:effectLst>
                        </a:rPr>
                        <a:t>＜</a:t>
                      </a:r>
                      <a:r>
                        <a:rPr lang="en-US" altLang="zh-CN" sz="2000" b="1">
                          <a:solidFill>
                            <a:schemeClr val="tx1">
                              <a:lumMod val="95000"/>
                              <a:lumOff val="5000"/>
                            </a:schemeClr>
                          </a:solidFill>
                          <a:effectLst>
                            <a:outerShdw blurRad="38100" dist="38100" dir="2700000" algn="tl">
                              <a:srgbClr val="000000">
                                <a:alpha val="43137"/>
                              </a:srgbClr>
                            </a:outerShdw>
                          </a:effectLst>
                        </a:rPr>
                        <a:t>10</a:t>
                      </a:r>
                      <a:endParaRPr lang="zh-CN" altLang="en-US" sz="2000" b="1">
                        <a:solidFill>
                          <a:schemeClr val="tx1">
                            <a:lumMod val="95000"/>
                            <a:lumOff val="5000"/>
                          </a:schemeClr>
                        </a:solidFill>
                        <a:effectLst>
                          <a:outerShdw blurRad="38100" dist="38100" dir="2700000" algn="tl">
                            <a:srgbClr val="000000">
                              <a:alpha val="43137"/>
                            </a:srgbClr>
                          </a:outerShdw>
                        </a:effectLs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1">
                          <a:solidFill>
                            <a:schemeClr val="accent6">
                              <a:lumMod val="75000"/>
                            </a:schemeClr>
                          </a:solidFill>
                          <a:effectLst>
                            <a:outerShdw blurRad="38100" dist="38100" dir="2700000" algn="tl">
                              <a:srgbClr val="000000">
                                <a:alpha val="43137"/>
                              </a:srgbClr>
                            </a:outerShdw>
                          </a:effectLst>
                          <a:latin typeface="方正姚体" panose="02010601030101010101" pitchFamily="2" charset="-122"/>
                          <a:ea typeface="方正姚体" panose="02010601030101010101" pitchFamily="2" charset="-122"/>
                        </a:rPr>
                        <a:t>√</a:t>
                      </a:r>
                    </a:p>
                    <a:p>
                      <a:pPr algn="ctr"/>
                      <a:endParaRPr lang="zh-CN" altLang="en-US" sz="2400" b="1">
                        <a:solidFill>
                          <a:schemeClr val="accent6">
                            <a:lumMod val="75000"/>
                          </a:schemeClr>
                        </a:solidFill>
                        <a:effectLst>
                          <a:outerShdw blurRad="38100" dist="38100" dir="2700000" algn="tl">
                            <a:srgbClr val="000000">
                              <a:alpha val="43137"/>
                            </a:srgbClr>
                          </a:outerShdw>
                        </a:effectLst>
                        <a:latin typeface="方正姚体" panose="02010601030101010101" pitchFamily="2" charset="-122"/>
                        <a:ea typeface="方正姚体" panose="02010601030101010101" pitchFamily="2" charset="-122"/>
                      </a:endParaRPr>
                    </a:p>
                  </a:txBody>
                  <a:tcPr/>
                </a:tc>
                <a:extLst>
                  <a:ext uri="{0D108BD9-81ED-4DB2-BD59-A6C34878D82A}">
                    <a16:rowId xmlns:a16="http://schemas.microsoft.com/office/drawing/2014/main" val="2077589826"/>
                  </a:ext>
                </a:extLst>
              </a:tr>
            </a:tbl>
          </a:graphicData>
        </a:graphic>
      </p:graphicFrame>
      <p:cxnSp>
        <p:nvCxnSpPr>
          <p:cNvPr id="12" name="直接连接符 11">
            <a:extLst>
              <a:ext uri="{FF2B5EF4-FFF2-40B4-BE49-F238E27FC236}">
                <a16:creationId xmlns:a16="http://schemas.microsoft.com/office/drawing/2014/main" id="{B33F6678-1732-46A1-B672-7D2690504BE3}"/>
              </a:ext>
            </a:extLst>
          </p:cNvPr>
          <p:cNvCxnSpPr/>
          <p:nvPr/>
        </p:nvCxnSpPr>
        <p:spPr>
          <a:xfrm flipH="1">
            <a:off x="5901884" y="3455665"/>
            <a:ext cx="19050" cy="1079500"/>
          </a:xfrm>
          <a:prstGeom prst="line">
            <a:avLst/>
          </a:prstGeom>
          <a:ln w="50800">
            <a:solidFill>
              <a:srgbClr val="4F4F4F"/>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024F17FC-9CA2-446C-A280-8910F8906D14}"/>
              </a:ext>
            </a:extLst>
          </p:cNvPr>
          <p:cNvSpPr/>
          <p:nvPr/>
        </p:nvSpPr>
        <p:spPr>
          <a:xfrm>
            <a:off x="245074" y="2471981"/>
            <a:ext cx="5449233" cy="3139321"/>
          </a:xfrm>
          <a:prstGeom prst="rect">
            <a:avLst/>
          </a:prstGeom>
        </p:spPr>
        <p:txBody>
          <a:bodyPr wrap="square">
            <a:spAutoFit/>
          </a:bodyPr>
          <a:lstStyle/>
          <a:p>
            <a:pPr marL="800100" lvl="1" indent="-342900">
              <a:buFont typeface="Wingdings" panose="05000000000000000000" pitchFamily="2" charset="2"/>
              <a:buChar char="n"/>
            </a:pPr>
            <a:r>
              <a:rPr lang="zh-CN" altLang="en-US">
                <a:solidFill>
                  <a:schemeClr val="tx1">
                    <a:lumMod val="85000"/>
                    <a:lumOff val="15000"/>
                  </a:schemeClr>
                </a:solidFill>
                <a:latin typeface="+mn-ea"/>
                <a:ea typeface="+mn-ea"/>
              </a:rPr>
              <a:t>目前没有商用动物用促红素，皆为人重组促红素。</a:t>
            </a:r>
            <a:endParaRPr lang="en-US" altLang="zh-CN">
              <a:solidFill>
                <a:schemeClr val="tx1">
                  <a:lumMod val="85000"/>
                  <a:lumOff val="15000"/>
                </a:schemeClr>
              </a:solidFill>
              <a:latin typeface="+mn-ea"/>
              <a:ea typeface="+mn-ea"/>
            </a:endParaRPr>
          </a:p>
          <a:p>
            <a:pPr marL="800100" lvl="1" indent="-342900">
              <a:buFont typeface="Wingdings" panose="05000000000000000000" pitchFamily="2" charset="2"/>
              <a:buChar char="n"/>
            </a:pPr>
            <a:r>
              <a:rPr lang="zh-CN" altLang="en-US">
                <a:solidFill>
                  <a:schemeClr val="tx1">
                    <a:lumMod val="85000"/>
                    <a:lumOff val="15000"/>
                  </a:schemeClr>
                </a:solidFill>
                <a:latin typeface="+mn-ea"/>
                <a:ea typeface="+mn-ea"/>
              </a:rPr>
              <a:t>促红素缺乏造成的贫血一定是非再生性贫血</a:t>
            </a:r>
            <a:r>
              <a:rPr lang="en-US" altLang="zh-CN">
                <a:solidFill>
                  <a:schemeClr val="tx1">
                    <a:lumMod val="85000"/>
                    <a:lumOff val="15000"/>
                  </a:schemeClr>
                </a:solidFill>
                <a:latin typeface="+mn-ea"/>
                <a:ea typeface="+mn-ea"/>
              </a:rPr>
              <a:t>,</a:t>
            </a:r>
            <a:r>
              <a:rPr lang="zh-CN" altLang="en-US">
                <a:solidFill>
                  <a:schemeClr val="tx1">
                    <a:lumMod val="85000"/>
                    <a:lumOff val="15000"/>
                  </a:schemeClr>
                </a:solidFill>
                <a:latin typeface="+mn-ea"/>
                <a:ea typeface="+mn-ea"/>
              </a:rPr>
              <a:t>避免遇到贫血无脑用。</a:t>
            </a:r>
            <a:endParaRPr lang="en-US" altLang="zh-CN">
              <a:solidFill>
                <a:schemeClr val="tx1">
                  <a:lumMod val="85000"/>
                  <a:lumOff val="15000"/>
                </a:schemeClr>
              </a:solidFill>
              <a:latin typeface="+mn-ea"/>
              <a:ea typeface="+mn-ea"/>
            </a:endParaRPr>
          </a:p>
          <a:p>
            <a:pPr marL="800100" lvl="1" indent="-342900">
              <a:buFont typeface="Wingdings" panose="05000000000000000000" pitchFamily="2" charset="2"/>
              <a:buChar char="n"/>
            </a:pPr>
            <a:r>
              <a:rPr lang="zh-CN" altLang="en-US">
                <a:solidFill>
                  <a:schemeClr val="tx1">
                    <a:lumMod val="85000"/>
                    <a:lumOff val="15000"/>
                  </a:schemeClr>
                </a:solidFill>
                <a:latin typeface="+mn-ea"/>
                <a:ea typeface="+mn-ea"/>
              </a:rPr>
              <a:t>促红素有效，</a:t>
            </a:r>
            <a:r>
              <a:rPr lang="zh-CN" altLang="en-US">
                <a:solidFill>
                  <a:srgbClr val="C00000"/>
                </a:solidFill>
                <a:latin typeface="+mn-ea"/>
                <a:ea typeface="+mn-ea"/>
              </a:rPr>
              <a:t>但绝非越早用越好</a:t>
            </a:r>
            <a:r>
              <a:rPr lang="zh-CN" altLang="en-US">
                <a:solidFill>
                  <a:schemeClr val="tx1">
                    <a:lumMod val="85000"/>
                    <a:lumOff val="15000"/>
                  </a:schemeClr>
                </a:solidFill>
                <a:latin typeface="+mn-ea"/>
                <a:ea typeface="+mn-ea"/>
              </a:rPr>
              <a:t>。使用后约有</a:t>
            </a:r>
            <a:r>
              <a:rPr lang="en-US" altLang="zh-CN">
                <a:solidFill>
                  <a:schemeClr val="tx1">
                    <a:lumMod val="85000"/>
                    <a:lumOff val="15000"/>
                  </a:schemeClr>
                </a:solidFill>
                <a:latin typeface="+mn-ea"/>
                <a:ea typeface="+mn-ea"/>
              </a:rPr>
              <a:t>10-30%</a:t>
            </a:r>
            <a:r>
              <a:rPr lang="zh-CN" altLang="en-US">
                <a:solidFill>
                  <a:schemeClr val="tx1">
                    <a:lumMod val="85000"/>
                    <a:lumOff val="15000"/>
                  </a:schemeClr>
                </a:solidFill>
                <a:latin typeface="+mn-ea"/>
                <a:ea typeface="+mn-ea"/>
              </a:rPr>
              <a:t>的猫会产生针对性抗体。</a:t>
            </a:r>
            <a:endParaRPr lang="en-US" altLang="zh-CN">
              <a:solidFill>
                <a:schemeClr val="tx1">
                  <a:lumMod val="85000"/>
                  <a:lumOff val="15000"/>
                </a:schemeClr>
              </a:solidFill>
              <a:latin typeface="+mn-ea"/>
              <a:ea typeface="+mn-ea"/>
            </a:endParaRPr>
          </a:p>
          <a:p>
            <a:pPr marL="800100" lvl="1" indent="-342900">
              <a:buFont typeface="Wingdings" panose="05000000000000000000" pitchFamily="2" charset="2"/>
              <a:buChar char="n"/>
            </a:pPr>
            <a:r>
              <a:rPr lang="zh-CN" altLang="en-US">
                <a:solidFill>
                  <a:schemeClr val="tx1">
                    <a:lumMod val="85000"/>
                    <a:lumOff val="15000"/>
                  </a:schemeClr>
                </a:solidFill>
                <a:latin typeface="+mn-ea"/>
                <a:ea typeface="+mn-ea"/>
              </a:rPr>
              <a:t>必须使用超过</a:t>
            </a:r>
            <a:r>
              <a:rPr lang="en-US" altLang="zh-CN">
                <a:solidFill>
                  <a:schemeClr val="tx1">
                    <a:lumMod val="85000"/>
                    <a:lumOff val="15000"/>
                  </a:schemeClr>
                </a:solidFill>
                <a:latin typeface="+mn-ea"/>
                <a:ea typeface="+mn-ea"/>
              </a:rPr>
              <a:t>3</a:t>
            </a:r>
            <a:r>
              <a:rPr lang="zh-CN" altLang="en-US">
                <a:solidFill>
                  <a:schemeClr val="tx1">
                    <a:lumMod val="85000"/>
                    <a:lumOff val="15000"/>
                  </a:schemeClr>
                </a:solidFill>
                <a:latin typeface="+mn-ea"/>
                <a:ea typeface="+mn-ea"/>
              </a:rPr>
              <a:t>个月才会产生这类抗体。</a:t>
            </a:r>
            <a:endParaRPr lang="en-US" altLang="zh-CN">
              <a:solidFill>
                <a:schemeClr val="tx1">
                  <a:lumMod val="85000"/>
                  <a:lumOff val="15000"/>
                </a:schemeClr>
              </a:solidFill>
              <a:latin typeface="+mn-ea"/>
              <a:ea typeface="+mn-ea"/>
            </a:endParaRPr>
          </a:p>
          <a:p>
            <a:pPr marL="800100" lvl="1" indent="-342900">
              <a:buFont typeface="Wingdings" panose="05000000000000000000" pitchFamily="2" charset="2"/>
              <a:buChar char="n"/>
            </a:pPr>
            <a:r>
              <a:rPr lang="zh-CN" altLang="en-US">
                <a:solidFill>
                  <a:schemeClr val="tx1">
                    <a:lumMod val="85000"/>
                    <a:lumOff val="15000"/>
                  </a:schemeClr>
                </a:solidFill>
                <a:latin typeface="+mn-ea"/>
                <a:ea typeface="+mn-ea"/>
              </a:rPr>
              <a:t>出现抗体后，即便继续注射</a:t>
            </a:r>
            <a:r>
              <a:rPr lang="en-US" altLang="zh-CN">
                <a:solidFill>
                  <a:schemeClr val="tx1">
                    <a:lumMod val="85000"/>
                    <a:lumOff val="15000"/>
                  </a:schemeClr>
                </a:solidFill>
                <a:latin typeface="+mn-ea"/>
                <a:ea typeface="+mn-ea"/>
              </a:rPr>
              <a:t>EPO</a:t>
            </a:r>
            <a:r>
              <a:rPr lang="zh-CN" altLang="en-US">
                <a:solidFill>
                  <a:schemeClr val="tx1">
                    <a:lumMod val="85000"/>
                    <a:lumOff val="15000"/>
                  </a:schemeClr>
                </a:solidFill>
                <a:latin typeface="+mn-ea"/>
                <a:ea typeface="+mn-ea"/>
              </a:rPr>
              <a:t>，</a:t>
            </a:r>
            <a:r>
              <a:rPr lang="en-US" altLang="zh-CN">
                <a:solidFill>
                  <a:schemeClr val="tx1">
                    <a:lumMod val="85000"/>
                    <a:lumOff val="15000"/>
                  </a:schemeClr>
                </a:solidFill>
                <a:latin typeface="+mn-ea"/>
                <a:ea typeface="+mn-ea"/>
              </a:rPr>
              <a:t>HCT</a:t>
            </a:r>
            <a:r>
              <a:rPr lang="zh-CN" altLang="en-US">
                <a:solidFill>
                  <a:schemeClr val="tx1">
                    <a:lumMod val="85000"/>
                    <a:lumOff val="15000"/>
                  </a:schemeClr>
                </a:solidFill>
                <a:latin typeface="+mn-ea"/>
                <a:ea typeface="+mn-ea"/>
              </a:rPr>
              <a:t>指标也会以每个月</a:t>
            </a:r>
            <a:r>
              <a:rPr lang="en-US" altLang="zh-CN">
                <a:solidFill>
                  <a:schemeClr val="tx1">
                    <a:lumMod val="85000"/>
                    <a:lumOff val="15000"/>
                  </a:schemeClr>
                </a:solidFill>
                <a:latin typeface="+mn-ea"/>
                <a:ea typeface="+mn-ea"/>
              </a:rPr>
              <a:t>5-10%</a:t>
            </a:r>
            <a:r>
              <a:rPr lang="zh-CN" altLang="en-US">
                <a:solidFill>
                  <a:schemeClr val="tx1">
                    <a:lumMod val="85000"/>
                    <a:lumOff val="15000"/>
                  </a:schemeClr>
                </a:solidFill>
                <a:latin typeface="+mn-ea"/>
                <a:ea typeface="+mn-ea"/>
              </a:rPr>
              <a:t>的速度下降。</a:t>
            </a:r>
            <a:endParaRPr lang="en-US" altLang="zh-CN">
              <a:solidFill>
                <a:schemeClr val="tx1">
                  <a:lumMod val="85000"/>
                  <a:lumOff val="15000"/>
                </a:schemeClr>
              </a:solidFill>
              <a:latin typeface="+mn-ea"/>
              <a:ea typeface="+mn-ea"/>
            </a:endParaRPr>
          </a:p>
          <a:p>
            <a:pPr marL="800100" lvl="1" indent="-342900">
              <a:buFont typeface="Wingdings" panose="05000000000000000000" pitchFamily="2" charset="2"/>
              <a:buChar char="n"/>
            </a:pPr>
            <a:r>
              <a:rPr lang="zh-CN" altLang="en-US" b="1">
                <a:solidFill>
                  <a:schemeClr val="tx1">
                    <a:lumMod val="85000"/>
                    <a:lumOff val="15000"/>
                  </a:schemeClr>
                </a:solidFill>
                <a:latin typeface="+mn-ea"/>
                <a:ea typeface="+mn-ea"/>
              </a:rPr>
              <a:t>断断续续使用</a:t>
            </a:r>
            <a:r>
              <a:rPr lang="en-US" altLang="zh-CN" b="1">
                <a:solidFill>
                  <a:schemeClr val="tx1">
                    <a:lumMod val="85000"/>
                    <a:lumOff val="15000"/>
                  </a:schemeClr>
                </a:solidFill>
                <a:latin typeface="+mn-ea"/>
                <a:ea typeface="+mn-ea"/>
              </a:rPr>
              <a:t>EPO</a:t>
            </a:r>
            <a:r>
              <a:rPr lang="zh-CN" altLang="en-US" b="1">
                <a:solidFill>
                  <a:schemeClr val="tx1">
                    <a:lumMod val="85000"/>
                    <a:lumOff val="15000"/>
                  </a:schemeClr>
                </a:solidFill>
                <a:latin typeface="+mn-ea"/>
                <a:ea typeface="+mn-ea"/>
              </a:rPr>
              <a:t>并不能减少抗体产生几率，反而会增加。肾病猫使用</a:t>
            </a:r>
            <a:r>
              <a:rPr lang="en-US" altLang="zh-CN" b="1">
                <a:solidFill>
                  <a:schemeClr val="tx1">
                    <a:lumMod val="85000"/>
                    <a:lumOff val="15000"/>
                  </a:schemeClr>
                </a:solidFill>
                <a:latin typeface="+mn-ea"/>
                <a:ea typeface="+mn-ea"/>
              </a:rPr>
              <a:t>EPO</a:t>
            </a:r>
            <a:r>
              <a:rPr lang="zh-CN" altLang="en-US" b="1">
                <a:solidFill>
                  <a:schemeClr val="tx1">
                    <a:lumMod val="85000"/>
                    <a:lumOff val="15000"/>
                  </a:schemeClr>
                </a:solidFill>
                <a:latin typeface="+mn-ea"/>
                <a:ea typeface="+mn-ea"/>
              </a:rPr>
              <a:t>必须持续</a:t>
            </a:r>
            <a:r>
              <a:rPr lang="zh-CN" altLang="en-US">
                <a:solidFill>
                  <a:schemeClr val="tx1">
                    <a:lumMod val="85000"/>
                    <a:lumOff val="15000"/>
                  </a:schemeClr>
                </a:solidFill>
                <a:latin typeface="+mn-ea"/>
                <a:ea typeface="+mn-ea"/>
              </a:rPr>
              <a:t>。</a:t>
            </a:r>
            <a:endParaRPr lang="en-US" altLang="zh-CN">
              <a:solidFill>
                <a:schemeClr val="tx1">
                  <a:lumMod val="85000"/>
                  <a:lumOff val="15000"/>
                </a:schemeClr>
              </a:solidFill>
              <a:latin typeface="+mn-ea"/>
              <a:ea typeface="+mn-ea"/>
            </a:endParaRPr>
          </a:p>
        </p:txBody>
      </p:sp>
    </p:spTree>
    <p:extLst>
      <p:ext uri="{BB962C8B-B14F-4D97-AF65-F5344CB8AC3E}">
        <p14:creationId xmlns:p14="http://schemas.microsoft.com/office/powerpoint/2010/main" val="244931410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p:cNvPr>
          <p:cNvGrpSpPr/>
          <p:nvPr/>
        </p:nvGrpSpPr>
        <p:grpSpPr>
          <a:xfrm>
            <a:off x="4871863" y="397645"/>
            <a:ext cx="7320137" cy="1035882"/>
            <a:chOff x="8112223" y="330677"/>
            <a:chExt cx="4194115" cy="1035882"/>
          </a:xfrm>
          <a:effectLst>
            <a:outerShdw blurRad="50800" dist="38100" dir="5400000" algn="t" rotWithShape="0">
              <a:prstClr val="black">
                <a:alpha val="40000"/>
              </a:prstClr>
            </a:outerShdw>
          </a:effectLst>
        </p:grpSpPr>
        <p:sp>
          <p:nvSpPr>
            <p:cNvPr id="27"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8281096" y="330677"/>
              <a:ext cx="3998285" cy="985057"/>
              <a:chOff x="-461843" y="2729730"/>
              <a:chExt cx="4709449" cy="1377463"/>
            </a:xfrm>
          </p:grpSpPr>
          <p:sp>
            <p:nvSpPr>
              <p:cNvPr id="29"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1384780" y="3006840"/>
                <a:ext cx="2862826" cy="81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latin typeface="+mn-lt"/>
                    <a:ea typeface="+mn-ea"/>
                    <a:cs typeface="+mn-ea"/>
                    <a:sym typeface="+mn-lt"/>
                  </a:rPr>
                  <a:t>猫慢性肾病：贫血治疗之</a:t>
                </a:r>
                <a:r>
                  <a:rPr lang="en-US" altLang="zh-CN" sz="2400" b="1">
                    <a:solidFill>
                      <a:srgbClr val="010101"/>
                    </a:solidFill>
                    <a:latin typeface="+mn-lt"/>
                    <a:ea typeface="+mn-ea"/>
                    <a:cs typeface="+mn-ea"/>
                    <a:sym typeface="+mn-lt"/>
                  </a:rPr>
                  <a:t>EPO</a:t>
                </a:r>
              </a:p>
            </p:txBody>
          </p:sp>
          <p:cxnSp>
            <p:nvCxnSpPr>
              <p:cNvPr id="31" name="直接连接符 30">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506334" y="3461620"/>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sp>
        <p:nvSpPr>
          <p:cNvPr id="19" name="文本框 18">
            <a:extLst>
              <a:ext uri="{FF2B5EF4-FFF2-40B4-BE49-F238E27FC236}">
                <a16:creationId xmlns:a16="http://schemas.microsoft.com/office/drawing/2014/main" id="{AEE01461-EC3B-414C-A38D-6413179E4729}"/>
              </a:ext>
            </a:extLst>
          </p:cNvPr>
          <p:cNvSpPr txBox="1"/>
          <p:nvPr/>
        </p:nvSpPr>
        <p:spPr>
          <a:xfrm>
            <a:off x="6479416" y="2691339"/>
            <a:ext cx="3600400" cy="2926486"/>
          </a:xfrm>
          <a:prstGeom prst="rect">
            <a:avLst/>
          </a:prstGeom>
          <a:noFill/>
        </p:spPr>
        <p:txBody>
          <a:bodyPr wrap="square" rtlCol="0">
            <a:spAutoFit/>
          </a:bodyPr>
          <a:lstStyle/>
          <a:p>
            <a:endParaRPr lang="zh-CN" altLang="en-US"/>
          </a:p>
        </p:txBody>
      </p:sp>
      <p:sp>
        <p:nvSpPr>
          <p:cNvPr id="22" name="文本框 21">
            <a:extLst>
              <a:ext uri="{FF2B5EF4-FFF2-40B4-BE49-F238E27FC236}">
                <a16:creationId xmlns:a16="http://schemas.microsoft.com/office/drawing/2014/main" id="{8680B877-2955-48DE-9D87-E34A49E6BB54}"/>
              </a:ext>
            </a:extLst>
          </p:cNvPr>
          <p:cNvSpPr txBox="1"/>
          <p:nvPr/>
        </p:nvSpPr>
        <p:spPr>
          <a:xfrm>
            <a:off x="3593421" y="2093085"/>
            <a:ext cx="7975187" cy="584775"/>
          </a:xfrm>
          <a:prstGeom prst="rect">
            <a:avLst/>
          </a:prstGeom>
          <a:noFill/>
        </p:spPr>
        <p:txBody>
          <a:bodyPr wrap="square" rtlCol="0">
            <a:spAutoFit/>
          </a:bodyPr>
          <a:lstStyle/>
          <a:p>
            <a:pPr lvl="1"/>
            <a:endParaRPr lang="en-US" altLang="zh-CN" sz="1600" b="1">
              <a:solidFill>
                <a:schemeClr val="bg1">
                  <a:lumMod val="95000"/>
                </a:schemeClr>
              </a:solidFill>
              <a:effectLst>
                <a:outerShdw blurRad="38100" dist="38100" dir="2700000" algn="tl">
                  <a:srgbClr val="000000">
                    <a:alpha val="43137"/>
                  </a:srgbClr>
                </a:outerShdw>
              </a:effectLst>
              <a:latin typeface="+mj-ea"/>
              <a:ea typeface="+mj-ea"/>
            </a:endParaRPr>
          </a:p>
          <a:p>
            <a:pPr lvl="1"/>
            <a:endParaRPr lang="en-US" altLang="zh-CN" sz="1600" b="1">
              <a:solidFill>
                <a:schemeClr val="bg1"/>
              </a:solidFill>
              <a:effectLst>
                <a:outerShdw blurRad="38100" dist="38100" dir="2700000" algn="tl">
                  <a:srgbClr val="000000">
                    <a:alpha val="43137"/>
                  </a:srgbClr>
                </a:outerShdw>
              </a:effectLst>
              <a:latin typeface="+mj-ea"/>
              <a:ea typeface="+mj-ea"/>
            </a:endParaRPr>
          </a:p>
        </p:txBody>
      </p:sp>
      <p:cxnSp>
        <p:nvCxnSpPr>
          <p:cNvPr id="12" name="直接连接符 11">
            <a:extLst>
              <a:ext uri="{FF2B5EF4-FFF2-40B4-BE49-F238E27FC236}">
                <a16:creationId xmlns:a16="http://schemas.microsoft.com/office/drawing/2014/main" id="{B33F6678-1732-46A1-B672-7D2690504BE3}"/>
              </a:ext>
            </a:extLst>
          </p:cNvPr>
          <p:cNvCxnSpPr/>
          <p:nvPr/>
        </p:nvCxnSpPr>
        <p:spPr>
          <a:xfrm flipH="1">
            <a:off x="5375920" y="3409181"/>
            <a:ext cx="19050" cy="1079500"/>
          </a:xfrm>
          <a:prstGeom prst="line">
            <a:avLst/>
          </a:prstGeom>
          <a:ln w="50800">
            <a:solidFill>
              <a:srgbClr val="4F4F4F"/>
            </a:solidFill>
          </a:ln>
        </p:spPr>
        <p:style>
          <a:lnRef idx="1">
            <a:schemeClr val="accent1"/>
          </a:lnRef>
          <a:fillRef idx="0">
            <a:schemeClr val="accent1"/>
          </a:fillRef>
          <a:effectRef idx="0">
            <a:schemeClr val="accent1"/>
          </a:effectRef>
          <a:fontRef idx="minor">
            <a:schemeClr val="tx1"/>
          </a:fontRef>
        </p:style>
      </p:cxnSp>
      <p:pic>
        <p:nvPicPr>
          <p:cNvPr id="5" name="图片 4">
            <a:extLst>
              <a:ext uri="{FF2B5EF4-FFF2-40B4-BE49-F238E27FC236}">
                <a16:creationId xmlns:a16="http://schemas.microsoft.com/office/drawing/2014/main" id="{82A51613-7997-4938-8F92-DD684EE540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9416" y="2376319"/>
            <a:ext cx="4145615" cy="2495744"/>
          </a:xfrm>
          <a:prstGeom prst="rect">
            <a:avLst/>
          </a:prstGeom>
        </p:spPr>
      </p:pic>
      <p:sp>
        <p:nvSpPr>
          <p:cNvPr id="6" name="文本框 5">
            <a:extLst>
              <a:ext uri="{FF2B5EF4-FFF2-40B4-BE49-F238E27FC236}">
                <a16:creationId xmlns:a16="http://schemas.microsoft.com/office/drawing/2014/main" id="{3AF05D8E-3B24-4C44-9863-C5EDBF5ADBC2}"/>
              </a:ext>
            </a:extLst>
          </p:cNvPr>
          <p:cNvSpPr txBox="1"/>
          <p:nvPr/>
        </p:nvSpPr>
        <p:spPr>
          <a:xfrm>
            <a:off x="1271464" y="4687397"/>
            <a:ext cx="3024336" cy="1477328"/>
          </a:xfrm>
          <a:prstGeom prst="rect">
            <a:avLst/>
          </a:prstGeom>
          <a:noFill/>
        </p:spPr>
        <p:txBody>
          <a:bodyPr wrap="square" rtlCol="0">
            <a:spAutoFit/>
          </a:bodyPr>
          <a:lstStyle/>
          <a:p>
            <a:pPr marL="285750" indent="-285750">
              <a:buFont typeface="Wingdings" panose="05000000000000000000" pitchFamily="2" charset="2"/>
              <a:buChar char="u"/>
            </a:pPr>
            <a:r>
              <a:rPr lang="zh-CN" altLang="en-US" b="1">
                <a:solidFill>
                  <a:schemeClr val="accent2">
                    <a:lumMod val="75000"/>
                  </a:schemeClr>
                </a:solidFill>
                <a:latin typeface="+mj-ea"/>
                <a:ea typeface="+mj-ea"/>
              </a:rPr>
              <a:t>需要冷藏并对震动敏感，网购不便</a:t>
            </a:r>
            <a:endParaRPr lang="en-US" altLang="zh-CN" b="1">
              <a:solidFill>
                <a:schemeClr val="accent2">
                  <a:lumMod val="75000"/>
                </a:schemeClr>
              </a:solidFill>
              <a:latin typeface="+mj-ea"/>
              <a:ea typeface="+mj-ea"/>
            </a:endParaRPr>
          </a:p>
          <a:p>
            <a:pPr marL="285750" indent="-285750">
              <a:buFont typeface="Wingdings" panose="05000000000000000000" pitchFamily="2" charset="2"/>
              <a:buChar char="u"/>
            </a:pPr>
            <a:r>
              <a:rPr lang="zh-CN" altLang="en-US" b="1">
                <a:solidFill>
                  <a:schemeClr val="accent2">
                    <a:lumMod val="75000"/>
                  </a:schemeClr>
                </a:solidFill>
                <a:latin typeface="+mj-ea"/>
                <a:ea typeface="+mj-ea"/>
              </a:rPr>
              <a:t>人用剂量偏大需要注意</a:t>
            </a:r>
            <a:endParaRPr lang="en-US" altLang="zh-CN" b="1">
              <a:solidFill>
                <a:schemeClr val="accent2">
                  <a:lumMod val="75000"/>
                </a:schemeClr>
              </a:solidFill>
              <a:latin typeface="+mj-ea"/>
              <a:ea typeface="+mj-ea"/>
            </a:endParaRPr>
          </a:p>
          <a:p>
            <a:pPr marL="285750" indent="-285750">
              <a:buFont typeface="Wingdings" panose="05000000000000000000" pitchFamily="2" charset="2"/>
              <a:buChar char="u"/>
            </a:pPr>
            <a:r>
              <a:rPr lang="zh-CN" altLang="en-US" b="1">
                <a:solidFill>
                  <a:schemeClr val="accent2">
                    <a:lumMod val="75000"/>
                  </a:schemeClr>
                </a:solidFill>
                <a:latin typeface="+mj-ea"/>
                <a:ea typeface="+mj-ea"/>
              </a:rPr>
              <a:t>可能造成高血压</a:t>
            </a:r>
            <a:endParaRPr lang="en-US" altLang="zh-CN" b="1">
              <a:solidFill>
                <a:schemeClr val="accent2">
                  <a:lumMod val="75000"/>
                </a:schemeClr>
              </a:solidFill>
              <a:latin typeface="+mj-ea"/>
              <a:ea typeface="+mj-ea"/>
            </a:endParaRPr>
          </a:p>
          <a:p>
            <a:pPr marL="285750" indent="-285750">
              <a:buFont typeface="Wingdings" panose="05000000000000000000" pitchFamily="2" charset="2"/>
              <a:buChar char="u"/>
            </a:pPr>
            <a:r>
              <a:rPr lang="zh-CN" altLang="en-US" b="1">
                <a:solidFill>
                  <a:schemeClr val="accent2">
                    <a:lumMod val="75000"/>
                  </a:schemeClr>
                </a:solidFill>
                <a:latin typeface="+mj-ea"/>
                <a:ea typeface="+mj-ea"/>
              </a:rPr>
              <a:t>未经医师指导别自己瞎打</a:t>
            </a:r>
          </a:p>
        </p:txBody>
      </p:sp>
      <p:graphicFrame>
        <p:nvGraphicFramePr>
          <p:cNvPr id="7" name="表格 6">
            <a:extLst>
              <a:ext uri="{FF2B5EF4-FFF2-40B4-BE49-F238E27FC236}">
                <a16:creationId xmlns:a16="http://schemas.microsoft.com/office/drawing/2014/main" id="{64F58521-9FD2-4D60-90EB-DC36AA49F9CB}"/>
              </a:ext>
            </a:extLst>
          </p:cNvPr>
          <p:cNvGraphicFramePr>
            <a:graphicFrameLocks noGrp="1"/>
          </p:cNvGraphicFramePr>
          <p:nvPr>
            <p:extLst>
              <p:ext uri="{D42A27DB-BD31-4B8C-83A1-F6EECF244321}">
                <p14:modId xmlns:p14="http://schemas.microsoft.com/office/powerpoint/2010/main" val="1255614956"/>
              </p:ext>
            </p:extLst>
          </p:nvPr>
        </p:nvGraphicFramePr>
        <p:xfrm>
          <a:off x="5773655" y="2636249"/>
          <a:ext cx="5743730" cy="1781247"/>
        </p:xfrm>
        <a:graphic>
          <a:graphicData uri="http://schemas.openxmlformats.org/drawingml/2006/table">
            <a:tbl>
              <a:tblPr firstRow="1" bandRow="1">
                <a:tableStyleId>{5C22544A-7EE6-4342-B048-85BDC9FD1C3A}</a:tableStyleId>
              </a:tblPr>
              <a:tblGrid>
                <a:gridCol w="1454120">
                  <a:extLst>
                    <a:ext uri="{9D8B030D-6E8A-4147-A177-3AD203B41FA5}">
                      <a16:colId xmlns:a16="http://schemas.microsoft.com/office/drawing/2014/main" val="1328093700"/>
                    </a:ext>
                  </a:extLst>
                </a:gridCol>
                <a:gridCol w="1429870">
                  <a:extLst>
                    <a:ext uri="{9D8B030D-6E8A-4147-A177-3AD203B41FA5}">
                      <a16:colId xmlns:a16="http://schemas.microsoft.com/office/drawing/2014/main" val="267340959"/>
                    </a:ext>
                  </a:extLst>
                </a:gridCol>
                <a:gridCol w="1429870">
                  <a:extLst>
                    <a:ext uri="{9D8B030D-6E8A-4147-A177-3AD203B41FA5}">
                      <a16:colId xmlns:a16="http://schemas.microsoft.com/office/drawing/2014/main" val="2608185291"/>
                    </a:ext>
                  </a:extLst>
                </a:gridCol>
                <a:gridCol w="1429870">
                  <a:extLst>
                    <a:ext uri="{9D8B030D-6E8A-4147-A177-3AD203B41FA5}">
                      <a16:colId xmlns:a16="http://schemas.microsoft.com/office/drawing/2014/main" val="728667161"/>
                    </a:ext>
                  </a:extLst>
                </a:gridCol>
              </a:tblGrid>
              <a:tr h="440721">
                <a:tc>
                  <a:txBody>
                    <a:bodyPr/>
                    <a:lstStyle/>
                    <a:p>
                      <a:r>
                        <a:rPr lang="en-US" altLang="zh-CN"/>
                        <a:t>EPO</a:t>
                      </a:r>
                      <a:endParaRPr lang="zh-CN" altLang="en-US"/>
                    </a:p>
                  </a:txBody>
                  <a:tcPr/>
                </a:tc>
                <a:tc gridSpan="3">
                  <a:txBody>
                    <a:bodyPr/>
                    <a:lstStyle/>
                    <a:p>
                      <a:pPr algn="ctr"/>
                      <a:r>
                        <a:rPr lang="zh-CN" altLang="en-US"/>
                        <a:t>猫体重</a:t>
                      </a:r>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196931734"/>
                  </a:ext>
                </a:extLst>
              </a:tr>
              <a:tr h="446842">
                <a:tc>
                  <a:txBody>
                    <a:bodyPr/>
                    <a:lstStyle/>
                    <a:p>
                      <a:r>
                        <a:rPr lang="zh-CN" altLang="en-US" b="1">
                          <a:effectLst>
                            <a:outerShdw blurRad="38100" dist="38100" dir="2700000" algn="tl">
                              <a:srgbClr val="000000">
                                <a:alpha val="43137"/>
                              </a:srgbClr>
                            </a:outerShdw>
                          </a:effectLst>
                        </a:rPr>
                        <a:t>含量</a:t>
                      </a:r>
                    </a:p>
                  </a:txBody>
                  <a:tcPr/>
                </a:tc>
                <a:tc>
                  <a:txBody>
                    <a:bodyPr/>
                    <a:lstStyle/>
                    <a:p>
                      <a:r>
                        <a:rPr lang="en-US" altLang="zh-CN" b="1">
                          <a:effectLst>
                            <a:outerShdw blurRad="38100" dist="38100" dir="2700000" algn="tl">
                              <a:srgbClr val="000000">
                                <a:alpha val="43137"/>
                              </a:srgbClr>
                            </a:outerShdw>
                          </a:effectLst>
                        </a:rPr>
                        <a:t>2kg</a:t>
                      </a:r>
                      <a:endParaRPr lang="zh-CN" altLang="en-US" b="1">
                        <a:effectLst>
                          <a:outerShdw blurRad="38100" dist="38100" dir="2700000" algn="tl">
                            <a:srgbClr val="000000">
                              <a:alpha val="43137"/>
                            </a:srgbClr>
                          </a:outerShdw>
                        </a:effectLst>
                      </a:endParaRPr>
                    </a:p>
                  </a:txBody>
                  <a:tcPr/>
                </a:tc>
                <a:tc>
                  <a:txBody>
                    <a:bodyPr/>
                    <a:lstStyle/>
                    <a:p>
                      <a:r>
                        <a:rPr lang="en-US" altLang="zh-CN" b="1">
                          <a:effectLst>
                            <a:outerShdw blurRad="38100" dist="38100" dir="2700000" algn="tl">
                              <a:srgbClr val="000000">
                                <a:alpha val="43137"/>
                              </a:srgbClr>
                            </a:outerShdw>
                          </a:effectLst>
                        </a:rPr>
                        <a:t>3kg</a:t>
                      </a:r>
                      <a:endParaRPr lang="zh-CN" altLang="en-US" b="1">
                        <a:effectLst>
                          <a:outerShdw blurRad="38100" dist="38100" dir="2700000" algn="tl">
                            <a:srgbClr val="000000">
                              <a:alpha val="43137"/>
                            </a:srgbClr>
                          </a:outerShdw>
                        </a:effectLst>
                      </a:endParaRPr>
                    </a:p>
                  </a:txBody>
                  <a:tcPr/>
                </a:tc>
                <a:tc>
                  <a:txBody>
                    <a:bodyPr/>
                    <a:lstStyle/>
                    <a:p>
                      <a:r>
                        <a:rPr lang="en-US" altLang="zh-CN" b="1">
                          <a:effectLst>
                            <a:outerShdw blurRad="38100" dist="38100" dir="2700000" algn="tl">
                              <a:srgbClr val="000000">
                                <a:alpha val="43137"/>
                              </a:srgbClr>
                            </a:outerShdw>
                          </a:effectLst>
                        </a:rPr>
                        <a:t>4kg</a:t>
                      </a:r>
                      <a:endParaRPr lang="zh-CN" altLang="en-US" b="1">
                        <a:effectLst>
                          <a:outerShdw blurRad="38100" dist="38100" dir="2700000" algn="tl">
                            <a:srgbClr val="000000">
                              <a:alpha val="43137"/>
                            </a:srgbClr>
                          </a:outerShdw>
                        </a:effectLst>
                      </a:endParaRPr>
                    </a:p>
                  </a:txBody>
                  <a:tcPr/>
                </a:tc>
                <a:extLst>
                  <a:ext uri="{0D108BD9-81ED-4DB2-BD59-A6C34878D82A}">
                    <a16:rowId xmlns:a16="http://schemas.microsoft.com/office/drawing/2014/main" val="4025277743"/>
                  </a:ext>
                </a:extLst>
              </a:tr>
              <a:tr h="446842">
                <a:tc>
                  <a:txBody>
                    <a:bodyPr/>
                    <a:lstStyle/>
                    <a:p>
                      <a:r>
                        <a:rPr lang="en-US" altLang="zh-CN"/>
                        <a:t>2000iu/1ml</a:t>
                      </a:r>
                      <a:endParaRPr lang="zh-CN" altLang="en-US"/>
                    </a:p>
                  </a:txBody>
                  <a:tcPr/>
                </a:tc>
                <a:tc>
                  <a:txBody>
                    <a:bodyPr/>
                    <a:lstStyle/>
                    <a:p>
                      <a:r>
                        <a:rPr lang="en-US" altLang="zh-CN"/>
                        <a:t>0.1ml</a:t>
                      </a:r>
                      <a:endParaRPr lang="zh-CN" altLang="en-US"/>
                    </a:p>
                  </a:txBody>
                  <a:tcPr/>
                </a:tc>
                <a:tc>
                  <a:txBody>
                    <a:bodyPr/>
                    <a:lstStyle/>
                    <a:p>
                      <a:r>
                        <a:rPr lang="en-US" altLang="zh-CN"/>
                        <a:t>0.16ml</a:t>
                      </a:r>
                      <a:endParaRPr lang="zh-CN" altLang="en-US"/>
                    </a:p>
                  </a:txBody>
                  <a:tcPr/>
                </a:tc>
                <a:tc>
                  <a:txBody>
                    <a:bodyPr/>
                    <a:lstStyle/>
                    <a:p>
                      <a:r>
                        <a:rPr lang="en-US" altLang="zh-CN"/>
                        <a:t>0.2ml</a:t>
                      </a:r>
                      <a:endParaRPr lang="zh-CN" altLang="en-US"/>
                    </a:p>
                  </a:txBody>
                  <a:tcPr/>
                </a:tc>
                <a:extLst>
                  <a:ext uri="{0D108BD9-81ED-4DB2-BD59-A6C34878D82A}">
                    <a16:rowId xmlns:a16="http://schemas.microsoft.com/office/drawing/2014/main" val="3783310552"/>
                  </a:ext>
                </a:extLst>
              </a:tr>
              <a:tr h="446842">
                <a:tc>
                  <a:txBody>
                    <a:bodyPr/>
                    <a:lstStyle/>
                    <a:p>
                      <a:r>
                        <a:rPr lang="en-US" altLang="zh-CN"/>
                        <a:t>3000iu/1ml</a:t>
                      </a:r>
                      <a:endParaRPr lang="zh-CN" altLang="en-US"/>
                    </a:p>
                  </a:txBody>
                  <a:tcPr/>
                </a:tc>
                <a:tc>
                  <a:txBody>
                    <a:bodyPr/>
                    <a:lstStyle/>
                    <a:p>
                      <a:r>
                        <a:rPr lang="en-US" altLang="zh-CN"/>
                        <a:t>0.066ml</a:t>
                      </a:r>
                      <a:endParaRPr lang="zh-CN" altLang="en-US"/>
                    </a:p>
                  </a:txBody>
                  <a:tcPr/>
                </a:tc>
                <a:tc>
                  <a:txBody>
                    <a:bodyPr/>
                    <a:lstStyle/>
                    <a:p>
                      <a:r>
                        <a:rPr lang="en-US" altLang="zh-CN"/>
                        <a:t>0.1ml</a:t>
                      </a:r>
                      <a:endParaRPr lang="zh-CN" altLang="en-US"/>
                    </a:p>
                  </a:txBody>
                  <a:tcPr/>
                </a:tc>
                <a:tc>
                  <a:txBody>
                    <a:bodyPr/>
                    <a:lstStyle/>
                    <a:p>
                      <a:r>
                        <a:rPr lang="en-US" altLang="zh-CN"/>
                        <a:t>0.13ml</a:t>
                      </a:r>
                      <a:endParaRPr lang="zh-CN" altLang="en-US"/>
                    </a:p>
                  </a:txBody>
                  <a:tcPr/>
                </a:tc>
                <a:extLst>
                  <a:ext uri="{0D108BD9-81ED-4DB2-BD59-A6C34878D82A}">
                    <a16:rowId xmlns:a16="http://schemas.microsoft.com/office/drawing/2014/main" val="402236556"/>
                  </a:ext>
                </a:extLst>
              </a:tr>
            </a:tbl>
          </a:graphicData>
        </a:graphic>
      </p:graphicFrame>
    </p:spTree>
    <p:extLst>
      <p:ext uri="{BB962C8B-B14F-4D97-AF65-F5344CB8AC3E}">
        <p14:creationId xmlns:p14="http://schemas.microsoft.com/office/powerpoint/2010/main" val="242465910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p:cNvPr>
          <p:cNvGrpSpPr/>
          <p:nvPr/>
        </p:nvGrpSpPr>
        <p:grpSpPr>
          <a:xfrm>
            <a:off x="4871863" y="397645"/>
            <a:ext cx="7320137" cy="1035882"/>
            <a:chOff x="8112223" y="330677"/>
            <a:chExt cx="4194115" cy="1035882"/>
          </a:xfrm>
          <a:effectLst>
            <a:outerShdw blurRad="50800" dist="38100" dir="5400000" algn="t" rotWithShape="0">
              <a:prstClr val="black">
                <a:alpha val="40000"/>
              </a:prstClr>
            </a:outerShdw>
          </a:effectLst>
        </p:grpSpPr>
        <p:sp>
          <p:nvSpPr>
            <p:cNvPr id="27"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8281096" y="330677"/>
              <a:ext cx="3998285" cy="985057"/>
              <a:chOff x="-461843" y="2729730"/>
              <a:chExt cx="4709449" cy="1377463"/>
            </a:xfrm>
          </p:grpSpPr>
          <p:sp>
            <p:nvSpPr>
              <p:cNvPr id="29"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1384780" y="3006840"/>
                <a:ext cx="2862826" cy="81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latin typeface="+mn-lt"/>
                    <a:ea typeface="+mn-ea"/>
                    <a:cs typeface="+mn-ea"/>
                    <a:sym typeface="+mn-lt"/>
                  </a:rPr>
                  <a:t>猫慢性肾病：贫血治疗之</a:t>
                </a:r>
                <a:r>
                  <a:rPr lang="en-US" altLang="zh-CN" sz="2400" b="1">
                    <a:solidFill>
                      <a:srgbClr val="010101"/>
                    </a:solidFill>
                    <a:latin typeface="+mn-lt"/>
                    <a:ea typeface="+mn-ea"/>
                    <a:cs typeface="+mn-ea"/>
                    <a:sym typeface="+mn-lt"/>
                  </a:rPr>
                  <a:t>EPO</a:t>
                </a:r>
              </a:p>
            </p:txBody>
          </p:sp>
          <p:cxnSp>
            <p:nvCxnSpPr>
              <p:cNvPr id="31" name="直接连接符 30">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506334" y="3461620"/>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sp>
        <p:nvSpPr>
          <p:cNvPr id="19" name="文本框 18">
            <a:extLst>
              <a:ext uri="{FF2B5EF4-FFF2-40B4-BE49-F238E27FC236}">
                <a16:creationId xmlns:a16="http://schemas.microsoft.com/office/drawing/2014/main" id="{AEE01461-EC3B-414C-A38D-6413179E4729}"/>
              </a:ext>
            </a:extLst>
          </p:cNvPr>
          <p:cNvSpPr txBox="1"/>
          <p:nvPr/>
        </p:nvSpPr>
        <p:spPr>
          <a:xfrm>
            <a:off x="6479416" y="2691339"/>
            <a:ext cx="3600400" cy="2926486"/>
          </a:xfrm>
          <a:prstGeom prst="rect">
            <a:avLst/>
          </a:prstGeom>
          <a:noFill/>
        </p:spPr>
        <p:txBody>
          <a:bodyPr wrap="square" rtlCol="0">
            <a:spAutoFit/>
          </a:bodyPr>
          <a:lstStyle/>
          <a:p>
            <a:endParaRPr lang="zh-CN" altLang="en-US"/>
          </a:p>
        </p:txBody>
      </p:sp>
      <p:sp>
        <p:nvSpPr>
          <p:cNvPr id="22" name="文本框 21">
            <a:extLst>
              <a:ext uri="{FF2B5EF4-FFF2-40B4-BE49-F238E27FC236}">
                <a16:creationId xmlns:a16="http://schemas.microsoft.com/office/drawing/2014/main" id="{8680B877-2955-48DE-9D87-E34A49E6BB54}"/>
              </a:ext>
            </a:extLst>
          </p:cNvPr>
          <p:cNvSpPr txBox="1"/>
          <p:nvPr/>
        </p:nvSpPr>
        <p:spPr>
          <a:xfrm>
            <a:off x="3620550" y="1882069"/>
            <a:ext cx="7975187" cy="584775"/>
          </a:xfrm>
          <a:prstGeom prst="rect">
            <a:avLst/>
          </a:prstGeom>
          <a:noFill/>
        </p:spPr>
        <p:txBody>
          <a:bodyPr wrap="square" rtlCol="0">
            <a:spAutoFit/>
          </a:bodyPr>
          <a:lstStyle/>
          <a:p>
            <a:pPr lvl="1"/>
            <a:endParaRPr lang="en-US" altLang="zh-CN" sz="1600" b="1">
              <a:solidFill>
                <a:schemeClr val="bg1">
                  <a:lumMod val="95000"/>
                </a:schemeClr>
              </a:solidFill>
              <a:effectLst>
                <a:outerShdw blurRad="38100" dist="38100" dir="2700000" algn="tl">
                  <a:srgbClr val="000000">
                    <a:alpha val="43137"/>
                  </a:srgbClr>
                </a:outerShdw>
              </a:effectLst>
              <a:latin typeface="+mj-ea"/>
              <a:ea typeface="+mj-ea"/>
            </a:endParaRPr>
          </a:p>
          <a:p>
            <a:pPr lvl="1"/>
            <a:endParaRPr lang="en-US" altLang="zh-CN" sz="1600" b="1">
              <a:solidFill>
                <a:schemeClr val="bg1"/>
              </a:solidFill>
              <a:effectLst>
                <a:outerShdw blurRad="38100" dist="38100" dir="2700000" algn="tl">
                  <a:srgbClr val="000000">
                    <a:alpha val="43137"/>
                  </a:srgbClr>
                </a:outerShdw>
              </a:effectLst>
              <a:latin typeface="+mj-ea"/>
              <a:ea typeface="+mj-ea"/>
            </a:endParaRPr>
          </a:p>
        </p:txBody>
      </p:sp>
      <p:cxnSp>
        <p:nvCxnSpPr>
          <p:cNvPr id="12" name="直接连接符 11">
            <a:extLst>
              <a:ext uri="{FF2B5EF4-FFF2-40B4-BE49-F238E27FC236}">
                <a16:creationId xmlns:a16="http://schemas.microsoft.com/office/drawing/2014/main" id="{B33F6678-1732-46A1-B672-7D2690504BE3}"/>
              </a:ext>
            </a:extLst>
          </p:cNvPr>
          <p:cNvCxnSpPr/>
          <p:nvPr/>
        </p:nvCxnSpPr>
        <p:spPr>
          <a:xfrm flipH="1">
            <a:off x="5375920" y="3409181"/>
            <a:ext cx="19050" cy="1079500"/>
          </a:xfrm>
          <a:prstGeom prst="line">
            <a:avLst/>
          </a:prstGeom>
          <a:ln w="50800">
            <a:solidFill>
              <a:srgbClr val="4F4F4F"/>
            </a:solidFill>
          </a:ln>
        </p:spPr>
        <p:style>
          <a:lnRef idx="1">
            <a:schemeClr val="accent1"/>
          </a:lnRef>
          <a:fillRef idx="0">
            <a:schemeClr val="accent1"/>
          </a:fillRef>
          <a:effectRef idx="0">
            <a:schemeClr val="accent1"/>
          </a:effectRef>
          <a:fontRef idx="minor">
            <a:schemeClr val="tx1"/>
          </a:fontRef>
        </p:style>
      </p:cxnSp>
      <p:pic>
        <p:nvPicPr>
          <p:cNvPr id="5" name="图片 4">
            <a:extLst>
              <a:ext uri="{FF2B5EF4-FFF2-40B4-BE49-F238E27FC236}">
                <a16:creationId xmlns:a16="http://schemas.microsoft.com/office/drawing/2014/main" id="{82A51613-7997-4938-8F92-DD684EE540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9416" y="2376319"/>
            <a:ext cx="4145615" cy="2495744"/>
          </a:xfrm>
          <a:prstGeom prst="rect">
            <a:avLst/>
          </a:prstGeom>
        </p:spPr>
      </p:pic>
      <p:sp>
        <p:nvSpPr>
          <p:cNvPr id="8" name="矩形 7">
            <a:extLst>
              <a:ext uri="{FF2B5EF4-FFF2-40B4-BE49-F238E27FC236}">
                <a16:creationId xmlns:a16="http://schemas.microsoft.com/office/drawing/2014/main" id="{5346B68B-37F7-4FD3-A30F-F28388CC2CCC}"/>
              </a:ext>
            </a:extLst>
          </p:cNvPr>
          <p:cNvSpPr/>
          <p:nvPr/>
        </p:nvSpPr>
        <p:spPr>
          <a:xfrm>
            <a:off x="5863497" y="2657787"/>
            <a:ext cx="6096000" cy="1477328"/>
          </a:xfrm>
          <a:prstGeom prst="rect">
            <a:avLst/>
          </a:prstGeom>
        </p:spPr>
        <p:txBody>
          <a:bodyPr>
            <a:spAutoFit/>
          </a:bodyPr>
          <a:lstStyle/>
          <a:p>
            <a:pPr marL="285750" indent="-285750">
              <a:buFont typeface="Wingdings" panose="05000000000000000000" pitchFamily="2" charset="2"/>
              <a:buChar char="n"/>
            </a:pPr>
            <a:r>
              <a:rPr lang="zh-CN" altLang="en-US">
                <a:latin typeface="+mj-ea"/>
                <a:ea typeface="+mj-ea"/>
              </a:rPr>
              <a:t>每公斤体重需要</a:t>
            </a:r>
            <a:r>
              <a:rPr lang="en-US" altLang="zh-CN">
                <a:latin typeface="+mj-ea"/>
                <a:ea typeface="+mj-ea"/>
              </a:rPr>
              <a:t>100iu</a:t>
            </a:r>
          </a:p>
          <a:p>
            <a:pPr marL="285750" indent="-285750">
              <a:buFont typeface="Wingdings" panose="05000000000000000000" pitchFamily="2" charset="2"/>
              <a:buChar char="n"/>
            </a:pPr>
            <a:r>
              <a:rPr lang="en-US" altLang="zh-CN">
                <a:latin typeface="+mj-ea"/>
                <a:ea typeface="+mj-ea"/>
              </a:rPr>
              <a:t>HCT</a:t>
            </a:r>
            <a:r>
              <a:rPr lang="zh-CN" altLang="en-US">
                <a:latin typeface="+mj-ea"/>
                <a:ea typeface="+mj-ea"/>
              </a:rPr>
              <a:t>低于</a:t>
            </a:r>
            <a:r>
              <a:rPr lang="en-US" altLang="zh-CN">
                <a:latin typeface="+mj-ea"/>
                <a:ea typeface="+mj-ea"/>
              </a:rPr>
              <a:t>14%</a:t>
            </a:r>
            <a:r>
              <a:rPr lang="zh-CN" altLang="en-US">
                <a:latin typeface="+mj-ea"/>
                <a:ea typeface="+mj-ea"/>
              </a:rPr>
              <a:t>则每公斤</a:t>
            </a:r>
            <a:r>
              <a:rPr lang="en-US" altLang="zh-CN">
                <a:latin typeface="+mj-ea"/>
                <a:ea typeface="+mj-ea"/>
              </a:rPr>
              <a:t>145iu</a:t>
            </a:r>
          </a:p>
          <a:p>
            <a:pPr marL="285750" indent="-285750">
              <a:buFont typeface="Wingdings" panose="05000000000000000000" pitchFamily="2" charset="2"/>
              <a:buChar char="n"/>
            </a:pPr>
            <a:r>
              <a:rPr lang="zh-CN" altLang="en-US">
                <a:latin typeface="+mj-ea"/>
                <a:ea typeface="+mj-ea"/>
              </a:rPr>
              <a:t>高血压猫酌情减半</a:t>
            </a:r>
            <a:endParaRPr lang="en-US" altLang="zh-CN">
              <a:latin typeface="+mj-ea"/>
              <a:ea typeface="+mj-ea"/>
            </a:endParaRPr>
          </a:p>
          <a:p>
            <a:pPr marL="285750" indent="-285750">
              <a:buFont typeface="Wingdings" panose="05000000000000000000" pitchFamily="2" charset="2"/>
              <a:buChar char="n"/>
            </a:pPr>
            <a:r>
              <a:rPr lang="zh-CN" altLang="en-US">
                <a:latin typeface="+mj-ea"/>
                <a:ea typeface="+mj-ea"/>
              </a:rPr>
              <a:t>注射频率：隔天一次</a:t>
            </a:r>
            <a:endParaRPr lang="en-US" altLang="zh-CN">
              <a:latin typeface="+mj-ea"/>
              <a:ea typeface="+mj-ea"/>
            </a:endParaRPr>
          </a:p>
          <a:p>
            <a:endParaRPr lang="zh-CN" altLang="en-US">
              <a:latin typeface="+mj-ea"/>
              <a:ea typeface="+mj-ea"/>
            </a:endParaRPr>
          </a:p>
        </p:txBody>
      </p:sp>
      <p:sp>
        <p:nvSpPr>
          <p:cNvPr id="16" name="矩形 15">
            <a:extLst>
              <a:ext uri="{FF2B5EF4-FFF2-40B4-BE49-F238E27FC236}">
                <a16:creationId xmlns:a16="http://schemas.microsoft.com/office/drawing/2014/main" id="{5D8CB226-E6A4-4728-856A-8F9BEF31A4D4}"/>
              </a:ext>
            </a:extLst>
          </p:cNvPr>
          <p:cNvSpPr/>
          <p:nvPr/>
        </p:nvSpPr>
        <p:spPr>
          <a:xfrm>
            <a:off x="5897840" y="4465142"/>
            <a:ext cx="3123965" cy="2031325"/>
          </a:xfrm>
          <a:prstGeom prst="rect">
            <a:avLst/>
          </a:prstGeom>
        </p:spPr>
        <p:txBody>
          <a:bodyPr wrap="square">
            <a:spAutoFit/>
          </a:bodyPr>
          <a:lstStyle/>
          <a:p>
            <a:pPr marL="285750" indent="-285750">
              <a:buFont typeface="Wingdings" panose="05000000000000000000" pitchFamily="2" charset="2"/>
              <a:buChar char="n"/>
            </a:pPr>
            <a:r>
              <a:rPr lang="en-US" altLang="zh-CN">
                <a:latin typeface="+mj-ea"/>
                <a:ea typeface="+mj-ea"/>
              </a:rPr>
              <a:t>HCT</a:t>
            </a:r>
            <a:r>
              <a:rPr lang="zh-CN" altLang="en-US">
                <a:latin typeface="+mj-ea"/>
                <a:ea typeface="+mj-ea"/>
              </a:rPr>
              <a:t>恢复至</a:t>
            </a:r>
            <a:r>
              <a:rPr lang="en-US" altLang="zh-CN">
                <a:latin typeface="+mj-ea"/>
                <a:ea typeface="+mj-ea"/>
              </a:rPr>
              <a:t>28-30%</a:t>
            </a:r>
            <a:r>
              <a:rPr lang="zh-CN" altLang="en-US">
                <a:latin typeface="+mj-ea"/>
                <a:ea typeface="+mj-ea"/>
              </a:rPr>
              <a:t>之上后降低剂量到维护剂量</a:t>
            </a:r>
            <a:endParaRPr lang="en-US" altLang="zh-CN">
              <a:latin typeface="+mj-ea"/>
              <a:ea typeface="+mj-ea"/>
            </a:endParaRPr>
          </a:p>
          <a:p>
            <a:pPr marL="285750" indent="-285750">
              <a:buFont typeface="Wingdings" panose="05000000000000000000" pitchFamily="2" charset="2"/>
              <a:buChar char="n"/>
            </a:pPr>
            <a:r>
              <a:rPr lang="zh-CN" altLang="en-US">
                <a:latin typeface="+mj-ea"/>
                <a:ea typeface="+mj-ea"/>
              </a:rPr>
              <a:t>维护剂量通常为</a:t>
            </a:r>
            <a:r>
              <a:rPr lang="en-US" altLang="zh-CN">
                <a:latin typeface="+mj-ea"/>
                <a:ea typeface="+mj-ea"/>
              </a:rPr>
              <a:t>45-50iu/kg</a:t>
            </a:r>
            <a:r>
              <a:rPr lang="zh-CN" altLang="en-US">
                <a:latin typeface="+mj-ea"/>
                <a:ea typeface="+mj-ea"/>
              </a:rPr>
              <a:t>，意即治疗剂量减半。</a:t>
            </a:r>
            <a:endParaRPr lang="en-US" altLang="zh-CN">
              <a:latin typeface="+mj-ea"/>
              <a:ea typeface="+mj-ea"/>
            </a:endParaRPr>
          </a:p>
          <a:p>
            <a:pPr marL="285750" indent="-285750">
              <a:buFont typeface="Wingdings" panose="05000000000000000000" pitchFamily="2" charset="2"/>
              <a:buChar char="n"/>
            </a:pPr>
            <a:r>
              <a:rPr lang="zh-CN" altLang="en-US">
                <a:latin typeface="+mj-ea"/>
                <a:ea typeface="+mj-ea"/>
              </a:rPr>
              <a:t>一周两次注射。</a:t>
            </a:r>
            <a:endParaRPr lang="en-US" altLang="zh-CN">
              <a:latin typeface="+mj-ea"/>
              <a:ea typeface="+mj-ea"/>
            </a:endParaRPr>
          </a:p>
          <a:p>
            <a:pPr marL="285750" indent="-285750">
              <a:buFont typeface="Wingdings" panose="05000000000000000000" pitchFamily="2" charset="2"/>
              <a:buChar char="n"/>
            </a:pPr>
            <a:endParaRPr lang="zh-CN" altLang="en-US">
              <a:latin typeface="+mj-ea"/>
              <a:ea typeface="+mj-ea"/>
            </a:endParaRPr>
          </a:p>
        </p:txBody>
      </p:sp>
      <p:sp>
        <p:nvSpPr>
          <p:cNvPr id="2" name="文本框 1">
            <a:extLst>
              <a:ext uri="{FF2B5EF4-FFF2-40B4-BE49-F238E27FC236}">
                <a16:creationId xmlns:a16="http://schemas.microsoft.com/office/drawing/2014/main" id="{8EDE0851-2C89-45EB-8100-565BBD4A6071}"/>
              </a:ext>
            </a:extLst>
          </p:cNvPr>
          <p:cNvSpPr txBox="1"/>
          <p:nvPr/>
        </p:nvSpPr>
        <p:spPr>
          <a:xfrm>
            <a:off x="5817075" y="2022187"/>
            <a:ext cx="2542389" cy="584775"/>
          </a:xfrm>
          <a:prstGeom prst="rect">
            <a:avLst/>
          </a:prstGeom>
          <a:noFill/>
        </p:spPr>
        <p:txBody>
          <a:bodyPr wrap="square" rtlCol="0">
            <a:spAutoFit/>
          </a:bodyPr>
          <a:lstStyle/>
          <a:p>
            <a:r>
              <a:rPr lang="zh-CN" altLang="en-US" sz="3200" b="1">
                <a:latin typeface="华文中宋" panose="02010600040101010101" pitchFamily="2" charset="-122"/>
                <a:ea typeface="华文中宋" panose="02010600040101010101" pitchFamily="2" charset="-122"/>
              </a:rPr>
              <a:t>治疗剂量</a:t>
            </a:r>
          </a:p>
        </p:txBody>
      </p:sp>
      <p:sp>
        <p:nvSpPr>
          <p:cNvPr id="20" name="文本框 19">
            <a:extLst>
              <a:ext uri="{FF2B5EF4-FFF2-40B4-BE49-F238E27FC236}">
                <a16:creationId xmlns:a16="http://schemas.microsoft.com/office/drawing/2014/main" id="{8703F472-EAA1-4866-84F2-86F3E38F9F98}"/>
              </a:ext>
            </a:extLst>
          </p:cNvPr>
          <p:cNvSpPr txBox="1"/>
          <p:nvPr/>
        </p:nvSpPr>
        <p:spPr>
          <a:xfrm>
            <a:off x="5863497" y="3948931"/>
            <a:ext cx="2542389" cy="523220"/>
          </a:xfrm>
          <a:prstGeom prst="rect">
            <a:avLst/>
          </a:prstGeom>
          <a:noFill/>
        </p:spPr>
        <p:txBody>
          <a:bodyPr wrap="square" rtlCol="0">
            <a:spAutoFit/>
          </a:bodyPr>
          <a:lstStyle/>
          <a:p>
            <a:r>
              <a:rPr lang="zh-CN" altLang="en-US" sz="2800" b="1">
                <a:latin typeface="华文中宋" panose="02010600040101010101" pitchFamily="2" charset="-122"/>
                <a:ea typeface="华文中宋" panose="02010600040101010101" pitchFamily="2" charset="-122"/>
              </a:rPr>
              <a:t>维护剂量</a:t>
            </a:r>
          </a:p>
        </p:txBody>
      </p:sp>
    </p:spTree>
    <p:extLst>
      <p:ext uri="{BB962C8B-B14F-4D97-AF65-F5344CB8AC3E}">
        <p14:creationId xmlns:p14="http://schemas.microsoft.com/office/powerpoint/2010/main" val="121871414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p:cNvPr>
          <p:cNvGrpSpPr/>
          <p:nvPr/>
        </p:nvGrpSpPr>
        <p:grpSpPr>
          <a:xfrm>
            <a:off x="4871863" y="397645"/>
            <a:ext cx="7320137" cy="1035882"/>
            <a:chOff x="8112223" y="330677"/>
            <a:chExt cx="4194115" cy="1035882"/>
          </a:xfrm>
          <a:effectLst>
            <a:outerShdw blurRad="50800" dist="38100" dir="5400000" algn="t" rotWithShape="0">
              <a:prstClr val="black">
                <a:alpha val="40000"/>
              </a:prstClr>
            </a:outerShdw>
          </a:effectLst>
        </p:grpSpPr>
        <p:sp>
          <p:nvSpPr>
            <p:cNvPr id="27"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8281096" y="330677"/>
              <a:ext cx="3998285" cy="985057"/>
              <a:chOff x="-461843" y="2729730"/>
              <a:chExt cx="4709449" cy="1377463"/>
            </a:xfrm>
          </p:grpSpPr>
          <p:sp>
            <p:nvSpPr>
              <p:cNvPr id="29"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1384780" y="3006840"/>
                <a:ext cx="2862826" cy="81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latin typeface="+mn-lt"/>
                    <a:ea typeface="+mn-ea"/>
                    <a:cs typeface="+mn-ea"/>
                    <a:sym typeface="+mn-lt"/>
                  </a:rPr>
                  <a:t>猫慢性肾病：血液代用品</a:t>
                </a:r>
                <a:endParaRPr lang="en-US" altLang="zh-CN" sz="2400" b="1">
                  <a:solidFill>
                    <a:srgbClr val="010101"/>
                  </a:solidFill>
                  <a:latin typeface="+mn-lt"/>
                  <a:ea typeface="+mn-ea"/>
                  <a:cs typeface="+mn-ea"/>
                  <a:sym typeface="+mn-lt"/>
                </a:endParaRPr>
              </a:p>
            </p:txBody>
          </p:sp>
          <p:cxnSp>
            <p:nvCxnSpPr>
              <p:cNvPr id="31" name="直接连接符 30">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506334" y="3461620"/>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sp>
        <p:nvSpPr>
          <p:cNvPr id="19" name="文本框 18">
            <a:extLst>
              <a:ext uri="{FF2B5EF4-FFF2-40B4-BE49-F238E27FC236}">
                <a16:creationId xmlns:a16="http://schemas.microsoft.com/office/drawing/2014/main" id="{AEE01461-EC3B-414C-A38D-6413179E4729}"/>
              </a:ext>
            </a:extLst>
          </p:cNvPr>
          <p:cNvSpPr txBox="1"/>
          <p:nvPr/>
        </p:nvSpPr>
        <p:spPr>
          <a:xfrm>
            <a:off x="6479416" y="2691339"/>
            <a:ext cx="3600400" cy="2926486"/>
          </a:xfrm>
          <a:prstGeom prst="rect">
            <a:avLst/>
          </a:prstGeom>
          <a:noFill/>
        </p:spPr>
        <p:txBody>
          <a:bodyPr wrap="square" rtlCol="0">
            <a:spAutoFit/>
          </a:bodyPr>
          <a:lstStyle/>
          <a:p>
            <a:endParaRPr lang="zh-CN" altLang="en-US"/>
          </a:p>
        </p:txBody>
      </p:sp>
      <p:sp>
        <p:nvSpPr>
          <p:cNvPr id="22" name="文本框 21">
            <a:extLst>
              <a:ext uri="{FF2B5EF4-FFF2-40B4-BE49-F238E27FC236}">
                <a16:creationId xmlns:a16="http://schemas.microsoft.com/office/drawing/2014/main" id="{8680B877-2955-48DE-9D87-E34A49E6BB54}"/>
              </a:ext>
            </a:extLst>
          </p:cNvPr>
          <p:cNvSpPr txBox="1"/>
          <p:nvPr/>
        </p:nvSpPr>
        <p:spPr>
          <a:xfrm>
            <a:off x="-1668703" y="935453"/>
            <a:ext cx="7975187" cy="584775"/>
          </a:xfrm>
          <a:prstGeom prst="rect">
            <a:avLst/>
          </a:prstGeom>
          <a:noFill/>
        </p:spPr>
        <p:txBody>
          <a:bodyPr wrap="square" rtlCol="0">
            <a:spAutoFit/>
          </a:bodyPr>
          <a:lstStyle/>
          <a:p>
            <a:pPr lvl="1"/>
            <a:endParaRPr lang="en-US" altLang="zh-CN" sz="1600" b="1">
              <a:solidFill>
                <a:schemeClr val="bg1">
                  <a:lumMod val="95000"/>
                </a:schemeClr>
              </a:solidFill>
              <a:effectLst>
                <a:outerShdw blurRad="38100" dist="38100" dir="2700000" algn="tl">
                  <a:srgbClr val="000000">
                    <a:alpha val="43137"/>
                  </a:srgbClr>
                </a:outerShdw>
              </a:effectLst>
              <a:latin typeface="+mj-ea"/>
              <a:ea typeface="+mj-ea"/>
            </a:endParaRPr>
          </a:p>
          <a:p>
            <a:pPr lvl="1"/>
            <a:endParaRPr lang="en-US" altLang="zh-CN" sz="1600" b="1">
              <a:solidFill>
                <a:schemeClr val="bg1"/>
              </a:solidFill>
              <a:effectLst>
                <a:outerShdw blurRad="38100" dist="38100" dir="2700000" algn="tl">
                  <a:srgbClr val="000000">
                    <a:alpha val="43137"/>
                  </a:srgbClr>
                </a:outerShdw>
              </a:effectLst>
              <a:latin typeface="+mj-ea"/>
              <a:ea typeface="+mj-ea"/>
            </a:endParaRPr>
          </a:p>
        </p:txBody>
      </p:sp>
      <p:cxnSp>
        <p:nvCxnSpPr>
          <p:cNvPr id="12" name="直接连接符 11">
            <a:extLst>
              <a:ext uri="{FF2B5EF4-FFF2-40B4-BE49-F238E27FC236}">
                <a16:creationId xmlns:a16="http://schemas.microsoft.com/office/drawing/2014/main" id="{B33F6678-1732-46A1-B672-7D2690504BE3}"/>
              </a:ext>
            </a:extLst>
          </p:cNvPr>
          <p:cNvCxnSpPr/>
          <p:nvPr/>
        </p:nvCxnSpPr>
        <p:spPr>
          <a:xfrm flipH="1">
            <a:off x="7024730" y="3429000"/>
            <a:ext cx="19050" cy="1079500"/>
          </a:xfrm>
          <a:prstGeom prst="line">
            <a:avLst/>
          </a:prstGeom>
          <a:ln w="50800">
            <a:solidFill>
              <a:srgbClr val="4F4F4F"/>
            </a:solidFill>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5D8CB226-E6A4-4728-856A-8F9BEF31A4D4}"/>
              </a:ext>
            </a:extLst>
          </p:cNvPr>
          <p:cNvSpPr/>
          <p:nvPr/>
        </p:nvSpPr>
        <p:spPr>
          <a:xfrm>
            <a:off x="7608144" y="3068960"/>
            <a:ext cx="3797398" cy="2585323"/>
          </a:xfrm>
          <a:prstGeom prst="rect">
            <a:avLst/>
          </a:prstGeom>
        </p:spPr>
        <p:txBody>
          <a:bodyPr wrap="square">
            <a:spAutoFit/>
          </a:bodyPr>
          <a:lstStyle/>
          <a:p>
            <a:pPr marL="285750" indent="-285750">
              <a:buFont typeface="Wingdings" panose="05000000000000000000" pitchFamily="2" charset="2"/>
              <a:buChar char="n"/>
            </a:pPr>
            <a:r>
              <a:rPr lang="zh-CN" altLang="en-US">
                <a:latin typeface="+mj-ea"/>
                <a:ea typeface="+mj-ea"/>
              </a:rPr>
              <a:t>短期的血液代用品，可以用于</a:t>
            </a:r>
            <a:r>
              <a:rPr lang="zh-CN" altLang="en-US" b="1">
                <a:latin typeface="+mj-ea"/>
                <a:ea typeface="+mj-ea"/>
              </a:rPr>
              <a:t>急性缺血</a:t>
            </a:r>
            <a:r>
              <a:rPr lang="zh-CN" altLang="en-US">
                <a:latin typeface="+mj-ea"/>
                <a:ea typeface="+mj-ea"/>
              </a:rPr>
              <a:t>与</a:t>
            </a:r>
            <a:r>
              <a:rPr lang="zh-CN" altLang="en-US" b="1">
                <a:latin typeface="+mj-ea"/>
                <a:ea typeface="+mj-ea"/>
              </a:rPr>
              <a:t>肾性贫血</a:t>
            </a:r>
            <a:endParaRPr lang="en-US" altLang="zh-CN">
              <a:latin typeface="+mj-ea"/>
              <a:ea typeface="+mj-ea"/>
            </a:endParaRPr>
          </a:p>
          <a:p>
            <a:pPr marL="285750" indent="-285750">
              <a:buFont typeface="Wingdings" panose="05000000000000000000" pitchFamily="2" charset="2"/>
              <a:buChar char="n"/>
            </a:pPr>
            <a:r>
              <a:rPr lang="zh-CN" altLang="en-US">
                <a:latin typeface="+mj-ea"/>
                <a:ea typeface="+mj-ea"/>
              </a:rPr>
              <a:t>理论半衰期约为</a:t>
            </a:r>
            <a:r>
              <a:rPr lang="en-US" altLang="zh-CN">
                <a:latin typeface="+mj-ea"/>
                <a:ea typeface="+mj-ea"/>
              </a:rPr>
              <a:t>3</a:t>
            </a:r>
            <a:r>
              <a:rPr lang="zh-CN" altLang="en-US">
                <a:latin typeface="+mj-ea"/>
                <a:ea typeface="+mj-ea"/>
              </a:rPr>
              <a:t>天</a:t>
            </a:r>
            <a:endParaRPr lang="en-US" altLang="zh-CN">
              <a:latin typeface="+mj-ea"/>
              <a:ea typeface="+mj-ea"/>
            </a:endParaRPr>
          </a:p>
          <a:p>
            <a:pPr marL="285750" indent="-285750">
              <a:buFont typeface="Wingdings" panose="05000000000000000000" pitchFamily="2" charset="2"/>
              <a:buChar char="n"/>
            </a:pPr>
            <a:r>
              <a:rPr lang="zh-CN" altLang="en-US">
                <a:latin typeface="+mj-ea"/>
                <a:ea typeface="+mj-ea"/>
              </a:rPr>
              <a:t>长期使用效果缺少资料，效果不如原血</a:t>
            </a:r>
            <a:endParaRPr lang="en-US" altLang="zh-CN">
              <a:latin typeface="+mj-ea"/>
              <a:ea typeface="+mj-ea"/>
            </a:endParaRPr>
          </a:p>
          <a:p>
            <a:pPr marL="285750" indent="-285750">
              <a:buFont typeface="Wingdings" panose="05000000000000000000" pitchFamily="2" charset="2"/>
              <a:buChar char="n"/>
            </a:pPr>
            <a:r>
              <a:rPr lang="zh-CN" altLang="en-US">
                <a:latin typeface="+mj-ea"/>
                <a:ea typeface="+mj-ea"/>
              </a:rPr>
              <a:t>依然存在过敏几率</a:t>
            </a:r>
            <a:endParaRPr lang="en-US" altLang="zh-CN">
              <a:latin typeface="+mj-ea"/>
              <a:ea typeface="+mj-ea"/>
            </a:endParaRPr>
          </a:p>
          <a:p>
            <a:pPr marL="285750" indent="-285750">
              <a:buFont typeface="Wingdings" panose="05000000000000000000" pitchFamily="2" charset="2"/>
              <a:buChar char="n"/>
            </a:pPr>
            <a:r>
              <a:rPr lang="zh-CN" altLang="en-US">
                <a:latin typeface="+mj-ea"/>
                <a:ea typeface="+mj-ea"/>
              </a:rPr>
              <a:t>建议作为没有猫提供血液时的短期代用品，需要复查</a:t>
            </a:r>
            <a:endParaRPr lang="en-US" altLang="zh-CN">
              <a:latin typeface="+mj-ea"/>
              <a:ea typeface="+mj-ea"/>
            </a:endParaRPr>
          </a:p>
          <a:p>
            <a:pPr marL="285750" indent="-285750">
              <a:buFont typeface="Wingdings" panose="05000000000000000000" pitchFamily="2" charset="2"/>
              <a:buChar char="n"/>
            </a:pPr>
            <a:endParaRPr lang="zh-CN" altLang="en-US">
              <a:latin typeface="+mj-ea"/>
              <a:ea typeface="+mj-ea"/>
            </a:endParaRPr>
          </a:p>
        </p:txBody>
      </p:sp>
      <p:sp>
        <p:nvSpPr>
          <p:cNvPr id="2" name="文本框 1">
            <a:extLst>
              <a:ext uri="{FF2B5EF4-FFF2-40B4-BE49-F238E27FC236}">
                <a16:creationId xmlns:a16="http://schemas.microsoft.com/office/drawing/2014/main" id="{8EDE0851-2C89-45EB-8100-565BBD4A6071}"/>
              </a:ext>
            </a:extLst>
          </p:cNvPr>
          <p:cNvSpPr txBox="1"/>
          <p:nvPr/>
        </p:nvSpPr>
        <p:spPr>
          <a:xfrm>
            <a:off x="1812254" y="2383735"/>
            <a:ext cx="5240271" cy="400110"/>
          </a:xfrm>
          <a:prstGeom prst="rect">
            <a:avLst/>
          </a:prstGeom>
          <a:noFill/>
        </p:spPr>
        <p:txBody>
          <a:bodyPr wrap="square" rtlCol="0">
            <a:spAutoFit/>
          </a:bodyPr>
          <a:lstStyle/>
          <a:p>
            <a:r>
              <a:rPr lang="zh-CN" altLang="en-US" sz="2000" b="1">
                <a:latin typeface="华文中宋" panose="02010600040101010101" pitchFamily="2" charset="-122"/>
                <a:ea typeface="华文中宋" panose="02010600040101010101" pitchFamily="2" charset="-122"/>
              </a:rPr>
              <a:t>聚乙二醇牛血红蛋白偶联物</a:t>
            </a:r>
          </a:p>
        </p:txBody>
      </p:sp>
      <p:pic>
        <p:nvPicPr>
          <p:cNvPr id="4" name="图片 3">
            <a:extLst>
              <a:ext uri="{FF2B5EF4-FFF2-40B4-BE49-F238E27FC236}">
                <a16:creationId xmlns:a16="http://schemas.microsoft.com/office/drawing/2014/main" id="{DCD79F22-7195-479B-AB6F-3CAE40C71A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7496" y="2827932"/>
            <a:ext cx="6014577" cy="1979132"/>
          </a:xfrm>
          <a:prstGeom prst="rect">
            <a:avLst/>
          </a:prstGeom>
        </p:spPr>
      </p:pic>
    </p:spTree>
    <p:extLst>
      <p:ext uri="{BB962C8B-B14F-4D97-AF65-F5344CB8AC3E}">
        <p14:creationId xmlns:p14="http://schemas.microsoft.com/office/powerpoint/2010/main" val="180081594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pic>
        <p:nvPicPr>
          <p:cNvPr id="9218" name="图片 2">
            <a:extLst/>
          </p:cNvPr>
          <p:cNvPicPr>
            <a:picLocks noChangeAspect="1" noChangeArrowheads="1"/>
          </p:cNvPicPr>
          <p:nvPr/>
        </p:nvPicPr>
        <p:blipFill>
          <a:blip r:embed="rId2">
            <a:duotone>
              <a:prstClr val="black"/>
              <a:schemeClr val="accent3">
                <a:tint val="45000"/>
                <a:satMod val="400000"/>
              </a:schemeClr>
            </a:duotone>
            <a:extLst>
              <a:ext uri="{28A0092B-C50C-407E-A947-70E740481C1C}">
                <a14:useLocalDpi xmlns:a14="http://schemas.microsoft.com/office/drawing/2010/main" val="0"/>
              </a:ext>
            </a:extLst>
          </a:blip>
          <a:srcRect l="7875" r="25414"/>
          <a:stretch>
            <a:fillRect/>
          </a:stretch>
        </p:blipFill>
        <p:spPr bwMode="auto">
          <a:xfrm>
            <a:off x="-74310" y="-17714"/>
            <a:ext cx="7356475" cy="689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7" name="组合 16">
            <a:extLst/>
          </p:cNvPr>
          <p:cNvGrpSpPr/>
          <p:nvPr/>
        </p:nvGrpSpPr>
        <p:grpSpPr>
          <a:xfrm>
            <a:off x="5375918" y="5196814"/>
            <a:ext cx="6816081" cy="1042721"/>
            <a:chOff x="8401024" y="347160"/>
            <a:chExt cx="3905313" cy="1042721"/>
          </a:xfrm>
          <a:effectLst>
            <a:outerShdw blurRad="50800" dist="38100" dir="5400000" algn="t" rotWithShape="0">
              <a:prstClr val="black">
                <a:alpha val="40000"/>
              </a:prstClr>
            </a:outerShdw>
          </a:effectLst>
        </p:grpSpPr>
        <p:sp>
          <p:nvSpPr>
            <p:cNvPr id="4" name="箭头: 五边形 6">
              <a:extLst/>
            </p:cNvPr>
            <p:cNvSpPr/>
            <p:nvPr/>
          </p:nvSpPr>
          <p:spPr>
            <a:xfrm flipH="1">
              <a:off x="8401024" y="404664"/>
              <a:ext cx="3905313"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sp>
          <p:nvSpPr>
            <p:cNvPr id="7" name="文本框 14">
              <a:extLst/>
            </p:cNvPr>
            <p:cNvSpPr txBox="1">
              <a:spLocks noChangeArrowheads="1"/>
            </p:cNvSpPr>
            <p:nvPr/>
          </p:nvSpPr>
          <p:spPr bwMode="auto">
            <a:xfrm>
              <a:off x="8607312" y="347160"/>
              <a:ext cx="2647013" cy="1042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000" b="1">
                  <a:solidFill>
                    <a:schemeClr val="tx2">
                      <a:lumMod val="75000"/>
                    </a:schemeClr>
                  </a:solidFill>
                  <a:latin typeface="微软雅黑" panose="020B0503020204020204" pitchFamily="34" charset="-122"/>
                  <a:ea typeface="微软雅黑" panose="020B0503020204020204" pitchFamily="34" charset="-122"/>
                  <a:cs typeface="+mn-ea"/>
                  <a:sym typeface="+mn-lt"/>
                </a:rPr>
                <a:t>猫慢性肾病</a:t>
              </a:r>
              <a:endParaRPr lang="en-US" altLang="zh-CN" sz="2000" b="1">
                <a:solidFill>
                  <a:schemeClr val="tx2">
                    <a:lumMod val="75000"/>
                  </a:schemeClr>
                </a:solidFill>
                <a:latin typeface="微软雅黑" panose="020B0503020204020204" pitchFamily="34" charset="-122"/>
                <a:ea typeface="微软雅黑" panose="020B0503020204020204" pitchFamily="34" charset="-122"/>
                <a:cs typeface="+mn-ea"/>
                <a:sym typeface="+mn-lt"/>
              </a:endParaRPr>
            </a:p>
            <a:p>
              <a:pPr eaLnBrk="1" hangingPunct="1">
                <a:lnSpc>
                  <a:spcPct val="150000"/>
                </a:lnSpc>
                <a:spcBef>
                  <a:spcPct val="0"/>
                </a:spcBef>
                <a:buFontTx/>
                <a:buNone/>
                <a:defRPr/>
              </a:pPr>
              <a:r>
                <a:rPr lang="zh-CN" altLang="en-US" sz="2400" b="1">
                  <a:solidFill>
                    <a:schemeClr val="tx2">
                      <a:lumMod val="75000"/>
                    </a:schemeClr>
                  </a:solidFill>
                  <a:latin typeface="微软雅黑" panose="020B0503020204020204" pitchFamily="34" charset="-122"/>
                  <a:ea typeface="微软雅黑" panose="020B0503020204020204" pitchFamily="34" charset="-122"/>
                  <a:cs typeface="+mn-ea"/>
                  <a:sym typeface="+mn-lt"/>
                </a:rPr>
                <a:t>维生素</a:t>
              </a:r>
              <a:r>
                <a:rPr lang="en-US" altLang="zh-CN" sz="2400" b="1">
                  <a:solidFill>
                    <a:schemeClr val="tx2">
                      <a:lumMod val="75000"/>
                    </a:schemeClr>
                  </a:solidFill>
                  <a:latin typeface="微软雅黑" panose="020B0503020204020204" pitchFamily="34" charset="-122"/>
                  <a:ea typeface="微软雅黑" panose="020B0503020204020204" pitchFamily="34" charset="-122"/>
                  <a:cs typeface="+mn-ea"/>
                  <a:sym typeface="+mn-lt"/>
                </a:rPr>
                <a:t>B</a:t>
              </a:r>
              <a:r>
                <a:rPr lang="zh-CN" altLang="en-US" sz="2400" b="1">
                  <a:solidFill>
                    <a:schemeClr val="tx2">
                      <a:lumMod val="75000"/>
                    </a:schemeClr>
                  </a:solidFill>
                  <a:latin typeface="微软雅黑" panose="020B0503020204020204" pitchFamily="34" charset="-122"/>
                  <a:ea typeface="微软雅黑" panose="020B0503020204020204" pitchFamily="34" charset="-122"/>
                  <a:cs typeface="+mn-ea"/>
                  <a:sym typeface="+mn-lt"/>
                </a:rPr>
                <a:t>族的补充</a:t>
              </a:r>
              <a:endParaRPr lang="en-US" altLang="zh-CN" sz="2400" b="1">
                <a:solidFill>
                  <a:schemeClr val="tx2">
                    <a:lumMod val="7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8436" name="组合 17"/>
          <p:cNvGrpSpPr>
            <a:grpSpLocks/>
          </p:cNvGrpSpPr>
          <p:nvPr/>
        </p:nvGrpSpPr>
        <p:grpSpPr bwMode="auto">
          <a:xfrm>
            <a:off x="1343025" y="1139825"/>
            <a:ext cx="10628313" cy="3700463"/>
            <a:chOff x="170987" y="2984657"/>
            <a:chExt cx="9768408" cy="3510340"/>
          </a:xfrm>
        </p:grpSpPr>
        <p:sp>
          <p:nvSpPr>
            <p:cNvPr id="21" name="矩形 20">
              <a:extLst/>
            </p:cNvPr>
            <p:cNvSpPr/>
            <p:nvPr/>
          </p:nvSpPr>
          <p:spPr>
            <a:xfrm>
              <a:off x="170987" y="2984657"/>
              <a:ext cx="9768408" cy="351034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kern="0">
                <a:solidFill>
                  <a:sysClr val="windowText" lastClr="000000"/>
                </a:solidFill>
                <a:cs typeface="+mn-ea"/>
                <a:sym typeface="+mn-lt"/>
              </a:endParaRPr>
            </a:p>
          </p:txBody>
        </p:sp>
        <p:sp>
          <p:nvSpPr>
            <p:cNvPr id="23" name="矩形 22">
              <a:extLst/>
            </p:cNvPr>
            <p:cNvSpPr/>
            <p:nvPr/>
          </p:nvSpPr>
          <p:spPr>
            <a:xfrm>
              <a:off x="5378095" y="3585126"/>
              <a:ext cx="4153945" cy="2498418"/>
            </a:xfrm>
            <a:prstGeom prst="rect">
              <a:avLst/>
            </a:prstGeom>
          </p:spPr>
          <p:txBody>
            <a:bodyPr>
              <a:spAutoFit/>
            </a:bodyPr>
            <a:lstStyle/>
            <a:p>
              <a:pPr marL="285750" indent="-285750" eaLnBrk="1" fontAlgn="auto" hangingPunct="1">
                <a:lnSpc>
                  <a:spcPct val="150000"/>
                </a:lnSpc>
                <a:spcBef>
                  <a:spcPts val="0"/>
                </a:spcBef>
                <a:spcAft>
                  <a:spcPts val="0"/>
                </a:spcAft>
                <a:buFont typeface="Arial" panose="020B0604020202020204" pitchFamily="34" charset="0"/>
                <a:buChar char="•"/>
                <a:defRPr/>
              </a:pPr>
              <a:r>
                <a:rPr lang="zh-CN" altLang="en-US" sz="1600" b="1" kern="0">
                  <a:solidFill>
                    <a:srgbClr val="4F4F4F"/>
                  </a:solidFill>
                  <a:latin typeface="+mn-lt"/>
                  <a:ea typeface="+mn-ea"/>
                  <a:cs typeface="+mn-ea"/>
                  <a:sym typeface="+mn-lt"/>
                </a:rPr>
                <a:t>随着排尿量的增多，水溶性维生素如维生素</a:t>
              </a:r>
              <a:r>
                <a:rPr lang="en-US" altLang="zh-CN" sz="1600" b="1" kern="0">
                  <a:solidFill>
                    <a:srgbClr val="4F4F4F"/>
                  </a:solidFill>
                  <a:latin typeface="+mn-lt"/>
                  <a:ea typeface="+mn-ea"/>
                  <a:cs typeface="+mn-ea"/>
                  <a:sym typeface="+mn-lt"/>
                </a:rPr>
                <a:t>B</a:t>
              </a:r>
              <a:r>
                <a:rPr lang="zh-CN" altLang="en-US" sz="1600" b="1" kern="0">
                  <a:solidFill>
                    <a:srgbClr val="4F4F4F"/>
                  </a:solidFill>
                  <a:latin typeface="+mn-lt"/>
                  <a:ea typeface="+mn-ea"/>
                  <a:cs typeface="+mn-ea"/>
                  <a:sym typeface="+mn-lt"/>
                </a:rPr>
                <a:t>开始大量流失，故肾病猫需求量提高</a:t>
              </a:r>
              <a:r>
                <a:rPr lang="en-US" altLang="zh-CN" sz="1600" b="1" kern="0">
                  <a:solidFill>
                    <a:srgbClr val="4F4F4F"/>
                  </a:solidFill>
                  <a:latin typeface="+mn-lt"/>
                  <a:ea typeface="+mn-ea"/>
                  <a:cs typeface="+mn-ea"/>
                  <a:sym typeface="+mn-lt"/>
                </a:rPr>
                <a:t>2-4</a:t>
              </a:r>
              <a:r>
                <a:rPr lang="zh-CN" altLang="en-US" sz="1600" b="1" kern="0">
                  <a:solidFill>
                    <a:srgbClr val="4F4F4F"/>
                  </a:solidFill>
                  <a:latin typeface="+mn-lt"/>
                  <a:ea typeface="+mn-ea"/>
                  <a:cs typeface="+mn-ea"/>
                  <a:sym typeface="+mn-lt"/>
                </a:rPr>
                <a:t>倍。</a:t>
              </a:r>
              <a:endParaRPr lang="en-US" altLang="zh-CN" sz="1600" b="1" kern="0">
                <a:solidFill>
                  <a:srgbClr val="4F4F4F"/>
                </a:solidFill>
                <a:latin typeface="+mn-lt"/>
                <a:ea typeface="+mn-ea"/>
                <a:cs typeface="+mn-ea"/>
                <a:sym typeface="+mn-lt"/>
              </a:endParaRPr>
            </a:p>
            <a:p>
              <a:pPr marL="285750" indent="-285750" eaLnBrk="1" fontAlgn="auto" hangingPunct="1">
                <a:lnSpc>
                  <a:spcPct val="150000"/>
                </a:lnSpc>
                <a:spcBef>
                  <a:spcPts val="0"/>
                </a:spcBef>
                <a:spcAft>
                  <a:spcPts val="0"/>
                </a:spcAft>
                <a:buFont typeface="Arial" panose="020B0604020202020204" pitchFamily="34" charset="0"/>
                <a:buChar char="•"/>
                <a:defRPr/>
              </a:pPr>
              <a:r>
                <a:rPr lang="zh-CN" altLang="en-US" sz="1600" b="1" kern="0">
                  <a:solidFill>
                    <a:srgbClr val="4F4F4F"/>
                  </a:solidFill>
                  <a:latin typeface="+mn-lt"/>
                  <a:ea typeface="+mn-ea"/>
                  <a:cs typeface="+mn-ea"/>
                  <a:sym typeface="+mn-lt"/>
                </a:rPr>
                <a:t>处方粮与肉类都含有丰富维生素</a:t>
              </a:r>
              <a:r>
                <a:rPr lang="en-US" altLang="zh-CN" sz="1600" b="1" kern="0">
                  <a:solidFill>
                    <a:srgbClr val="4F4F4F"/>
                  </a:solidFill>
                  <a:latin typeface="+mn-lt"/>
                  <a:ea typeface="+mn-ea"/>
                  <a:cs typeface="+mn-ea"/>
                  <a:sym typeface="+mn-lt"/>
                </a:rPr>
                <a:t>B</a:t>
              </a:r>
              <a:r>
                <a:rPr lang="zh-CN" altLang="en-US" sz="1600" b="1" kern="0">
                  <a:solidFill>
                    <a:srgbClr val="4F4F4F"/>
                  </a:solidFill>
                  <a:latin typeface="+mn-lt"/>
                  <a:ea typeface="+mn-ea"/>
                  <a:cs typeface="+mn-ea"/>
                  <a:sym typeface="+mn-lt"/>
                </a:rPr>
                <a:t>族。</a:t>
              </a:r>
              <a:endParaRPr lang="en-US" altLang="zh-CN" sz="1600" b="1" kern="0">
                <a:solidFill>
                  <a:srgbClr val="4F4F4F"/>
                </a:solidFill>
                <a:latin typeface="+mn-lt"/>
                <a:ea typeface="+mn-ea"/>
                <a:cs typeface="+mn-ea"/>
                <a:sym typeface="+mn-lt"/>
              </a:endParaRPr>
            </a:p>
            <a:p>
              <a:pPr marL="285750" indent="-285750" eaLnBrk="1" fontAlgn="auto" hangingPunct="1">
                <a:lnSpc>
                  <a:spcPct val="150000"/>
                </a:lnSpc>
                <a:spcBef>
                  <a:spcPts val="0"/>
                </a:spcBef>
                <a:spcAft>
                  <a:spcPts val="0"/>
                </a:spcAft>
                <a:buFont typeface="Arial" panose="020B0604020202020204" pitchFamily="34" charset="0"/>
                <a:buChar char="•"/>
                <a:defRPr/>
              </a:pPr>
              <a:r>
                <a:rPr lang="zh-CN" altLang="en-US" sz="1600" b="1" kern="0">
                  <a:solidFill>
                    <a:srgbClr val="4F4F4F"/>
                  </a:solidFill>
                  <a:latin typeface="+mn-lt"/>
                  <a:ea typeface="+mn-ea"/>
                  <a:cs typeface="+mn-ea"/>
                  <a:sym typeface="+mn-lt"/>
                </a:rPr>
                <a:t>维生素</a:t>
              </a:r>
              <a:r>
                <a:rPr lang="en-US" altLang="zh-CN" sz="1600" b="1" kern="0">
                  <a:solidFill>
                    <a:srgbClr val="4F4F4F"/>
                  </a:solidFill>
                  <a:latin typeface="+mn-lt"/>
                  <a:ea typeface="+mn-ea"/>
                  <a:cs typeface="+mn-ea"/>
                  <a:sym typeface="+mn-lt"/>
                </a:rPr>
                <a:t>B</a:t>
              </a:r>
              <a:r>
                <a:rPr lang="zh-CN" altLang="en-US" sz="1600" b="1" kern="0">
                  <a:solidFill>
                    <a:srgbClr val="4F4F4F"/>
                  </a:solidFill>
                  <a:latin typeface="+mn-lt"/>
                  <a:ea typeface="+mn-ea"/>
                  <a:cs typeface="+mn-ea"/>
                  <a:sym typeface="+mn-lt"/>
                </a:rPr>
                <a:t>并非一种而是多种维生素的统称</a:t>
              </a:r>
              <a:endParaRPr lang="en-US" altLang="zh-CN" sz="1600" b="1" kern="0">
                <a:solidFill>
                  <a:srgbClr val="4F4F4F"/>
                </a:solidFill>
                <a:latin typeface="+mn-lt"/>
                <a:ea typeface="+mn-ea"/>
                <a:cs typeface="+mn-ea"/>
                <a:sym typeface="+mn-lt"/>
              </a:endParaRPr>
            </a:p>
            <a:p>
              <a:pPr marL="285750" indent="-285750" eaLnBrk="1" fontAlgn="auto" hangingPunct="1">
                <a:lnSpc>
                  <a:spcPct val="150000"/>
                </a:lnSpc>
                <a:spcBef>
                  <a:spcPts val="0"/>
                </a:spcBef>
                <a:spcAft>
                  <a:spcPts val="0"/>
                </a:spcAft>
                <a:buFont typeface="Arial" panose="020B0604020202020204" pitchFamily="34" charset="0"/>
                <a:buChar char="•"/>
                <a:defRPr/>
              </a:pPr>
              <a:r>
                <a:rPr lang="zh-CN" altLang="en-US" sz="1600" b="1" kern="0">
                  <a:solidFill>
                    <a:srgbClr val="4F4F4F"/>
                  </a:solidFill>
                  <a:latin typeface="+mn-lt"/>
                  <a:ea typeface="+mn-ea"/>
                  <a:cs typeface="+mn-ea"/>
                  <a:sym typeface="+mn-lt"/>
                </a:rPr>
                <a:t>建议三期起开始补充维生素</a:t>
              </a:r>
              <a:r>
                <a:rPr lang="en-US" altLang="zh-CN" sz="1600" b="1" kern="0">
                  <a:solidFill>
                    <a:srgbClr val="4F4F4F"/>
                  </a:solidFill>
                  <a:latin typeface="+mn-lt"/>
                  <a:ea typeface="+mn-ea"/>
                  <a:cs typeface="+mn-ea"/>
                  <a:sym typeface="+mn-lt"/>
                </a:rPr>
                <a:t>B</a:t>
              </a:r>
              <a:r>
                <a:rPr lang="zh-CN" altLang="en-US" sz="1600" b="1" kern="0">
                  <a:solidFill>
                    <a:srgbClr val="4F4F4F"/>
                  </a:solidFill>
                  <a:latin typeface="+mn-lt"/>
                  <a:ea typeface="+mn-ea"/>
                  <a:cs typeface="+mn-ea"/>
                  <a:sym typeface="+mn-lt"/>
                </a:rPr>
                <a:t>族</a:t>
              </a:r>
              <a:endParaRPr lang="en-US" altLang="zh-CN" sz="1600" b="1" kern="0">
                <a:solidFill>
                  <a:srgbClr val="4F4F4F"/>
                </a:solidFill>
                <a:latin typeface="+mn-lt"/>
                <a:ea typeface="+mn-ea"/>
                <a:cs typeface="+mn-ea"/>
                <a:sym typeface="+mn-lt"/>
              </a:endParaRPr>
            </a:p>
            <a:p>
              <a:pPr marL="285750" indent="-285750" eaLnBrk="1" fontAlgn="auto" hangingPunct="1">
                <a:lnSpc>
                  <a:spcPct val="150000"/>
                </a:lnSpc>
                <a:spcBef>
                  <a:spcPts val="0"/>
                </a:spcBef>
                <a:spcAft>
                  <a:spcPts val="0"/>
                </a:spcAft>
                <a:buFont typeface="Arial" panose="020B0604020202020204" pitchFamily="34" charset="0"/>
                <a:buChar char="•"/>
                <a:defRPr/>
              </a:pPr>
              <a:r>
                <a:rPr lang="zh-CN" altLang="en-US" sz="1600" b="1" kern="0">
                  <a:solidFill>
                    <a:srgbClr val="4F4F4F"/>
                  </a:solidFill>
                  <a:latin typeface="+mn-lt"/>
                  <a:ea typeface="+mn-ea"/>
                  <a:cs typeface="+mn-ea"/>
                  <a:sym typeface="+mn-lt"/>
                </a:rPr>
                <a:t>常用两种：复合维生素</a:t>
              </a:r>
              <a:r>
                <a:rPr lang="en-US" altLang="zh-CN" sz="1600" b="1" kern="0">
                  <a:solidFill>
                    <a:srgbClr val="4F4F4F"/>
                  </a:solidFill>
                  <a:latin typeface="+mn-lt"/>
                  <a:ea typeface="+mn-ea"/>
                  <a:cs typeface="+mn-ea"/>
                  <a:sym typeface="+mn-lt"/>
                </a:rPr>
                <a:t>B</a:t>
              </a:r>
              <a:r>
                <a:rPr lang="zh-CN" altLang="en-US" sz="1600" b="1" kern="0">
                  <a:solidFill>
                    <a:srgbClr val="4F4F4F"/>
                  </a:solidFill>
                  <a:latin typeface="+mn-lt"/>
                  <a:ea typeface="+mn-ea"/>
                  <a:cs typeface="+mn-ea"/>
                  <a:sym typeface="+mn-lt"/>
                </a:rPr>
                <a:t>片与维生素</a:t>
              </a:r>
              <a:r>
                <a:rPr lang="en-US" altLang="zh-CN" sz="1600" b="1" kern="0">
                  <a:solidFill>
                    <a:srgbClr val="4F4F4F"/>
                  </a:solidFill>
                  <a:latin typeface="+mn-lt"/>
                  <a:ea typeface="+mn-ea"/>
                  <a:cs typeface="+mn-ea"/>
                  <a:sym typeface="+mn-lt"/>
                </a:rPr>
                <a:t>B12</a:t>
              </a:r>
              <a:r>
                <a:rPr lang="zh-CN" altLang="en-US" sz="1600" b="1" kern="0">
                  <a:solidFill>
                    <a:srgbClr val="4F4F4F"/>
                  </a:solidFill>
                  <a:latin typeface="+mn-lt"/>
                  <a:ea typeface="+mn-ea"/>
                  <a:cs typeface="+mn-ea"/>
                  <a:sym typeface="+mn-lt"/>
                </a:rPr>
                <a:t>。维生素</a:t>
              </a:r>
              <a:r>
                <a:rPr lang="en-US" altLang="zh-CN" sz="1600" b="1" kern="0">
                  <a:solidFill>
                    <a:srgbClr val="4F4F4F"/>
                  </a:solidFill>
                  <a:latin typeface="+mn-lt"/>
                  <a:ea typeface="+mn-ea"/>
                  <a:cs typeface="+mn-ea"/>
                  <a:sym typeface="+mn-lt"/>
                </a:rPr>
                <a:t>B12</a:t>
              </a:r>
              <a:r>
                <a:rPr lang="zh-CN" altLang="en-US" sz="1600" b="1" kern="0">
                  <a:solidFill>
                    <a:srgbClr val="4F4F4F"/>
                  </a:solidFill>
                  <a:latin typeface="+mn-lt"/>
                  <a:ea typeface="+mn-ea"/>
                  <a:cs typeface="+mn-ea"/>
                  <a:sym typeface="+mn-lt"/>
                </a:rPr>
                <a:t>需要额外补充。</a:t>
              </a:r>
              <a:endParaRPr lang="en-US" altLang="zh-CN" sz="1600" b="1" kern="0">
                <a:solidFill>
                  <a:srgbClr val="4F4F4F"/>
                </a:solidFill>
                <a:latin typeface="+mn-lt"/>
                <a:ea typeface="+mn-ea"/>
                <a:cs typeface="+mn-ea"/>
                <a:sym typeface="+mn-lt"/>
              </a:endParaRPr>
            </a:p>
          </p:txBody>
        </p:sp>
      </p:grpSp>
      <p:sp>
        <p:nvSpPr>
          <p:cNvPr id="18437" name="文本框 9"/>
          <p:cNvSpPr txBox="1">
            <a:spLocks noChangeArrowheads="1"/>
          </p:cNvSpPr>
          <p:nvPr/>
        </p:nvSpPr>
        <p:spPr bwMode="auto">
          <a:xfrm>
            <a:off x="1558925" y="2636838"/>
            <a:ext cx="439261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en-US" altLang="zh-CN" b="1"/>
          </a:p>
          <a:p>
            <a:endParaRPr lang="en-US" altLang="zh-CN" b="1"/>
          </a:p>
        </p:txBody>
      </p:sp>
      <p:sp>
        <p:nvSpPr>
          <p:cNvPr id="18438" name="文本框 11"/>
          <p:cNvSpPr txBox="1">
            <a:spLocks noChangeArrowheads="1"/>
          </p:cNvSpPr>
          <p:nvPr/>
        </p:nvSpPr>
        <p:spPr bwMode="auto">
          <a:xfrm>
            <a:off x="1457325" y="2549525"/>
            <a:ext cx="41338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pic>
        <p:nvPicPr>
          <p:cNvPr id="3" name="图片 2">
            <a:extLst>
              <a:ext uri="{FF2B5EF4-FFF2-40B4-BE49-F238E27FC236}">
                <a16:creationId xmlns:a16="http://schemas.microsoft.com/office/drawing/2014/main" id="{5FC081D3-EBF9-450C-9DCA-2E24EB0DE3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6770" y="1587025"/>
            <a:ext cx="2351563" cy="2351563"/>
          </a:xfrm>
          <a:prstGeom prst="rect">
            <a:avLst/>
          </a:prstGeom>
        </p:spPr>
      </p:pic>
      <p:sp>
        <p:nvSpPr>
          <p:cNvPr id="10" name="文本框 9">
            <a:extLst>
              <a:ext uri="{FF2B5EF4-FFF2-40B4-BE49-F238E27FC236}">
                <a16:creationId xmlns:a16="http://schemas.microsoft.com/office/drawing/2014/main" id="{FF0C0B23-6870-41B2-92F1-0D2D635A68B4}"/>
              </a:ext>
            </a:extLst>
          </p:cNvPr>
          <p:cNvSpPr txBox="1"/>
          <p:nvPr/>
        </p:nvSpPr>
        <p:spPr>
          <a:xfrm>
            <a:off x="1775520" y="3891704"/>
            <a:ext cx="2016224" cy="738664"/>
          </a:xfrm>
          <a:prstGeom prst="rect">
            <a:avLst/>
          </a:prstGeom>
          <a:noFill/>
        </p:spPr>
        <p:txBody>
          <a:bodyPr wrap="square" rtlCol="0">
            <a:spAutoFit/>
          </a:bodyPr>
          <a:lstStyle/>
          <a:p>
            <a:r>
              <a:rPr lang="zh-CN" altLang="en-US" sz="1400" b="1">
                <a:latin typeface="方正姚体" panose="02010601030101010101" pitchFamily="2" charset="-122"/>
                <a:ea typeface="方正姚体" panose="02010601030101010101" pitchFamily="2" charset="-122"/>
              </a:rPr>
              <a:t>药准字复合维生素</a:t>
            </a:r>
            <a:r>
              <a:rPr lang="en-US" altLang="zh-CN" sz="1400" b="1">
                <a:latin typeface="方正姚体" panose="02010601030101010101" pitchFamily="2" charset="-122"/>
                <a:ea typeface="方正姚体" panose="02010601030101010101" pitchFamily="2" charset="-122"/>
              </a:rPr>
              <a:t>B</a:t>
            </a:r>
            <a:r>
              <a:rPr lang="zh-CN" altLang="en-US" sz="1400" b="1">
                <a:latin typeface="方正姚体" panose="02010601030101010101" pitchFamily="2" charset="-122"/>
                <a:ea typeface="方正姚体" panose="02010601030101010101" pitchFamily="2" charset="-122"/>
              </a:rPr>
              <a:t>片</a:t>
            </a:r>
            <a:endParaRPr lang="en-US" altLang="zh-CN" sz="1400" b="1">
              <a:latin typeface="方正姚体" panose="02010601030101010101" pitchFamily="2" charset="-122"/>
              <a:ea typeface="方正姚体" panose="02010601030101010101" pitchFamily="2" charset="-122"/>
            </a:endParaRPr>
          </a:p>
          <a:p>
            <a:r>
              <a:rPr lang="zh-CN" altLang="en-US" sz="1400" b="1">
                <a:latin typeface="方正姚体" panose="02010601030101010101" pitchFamily="2" charset="-122"/>
                <a:ea typeface="方正姚体" panose="02010601030101010101" pitchFamily="2" charset="-122"/>
              </a:rPr>
              <a:t>每天</a:t>
            </a:r>
            <a:r>
              <a:rPr lang="en-US" altLang="zh-CN" sz="1400" b="1">
                <a:latin typeface="方正姚体" panose="02010601030101010101" pitchFamily="2" charset="-122"/>
                <a:ea typeface="方正姚体" panose="02010601030101010101" pitchFamily="2" charset="-122"/>
              </a:rPr>
              <a:t>1/2</a:t>
            </a:r>
            <a:r>
              <a:rPr lang="zh-CN" altLang="en-US" sz="1400" b="1">
                <a:latin typeface="方正姚体" panose="02010601030101010101" pitchFamily="2" charset="-122"/>
                <a:ea typeface="方正姚体" panose="02010601030101010101" pitchFamily="2" charset="-122"/>
              </a:rPr>
              <a:t>到</a:t>
            </a:r>
            <a:r>
              <a:rPr lang="en-US" altLang="zh-CN" sz="1400" b="1">
                <a:latin typeface="方正姚体" panose="02010601030101010101" pitchFamily="2" charset="-122"/>
                <a:ea typeface="方正姚体" panose="02010601030101010101" pitchFamily="2" charset="-122"/>
              </a:rPr>
              <a:t>1/3</a:t>
            </a:r>
            <a:r>
              <a:rPr lang="zh-CN" altLang="en-US" sz="1400" b="1">
                <a:latin typeface="方正姚体" panose="02010601030101010101" pitchFamily="2" charset="-122"/>
                <a:ea typeface="方正姚体" panose="02010601030101010101" pitchFamily="2" charset="-122"/>
              </a:rPr>
              <a:t>片混食物或加入胶囊</a:t>
            </a:r>
          </a:p>
        </p:txBody>
      </p:sp>
      <p:pic>
        <p:nvPicPr>
          <p:cNvPr id="12" name="图片 11">
            <a:extLst>
              <a:ext uri="{FF2B5EF4-FFF2-40B4-BE49-F238E27FC236}">
                <a16:creationId xmlns:a16="http://schemas.microsoft.com/office/drawing/2014/main" id="{89C48A77-9927-4B0E-B723-0FB1C50A21A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79394" y="2163370"/>
            <a:ext cx="1593047" cy="1593047"/>
          </a:xfrm>
          <a:prstGeom prst="rect">
            <a:avLst/>
          </a:prstGeom>
        </p:spPr>
      </p:pic>
      <p:sp>
        <p:nvSpPr>
          <p:cNvPr id="22" name="文本框 21">
            <a:extLst>
              <a:ext uri="{FF2B5EF4-FFF2-40B4-BE49-F238E27FC236}">
                <a16:creationId xmlns:a16="http://schemas.microsoft.com/office/drawing/2014/main" id="{8A9E85D9-77E8-40E4-82B0-DAE60D523CF2}"/>
              </a:ext>
            </a:extLst>
          </p:cNvPr>
          <p:cNvSpPr txBox="1"/>
          <p:nvPr/>
        </p:nvSpPr>
        <p:spPr>
          <a:xfrm>
            <a:off x="4465309" y="3877433"/>
            <a:ext cx="2099986" cy="738664"/>
          </a:xfrm>
          <a:prstGeom prst="rect">
            <a:avLst/>
          </a:prstGeom>
          <a:noFill/>
        </p:spPr>
        <p:txBody>
          <a:bodyPr wrap="square" rtlCol="0">
            <a:spAutoFit/>
          </a:bodyPr>
          <a:lstStyle/>
          <a:p>
            <a:r>
              <a:rPr lang="zh-CN" altLang="en-US" sz="1400" b="1">
                <a:latin typeface="方正姚体" panose="02010601030101010101" pitchFamily="2" charset="-122"/>
                <a:ea typeface="方正姚体" panose="02010601030101010101" pitchFamily="2" charset="-122"/>
              </a:rPr>
              <a:t>药准字维生素</a:t>
            </a:r>
            <a:r>
              <a:rPr lang="en-US" altLang="zh-CN" sz="1400" b="1">
                <a:latin typeface="方正姚体" panose="02010601030101010101" pitchFamily="2" charset="-122"/>
                <a:ea typeface="方正姚体" panose="02010601030101010101" pitchFamily="2" charset="-122"/>
              </a:rPr>
              <a:t>B12</a:t>
            </a:r>
            <a:r>
              <a:rPr lang="zh-CN" altLang="en-US" sz="1400" b="1">
                <a:latin typeface="方正姚体" panose="02010601030101010101" pitchFamily="2" charset="-122"/>
                <a:ea typeface="方正姚体" panose="02010601030101010101" pitchFamily="2" charset="-122"/>
              </a:rPr>
              <a:t>片</a:t>
            </a:r>
            <a:r>
              <a:rPr lang="en-US" altLang="zh-CN" sz="1400" b="1">
                <a:latin typeface="方正姚体" panose="02010601030101010101" pitchFamily="2" charset="-122"/>
                <a:ea typeface="方正姚体" panose="02010601030101010101" pitchFamily="2" charset="-122"/>
              </a:rPr>
              <a:t>25</a:t>
            </a:r>
            <a:r>
              <a:rPr lang="zh-CN" altLang="en-US" sz="1400" b="1">
                <a:latin typeface="方正姚体" panose="02010601030101010101" pitchFamily="2" charset="-122"/>
                <a:ea typeface="方正姚体" panose="02010601030101010101" pitchFamily="2" charset="-122"/>
              </a:rPr>
              <a:t>微克版；每天</a:t>
            </a:r>
            <a:r>
              <a:rPr lang="en-US" altLang="zh-CN" sz="1400" b="1">
                <a:latin typeface="方正姚体" panose="02010601030101010101" pitchFamily="2" charset="-122"/>
                <a:ea typeface="方正姚体" panose="02010601030101010101" pitchFamily="2" charset="-122"/>
              </a:rPr>
              <a:t>1/4</a:t>
            </a:r>
            <a:r>
              <a:rPr lang="zh-CN" altLang="en-US" sz="1400" b="1">
                <a:latin typeface="方正姚体" panose="02010601030101010101" pitchFamily="2" charset="-122"/>
                <a:ea typeface="方正姚体" panose="02010601030101010101" pitchFamily="2" charset="-122"/>
              </a:rPr>
              <a:t>到</a:t>
            </a:r>
            <a:r>
              <a:rPr lang="en-US" altLang="zh-CN" sz="1400" b="1">
                <a:latin typeface="方正姚体" panose="02010601030101010101" pitchFamily="2" charset="-122"/>
                <a:ea typeface="方正姚体" panose="02010601030101010101" pitchFamily="2" charset="-122"/>
              </a:rPr>
              <a:t>1/8</a:t>
            </a:r>
            <a:r>
              <a:rPr lang="zh-CN" altLang="en-US" sz="1400" b="1">
                <a:latin typeface="方正姚体" panose="02010601030101010101" pitchFamily="2" charset="-122"/>
                <a:ea typeface="方正姚体" panose="02010601030101010101" pitchFamily="2" charset="-122"/>
              </a:rPr>
              <a:t>片混食物或加入胶囊</a:t>
            </a:r>
          </a:p>
        </p:txBody>
      </p:sp>
      <p:sp>
        <p:nvSpPr>
          <p:cNvPr id="15" name="文本框 21">
            <a:extLst>
              <a:ext uri="{FF2B5EF4-FFF2-40B4-BE49-F238E27FC236}">
                <a16:creationId xmlns:a16="http://schemas.microsoft.com/office/drawing/2014/main" id="{5DD598EE-94A8-403D-A795-3C8812450936}"/>
              </a:ext>
            </a:extLst>
          </p:cNvPr>
          <p:cNvSpPr txBox="1">
            <a:spLocks noChangeArrowheads="1"/>
          </p:cNvSpPr>
          <p:nvPr/>
        </p:nvSpPr>
        <p:spPr bwMode="auto">
          <a:xfrm>
            <a:off x="-108746" y="5658577"/>
            <a:ext cx="2782888" cy="88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r" eaLnBrk="1" hangingPunct="1">
              <a:lnSpc>
                <a:spcPct val="150000"/>
              </a:lnSpc>
              <a:spcBef>
                <a:spcPct val="0"/>
              </a:spcBef>
              <a:buFontTx/>
              <a:buNone/>
              <a:defRPr/>
            </a:pPr>
            <a:r>
              <a:rPr lang="zh-CN" altLang="en-US" sz="1800" b="1">
                <a:solidFill>
                  <a:srgbClr val="0F0F0F"/>
                </a:solidFill>
                <a:latin typeface="等线" panose="02010600030101010101" pitchFamily="2" charset="-122"/>
                <a:ea typeface="等线" panose="02010600030101010101" pitchFamily="2" charset="-122"/>
                <a:cs typeface="+mn-ea"/>
                <a:sym typeface="+mn-lt"/>
              </a:rPr>
              <a:t>厨子</a:t>
            </a:r>
            <a:r>
              <a:rPr lang="en-US" altLang="zh-CN" sz="1800" b="1">
                <a:solidFill>
                  <a:srgbClr val="0F0F0F"/>
                </a:solidFill>
                <a:latin typeface="等线" panose="02010600030101010101" pitchFamily="2" charset="-122"/>
                <a:ea typeface="等线" panose="02010600030101010101" pitchFamily="2" charset="-122"/>
                <a:cs typeface="+mn-ea"/>
                <a:sym typeface="+mn-lt"/>
              </a:rPr>
              <a:t>@</a:t>
            </a:r>
            <a:r>
              <a:rPr lang="zh-CN" altLang="en-US" sz="1800" b="1">
                <a:solidFill>
                  <a:srgbClr val="0F0F0F"/>
                </a:solidFill>
                <a:latin typeface="等线" panose="02010600030101010101" pitchFamily="2" charset="-122"/>
                <a:ea typeface="等线" panose="02010600030101010101" pitchFamily="2" charset="-122"/>
                <a:cs typeface="+mn-ea"/>
                <a:sym typeface="+mn-lt"/>
              </a:rPr>
              <a:t>公众号</a:t>
            </a:r>
            <a:r>
              <a:rPr lang="en-US" altLang="zh-CN" sz="1800" b="1">
                <a:solidFill>
                  <a:srgbClr val="0F0F0F"/>
                </a:solidFill>
                <a:latin typeface="等线" panose="02010600030101010101" pitchFamily="2" charset="-122"/>
                <a:ea typeface="等线" panose="02010600030101010101" pitchFamily="2" charset="-122"/>
                <a:cs typeface="+mn-ea"/>
                <a:sym typeface="+mn-lt"/>
              </a:rPr>
              <a:t>Raw Meat</a:t>
            </a:r>
          </a:p>
          <a:p>
            <a:pPr algn="r" eaLnBrk="1" hangingPunct="1">
              <a:lnSpc>
                <a:spcPct val="150000"/>
              </a:lnSpc>
              <a:spcBef>
                <a:spcPct val="0"/>
              </a:spcBef>
              <a:buFontTx/>
              <a:buNone/>
              <a:defRPr/>
            </a:pPr>
            <a:r>
              <a:rPr lang="en-US" altLang="zh-CN" sz="1800" b="1">
                <a:solidFill>
                  <a:srgbClr val="0F0F0F"/>
                </a:solidFill>
                <a:latin typeface="等线" panose="02010600030101010101" pitchFamily="2" charset="-122"/>
                <a:ea typeface="等线" panose="02010600030101010101" pitchFamily="2" charset="-122"/>
                <a:cs typeface="+mn-ea"/>
                <a:sym typeface="+mn-lt"/>
              </a:rPr>
              <a:t>2018 Aug</a:t>
            </a:r>
          </a:p>
        </p:txBody>
      </p:sp>
    </p:spTree>
    <p:extLst>
      <p:ext uri="{BB962C8B-B14F-4D97-AF65-F5344CB8AC3E}">
        <p14:creationId xmlns:p14="http://schemas.microsoft.com/office/powerpoint/2010/main" val="293349434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pic>
        <p:nvPicPr>
          <p:cNvPr id="9218" name="图片 2">
            <a:extLst/>
          </p:cNvPr>
          <p:cNvPicPr>
            <a:picLocks noChangeAspect="1" noChangeArrowheads="1"/>
          </p:cNvPicPr>
          <p:nvPr/>
        </p:nvPicPr>
        <p:blipFill>
          <a:blip r:embed="rId2">
            <a:duotone>
              <a:prstClr val="black"/>
              <a:schemeClr val="accent3">
                <a:tint val="45000"/>
                <a:satMod val="400000"/>
              </a:schemeClr>
            </a:duotone>
            <a:extLst>
              <a:ext uri="{28A0092B-C50C-407E-A947-70E740481C1C}">
                <a14:useLocalDpi xmlns:a14="http://schemas.microsoft.com/office/drawing/2010/main" val="0"/>
              </a:ext>
            </a:extLst>
          </a:blip>
          <a:srcRect l="7875" r="25414"/>
          <a:stretch>
            <a:fillRect/>
          </a:stretch>
        </p:blipFill>
        <p:spPr bwMode="auto">
          <a:xfrm>
            <a:off x="-74310" y="-17714"/>
            <a:ext cx="7356475" cy="689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7" name="组合 16">
            <a:extLst/>
          </p:cNvPr>
          <p:cNvGrpSpPr/>
          <p:nvPr/>
        </p:nvGrpSpPr>
        <p:grpSpPr>
          <a:xfrm>
            <a:off x="5375918" y="5196814"/>
            <a:ext cx="6816081" cy="1042721"/>
            <a:chOff x="8401024" y="347160"/>
            <a:chExt cx="3905313" cy="1042721"/>
          </a:xfrm>
          <a:effectLst>
            <a:outerShdw blurRad="50800" dist="38100" dir="5400000" algn="t" rotWithShape="0">
              <a:prstClr val="black">
                <a:alpha val="40000"/>
              </a:prstClr>
            </a:outerShdw>
          </a:effectLst>
        </p:grpSpPr>
        <p:sp>
          <p:nvSpPr>
            <p:cNvPr id="4" name="箭头: 五边形 6">
              <a:extLst/>
            </p:cNvPr>
            <p:cNvSpPr/>
            <p:nvPr/>
          </p:nvSpPr>
          <p:spPr>
            <a:xfrm flipH="1">
              <a:off x="8401024" y="404664"/>
              <a:ext cx="3905313"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sp>
          <p:nvSpPr>
            <p:cNvPr id="7" name="文本框 14">
              <a:extLst/>
            </p:cNvPr>
            <p:cNvSpPr txBox="1">
              <a:spLocks noChangeArrowheads="1"/>
            </p:cNvSpPr>
            <p:nvPr/>
          </p:nvSpPr>
          <p:spPr bwMode="auto">
            <a:xfrm>
              <a:off x="8607312" y="347160"/>
              <a:ext cx="2647013" cy="1042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000" b="1">
                  <a:solidFill>
                    <a:schemeClr val="tx2">
                      <a:lumMod val="75000"/>
                    </a:schemeClr>
                  </a:solidFill>
                  <a:latin typeface="微软雅黑" panose="020B0503020204020204" pitchFamily="34" charset="-122"/>
                  <a:ea typeface="微软雅黑" panose="020B0503020204020204" pitchFamily="34" charset="-122"/>
                  <a:cs typeface="+mn-ea"/>
                  <a:sym typeface="+mn-lt"/>
                </a:rPr>
                <a:t>猫慢性肾病</a:t>
              </a:r>
              <a:endParaRPr lang="en-US" altLang="zh-CN" sz="2000" b="1">
                <a:solidFill>
                  <a:schemeClr val="tx2">
                    <a:lumMod val="75000"/>
                  </a:schemeClr>
                </a:solidFill>
                <a:latin typeface="微软雅黑" panose="020B0503020204020204" pitchFamily="34" charset="-122"/>
                <a:ea typeface="微软雅黑" panose="020B0503020204020204" pitchFamily="34" charset="-122"/>
                <a:cs typeface="+mn-ea"/>
                <a:sym typeface="+mn-lt"/>
              </a:endParaRPr>
            </a:p>
            <a:p>
              <a:pPr eaLnBrk="1" hangingPunct="1">
                <a:lnSpc>
                  <a:spcPct val="150000"/>
                </a:lnSpc>
                <a:spcBef>
                  <a:spcPct val="0"/>
                </a:spcBef>
                <a:buFontTx/>
                <a:buNone/>
                <a:defRPr/>
              </a:pPr>
              <a:r>
                <a:rPr lang="zh-CN" altLang="en-US" sz="2400" b="1">
                  <a:solidFill>
                    <a:schemeClr val="tx2">
                      <a:lumMod val="75000"/>
                    </a:schemeClr>
                  </a:solidFill>
                  <a:latin typeface="微软雅黑" panose="020B0503020204020204" pitchFamily="34" charset="-122"/>
                  <a:ea typeface="微软雅黑" panose="020B0503020204020204" pitchFamily="34" charset="-122"/>
                  <a:cs typeface="+mn-ea"/>
                  <a:sym typeface="+mn-lt"/>
                </a:rPr>
                <a:t>贫血治疗：铁的补充</a:t>
              </a:r>
              <a:endParaRPr lang="en-US" altLang="zh-CN" sz="2400" b="1">
                <a:solidFill>
                  <a:schemeClr val="tx2">
                    <a:lumMod val="7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8436" name="组合 17"/>
          <p:cNvGrpSpPr>
            <a:grpSpLocks/>
          </p:cNvGrpSpPr>
          <p:nvPr/>
        </p:nvGrpSpPr>
        <p:grpSpPr bwMode="auto">
          <a:xfrm>
            <a:off x="1343025" y="1139825"/>
            <a:ext cx="10628313" cy="3700462"/>
            <a:chOff x="170987" y="2984657"/>
            <a:chExt cx="9768408" cy="3510340"/>
          </a:xfrm>
        </p:grpSpPr>
        <p:sp>
          <p:nvSpPr>
            <p:cNvPr id="21" name="矩形 20">
              <a:extLst/>
            </p:cNvPr>
            <p:cNvSpPr/>
            <p:nvPr/>
          </p:nvSpPr>
          <p:spPr>
            <a:xfrm>
              <a:off x="170987" y="2984657"/>
              <a:ext cx="9768408" cy="351034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kern="0">
                <a:solidFill>
                  <a:sysClr val="windowText" lastClr="000000"/>
                </a:solidFill>
                <a:cs typeface="+mn-ea"/>
                <a:sym typeface="+mn-lt"/>
              </a:endParaRPr>
            </a:p>
          </p:txBody>
        </p:sp>
        <p:sp>
          <p:nvSpPr>
            <p:cNvPr id="23" name="矩形 22">
              <a:extLst/>
            </p:cNvPr>
            <p:cNvSpPr/>
            <p:nvPr/>
          </p:nvSpPr>
          <p:spPr>
            <a:xfrm>
              <a:off x="5378095" y="3585126"/>
              <a:ext cx="4323518" cy="2197027"/>
            </a:xfrm>
            <a:prstGeom prst="rect">
              <a:avLst/>
            </a:prstGeom>
          </p:spPr>
          <p:txBody>
            <a:bodyPr wrap="square">
              <a:spAutoFit/>
            </a:bodyPr>
            <a:lstStyle/>
            <a:p>
              <a:pPr marL="285750" indent="-285750" eaLnBrk="1" fontAlgn="auto" hangingPunct="1">
                <a:lnSpc>
                  <a:spcPct val="150000"/>
                </a:lnSpc>
                <a:spcBef>
                  <a:spcPts val="0"/>
                </a:spcBef>
                <a:spcAft>
                  <a:spcPts val="0"/>
                </a:spcAft>
                <a:buFont typeface="Arial" panose="020B0604020202020204" pitchFamily="34" charset="0"/>
                <a:buChar char="•"/>
                <a:defRPr/>
              </a:pPr>
              <a:r>
                <a:rPr lang="zh-CN" altLang="en-US" sz="1400" b="1" kern="0">
                  <a:solidFill>
                    <a:srgbClr val="4F4F4F"/>
                  </a:solidFill>
                  <a:latin typeface="+mn-lt"/>
                  <a:ea typeface="+mn-ea"/>
                  <a:cs typeface="+mn-ea"/>
                  <a:sym typeface="+mn-lt"/>
                </a:rPr>
                <a:t>铁缺乏会加剧贫血</a:t>
              </a:r>
              <a:endParaRPr lang="en-US" altLang="zh-CN" sz="1400" b="1" kern="0">
                <a:solidFill>
                  <a:srgbClr val="4F4F4F"/>
                </a:solidFill>
                <a:latin typeface="+mn-lt"/>
                <a:ea typeface="+mn-ea"/>
                <a:cs typeface="+mn-ea"/>
                <a:sym typeface="+mn-lt"/>
              </a:endParaRPr>
            </a:p>
            <a:p>
              <a:pPr marL="285750" indent="-285750" eaLnBrk="1" fontAlgn="auto" hangingPunct="1">
                <a:lnSpc>
                  <a:spcPct val="150000"/>
                </a:lnSpc>
                <a:spcBef>
                  <a:spcPts val="0"/>
                </a:spcBef>
                <a:spcAft>
                  <a:spcPts val="0"/>
                </a:spcAft>
                <a:buFont typeface="Arial" panose="020B0604020202020204" pitchFamily="34" charset="0"/>
                <a:buChar char="•"/>
                <a:defRPr/>
              </a:pPr>
              <a:r>
                <a:rPr lang="zh-CN" altLang="en-US" sz="1400" b="1" kern="0">
                  <a:solidFill>
                    <a:srgbClr val="4F4F4F"/>
                  </a:solidFill>
                  <a:latin typeface="+mn-lt"/>
                  <a:ea typeface="+mn-ea"/>
                  <a:cs typeface="+mn-ea"/>
                  <a:sym typeface="+mn-lt"/>
                </a:rPr>
                <a:t>即便不缺铁，补铁可以增加促红素的效果</a:t>
              </a:r>
              <a:endParaRPr lang="en-US" altLang="zh-CN" sz="1400" b="1" kern="0">
                <a:solidFill>
                  <a:srgbClr val="4F4F4F"/>
                </a:solidFill>
                <a:latin typeface="+mn-lt"/>
                <a:ea typeface="+mn-ea"/>
                <a:cs typeface="+mn-ea"/>
                <a:sym typeface="+mn-lt"/>
              </a:endParaRPr>
            </a:p>
            <a:p>
              <a:pPr marL="285750" indent="-285750" eaLnBrk="1" fontAlgn="auto" hangingPunct="1">
                <a:lnSpc>
                  <a:spcPct val="150000"/>
                </a:lnSpc>
                <a:spcBef>
                  <a:spcPts val="0"/>
                </a:spcBef>
                <a:spcAft>
                  <a:spcPts val="0"/>
                </a:spcAft>
                <a:buFont typeface="Arial" panose="020B0604020202020204" pitchFamily="34" charset="0"/>
                <a:buChar char="•"/>
                <a:defRPr/>
              </a:pPr>
              <a:r>
                <a:rPr lang="zh-CN" altLang="en-US" sz="1400" b="1" kern="0">
                  <a:solidFill>
                    <a:srgbClr val="4F4F4F"/>
                  </a:solidFill>
                  <a:latin typeface="+mn-lt"/>
                  <a:ea typeface="+mn-ea"/>
                  <a:cs typeface="+mn-ea"/>
                  <a:sym typeface="+mn-lt"/>
                </a:rPr>
                <a:t>猫补铁常用两种办法：找医生</a:t>
              </a:r>
              <a:r>
                <a:rPr lang="zh-CN" altLang="en-US" sz="1400" b="1" u="sng" kern="0">
                  <a:solidFill>
                    <a:srgbClr val="4F4F4F"/>
                  </a:solidFill>
                  <a:latin typeface="+mn-lt"/>
                  <a:ea typeface="+mn-ea"/>
                  <a:cs typeface="+mn-ea"/>
                  <a:sym typeface="+mn-lt"/>
                </a:rPr>
                <a:t>肌肉注射</a:t>
              </a:r>
              <a:r>
                <a:rPr lang="zh-CN" altLang="en-US" sz="1400" b="1" kern="0">
                  <a:solidFill>
                    <a:srgbClr val="4F4F4F"/>
                  </a:solidFill>
                  <a:latin typeface="+mn-lt"/>
                  <a:ea typeface="+mn-ea"/>
                  <a:cs typeface="+mn-ea"/>
                  <a:sym typeface="+mn-lt"/>
                </a:rPr>
                <a:t>右旋糖酐铁</a:t>
              </a:r>
              <a:r>
                <a:rPr lang="en-US" altLang="zh-CN" sz="1400" b="1" kern="0">
                  <a:solidFill>
                    <a:srgbClr val="4F4F4F"/>
                  </a:solidFill>
                  <a:latin typeface="+mn-lt"/>
                  <a:ea typeface="+mn-ea"/>
                  <a:cs typeface="+mn-ea"/>
                  <a:sym typeface="+mn-lt"/>
                </a:rPr>
                <a:t>50mg</a:t>
              </a:r>
              <a:r>
                <a:rPr lang="zh-CN" altLang="en-US" sz="1400" b="1" kern="0">
                  <a:solidFill>
                    <a:srgbClr val="4F4F4F"/>
                  </a:solidFill>
                  <a:latin typeface="+mn-lt"/>
                  <a:ea typeface="+mn-ea"/>
                  <a:cs typeface="+mn-ea"/>
                  <a:sym typeface="+mn-lt"/>
                </a:rPr>
                <a:t>，一个月一次，比较疼。或者每日口服补铁剂。</a:t>
              </a:r>
              <a:endParaRPr lang="en-US" altLang="zh-CN" sz="1400" b="1" kern="0">
                <a:solidFill>
                  <a:srgbClr val="4F4F4F"/>
                </a:solidFill>
                <a:latin typeface="+mn-lt"/>
                <a:ea typeface="+mn-ea"/>
                <a:cs typeface="+mn-ea"/>
                <a:sym typeface="+mn-lt"/>
              </a:endParaRPr>
            </a:p>
            <a:p>
              <a:pPr marL="285750" indent="-285750" eaLnBrk="1" fontAlgn="auto" hangingPunct="1">
                <a:lnSpc>
                  <a:spcPct val="150000"/>
                </a:lnSpc>
                <a:spcBef>
                  <a:spcPts val="0"/>
                </a:spcBef>
                <a:spcAft>
                  <a:spcPts val="0"/>
                </a:spcAft>
                <a:buFont typeface="Arial" panose="020B0604020202020204" pitchFamily="34" charset="0"/>
                <a:buChar char="•"/>
                <a:defRPr/>
              </a:pPr>
              <a:r>
                <a:rPr lang="zh-CN" altLang="en-US" sz="1400" b="1" kern="0">
                  <a:solidFill>
                    <a:srgbClr val="4F4F4F"/>
                  </a:solidFill>
                  <a:latin typeface="+mn-lt"/>
                  <a:ea typeface="+mn-ea"/>
                  <a:cs typeface="+mn-ea"/>
                  <a:sym typeface="+mn-lt"/>
                </a:rPr>
                <a:t>铁制剂会削弱碳酸镧的效果。</a:t>
              </a:r>
              <a:endParaRPr lang="en-US" altLang="zh-CN" sz="1400" b="1" kern="0">
                <a:solidFill>
                  <a:srgbClr val="4F4F4F"/>
                </a:solidFill>
                <a:latin typeface="+mn-lt"/>
                <a:ea typeface="+mn-ea"/>
                <a:cs typeface="+mn-ea"/>
                <a:sym typeface="+mn-lt"/>
              </a:endParaRPr>
            </a:p>
            <a:p>
              <a:pPr marL="285750" indent="-285750" eaLnBrk="1" fontAlgn="auto" hangingPunct="1">
                <a:lnSpc>
                  <a:spcPct val="150000"/>
                </a:lnSpc>
                <a:spcBef>
                  <a:spcPts val="0"/>
                </a:spcBef>
                <a:spcAft>
                  <a:spcPts val="0"/>
                </a:spcAft>
                <a:buFont typeface="Arial" panose="020B0604020202020204" pitchFamily="34" charset="0"/>
                <a:buChar char="•"/>
                <a:defRPr/>
              </a:pPr>
              <a:r>
                <a:rPr lang="zh-CN" altLang="en-US" sz="1400" b="1" kern="0">
                  <a:solidFill>
                    <a:srgbClr val="4F4F4F"/>
                  </a:solidFill>
                  <a:latin typeface="+mn-lt"/>
                  <a:ea typeface="+mn-ea"/>
                  <a:cs typeface="+mn-ea"/>
                  <a:sym typeface="+mn-lt"/>
                </a:rPr>
                <a:t>口服补铁需要每天</a:t>
              </a:r>
              <a:r>
                <a:rPr lang="en-US" altLang="zh-CN" sz="1400" b="1" u="sng" kern="0">
                  <a:solidFill>
                    <a:srgbClr val="EE8640"/>
                  </a:solidFill>
                  <a:effectLst>
                    <a:outerShdw blurRad="38100" dist="38100" dir="2700000" algn="tl">
                      <a:srgbClr val="000000">
                        <a:alpha val="43137"/>
                      </a:srgbClr>
                    </a:outerShdw>
                  </a:effectLst>
                  <a:latin typeface="+mn-lt"/>
                  <a:ea typeface="+mn-ea"/>
                  <a:cs typeface="+mn-ea"/>
                  <a:sym typeface="+mn-lt"/>
                </a:rPr>
                <a:t>10-20mg</a:t>
              </a:r>
              <a:r>
                <a:rPr lang="zh-CN" altLang="en-US" sz="1400" b="1" kern="0">
                  <a:solidFill>
                    <a:srgbClr val="4F4F4F"/>
                  </a:solidFill>
                  <a:latin typeface="+mn-lt"/>
                  <a:ea typeface="+mn-ea"/>
                  <a:cs typeface="+mn-ea"/>
                  <a:sym typeface="+mn-lt"/>
                </a:rPr>
                <a:t>元素铁，</a:t>
              </a:r>
              <a:r>
                <a:rPr lang="zh-CN" altLang="en-US" sz="1400" b="1" kern="0">
                  <a:solidFill>
                    <a:srgbClr val="FF0000"/>
                  </a:solidFill>
                  <a:latin typeface="+mn-lt"/>
                  <a:ea typeface="+mn-ea"/>
                  <a:cs typeface="+mn-ea"/>
                  <a:sym typeface="+mn-lt"/>
                </a:rPr>
                <a:t>宠物产品没几个够量！</a:t>
              </a:r>
              <a:endParaRPr lang="en-US" altLang="zh-CN" sz="1400" b="1" kern="0">
                <a:solidFill>
                  <a:srgbClr val="FF0000"/>
                </a:solidFill>
                <a:latin typeface="+mn-lt"/>
                <a:ea typeface="+mn-ea"/>
                <a:cs typeface="+mn-ea"/>
                <a:sym typeface="+mn-lt"/>
              </a:endParaRPr>
            </a:p>
          </p:txBody>
        </p:sp>
      </p:grpSp>
      <p:sp>
        <p:nvSpPr>
          <p:cNvPr id="18437" name="文本框 9"/>
          <p:cNvSpPr txBox="1">
            <a:spLocks noChangeArrowheads="1"/>
          </p:cNvSpPr>
          <p:nvPr/>
        </p:nvSpPr>
        <p:spPr bwMode="auto">
          <a:xfrm>
            <a:off x="1558925" y="2636838"/>
            <a:ext cx="439261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en-US" altLang="zh-CN" b="1"/>
          </a:p>
          <a:p>
            <a:endParaRPr lang="en-US" altLang="zh-CN" b="1"/>
          </a:p>
        </p:txBody>
      </p:sp>
      <p:sp>
        <p:nvSpPr>
          <p:cNvPr id="18438" name="文本框 11"/>
          <p:cNvSpPr txBox="1">
            <a:spLocks noChangeArrowheads="1"/>
          </p:cNvSpPr>
          <p:nvPr/>
        </p:nvSpPr>
        <p:spPr bwMode="auto">
          <a:xfrm>
            <a:off x="1457325" y="2549525"/>
            <a:ext cx="41338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 name="文本框 9">
            <a:extLst>
              <a:ext uri="{FF2B5EF4-FFF2-40B4-BE49-F238E27FC236}">
                <a16:creationId xmlns:a16="http://schemas.microsoft.com/office/drawing/2014/main" id="{FF0C0B23-6870-41B2-92F1-0D2D635A68B4}"/>
              </a:ext>
            </a:extLst>
          </p:cNvPr>
          <p:cNvSpPr txBox="1"/>
          <p:nvPr/>
        </p:nvSpPr>
        <p:spPr>
          <a:xfrm>
            <a:off x="1457325" y="3786534"/>
            <a:ext cx="2434019" cy="954107"/>
          </a:xfrm>
          <a:prstGeom prst="rect">
            <a:avLst/>
          </a:prstGeom>
          <a:noFill/>
        </p:spPr>
        <p:txBody>
          <a:bodyPr wrap="square" rtlCol="0">
            <a:spAutoFit/>
          </a:bodyPr>
          <a:lstStyle/>
          <a:p>
            <a:r>
              <a:rPr lang="zh-CN" altLang="en-US" sz="1400" b="1">
                <a:latin typeface="方正姚体" panose="02010601030101010101" pitchFamily="2" charset="-122"/>
                <a:ea typeface="方正姚体" panose="02010601030101010101" pitchFamily="2" charset="-122"/>
              </a:rPr>
              <a:t>非常常见但含量尴尬。每</a:t>
            </a:r>
            <a:r>
              <a:rPr lang="en-US" altLang="zh-CN" sz="1400" b="1">
                <a:latin typeface="方正姚体" panose="02010601030101010101" pitchFamily="2" charset="-122"/>
                <a:ea typeface="方正姚体" panose="02010601030101010101" pitchFamily="2" charset="-122"/>
              </a:rPr>
              <a:t>5ml</a:t>
            </a:r>
            <a:r>
              <a:rPr lang="zh-CN" altLang="en-US" sz="1400" b="1">
                <a:latin typeface="方正姚体" panose="02010601030101010101" pitchFamily="2" charset="-122"/>
                <a:ea typeface="方正姚体" panose="02010601030101010101" pitchFamily="2" charset="-122"/>
              </a:rPr>
              <a:t>仅</a:t>
            </a:r>
            <a:r>
              <a:rPr lang="en-US" altLang="zh-CN" sz="1400" b="1">
                <a:latin typeface="方正姚体" panose="02010601030101010101" pitchFamily="2" charset="-122"/>
                <a:ea typeface="方正姚体" panose="02010601030101010101" pitchFamily="2" charset="-122"/>
              </a:rPr>
              <a:t>12.5mg</a:t>
            </a:r>
            <a:r>
              <a:rPr lang="zh-CN" altLang="en-US" sz="1400" b="1">
                <a:latin typeface="方正姚体" panose="02010601030101010101" pitchFamily="2" charset="-122"/>
                <a:ea typeface="方正姚体" panose="02010601030101010101" pitchFamily="2" charset="-122"/>
              </a:rPr>
              <a:t>铁，含量过低。必须每天吃近</a:t>
            </a:r>
            <a:r>
              <a:rPr lang="en-US" altLang="zh-CN" sz="1400" b="1">
                <a:latin typeface="方正姚体" panose="02010601030101010101" pitchFamily="2" charset="-122"/>
                <a:ea typeface="方正姚体" panose="02010601030101010101" pitchFamily="2" charset="-122"/>
              </a:rPr>
              <a:t>5ml</a:t>
            </a:r>
            <a:r>
              <a:rPr lang="zh-CN" altLang="en-US" sz="1400" b="1">
                <a:latin typeface="方正姚体" panose="02010601030101010101" pitchFamily="2" charset="-122"/>
                <a:ea typeface="方正姚体" panose="02010601030101010101" pitchFamily="2" charset="-122"/>
              </a:rPr>
              <a:t>才满足铁的要求。糖尿病猫禁吃。</a:t>
            </a:r>
          </a:p>
        </p:txBody>
      </p:sp>
      <p:sp>
        <p:nvSpPr>
          <p:cNvPr id="22" name="文本框 21">
            <a:extLst>
              <a:ext uri="{FF2B5EF4-FFF2-40B4-BE49-F238E27FC236}">
                <a16:creationId xmlns:a16="http://schemas.microsoft.com/office/drawing/2014/main" id="{8A9E85D9-77E8-40E4-82B0-DAE60D523CF2}"/>
              </a:ext>
            </a:extLst>
          </p:cNvPr>
          <p:cNvSpPr txBox="1"/>
          <p:nvPr/>
        </p:nvSpPr>
        <p:spPr>
          <a:xfrm>
            <a:off x="4450286" y="3795233"/>
            <a:ext cx="2284487" cy="830997"/>
          </a:xfrm>
          <a:prstGeom prst="rect">
            <a:avLst/>
          </a:prstGeom>
          <a:noFill/>
        </p:spPr>
        <p:txBody>
          <a:bodyPr wrap="square" rtlCol="0">
            <a:spAutoFit/>
          </a:bodyPr>
          <a:lstStyle/>
          <a:p>
            <a:r>
              <a:rPr lang="zh-CN" altLang="en-US" sz="1600" b="1">
                <a:latin typeface="方正姚体" panose="02010601030101010101" pitchFamily="2" charset="-122"/>
                <a:ea typeface="方正姚体" panose="02010601030101010101" pitchFamily="2" charset="-122"/>
              </a:rPr>
              <a:t>人用硫酸亚铁缓释片。每片含铁</a:t>
            </a:r>
            <a:r>
              <a:rPr lang="en-US" altLang="zh-CN" sz="1600" b="1">
                <a:latin typeface="方正姚体" panose="02010601030101010101" pitchFamily="2" charset="-122"/>
                <a:ea typeface="方正姚体" panose="02010601030101010101" pitchFamily="2" charset="-122"/>
              </a:rPr>
              <a:t>90mg</a:t>
            </a:r>
            <a:r>
              <a:rPr lang="zh-CN" altLang="en-US" sz="1600" b="1">
                <a:latin typeface="方正姚体" panose="02010601030101010101" pitchFamily="2" charset="-122"/>
                <a:ea typeface="方正姚体" panose="02010601030101010101" pitchFamily="2" charset="-122"/>
              </a:rPr>
              <a:t>。猫服用</a:t>
            </a:r>
            <a:r>
              <a:rPr lang="en-US" altLang="zh-CN" sz="1600" b="1">
                <a:latin typeface="方正姚体" panose="02010601030101010101" pitchFamily="2" charset="-122"/>
                <a:ea typeface="方正姚体" panose="02010601030101010101" pitchFamily="2" charset="-122"/>
              </a:rPr>
              <a:t>1/10</a:t>
            </a:r>
            <a:r>
              <a:rPr lang="zh-CN" altLang="en-US" sz="1600" b="1">
                <a:latin typeface="方正姚体" panose="02010601030101010101" pitchFamily="2" charset="-122"/>
                <a:ea typeface="方正姚体" panose="02010601030101010101" pitchFamily="2" charset="-122"/>
              </a:rPr>
              <a:t>到</a:t>
            </a:r>
            <a:r>
              <a:rPr lang="en-US" altLang="zh-CN" sz="1600" b="1">
                <a:latin typeface="方正姚体" panose="02010601030101010101" pitchFamily="2" charset="-122"/>
                <a:ea typeface="方正姚体" panose="02010601030101010101" pitchFamily="2" charset="-122"/>
              </a:rPr>
              <a:t>1/5</a:t>
            </a:r>
            <a:r>
              <a:rPr lang="zh-CN" altLang="en-US" sz="1600" b="1">
                <a:latin typeface="方正姚体" panose="02010601030101010101" pitchFamily="2" charset="-122"/>
                <a:ea typeface="方正姚体" panose="02010601030101010101" pitchFamily="2" charset="-122"/>
              </a:rPr>
              <a:t>即可。</a:t>
            </a:r>
          </a:p>
        </p:txBody>
      </p:sp>
      <p:pic>
        <p:nvPicPr>
          <p:cNvPr id="5" name="图片 4">
            <a:extLst>
              <a:ext uri="{FF2B5EF4-FFF2-40B4-BE49-F238E27FC236}">
                <a16:creationId xmlns:a16="http://schemas.microsoft.com/office/drawing/2014/main" id="{F93ABB30-D6EC-449B-9C5A-D394286B7F5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05674" y="1735355"/>
            <a:ext cx="2062322" cy="2062322"/>
          </a:xfrm>
          <a:prstGeom prst="rect">
            <a:avLst/>
          </a:prstGeom>
        </p:spPr>
      </p:pic>
      <p:pic>
        <p:nvPicPr>
          <p:cNvPr id="8" name="图片 7">
            <a:extLst>
              <a:ext uri="{FF2B5EF4-FFF2-40B4-BE49-F238E27FC236}">
                <a16:creationId xmlns:a16="http://schemas.microsoft.com/office/drawing/2014/main" id="{A207484B-DAF4-40A2-B3E3-7CBBDF94EE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33781" y="1888733"/>
            <a:ext cx="1908944" cy="1908944"/>
          </a:xfrm>
          <a:prstGeom prst="rect">
            <a:avLst/>
          </a:prstGeom>
        </p:spPr>
      </p:pic>
      <p:sp>
        <p:nvSpPr>
          <p:cNvPr id="9" name="文本框 8">
            <a:extLst>
              <a:ext uri="{FF2B5EF4-FFF2-40B4-BE49-F238E27FC236}">
                <a16:creationId xmlns:a16="http://schemas.microsoft.com/office/drawing/2014/main" id="{94E34200-0582-44E7-992C-E536BC2AA15E}"/>
              </a:ext>
            </a:extLst>
          </p:cNvPr>
          <p:cNvSpPr txBox="1"/>
          <p:nvPr/>
        </p:nvSpPr>
        <p:spPr>
          <a:xfrm>
            <a:off x="7233226" y="4416828"/>
            <a:ext cx="4295676" cy="646331"/>
          </a:xfrm>
          <a:prstGeom prst="rect">
            <a:avLst/>
          </a:prstGeom>
          <a:noFill/>
        </p:spPr>
        <p:txBody>
          <a:bodyPr wrap="square" rtlCol="0">
            <a:spAutoFit/>
          </a:bodyPr>
          <a:lstStyle/>
          <a:p>
            <a:r>
              <a:rPr lang="zh-CN" altLang="en-US" sz="900" kern="0">
                <a:cs typeface="+mn-ea"/>
                <a:sym typeface="+mn-lt"/>
              </a:rPr>
              <a:t>参见：</a:t>
            </a:r>
            <a:r>
              <a:rPr lang="en-US" altLang="zh-CN" sz="900" kern="0">
                <a:cs typeface="+mn-ea"/>
                <a:sym typeface="+mn-lt"/>
              </a:rPr>
              <a:t>http://veterinarymedicine.dvm360.com/managing-anemia-patients-with-chronic-kidney-disease</a:t>
            </a:r>
          </a:p>
          <a:p>
            <a:endParaRPr lang="zh-CN" altLang="en-US"/>
          </a:p>
        </p:txBody>
      </p:sp>
    </p:spTree>
    <p:extLst>
      <p:ext uri="{BB962C8B-B14F-4D97-AF65-F5344CB8AC3E}">
        <p14:creationId xmlns:p14="http://schemas.microsoft.com/office/powerpoint/2010/main" val="103127506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p:cNvPr>
          <p:cNvGrpSpPr/>
          <p:nvPr/>
        </p:nvGrpSpPr>
        <p:grpSpPr>
          <a:xfrm>
            <a:off x="2703513" y="526932"/>
            <a:ext cx="9488487" cy="1035882"/>
            <a:chOff x="8112223" y="330677"/>
            <a:chExt cx="4194115" cy="1035882"/>
          </a:xfrm>
          <a:effectLst>
            <a:outerShdw blurRad="50800" dist="38100" dir="5400000" algn="t" rotWithShape="0">
              <a:prstClr val="black">
                <a:alpha val="40000"/>
              </a:prstClr>
            </a:outerShdw>
          </a:effectLst>
        </p:grpSpPr>
        <p:sp>
          <p:nvSpPr>
            <p:cNvPr id="27"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8281096" y="330677"/>
              <a:ext cx="3967296" cy="985057"/>
              <a:chOff x="-461843" y="2729730"/>
              <a:chExt cx="4672947" cy="1377463"/>
            </a:xfrm>
          </p:grpSpPr>
          <p:sp>
            <p:nvSpPr>
              <p:cNvPr id="29"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1348278" y="3461620"/>
                <a:ext cx="2862826" cy="584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endParaRPr lang="en-US" altLang="zh-CN" sz="1600">
                  <a:solidFill>
                    <a:srgbClr val="010101"/>
                  </a:solidFill>
                  <a:latin typeface="+mn-lt"/>
                  <a:ea typeface="+mn-ea"/>
                  <a:cs typeface="+mn-ea"/>
                  <a:sym typeface="+mn-lt"/>
                </a:endParaRPr>
              </a:p>
            </p:txBody>
          </p:sp>
          <p:cxnSp>
            <p:nvCxnSpPr>
              <p:cNvPr id="31" name="直接连接符 30">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506334" y="3461620"/>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grpSp>
        <p:nvGrpSpPr>
          <p:cNvPr id="39939" name="组合 53"/>
          <p:cNvGrpSpPr>
            <a:grpSpLocks/>
          </p:cNvGrpSpPr>
          <p:nvPr/>
        </p:nvGrpSpPr>
        <p:grpSpPr bwMode="auto">
          <a:xfrm>
            <a:off x="2703513" y="2012663"/>
            <a:ext cx="8723312" cy="4376438"/>
            <a:chOff x="5103102" y="1820169"/>
            <a:chExt cx="6465867" cy="4057103"/>
          </a:xfrm>
        </p:grpSpPr>
        <p:sp>
          <p:nvSpPr>
            <p:cNvPr id="36" name="流程图: 过程 35">
              <a:extLst/>
            </p:cNvPr>
            <p:cNvSpPr/>
            <p:nvPr/>
          </p:nvSpPr>
          <p:spPr>
            <a:xfrm>
              <a:off x="5103102" y="2231503"/>
              <a:ext cx="6465867" cy="3645769"/>
            </a:xfrm>
            <a:prstGeom prst="flowChartProcess">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kern="0">
                <a:solidFill>
                  <a:sysClr val="windowText" lastClr="000000"/>
                </a:solidFill>
                <a:cs typeface="+mn-ea"/>
                <a:sym typeface="+mn-lt"/>
              </a:endParaRPr>
            </a:p>
          </p:txBody>
        </p:sp>
        <p:sp>
          <p:nvSpPr>
            <p:cNvPr id="37" name="矩形 3">
              <a:extLst/>
            </p:cNvPr>
            <p:cNvSpPr>
              <a:spLocks noChangeArrowheads="1"/>
            </p:cNvSpPr>
            <p:nvPr/>
          </p:nvSpPr>
          <p:spPr bwMode="auto">
            <a:xfrm>
              <a:off x="7701655" y="4711799"/>
              <a:ext cx="2584693" cy="311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Tx/>
                <a:buNone/>
                <a:defRPr/>
              </a:pPr>
              <a:endParaRPr lang="zh-CN" altLang="en-US" sz="1400" kern="0">
                <a:solidFill>
                  <a:schemeClr val="bg1">
                    <a:lumMod val="65000"/>
                  </a:schemeClr>
                </a:solidFill>
                <a:latin typeface="+mn-lt"/>
                <a:ea typeface="+mn-ea"/>
                <a:cs typeface="+mn-ea"/>
                <a:sym typeface="+mn-lt"/>
              </a:endParaRPr>
            </a:p>
          </p:txBody>
        </p:sp>
        <p:sp>
          <p:nvSpPr>
            <p:cNvPr id="39" name="矩形 38">
              <a:extLst/>
            </p:cNvPr>
            <p:cNvSpPr/>
            <p:nvPr/>
          </p:nvSpPr>
          <p:spPr>
            <a:xfrm>
              <a:off x="7665915" y="1820169"/>
              <a:ext cx="3558815" cy="599170"/>
            </a:xfrm>
            <a:prstGeom prst="rect">
              <a:avLst/>
            </a:prstGeom>
            <a:solidFill>
              <a:srgbClr val="FFFFFF"/>
            </a:solidFill>
          </p:spPr>
          <p:txBody>
            <a:bodyPr wrap="none">
              <a:spAutoFit/>
            </a:bodyPr>
            <a:lstStyle/>
            <a:p>
              <a:pPr eaLnBrk="1" fontAlgn="auto" hangingPunct="1">
                <a:spcBef>
                  <a:spcPts val="0"/>
                </a:spcBef>
                <a:spcAft>
                  <a:spcPts val="0"/>
                </a:spcAft>
                <a:defRPr/>
              </a:pPr>
              <a:r>
                <a:rPr lang="zh-CN" altLang="en-US" sz="3600" b="1" kern="0">
                  <a:solidFill>
                    <a:srgbClr val="4F4F4F"/>
                  </a:solidFill>
                  <a:latin typeface="+mn-lt"/>
                  <a:ea typeface="+mn-ea"/>
                  <a:cs typeface="+mn-ea"/>
                  <a:sym typeface="+mn-lt"/>
                </a:rPr>
                <a:t>为啥肾病猫食欲不好？</a:t>
              </a:r>
            </a:p>
          </p:txBody>
        </p:sp>
        <p:sp>
          <p:nvSpPr>
            <p:cNvPr id="40" name="矩形 3">
              <a:extLst/>
            </p:cNvPr>
            <p:cNvSpPr>
              <a:spLocks noChangeArrowheads="1"/>
            </p:cNvSpPr>
            <p:nvPr/>
          </p:nvSpPr>
          <p:spPr bwMode="auto">
            <a:xfrm>
              <a:off x="7510923" y="2564958"/>
              <a:ext cx="3896270" cy="2881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2">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None/>
                <a:defRPr/>
              </a:pPr>
              <a:endParaRPr lang="en-US" altLang="zh-CN" sz="1600" kern="0">
                <a:solidFill>
                  <a:schemeClr val="bg2">
                    <a:lumMod val="25000"/>
                  </a:schemeClr>
                </a:solidFill>
                <a:latin typeface="+mn-ea"/>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l"/>
                <a:defRPr/>
              </a:pPr>
              <a:r>
                <a:rPr lang="zh-CN" altLang="en-US" sz="1800" kern="0">
                  <a:solidFill>
                    <a:schemeClr val="bg2">
                      <a:lumMod val="25000"/>
                    </a:schemeClr>
                  </a:solidFill>
                  <a:latin typeface="+mn-ea"/>
                  <a:ea typeface="+mn-ea"/>
                  <a:cs typeface="+mn-ea"/>
                  <a:sym typeface="+mn-lt"/>
                </a:rPr>
                <a:t>会不会脱水了？</a:t>
              </a:r>
              <a:endParaRPr lang="en-US" altLang="zh-CN" sz="1800" kern="0">
                <a:solidFill>
                  <a:schemeClr val="bg2">
                    <a:lumMod val="25000"/>
                  </a:schemeClr>
                </a:solidFill>
                <a:latin typeface="+mn-ea"/>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l"/>
                <a:defRPr/>
              </a:pPr>
              <a:r>
                <a:rPr lang="zh-CN" altLang="en-US" sz="1800" kern="0">
                  <a:solidFill>
                    <a:schemeClr val="bg2">
                      <a:lumMod val="25000"/>
                    </a:schemeClr>
                  </a:solidFill>
                  <a:latin typeface="+mn-ea"/>
                  <a:ea typeface="+mn-ea"/>
                  <a:cs typeface="+mn-ea"/>
                  <a:sym typeface="+mn-lt"/>
                </a:rPr>
                <a:t>是不是补液补太多？</a:t>
              </a:r>
              <a:endParaRPr lang="en-US" altLang="zh-CN" sz="1800" kern="0">
                <a:solidFill>
                  <a:schemeClr val="bg2">
                    <a:lumMod val="25000"/>
                  </a:schemeClr>
                </a:solidFill>
                <a:latin typeface="+mn-ea"/>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l"/>
                <a:defRPr/>
              </a:pPr>
              <a:r>
                <a:rPr lang="zh-CN" altLang="en-US" sz="1800" kern="0">
                  <a:solidFill>
                    <a:schemeClr val="bg2">
                      <a:lumMod val="25000"/>
                    </a:schemeClr>
                  </a:solidFill>
                  <a:latin typeface="+mn-ea"/>
                  <a:ea typeface="+mn-ea"/>
                  <a:cs typeface="+mn-ea"/>
                  <a:sym typeface="+mn-lt"/>
                </a:rPr>
                <a:t>尿毒症毒素过多造成头疼恶心？</a:t>
              </a:r>
              <a:endParaRPr lang="en-US" altLang="zh-CN" sz="1800" kern="0">
                <a:solidFill>
                  <a:schemeClr val="bg2">
                    <a:lumMod val="25000"/>
                  </a:schemeClr>
                </a:solidFill>
                <a:latin typeface="+mn-ea"/>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l"/>
                <a:defRPr/>
              </a:pPr>
              <a:r>
                <a:rPr lang="zh-CN" altLang="en-US" sz="1800" kern="0">
                  <a:solidFill>
                    <a:schemeClr val="bg2">
                      <a:lumMod val="25000"/>
                    </a:schemeClr>
                  </a:solidFill>
                  <a:latin typeface="+mn-ea"/>
                  <a:ea typeface="+mn-ea"/>
                  <a:cs typeface="+mn-ea"/>
                  <a:sym typeface="+mn-lt"/>
                </a:rPr>
                <a:t>维生素</a:t>
              </a:r>
              <a:r>
                <a:rPr lang="en-US" altLang="zh-CN" sz="1800" kern="0">
                  <a:solidFill>
                    <a:schemeClr val="bg2">
                      <a:lumMod val="25000"/>
                    </a:schemeClr>
                  </a:solidFill>
                  <a:latin typeface="+mn-ea"/>
                  <a:ea typeface="+mn-ea"/>
                  <a:cs typeface="+mn-ea"/>
                  <a:sym typeface="+mn-lt"/>
                </a:rPr>
                <a:t>B</a:t>
              </a:r>
              <a:r>
                <a:rPr lang="zh-CN" altLang="en-US" sz="1800" kern="0">
                  <a:solidFill>
                    <a:schemeClr val="bg2">
                      <a:lumMod val="25000"/>
                    </a:schemeClr>
                  </a:solidFill>
                  <a:latin typeface="+mn-ea"/>
                  <a:ea typeface="+mn-ea"/>
                  <a:cs typeface="+mn-ea"/>
                  <a:sym typeface="+mn-lt"/>
                </a:rPr>
                <a:t>缺乏造成食欲问题？</a:t>
              </a:r>
              <a:endParaRPr lang="en-US" altLang="zh-CN" sz="1800" kern="0">
                <a:solidFill>
                  <a:schemeClr val="bg2">
                    <a:lumMod val="25000"/>
                  </a:schemeClr>
                </a:solidFill>
                <a:latin typeface="+mn-ea"/>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l"/>
                <a:defRPr/>
              </a:pPr>
              <a:r>
                <a:rPr lang="zh-CN" altLang="en-US" sz="1800" kern="0">
                  <a:solidFill>
                    <a:schemeClr val="bg2">
                      <a:lumMod val="25000"/>
                    </a:schemeClr>
                  </a:solidFill>
                  <a:latin typeface="+mn-ea"/>
                  <a:ea typeface="+mn-ea"/>
                  <a:cs typeface="+mn-ea"/>
                  <a:sym typeface="+mn-lt"/>
                </a:rPr>
                <a:t>口腔溃疡？</a:t>
              </a:r>
              <a:endParaRPr lang="en-US" altLang="zh-CN" sz="1800" kern="0">
                <a:solidFill>
                  <a:schemeClr val="bg2">
                    <a:lumMod val="25000"/>
                  </a:schemeClr>
                </a:solidFill>
                <a:latin typeface="+mn-ea"/>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l"/>
                <a:defRPr/>
              </a:pPr>
              <a:r>
                <a:rPr lang="zh-CN" altLang="en-US" sz="1800" kern="0">
                  <a:solidFill>
                    <a:schemeClr val="bg2">
                      <a:lumMod val="25000"/>
                    </a:schemeClr>
                  </a:solidFill>
                  <a:latin typeface="+mn-ea"/>
                  <a:ea typeface="+mn-ea"/>
                  <a:cs typeface="+mn-ea"/>
                  <a:sym typeface="+mn-lt"/>
                </a:rPr>
                <a:t>牙周病恶化？</a:t>
              </a:r>
              <a:endParaRPr lang="en-US" altLang="zh-CN" sz="1800" kern="0">
                <a:solidFill>
                  <a:schemeClr val="bg2">
                    <a:lumMod val="25000"/>
                  </a:schemeClr>
                </a:solidFill>
                <a:latin typeface="+mn-ea"/>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l"/>
                <a:defRPr/>
              </a:pPr>
              <a:endParaRPr lang="en-US" altLang="zh-CN" sz="1800" kern="0">
                <a:solidFill>
                  <a:schemeClr val="bg2">
                    <a:lumMod val="25000"/>
                  </a:schemeClr>
                </a:solidFill>
                <a:latin typeface="+mn-ea"/>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l"/>
                <a:defRPr/>
              </a:pPr>
              <a:endParaRPr lang="en-US" altLang="zh-CN" sz="1800" kern="0">
                <a:solidFill>
                  <a:schemeClr val="bg2">
                    <a:lumMod val="25000"/>
                  </a:schemeClr>
                </a:solidFill>
                <a:latin typeface="+mn-ea"/>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l"/>
                <a:defRPr/>
              </a:pPr>
              <a:endParaRPr lang="en-US" altLang="zh-CN" sz="1800" kern="0">
                <a:solidFill>
                  <a:schemeClr val="bg2">
                    <a:lumMod val="25000"/>
                  </a:schemeClr>
                </a:solidFill>
                <a:latin typeface="+mn-ea"/>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l"/>
                <a:defRPr/>
              </a:pPr>
              <a:r>
                <a:rPr lang="zh-CN" altLang="en-US" sz="1800" kern="0">
                  <a:solidFill>
                    <a:schemeClr val="bg2">
                      <a:lumMod val="25000"/>
                    </a:schemeClr>
                  </a:solidFill>
                  <a:latin typeface="+mn-ea"/>
                  <a:ea typeface="+mn-ea"/>
                  <a:cs typeface="+mn-ea"/>
                  <a:sym typeface="+mn-lt"/>
                </a:rPr>
                <a:t>代谢性酸中毒？</a:t>
              </a:r>
              <a:endParaRPr lang="en-US" altLang="zh-CN" sz="1800" kern="0">
                <a:solidFill>
                  <a:schemeClr val="bg2">
                    <a:lumMod val="25000"/>
                  </a:schemeClr>
                </a:solidFill>
                <a:latin typeface="+mn-ea"/>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l"/>
                <a:defRPr/>
              </a:pPr>
              <a:r>
                <a:rPr lang="zh-CN" altLang="en-US" sz="1800" kern="0">
                  <a:solidFill>
                    <a:schemeClr val="bg2">
                      <a:lumMod val="25000"/>
                    </a:schemeClr>
                  </a:solidFill>
                  <a:latin typeface="+mn-ea"/>
                  <a:ea typeface="+mn-ea"/>
                  <a:cs typeface="+mn-ea"/>
                  <a:sym typeface="+mn-lt"/>
                </a:rPr>
                <a:t>胃酸分泌异常？</a:t>
              </a:r>
              <a:endParaRPr lang="en-US" altLang="zh-CN" sz="1800" kern="0">
                <a:solidFill>
                  <a:schemeClr val="bg2">
                    <a:lumMod val="25000"/>
                  </a:schemeClr>
                </a:solidFill>
                <a:latin typeface="+mn-ea"/>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l"/>
                <a:defRPr/>
              </a:pPr>
              <a:r>
                <a:rPr lang="zh-CN" altLang="en-US" sz="1800" kern="0">
                  <a:solidFill>
                    <a:schemeClr val="bg2">
                      <a:lumMod val="25000"/>
                    </a:schemeClr>
                  </a:solidFill>
                  <a:latin typeface="+mn-ea"/>
                  <a:ea typeface="+mn-ea"/>
                  <a:cs typeface="+mn-ea"/>
                  <a:sym typeface="+mn-lt"/>
                </a:rPr>
                <a:t>高血压？</a:t>
              </a:r>
              <a:endParaRPr lang="en-US" altLang="zh-CN" sz="1800" kern="0">
                <a:solidFill>
                  <a:schemeClr val="bg2">
                    <a:lumMod val="25000"/>
                  </a:schemeClr>
                </a:solidFill>
                <a:latin typeface="+mn-ea"/>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l"/>
                <a:defRPr/>
              </a:pPr>
              <a:r>
                <a:rPr lang="zh-CN" altLang="en-US" sz="1800" kern="0">
                  <a:solidFill>
                    <a:schemeClr val="bg2">
                      <a:lumMod val="25000"/>
                    </a:schemeClr>
                  </a:solidFill>
                  <a:latin typeface="+mn-ea"/>
                  <a:ea typeface="+mn-ea"/>
                  <a:cs typeface="+mn-ea"/>
                  <a:sym typeface="+mn-lt"/>
                </a:rPr>
                <a:t>便秘了？</a:t>
              </a:r>
              <a:endParaRPr lang="en-US" altLang="zh-CN" sz="1800" kern="0">
                <a:solidFill>
                  <a:schemeClr val="bg2">
                    <a:lumMod val="25000"/>
                  </a:schemeClr>
                </a:solidFill>
                <a:latin typeface="+mn-ea"/>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l"/>
                <a:defRPr/>
              </a:pPr>
              <a:endParaRPr lang="en-US" altLang="zh-CN" sz="1800" kern="0">
                <a:solidFill>
                  <a:schemeClr val="bg2">
                    <a:lumMod val="25000"/>
                  </a:schemeClr>
                </a:solidFill>
                <a:latin typeface="+mn-ea"/>
                <a:ea typeface="+mn-ea"/>
                <a:cs typeface="+mn-ea"/>
                <a:sym typeface="+mn-lt"/>
              </a:endParaRPr>
            </a:p>
            <a:p>
              <a:pPr eaLnBrk="1" fontAlgn="auto" hangingPunct="1">
                <a:lnSpc>
                  <a:spcPct val="100000"/>
                </a:lnSpc>
                <a:spcBef>
                  <a:spcPct val="0"/>
                </a:spcBef>
                <a:spcAft>
                  <a:spcPts val="0"/>
                </a:spcAft>
                <a:buNone/>
                <a:defRPr/>
              </a:pPr>
              <a:endParaRPr lang="en-US" altLang="zh-CN" sz="1600" b="1" kern="0">
                <a:solidFill>
                  <a:schemeClr val="bg2">
                    <a:lumMod val="25000"/>
                  </a:schemeClr>
                </a:solidFill>
                <a:latin typeface="微软雅黑 Light" panose="020B0502040204020203" pitchFamily="34" charset="-122"/>
                <a:ea typeface="微软雅黑 Light" panose="020B0502040204020203" pitchFamily="34" charset="-122"/>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l"/>
                <a:defRPr/>
              </a:pPr>
              <a:endParaRPr lang="en-US" altLang="zh-CN" sz="1600" b="1" kern="0">
                <a:solidFill>
                  <a:schemeClr val="bg2">
                    <a:lumMod val="25000"/>
                  </a:schemeClr>
                </a:solidFill>
                <a:latin typeface="微软雅黑 Light" panose="020B0502040204020203" pitchFamily="34" charset="-122"/>
                <a:ea typeface="微软雅黑 Light" panose="020B0502040204020203" pitchFamily="34" charset="-122"/>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l"/>
                <a:defRPr/>
              </a:pPr>
              <a:endParaRPr lang="zh-CN" altLang="en-US" sz="1600" b="1" kern="0">
                <a:solidFill>
                  <a:schemeClr val="bg2">
                    <a:lumMod val="25000"/>
                  </a:schemeClr>
                </a:solidFill>
                <a:latin typeface="微软雅黑 Light" panose="020B0502040204020203" pitchFamily="34" charset="-122"/>
                <a:ea typeface="微软雅黑 Light" panose="020B0502040204020203" pitchFamily="34" charset="-122"/>
                <a:cs typeface="+mn-ea"/>
                <a:sym typeface="+mn-lt"/>
              </a:endParaRPr>
            </a:p>
            <a:p>
              <a:pPr eaLnBrk="1" fontAlgn="auto" hangingPunct="1">
                <a:lnSpc>
                  <a:spcPct val="100000"/>
                </a:lnSpc>
                <a:spcBef>
                  <a:spcPct val="0"/>
                </a:spcBef>
                <a:spcAft>
                  <a:spcPts val="0"/>
                </a:spcAft>
                <a:buFontTx/>
                <a:buNone/>
                <a:defRPr/>
              </a:pPr>
              <a:endParaRPr lang="zh-CN" altLang="en-US" sz="1600" b="1" kern="0">
                <a:solidFill>
                  <a:schemeClr val="bg2">
                    <a:lumMod val="25000"/>
                  </a:schemeClr>
                </a:solidFill>
                <a:latin typeface="微软雅黑 Light" panose="020B0502040204020203" pitchFamily="34" charset="-122"/>
                <a:ea typeface="微软雅黑 Light" panose="020B0502040204020203" pitchFamily="34" charset="-122"/>
                <a:cs typeface="+mn-ea"/>
                <a:sym typeface="+mn-lt"/>
              </a:endParaRPr>
            </a:p>
          </p:txBody>
        </p:sp>
      </p:grpSp>
      <p:pic>
        <p:nvPicPr>
          <p:cNvPr id="3" name="图片 2">
            <a:extLst/>
          </p:cNvPr>
          <p:cNvPicPr>
            <a:picLocks noChangeAspect="1"/>
          </p:cNvPicPr>
          <p:nvPr/>
        </p:nvPicPr>
        <p:blipFill>
          <a:blip r:embed="rId3">
            <a:duotone>
              <a:prstClr val="black"/>
              <a:schemeClr val="accent3">
                <a:tint val="45000"/>
                <a:satMod val="400000"/>
              </a:schemeClr>
            </a:duotone>
            <a:extLst>
              <a:ext uri="{28A0092B-C50C-407E-A947-70E740481C1C}">
                <a14:useLocalDpi xmlns:a14="http://schemas.microsoft.com/office/drawing/2010/main" val="0"/>
              </a:ext>
            </a:extLst>
          </a:blip>
          <a:stretch>
            <a:fillRect/>
          </a:stretch>
        </p:blipFill>
        <p:spPr>
          <a:xfrm>
            <a:off x="-43053" y="2816074"/>
            <a:ext cx="5566661" cy="3133205"/>
          </a:xfrm>
          <a:prstGeom prst="rect">
            <a:avLst/>
          </a:prstGeom>
        </p:spPr>
      </p:pic>
      <p:sp>
        <p:nvSpPr>
          <p:cNvPr id="2" name="文本框 1">
            <a:extLst>
              <a:ext uri="{FF2B5EF4-FFF2-40B4-BE49-F238E27FC236}">
                <a16:creationId xmlns:a16="http://schemas.microsoft.com/office/drawing/2014/main" id="{626E14C6-0CFE-4977-BC70-6856D56C0BC9}"/>
              </a:ext>
            </a:extLst>
          </p:cNvPr>
          <p:cNvSpPr txBox="1"/>
          <p:nvPr/>
        </p:nvSpPr>
        <p:spPr>
          <a:xfrm>
            <a:off x="6231079" y="788714"/>
            <a:ext cx="5980171" cy="523220"/>
          </a:xfrm>
          <a:prstGeom prst="rect">
            <a:avLst/>
          </a:prstGeom>
          <a:noFill/>
        </p:spPr>
        <p:txBody>
          <a:bodyPr wrap="square" rtlCol="0">
            <a:spAutoFit/>
          </a:bodyPr>
          <a:lstStyle/>
          <a:p>
            <a:r>
              <a:rPr lang="zh-CN" altLang="en-US" sz="2800" b="1">
                <a:latin typeface="+mj-ea"/>
                <a:ea typeface="+mj-ea"/>
              </a:rPr>
              <a:t>慢性肾病猫的治疗：食欲问题</a:t>
            </a:r>
          </a:p>
        </p:txBody>
      </p:sp>
      <p:sp>
        <p:nvSpPr>
          <p:cNvPr id="4" name="文本框 3">
            <a:extLst>
              <a:ext uri="{FF2B5EF4-FFF2-40B4-BE49-F238E27FC236}">
                <a16:creationId xmlns:a16="http://schemas.microsoft.com/office/drawing/2014/main" id="{5A4E5411-5748-4FBD-B92D-C6D7E0E68C15}"/>
              </a:ext>
            </a:extLst>
          </p:cNvPr>
          <p:cNvSpPr txBox="1"/>
          <p:nvPr/>
        </p:nvSpPr>
        <p:spPr>
          <a:xfrm>
            <a:off x="6780076" y="5576843"/>
            <a:ext cx="4032448" cy="461665"/>
          </a:xfrm>
          <a:prstGeom prst="rect">
            <a:avLst/>
          </a:prstGeom>
          <a:noFill/>
        </p:spPr>
        <p:txBody>
          <a:bodyPr wrap="square" rtlCol="0">
            <a:spAutoFit/>
          </a:bodyPr>
          <a:lstStyle/>
          <a:p>
            <a:r>
              <a:rPr lang="zh-CN" altLang="en-US" sz="2400" b="1">
                <a:solidFill>
                  <a:srgbClr val="C00000"/>
                </a:solidFill>
                <a:latin typeface="+mj-ea"/>
                <a:ea typeface="+mj-ea"/>
              </a:rPr>
              <a:t>寻找潜在原因总有必要！</a:t>
            </a:r>
          </a:p>
        </p:txBody>
      </p:sp>
    </p:spTree>
    <p:extLst>
      <p:ext uri="{BB962C8B-B14F-4D97-AF65-F5344CB8AC3E}">
        <p14:creationId xmlns:p14="http://schemas.microsoft.com/office/powerpoint/2010/main" val="8472463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E6B7B6D8-7485-4229-BB2A-9221692EC2A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11784" y="2462992"/>
            <a:ext cx="2538790" cy="2538790"/>
          </a:xfrm>
          <a:prstGeom prst="rect">
            <a:avLst/>
          </a:prstGeom>
        </p:spPr>
      </p:pic>
      <p:pic>
        <p:nvPicPr>
          <p:cNvPr id="3" name="图片 2">
            <a:extLst>
              <a:ext uri="{FF2B5EF4-FFF2-40B4-BE49-F238E27FC236}">
                <a16:creationId xmlns:a16="http://schemas.microsoft.com/office/drawing/2014/main" id="{03DA94E3-A66E-4CA5-A25F-E3F57A5B69D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01891" y="2635604"/>
            <a:ext cx="2262422" cy="2262422"/>
          </a:xfrm>
          <a:prstGeom prst="rect">
            <a:avLst/>
          </a:prstGeom>
        </p:spPr>
      </p:pic>
      <p:grpSp>
        <p:nvGrpSpPr>
          <p:cNvPr id="17" name="组合 16">
            <a:extLst/>
          </p:cNvPr>
          <p:cNvGrpSpPr/>
          <p:nvPr/>
        </p:nvGrpSpPr>
        <p:grpSpPr>
          <a:xfrm>
            <a:off x="4007769" y="534971"/>
            <a:ext cx="8162478" cy="1178915"/>
            <a:chOff x="7629599" y="187644"/>
            <a:chExt cx="4676739" cy="1178915"/>
          </a:xfrm>
          <a:effectLst>
            <a:outerShdw blurRad="50800" dist="38100" dir="5400000" algn="t" rotWithShape="0">
              <a:prstClr val="black">
                <a:alpha val="40000"/>
              </a:prstClr>
            </a:outerShdw>
          </a:effectLst>
        </p:grpSpPr>
        <p:sp>
          <p:nvSpPr>
            <p:cNvPr id="27" name="箭头: 五边形 6">
              <a:extLst/>
            </p:cNvPr>
            <p:cNvSpPr/>
            <p:nvPr/>
          </p:nvSpPr>
          <p:spPr>
            <a:xfrm flipH="1">
              <a:off x="7629599" y="404664"/>
              <a:ext cx="4676739"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7818029" y="187644"/>
              <a:ext cx="4436286" cy="1110187"/>
              <a:chOff x="-1007275" y="2529717"/>
              <a:chExt cx="5225356" cy="1552439"/>
            </a:xfrm>
          </p:grpSpPr>
          <p:sp>
            <p:nvSpPr>
              <p:cNvPr id="29" name="文本框 13">
                <a:extLst/>
              </p:cNvPr>
              <p:cNvSpPr txBox="1">
                <a:spLocks noChangeArrowheads="1"/>
              </p:cNvSpPr>
              <p:nvPr/>
            </p:nvSpPr>
            <p:spPr bwMode="auto">
              <a:xfrm>
                <a:off x="-1007275" y="2529717"/>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714609" y="3048121"/>
                <a:ext cx="3503472" cy="81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latin typeface="+mn-lt"/>
                    <a:ea typeface="+mn-ea"/>
                    <a:cs typeface="+mn-ea"/>
                    <a:sym typeface="+mn-lt"/>
                  </a:rPr>
                  <a:t>猫慢性肾病治疗：食欲增强药</a:t>
                </a:r>
                <a:endParaRPr lang="en-US" altLang="zh-CN" sz="2400" b="1">
                  <a:solidFill>
                    <a:srgbClr val="010101"/>
                  </a:solidFill>
                  <a:latin typeface="+mn-lt"/>
                  <a:ea typeface="+mn-ea"/>
                  <a:cs typeface="+mn-ea"/>
                  <a:sym typeface="+mn-lt"/>
                </a:endParaRPr>
              </a:p>
            </p:txBody>
          </p:sp>
          <p:cxnSp>
            <p:nvCxnSpPr>
              <p:cNvPr id="31" name="直接连接符 30">
                <a:extLst/>
              </p:cNvPr>
              <p:cNvCxnSpPr>
                <a:cxnSpLocks/>
              </p:cNvCxnSpPr>
              <p:nvPr/>
            </p:nvCxnSpPr>
            <p:spPr>
              <a:xfrm flipH="1">
                <a:off x="-442778" y="3180446"/>
                <a:ext cx="468592" cy="706937"/>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174743" y="3436583"/>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grpSp>
        <p:nvGrpSpPr>
          <p:cNvPr id="37893" name="组合 1"/>
          <p:cNvGrpSpPr>
            <a:grpSpLocks/>
          </p:cNvGrpSpPr>
          <p:nvPr/>
        </p:nvGrpSpPr>
        <p:grpSpPr bwMode="auto">
          <a:xfrm>
            <a:off x="1100977" y="2564904"/>
            <a:ext cx="4865878" cy="2973190"/>
            <a:chOff x="6931323" y="2608336"/>
            <a:chExt cx="4500246" cy="2972408"/>
          </a:xfrm>
        </p:grpSpPr>
        <p:grpSp>
          <p:nvGrpSpPr>
            <p:cNvPr id="37894" name="组合 14"/>
            <p:cNvGrpSpPr>
              <a:grpSpLocks/>
            </p:cNvGrpSpPr>
            <p:nvPr/>
          </p:nvGrpSpPr>
          <p:grpSpPr bwMode="auto">
            <a:xfrm>
              <a:off x="6931323" y="2608336"/>
              <a:ext cx="4500246" cy="718135"/>
              <a:chOff x="3936148" y="1692543"/>
              <a:chExt cx="4500246" cy="718135"/>
            </a:xfrm>
          </p:grpSpPr>
          <p:sp>
            <p:nvSpPr>
              <p:cNvPr id="55" name="文本框 66">
                <a:extLst/>
              </p:cNvPr>
              <p:cNvSpPr txBox="1">
                <a:spLocks noChangeArrowheads="1"/>
              </p:cNvSpPr>
              <p:nvPr/>
            </p:nvSpPr>
            <p:spPr bwMode="auto">
              <a:xfrm>
                <a:off x="3966308" y="1692543"/>
                <a:ext cx="4258964" cy="461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spcBef>
                    <a:spcPts val="0"/>
                  </a:spcBef>
                  <a:spcAft>
                    <a:spcPts val="0"/>
                  </a:spcAft>
                  <a:defRPr/>
                </a:pPr>
                <a:endParaRPr lang="zh-CN" altLang="en-US" sz="2400" b="1" kern="0">
                  <a:solidFill>
                    <a:srgbClr val="4F4F4F"/>
                  </a:solidFill>
                  <a:latin typeface="+mn-lt"/>
                  <a:ea typeface="+mn-ea"/>
                  <a:cs typeface="+mn-ea"/>
                  <a:sym typeface="+mn-lt"/>
                </a:endParaRPr>
              </a:p>
            </p:txBody>
          </p:sp>
          <p:sp>
            <p:nvSpPr>
              <p:cNvPr id="56" name="矩形 55">
                <a:extLst/>
              </p:cNvPr>
              <p:cNvSpPr/>
              <p:nvPr/>
            </p:nvSpPr>
            <p:spPr>
              <a:xfrm>
                <a:off x="3936148" y="2133752"/>
                <a:ext cx="4500246" cy="276926"/>
              </a:xfrm>
              <a:prstGeom prst="rect">
                <a:avLst/>
              </a:prstGeom>
            </p:spPr>
            <p:txBody>
              <a:bodyPr>
                <a:spAutoFit/>
              </a:bodyPr>
              <a:lstStyle/>
              <a:p>
                <a:pPr eaLnBrk="1" fontAlgn="auto" hangingPunct="1">
                  <a:spcBef>
                    <a:spcPts val="0"/>
                  </a:spcBef>
                  <a:spcAft>
                    <a:spcPts val="0"/>
                  </a:spcAft>
                  <a:defRPr/>
                </a:pPr>
                <a:endParaRPr lang="zh-CN" altLang="en-US" sz="1200" kern="0">
                  <a:solidFill>
                    <a:srgbClr val="4F4F4F"/>
                  </a:solidFill>
                  <a:latin typeface="+mn-lt"/>
                  <a:ea typeface="+mn-ea"/>
                  <a:cs typeface="+mn-ea"/>
                  <a:sym typeface="+mn-lt"/>
                </a:endParaRPr>
              </a:p>
            </p:txBody>
          </p:sp>
        </p:grpSp>
        <p:sp>
          <p:nvSpPr>
            <p:cNvPr id="53" name="矩形 3">
              <a:extLst/>
            </p:cNvPr>
            <p:cNvSpPr>
              <a:spLocks noChangeArrowheads="1"/>
            </p:cNvSpPr>
            <p:nvPr/>
          </p:nvSpPr>
          <p:spPr bwMode="auto">
            <a:xfrm>
              <a:off x="6931323" y="4487442"/>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sp>
          <p:nvSpPr>
            <p:cNvPr id="54" name="矩形 3">
              <a:extLst/>
            </p:cNvPr>
            <p:cNvSpPr>
              <a:spLocks noChangeArrowheads="1"/>
            </p:cNvSpPr>
            <p:nvPr/>
          </p:nvSpPr>
          <p:spPr bwMode="auto">
            <a:xfrm>
              <a:off x="6931323" y="5273048"/>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grpSp>
      <p:sp>
        <p:nvSpPr>
          <p:cNvPr id="5" name="文本框 4">
            <a:extLst>
              <a:ext uri="{FF2B5EF4-FFF2-40B4-BE49-F238E27FC236}">
                <a16:creationId xmlns:a16="http://schemas.microsoft.com/office/drawing/2014/main" id="{48D59AAB-31AD-4E45-A027-B78180DBC380}"/>
              </a:ext>
            </a:extLst>
          </p:cNvPr>
          <p:cNvSpPr txBox="1"/>
          <p:nvPr/>
        </p:nvSpPr>
        <p:spPr>
          <a:xfrm>
            <a:off x="1341058" y="2125472"/>
            <a:ext cx="4190049" cy="707886"/>
          </a:xfrm>
          <a:prstGeom prst="rect">
            <a:avLst/>
          </a:prstGeom>
          <a:noFill/>
        </p:spPr>
        <p:txBody>
          <a:bodyPr wrap="square" rtlCol="0">
            <a:spAutoFit/>
          </a:bodyPr>
          <a:lstStyle/>
          <a:p>
            <a:r>
              <a:rPr lang="zh-CN" altLang="en-US" sz="4000" b="1">
                <a:latin typeface="宋体" panose="02010600030101010101" pitchFamily="2" charset="-122"/>
              </a:rPr>
              <a:t>仙特明</a:t>
            </a:r>
            <a:r>
              <a:rPr lang="zh-CN" altLang="en-US" sz="1100" b="1">
                <a:latin typeface="+mn-ea"/>
                <a:ea typeface="+mn-ea"/>
              </a:rPr>
              <a:t>（</a:t>
            </a:r>
            <a:r>
              <a:rPr lang="zh-CN" altLang="en-US" sz="1100">
                <a:latin typeface="+mn-ea"/>
                <a:ea typeface="+mn-ea"/>
              </a:rPr>
              <a:t>盐酸西替利嗪片）</a:t>
            </a:r>
            <a:endParaRPr lang="en-US" altLang="zh-CN" sz="1100">
              <a:latin typeface="+mn-ea"/>
              <a:ea typeface="+mn-ea"/>
            </a:endParaRPr>
          </a:p>
        </p:txBody>
      </p:sp>
      <p:cxnSp>
        <p:nvCxnSpPr>
          <p:cNvPr id="23" name="直接连接符 22">
            <a:extLst>
              <a:ext uri="{FF2B5EF4-FFF2-40B4-BE49-F238E27FC236}">
                <a16:creationId xmlns:a16="http://schemas.microsoft.com/office/drawing/2014/main" id="{A6ED08FA-2943-4D08-91B5-062B4352A4BC}"/>
              </a:ext>
            </a:extLst>
          </p:cNvPr>
          <p:cNvCxnSpPr/>
          <p:nvPr/>
        </p:nvCxnSpPr>
        <p:spPr>
          <a:xfrm flipH="1">
            <a:off x="5719530" y="3168168"/>
            <a:ext cx="19050" cy="1079500"/>
          </a:xfrm>
          <a:prstGeom prst="line">
            <a:avLst/>
          </a:prstGeom>
          <a:ln w="50800">
            <a:solidFill>
              <a:srgbClr val="4F4F4F"/>
            </a:soli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7B608218-4F2E-44A0-8E04-A0633D2811E6}"/>
              </a:ext>
            </a:extLst>
          </p:cNvPr>
          <p:cNvSpPr txBox="1"/>
          <p:nvPr/>
        </p:nvSpPr>
        <p:spPr>
          <a:xfrm>
            <a:off x="1775520" y="4949117"/>
            <a:ext cx="3024336" cy="588977"/>
          </a:xfrm>
          <a:prstGeom prst="rect">
            <a:avLst/>
          </a:prstGeom>
          <a:noFill/>
        </p:spPr>
        <p:txBody>
          <a:bodyPr wrap="square" rtlCol="0">
            <a:spAutoFit/>
          </a:bodyPr>
          <a:lstStyle/>
          <a:p>
            <a:endParaRPr lang="zh-CN" altLang="en-US"/>
          </a:p>
        </p:txBody>
      </p:sp>
      <p:sp>
        <p:nvSpPr>
          <p:cNvPr id="7" name="文本框 6">
            <a:extLst>
              <a:ext uri="{FF2B5EF4-FFF2-40B4-BE49-F238E27FC236}">
                <a16:creationId xmlns:a16="http://schemas.microsoft.com/office/drawing/2014/main" id="{63EEBA34-46FE-4602-BAF5-8D5D726F4CA9}"/>
              </a:ext>
            </a:extLst>
          </p:cNvPr>
          <p:cNvSpPr txBox="1"/>
          <p:nvPr/>
        </p:nvSpPr>
        <p:spPr>
          <a:xfrm>
            <a:off x="1075131" y="4752281"/>
            <a:ext cx="6624736" cy="1569660"/>
          </a:xfrm>
          <a:prstGeom prst="rect">
            <a:avLst/>
          </a:prstGeom>
          <a:noFill/>
        </p:spPr>
        <p:txBody>
          <a:bodyPr wrap="square" rtlCol="0">
            <a:spAutoFit/>
          </a:bodyPr>
          <a:lstStyle/>
          <a:p>
            <a:pPr marL="285750" indent="-285750">
              <a:buFont typeface="Wingdings" panose="05000000000000000000" pitchFamily="2" charset="2"/>
              <a:buChar char="u"/>
            </a:pPr>
            <a:r>
              <a:rPr lang="zh-CN" altLang="en-US" sz="1600">
                <a:latin typeface="+mj-ea"/>
                <a:ea typeface="+mj-ea"/>
              </a:rPr>
              <a:t>类似赛庚啶，人用抗组胺药物。</a:t>
            </a:r>
            <a:endParaRPr lang="en-US" altLang="zh-CN" sz="1600">
              <a:latin typeface="+mj-ea"/>
              <a:ea typeface="+mj-ea"/>
            </a:endParaRPr>
          </a:p>
          <a:p>
            <a:pPr marL="285750" indent="-285750">
              <a:buFont typeface="Wingdings" panose="05000000000000000000" pitchFamily="2" charset="2"/>
              <a:buChar char="u"/>
            </a:pPr>
            <a:r>
              <a:rPr lang="zh-CN" altLang="en-US" sz="1600">
                <a:latin typeface="+mj-ea"/>
                <a:ea typeface="+mj-ea"/>
              </a:rPr>
              <a:t>猫使用时会产生食欲刺激效果。</a:t>
            </a:r>
            <a:endParaRPr lang="en-US" altLang="zh-CN" sz="1600">
              <a:latin typeface="+mj-ea"/>
              <a:ea typeface="+mj-ea"/>
            </a:endParaRPr>
          </a:p>
          <a:p>
            <a:pPr marL="285750" indent="-285750">
              <a:buFont typeface="Wingdings" panose="05000000000000000000" pitchFamily="2" charset="2"/>
              <a:buChar char="u"/>
            </a:pPr>
            <a:r>
              <a:rPr lang="zh-CN" altLang="en-US" sz="1600">
                <a:latin typeface="+mj-ea"/>
                <a:ea typeface="+mj-ea"/>
              </a:rPr>
              <a:t>食欲刺激药物中副作用最低。</a:t>
            </a:r>
            <a:endParaRPr lang="en-US" altLang="zh-CN" sz="1600">
              <a:latin typeface="+mj-ea"/>
              <a:ea typeface="+mj-ea"/>
            </a:endParaRPr>
          </a:p>
          <a:p>
            <a:pPr marL="285750" indent="-285750">
              <a:buFont typeface="Wingdings" panose="05000000000000000000" pitchFamily="2" charset="2"/>
              <a:buChar char="u"/>
            </a:pPr>
            <a:r>
              <a:rPr lang="zh-CN" altLang="en-US" sz="1600">
                <a:latin typeface="+mj-ea"/>
                <a:ea typeface="+mj-ea"/>
              </a:rPr>
              <a:t>容易购买，分药方便一些。</a:t>
            </a:r>
            <a:endParaRPr lang="en-US" altLang="zh-CN" sz="1600">
              <a:latin typeface="+mj-ea"/>
              <a:ea typeface="+mj-ea"/>
            </a:endParaRPr>
          </a:p>
          <a:p>
            <a:pPr marL="285750" indent="-285750">
              <a:buFont typeface="Wingdings" panose="05000000000000000000" pitchFamily="2" charset="2"/>
              <a:buChar char="u"/>
            </a:pPr>
            <a:r>
              <a:rPr lang="zh-CN" altLang="en-US" sz="1600">
                <a:latin typeface="+mj-ea"/>
                <a:ea typeface="+mj-ea"/>
              </a:rPr>
              <a:t>剂量</a:t>
            </a:r>
            <a:r>
              <a:rPr lang="en-US" altLang="zh-CN" sz="1600">
                <a:latin typeface="+mj-ea"/>
                <a:ea typeface="+mj-ea"/>
              </a:rPr>
              <a:t>1.25mg/</a:t>
            </a:r>
            <a:r>
              <a:rPr lang="zh-CN" altLang="en-US" sz="1600">
                <a:latin typeface="+mj-ea"/>
                <a:ea typeface="+mj-ea"/>
              </a:rPr>
              <a:t>天。根据药效增倍。最高</a:t>
            </a:r>
            <a:r>
              <a:rPr lang="en-US" altLang="zh-CN" sz="1600">
                <a:latin typeface="+mj-ea"/>
                <a:ea typeface="+mj-ea"/>
              </a:rPr>
              <a:t>5mg</a:t>
            </a:r>
            <a:r>
              <a:rPr lang="zh-CN" altLang="en-US" sz="1600">
                <a:latin typeface="+mj-ea"/>
                <a:ea typeface="+mj-ea"/>
              </a:rPr>
              <a:t>。</a:t>
            </a:r>
            <a:endParaRPr lang="en-US" altLang="zh-CN" sz="1600">
              <a:latin typeface="+mj-ea"/>
              <a:ea typeface="+mj-ea"/>
            </a:endParaRPr>
          </a:p>
          <a:p>
            <a:pPr marL="285750" indent="-285750">
              <a:buFont typeface="Wingdings" panose="05000000000000000000" pitchFamily="2" charset="2"/>
              <a:buChar char="u"/>
            </a:pPr>
            <a:r>
              <a:rPr lang="zh-CN" altLang="en-US" sz="1600">
                <a:solidFill>
                  <a:srgbClr val="C00000"/>
                </a:solidFill>
                <a:latin typeface="+mj-ea"/>
                <a:ea typeface="+mj-ea"/>
              </a:rPr>
              <a:t>可能造成萎靡、嗜睡、流口水，甚至反效果。</a:t>
            </a:r>
            <a:endParaRPr lang="en-US" altLang="zh-CN" sz="1600">
              <a:solidFill>
                <a:srgbClr val="C00000"/>
              </a:solidFill>
              <a:latin typeface="+mj-ea"/>
              <a:ea typeface="+mj-ea"/>
            </a:endParaRPr>
          </a:p>
        </p:txBody>
      </p:sp>
      <p:sp>
        <p:nvSpPr>
          <p:cNvPr id="25" name="文本框 24">
            <a:extLst>
              <a:ext uri="{FF2B5EF4-FFF2-40B4-BE49-F238E27FC236}">
                <a16:creationId xmlns:a16="http://schemas.microsoft.com/office/drawing/2014/main" id="{0C690C9A-3DF6-4C1B-8F02-DC3259D902C2}"/>
              </a:ext>
            </a:extLst>
          </p:cNvPr>
          <p:cNvSpPr txBox="1"/>
          <p:nvPr/>
        </p:nvSpPr>
        <p:spPr>
          <a:xfrm>
            <a:off x="7388744" y="2125472"/>
            <a:ext cx="4190049" cy="707886"/>
          </a:xfrm>
          <a:prstGeom prst="rect">
            <a:avLst/>
          </a:prstGeom>
          <a:noFill/>
        </p:spPr>
        <p:txBody>
          <a:bodyPr wrap="square" rtlCol="0">
            <a:spAutoFit/>
          </a:bodyPr>
          <a:lstStyle/>
          <a:p>
            <a:r>
              <a:rPr lang="zh-CN" altLang="en-US" sz="4000" b="1">
                <a:latin typeface="宋体" panose="02010600030101010101" pitchFamily="2" charset="-122"/>
              </a:rPr>
              <a:t>瑞美隆</a:t>
            </a:r>
            <a:r>
              <a:rPr lang="zh-CN" altLang="en-US" sz="1100" b="1">
                <a:latin typeface="+mn-ea"/>
                <a:ea typeface="+mn-ea"/>
              </a:rPr>
              <a:t>（</a:t>
            </a:r>
            <a:r>
              <a:rPr lang="zh-CN" altLang="en-US" sz="1100">
                <a:latin typeface="+mn-ea"/>
                <a:ea typeface="+mn-ea"/>
              </a:rPr>
              <a:t>米氮平片）</a:t>
            </a:r>
            <a:endParaRPr lang="en-US" altLang="zh-CN" sz="1100">
              <a:latin typeface="+mn-ea"/>
              <a:ea typeface="+mn-ea"/>
            </a:endParaRPr>
          </a:p>
        </p:txBody>
      </p:sp>
      <p:sp>
        <p:nvSpPr>
          <p:cNvPr id="33" name="文本框 32">
            <a:extLst>
              <a:ext uri="{FF2B5EF4-FFF2-40B4-BE49-F238E27FC236}">
                <a16:creationId xmlns:a16="http://schemas.microsoft.com/office/drawing/2014/main" id="{05B0E13C-121F-4266-9F85-395D41445F24}"/>
              </a:ext>
            </a:extLst>
          </p:cNvPr>
          <p:cNvSpPr txBox="1"/>
          <p:nvPr/>
        </p:nvSpPr>
        <p:spPr>
          <a:xfrm>
            <a:off x="6694552" y="4752281"/>
            <a:ext cx="4730040" cy="1815882"/>
          </a:xfrm>
          <a:prstGeom prst="rect">
            <a:avLst/>
          </a:prstGeom>
          <a:noFill/>
        </p:spPr>
        <p:txBody>
          <a:bodyPr wrap="square" rtlCol="0">
            <a:spAutoFit/>
          </a:bodyPr>
          <a:lstStyle/>
          <a:p>
            <a:pPr marL="285750" indent="-285750">
              <a:buFont typeface="Wingdings" panose="05000000000000000000" pitchFamily="2" charset="2"/>
              <a:buChar char="u"/>
            </a:pPr>
            <a:r>
              <a:rPr lang="zh-CN" altLang="en-US" sz="1600">
                <a:latin typeface="+mj-ea"/>
                <a:ea typeface="+mj-ea"/>
              </a:rPr>
              <a:t>人用抗抑郁药物，价格低廉。</a:t>
            </a:r>
            <a:endParaRPr lang="en-US" altLang="zh-CN" sz="1600">
              <a:latin typeface="+mj-ea"/>
              <a:ea typeface="+mj-ea"/>
            </a:endParaRPr>
          </a:p>
          <a:p>
            <a:pPr marL="285750" indent="-285750">
              <a:buFont typeface="Wingdings" panose="05000000000000000000" pitchFamily="2" charset="2"/>
              <a:buChar char="u"/>
            </a:pPr>
            <a:r>
              <a:rPr lang="zh-CN" altLang="en-US" sz="1600">
                <a:latin typeface="+mj-ea"/>
                <a:ea typeface="+mj-ea"/>
              </a:rPr>
              <a:t>猫使用时会产生强烈食欲刺激效果。</a:t>
            </a:r>
            <a:endParaRPr lang="en-US" altLang="zh-CN" sz="1600">
              <a:latin typeface="+mj-ea"/>
              <a:ea typeface="+mj-ea"/>
            </a:endParaRPr>
          </a:p>
          <a:p>
            <a:pPr marL="285750" indent="-285750">
              <a:buFont typeface="Wingdings" panose="05000000000000000000" pitchFamily="2" charset="2"/>
              <a:buChar char="u"/>
            </a:pPr>
            <a:r>
              <a:rPr lang="zh-CN" altLang="en-US" sz="1600">
                <a:latin typeface="+mj-ea"/>
                <a:ea typeface="+mj-ea"/>
              </a:rPr>
              <a:t>食欲刺激药物中效果最强但副作用较大</a:t>
            </a:r>
            <a:endParaRPr lang="en-US" altLang="zh-CN" sz="1600">
              <a:latin typeface="+mj-ea"/>
              <a:ea typeface="+mj-ea"/>
            </a:endParaRPr>
          </a:p>
          <a:p>
            <a:pPr marL="285750" indent="-285750">
              <a:buFont typeface="Wingdings" panose="05000000000000000000" pitchFamily="2" charset="2"/>
              <a:buChar char="u"/>
            </a:pPr>
            <a:r>
              <a:rPr lang="zh-CN" altLang="en-US" sz="1600">
                <a:latin typeface="+mj-ea"/>
                <a:ea typeface="+mj-ea"/>
              </a:rPr>
              <a:t>剂量</a:t>
            </a:r>
            <a:r>
              <a:rPr lang="en-US" altLang="zh-CN" sz="1600">
                <a:latin typeface="+mj-ea"/>
                <a:ea typeface="+mj-ea"/>
              </a:rPr>
              <a:t>1.8mg-2mg</a:t>
            </a:r>
            <a:r>
              <a:rPr lang="zh-CN" altLang="en-US" sz="1600">
                <a:latin typeface="+mj-ea"/>
                <a:ea typeface="+mj-ea"/>
              </a:rPr>
              <a:t>，两天一次到一天一次。</a:t>
            </a:r>
            <a:endParaRPr lang="en-US" altLang="zh-CN" sz="1600">
              <a:latin typeface="+mj-ea"/>
              <a:ea typeface="+mj-ea"/>
            </a:endParaRPr>
          </a:p>
          <a:p>
            <a:pPr marL="285750" indent="-285750">
              <a:buFont typeface="Wingdings" panose="05000000000000000000" pitchFamily="2" charset="2"/>
              <a:buChar char="u"/>
            </a:pPr>
            <a:r>
              <a:rPr lang="zh-CN" altLang="en-US" sz="1600">
                <a:latin typeface="+mj-ea"/>
                <a:ea typeface="+mj-ea"/>
              </a:rPr>
              <a:t>请避免</a:t>
            </a:r>
            <a:r>
              <a:rPr lang="en-US" altLang="zh-CN" sz="1600">
                <a:latin typeface="+mj-ea"/>
                <a:ea typeface="+mj-ea"/>
              </a:rPr>
              <a:t>3.7mg</a:t>
            </a:r>
            <a:r>
              <a:rPr lang="zh-CN" altLang="en-US" sz="1600">
                <a:latin typeface="+mj-ea"/>
                <a:ea typeface="+mj-ea"/>
              </a:rPr>
              <a:t>的旧剂量。</a:t>
            </a:r>
            <a:endParaRPr lang="en-US" altLang="zh-CN" sz="1600">
              <a:latin typeface="+mj-ea"/>
              <a:ea typeface="+mj-ea"/>
            </a:endParaRPr>
          </a:p>
          <a:p>
            <a:pPr marL="285750" indent="-285750">
              <a:buFont typeface="Wingdings" panose="05000000000000000000" pitchFamily="2" charset="2"/>
              <a:buChar char="u"/>
            </a:pPr>
            <a:r>
              <a:rPr lang="zh-CN" altLang="en-US" sz="1600">
                <a:solidFill>
                  <a:srgbClr val="C00000"/>
                </a:solidFill>
                <a:latin typeface="+mj-ea"/>
                <a:ea typeface="+mj-ea"/>
              </a:rPr>
              <a:t>可能造成心率增加、血压升高、亢奋、嚎叫的副作用，在医师指导下使用。</a:t>
            </a:r>
            <a:endParaRPr lang="en-US" altLang="zh-CN" sz="1600">
              <a:solidFill>
                <a:srgbClr val="C00000"/>
              </a:solidFill>
              <a:latin typeface="+mj-ea"/>
              <a:ea typeface="+mj-ea"/>
            </a:endParaRPr>
          </a:p>
        </p:txBody>
      </p:sp>
    </p:spTree>
    <p:extLst>
      <p:ext uri="{BB962C8B-B14F-4D97-AF65-F5344CB8AC3E}">
        <p14:creationId xmlns:p14="http://schemas.microsoft.com/office/powerpoint/2010/main" val="380237876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p:cNvPr>
          <p:cNvGrpSpPr/>
          <p:nvPr/>
        </p:nvGrpSpPr>
        <p:grpSpPr>
          <a:xfrm>
            <a:off x="4007769" y="534971"/>
            <a:ext cx="8162478" cy="1178915"/>
            <a:chOff x="7629599" y="187644"/>
            <a:chExt cx="4676739" cy="1178915"/>
          </a:xfrm>
          <a:effectLst>
            <a:outerShdw blurRad="50800" dist="38100" dir="5400000" algn="t" rotWithShape="0">
              <a:prstClr val="black">
                <a:alpha val="40000"/>
              </a:prstClr>
            </a:outerShdw>
          </a:effectLst>
        </p:grpSpPr>
        <p:sp>
          <p:nvSpPr>
            <p:cNvPr id="27" name="箭头: 五边形 6">
              <a:extLst/>
            </p:cNvPr>
            <p:cNvSpPr/>
            <p:nvPr/>
          </p:nvSpPr>
          <p:spPr>
            <a:xfrm flipH="1">
              <a:off x="7629599" y="404664"/>
              <a:ext cx="4676739"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7818029" y="187644"/>
              <a:ext cx="4436286" cy="1110187"/>
              <a:chOff x="-1007275" y="2529717"/>
              <a:chExt cx="5225356" cy="1552439"/>
            </a:xfrm>
          </p:grpSpPr>
          <p:sp>
            <p:nvSpPr>
              <p:cNvPr id="29" name="文本框 13">
                <a:extLst/>
              </p:cNvPr>
              <p:cNvSpPr txBox="1">
                <a:spLocks noChangeArrowheads="1"/>
              </p:cNvSpPr>
              <p:nvPr/>
            </p:nvSpPr>
            <p:spPr bwMode="auto">
              <a:xfrm>
                <a:off x="-1007275" y="2529717"/>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714609" y="3048121"/>
                <a:ext cx="3503472" cy="81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latin typeface="+mn-lt"/>
                    <a:ea typeface="+mn-ea"/>
                    <a:cs typeface="+mn-ea"/>
                    <a:sym typeface="+mn-lt"/>
                  </a:rPr>
                  <a:t>猫慢性肾病治疗：食欲问题</a:t>
                </a:r>
                <a:endParaRPr lang="en-US" altLang="zh-CN" sz="2400" b="1">
                  <a:solidFill>
                    <a:srgbClr val="010101"/>
                  </a:solidFill>
                  <a:latin typeface="+mn-lt"/>
                  <a:ea typeface="+mn-ea"/>
                  <a:cs typeface="+mn-ea"/>
                  <a:sym typeface="+mn-lt"/>
                </a:endParaRPr>
              </a:p>
            </p:txBody>
          </p:sp>
          <p:cxnSp>
            <p:nvCxnSpPr>
              <p:cNvPr id="31" name="直接连接符 30">
                <a:extLst/>
              </p:cNvPr>
              <p:cNvCxnSpPr>
                <a:cxnSpLocks/>
              </p:cNvCxnSpPr>
              <p:nvPr/>
            </p:nvCxnSpPr>
            <p:spPr>
              <a:xfrm flipH="1">
                <a:off x="-442778" y="3180446"/>
                <a:ext cx="468592" cy="706937"/>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174743" y="3436583"/>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pic>
        <p:nvPicPr>
          <p:cNvPr id="4" name="图片 3">
            <a:extLst>
              <a:ext uri="{FF2B5EF4-FFF2-40B4-BE49-F238E27FC236}">
                <a16:creationId xmlns:a16="http://schemas.microsoft.com/office/drawing/2014/main" id="{85C5AD03-21DA-46A6-A0A2-418B41ADB5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9496" y="2276872"/>
            <a:ext cx="2619375" cy="3219450"/>
          </a:xfrm>
          <a:prstGeom prst="rect">
            <a:avLst/>
          </a:prstGeom>
        </p:spPr>
      </p:pic>
      <p:sp>
        <p:nvSpPr>
          <p:cNvPr id="8" name="文本框 7">
            <a:extLst>
              <a:ext uri="{FF2B5EF4-FFF2-40B4-BE49-F238E27FC236}">
                <a16:creationId xmlns:a16="http://schemas.microsoft.com/office/drawing/2014/main" id="{021319C8-3439-4ABB-AB26-7213CBE8367E}"/>
              </a:ext>
            </a:extLst>
          </p:cNvPr>
          <p:cNvSpPr txBox="1"/>
          <p:nvPr/>
        </p:nvSpPr>
        <p:spPr>
          <a:xfrm>
            <a:off x="4439816" y="2924944"/>
            <a:ext cx="6727909" cy="1569660"/>
          </a:xfrm>
          <a:prstGeom prst="rect">
            <a:avLst/>
          </a:prstGeom>
          <a:noFill/>
        </p:spPr>
        <p:txBody>
          <a:bodyPr wrap="square" rtlCol="0">
            <a:spAutoFit/>
          </a:bodyPr>
          <a:lstStyle/>
          <a:p>
            <a:r>
              <a:rPr lang="zh-CN" altLang="en-US" sz="2800" b="1">
                <a:effectLst>
                  <a:outerShdw blurRad="38100" dist="38100" dir="2700000" algn="tl">
                    <a:srgbClr val="000000">
                      <a:alpha val="43137"/>
                    </a:srgbClr>
                  </a:outerShdw>
                </a:effectLst>
                <a:latin typeface="+mj-ea"/>
                <a:ea typeface="+mj-ea"/>
              </a:rPr>
              <a:t>更多内容与相关细节请看</a:t>
            </a:r>
            <a:endParaRPr lang="en-US" altLang="zh-CN" sz="2800" b="1">
              <a:effectLst>
                <a:outerShdw blurRad="38100" dist="38100" dir="2700000" algn="tl">
                  <a:srgbClr val="000000">
                    <a:alpha val="43137"/>
                  </a:srgbClr>
                </a:outerShdw>
              </a:effectLst>
              <a:latin typeface="+mj-ea"/>
              <a:ea typeface="+mj-ea"/>
            </a:endParaRPr>
          </a:p>
          <a:p>
            <a:r>
              <a:rPr lang="zh-CN" altLang="en-US" sz="2800" b="1">
                <a:effectLst>
                  <a:outerShdw blurRad="38100" dist="38100" dir="2700000" algn="tl">
                    <a:srgbClr val="000000">
                      <a:alpha val="43137"/>
                    </a:srgbClr>
                  </a:outerShdw>
                </a:effectLst>
                <a:latin typeface="+mj-ea"/>
                <a:ea typeface="+mj-ea"/>
              </a:rPr>
              <a:t>公众号</a:t>
            </a:r>
            <a:r>
              <a:rPr lang="en-US" altLang="zh-CN" sz="2800" b="1">
                <a:effectLst>
                  <a:outerShdw blurRad="38100" dist="38100" dir="2700000" algn="tl">
                    <a:srgbClr val="000000">
                      <a:alpha val="43137"/>
                    </a:srgbClr>
                  </a:outerShdw>
                </a:effectLst>
                <a:latin typeface="+mj-ea"/>
                <a:ea typeface="+mj-ea"/>
              </a:rPr>
              <a:t>RawMeat</a:t>
            </a:r>
          </a:p>
          <a:p>
            <a:r>
              <a:rPr lang="zh-CN" altLang="en-US" sz="2800" b="1">
                <a:solidFill>
                  <a:srgbClr val="C00000"/>
                </a:solidFill>
                <a:latin typeface="+mj-ea"/>
                <a:ea typeface="+mj-ea"/>
              </a:rPr>
              <a:t>关键词</a:t>
            </a:r>
            <a:r>
              <a:rPr lang="zh-CN" altLang="en-US" sz="2800" b="1">
                <a:latin typeface="+mj-ea"/>
                <a:ea typeface="+mj-ea"/>
              </a:rPr>
              <a:t>：</a:t>
            </a:r>
            <a:r>
              <a:rPr lang="zh-CN" altLang="en-US" sz="4000" b="1">
                <a:latin typeface="宋体" panose="02010600030101010101" pitchFamily="2" charset="-122"/>
              </a:rPr>
              <a:t>厌食</a:t>
            </a:r>
          </a:p>
        </p:txBody>
      </p:sp>
    </p:spTree>
    <p:extLst>
      <p:ext uri="{BB962C8B-B14F-4D97-AF65-F5344CB8AC3E}">
        <p14:creationId xmlns:p14="http://schemas.microsoft.com/office/powerpoint/2010/main" val="326809796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959595"/>
        </a:solidFill>
        <a:effectLst/>
      </p:bgPr>
    </p:bg>
    <p:spTree>
      <p:nvGrpSpPr>
        <p:cNvPr id="1" name=""/>
        <p:cNvGrpSpPr/>
        <p:nvPr/>
      </p:nvGrpSpPr>
      <p:grpSpPr>
        <a:xfrm>
          <a:off x="0" y="0"/>
          <a:ext cx="0" cy="0"/>
          <a:chOff x="0" y="0"/>
          <a:chExt cx="0" cy="0"/>
        </a:xfrm>
      </p:grpSpPr>
      <p:pic>
        <p:nvPicPr>
          <p:cNvPr id="3" name="图片 2">
            <a:extLst/>
          </p:cNvPr>
          <p:cNvPicPr>
            <a:picLocks noChangeAspect="1"/>
          </p:cNvPicPr>
          <p:nvPr/>
        </p:nvPicPr>
        <p:blipFill rotWithShape="1">
          <a:blip r:embed="rId3">
            <a:duotone>
              <a:prstClr val="black"/>
              <a:schemeClr val="accent3">
                <a:tint val="45000"/>
                <a:satMod val="400000"/>
              </a:schemeClr>
            </a:duotone>
            <a:extLst>
              <a:ext uri="{28A0092B-C50C-407E-A947-70E740481C1C}">
                <a14:useLocalDpi xmlns:a14="http://schemas.microsoft.com/office/drawing/2010/main" val="0"/>
              </a:ext>
            </a:extLst>
          </a:blip>
          <a:srcRect l="17921"/>
          <a:stretch/>
        </p:blipFill>
        <p:spPr>
          <a:xfrm>
            <a:off x="0" y="0"/>
            <a:ext cx="10007080" cy="6858000"/>
          </a:xfrm>
          <a:prstGeom prst="rect">
            <a:avLst/>
          </a:prstGeom>
        </p:spPr>
      </p:pic>
      <p:sp>
        <p:nvSpPr>
          <p:cNvPr id="20" name="箭头: 五边形 6">
            <a:extLst/>
          </p:cNvPr>
          <p:cNvSpPr/>
          <p:nvPr/>
        </p:nvSpPr>
        <p:spPr>
          <a:xfrm rot="10800000" flipH="1">
            <a:off x="0" y="404813"/>
            <a:ext cx="7248128" cy="1344612"/>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grpSp>
        <p:nvGrpSpPr>
          <p:cNvPr id="35845" name="组合 22"/>
          <p:cNvGrpSpPr>
            <a:grpSpLocks/>
          </p:cNvGrpSpPr>
          <p:nvPr/>
        </p:nvGrpSpPr>
        <p:grpSpPr bwMode="auto">
          <a:xfrm>
            <a:off x="196850" y="404813"/>
            <a:ext cx="6272213" cy="1120775"/>
            <a:chOff x="-101400" y="2876417"/>
            <a:chExt cx="5285364" cy="1120760"/>
          </a:xfrm>
        </p:grpSpPr>
        <p:sp>
          <p:nvSpPr>
            <p:cNvPr id="25613" name="文本框 13">
              <a:extLst/>
            </p:cNvPr>
            <p:cNvSpPr txBox="1">
              <a:spLocks noChangeArrowheads="1"/>
            </p:cNvSpPr>
            <p:nvPr/>
          </p:nvSpPr>
          <p:spPr bwMode="auto">
            <a:xfrm>
              <a:off x="-101400" y="2876417"/>
              <a:ext cx="1343079" cy="825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600" b="1">
                  <a:solidFill>
                    <a:srgbClr val="010101"/>
                  </a:solidFill>
                  <a:latin typeface="+mn-lt"/>
                  <a:ea typeface="+mn-ea"/>
                  <a:cs typeface="+mn-ea"/>
                  <a:sym typeface="+mn-lt"/>
                </a:rPr>
                <a:t>PART</a:t>
              </a:r>
            </a:p>
          </p:txBody>
        </p:sp>
        <p:sp>
          <p:nvSpPr>
            <p:cNvPr id="25614" name="文本框 14">
              <a:extLst/>
            </p:cNvPr>
            <p:cNvSpPr txBox="1">
              <a:spLocks noChangeArrowheads="1"/>
            </p:cNvSpPr>
            <p:nvPr/>
          </p:nvSpPr>
          <p:spPr bwMode="auto">
            <a:xfrm>
              <a:off x="2321226" y="3201919"/>
              <a:ext cx="2862738" cy="662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b="1">
                  <a:solidFill>
                    <a:srgbClr val="010101"/>
                  </a:solidFill>
                  <a:latin typeface="+mn-ea"/>
                  <a:ea typeface="+mn-ea"/>
                  <a:cs typeface="+mn-ea"/>
                  <a:sym typeface="+mn-lt"/>
                </a:rPr>
                <a:t>慢性肾病猫食欲问题</a:t>
              </a:r>
              <a:endParaRPr lang="en-US" altLang="zh-CN" b="1">
                <a:solidFill>
                  <a:srgbClr val="010101"/>
                </a:solidFill>
                <a:latin typeface="+mn-ea"/>
                <a:ea typeface="+mn-ea"/>
                <a:cs typeface="+mn-ea"/>
                <a:sym typeface="+mn-lt"/>
              </a:endParaRPr>
            </a:p>
          </p:txBody>
        </p:sp>
        <p:cxnSp>
          <p:nvCxnSpPr>
            <p:cNvPr id="24" name="直接连接符 23">
              <a:extLst/>
            </p:cNvPr>
            <p:cNvCxnSpPr>
              <a:cxnSpLocks/>
            </p:cNvCxnSpPr>
            <p:nvPr/>
          </p:nvCxnSpPr>
          <p:spPr>
            <a:xfrm flipH="1">
              <a:off x="489876" y="3171688"/>
              <a:ext cx="1074196" cy="722302"/>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5616" name="矩形 20">
              <a:extLst/>
            </p:cNvPr>
            <p:cNvSpPr>
              <a:spLocks noChangeArrowheads="1"/>
            </p:cNvSpPr>
            <p:nvPr/>
          </p:nvSpPr>
          <p:spPr bwMode="auto">
            <a:xfrm>
              <a:off x="618298" y="3473309"/>
              <a:ext cx="1577182" cy="523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lvl="1">
                <a:lnSpc>
                  <a:spcPct val="100000"/>
                </a:lnSpc>
                <a:spcBef>
                  <a:spcPct val="0"/>
                </a:spcBef>
                <a:buFontTx/>
                <a:buNone/>
                <a:defRPr/>
              </a:pPr>
              <a:r>
                <a:rPr lang="en-US" altLang="zh-CN" sz="2800" b="1">
                  <a:solidFill>
                    <a:srgbClr val="010101"/>
                  </a:solidFill>
                  <a:latin typeface="+mn-lt"/>
                  <a:ea typeface="+mn-ea"/>
                  <a:cs typeface="+mn-ea"/>
                  <a:sym typeface="+mn-lt"/>
                </a:rPr>
                <a:t>THREE</a:t>
              </a:r>
              <a:endParaRPr lang="zh-CN" altLang="en-US" sz="1400">
                <a:latin typeface="+mn-lt"/>
                <a:ea typeface="+mn-ea"/>
                <a:cs typeface="+mn-ea"/>
                <a:sym typeface="+mn-lt"/>
              </a:endParaRPr>
            </a:p>
          </p:txBody>
        </p:sp>
      </p:grpSp>
      <p:sp>
        <p:nvSpPr>
          <p:cNvPr id="2" name="文本框 1">
            <a:extLst>
              <a:ext uri="{FF2B5EF4-FFF2-40B4-BE49-F238E27FC236}">
                <a16:creationId xmlns:a16="http://schemas.microsoft.com/office/drawing/2014/main" id="{8C167C1C-50B6-46B8-B24A-9CB126B44CCC}"/>
              </a:ext>
            </a:extLst>
          </p:cNvPr>
          <p:cNvSpPr txBox="1"/>
          <p:nvPr/>
        </p:nvSpPr>
        <p:spPr>
          <a:xfrm>
            <a:off x="1644527" y="2708920"/>
            <a:ext cx="9649072" cy="2693045"/>
          </a:xfrm>
          <a:prstGeom prst="rect">
            <a:avLst/>
          </a:prstGeom>
          <a:noFill/>
        </p:spPr>
        <p:txBody>
          <a:bodyPr wrap="square" rtlCol="0">
            <a:spAutoFit/>
          </a:bodyPr>
          <a:lstStyle/>
          <a:p>
            <a:r>
              <a:rPr lang="zh-CN" altLang="en-US" sz="11500">
                <a:solidFill>
                  <a:schemeClr val="bg1"/>
                </a:solidFill>
                <a:effectLst>
                  <a:outerShdw blurRad="38100" dist="38100" dir="2700000" algn="tl">
                    <a:srgbClr val="000000">
                      <a:alpha val="43137"/>
                    </a:srgbClr>
                  </a:outerShdw>
                </a:effectLst>
              </a:rPr>
              <a:t>饲管能救命！</a:t>
            </a:r>
            <a:endParaRPr lang="en-US" altLang="zh-CN" sz="11500">
              <a:solidFill>
                <a:schemeClr val="bg1"/>
              </a:solidFill>
              <a:effectLst>
                <a:outerShdw blurRad="38100" dist="38100" dir="2700000" algn="tl">
                  <a:srgbClr val="000000">
                    <a:alpha val="43137"/>
                  </a:srgbClr>
                </a:outerShdw>
              </a:effectLst>
            </a:endParaRPr>
          </a:p>
          <a:p>
            <a:pPr marL="457200" indent="-457200">
              <a:buFont typeface="Wingdings" panose="05000000000000000000" pitchFamily="2" charset="2"/>
              <a:buChar char="u"/>
            </a:pPr>
            <a:endParaRPr lang="en-US" altLang="zh-CN" sz="2800" b="1">
              <a:solidFill>
                <a:schemeClr val="bg1"/>
              </a:solidFill>
              <a:effectLst>
                <a:outerShdw blurRad="38100" dist="38100" dir="2700000" algn="tl">
                  <a:srgbClr val="000000">
                    <a:alpha val="43137"/>
                  </a:srgbClr>
                </a:outerShdw>
              </a:effectLst>
              <a:latin typeface="+mj-ea"/>
              <a:ea typeface="+mj-ea"/>
            </a:endParaRPr>
          </a:p>
          <a:p>
            <a:pPr marL="742950" lvl="1" indent="-285750">
              <a:buFont typeface="Wingdings" panose="05000000000000000000" pitchFamily="2" charset="2"/>
              <a:buChar char="u"/>
            </a:pPr>
            <a:endParaRPr lang="en-US" altLang="zh-CN" sz="1600" b="1">
              <a:solidFill>
                <a:schemeClr val="bg1"/>
              </a:solidFill>
              <a:effectLst>
                <a:outerShdw blurRad="38100" dist="38100" dir="2700000" algn="tl">
                  <a:srgbClr val="000000">
                    <a:alpha val="43137"/>
                  </a:srgbClr>
                </a:outerShdw>
              </a:effectLst>
              <a:latin typeface="+mj-ea"/>
              <a:ea typeface="+mj-ea"/>
            </a:endParaRPr>
          </a:p>
          <a:p>
            <a:endParaRPr lang="zh-CN" altLang="en-US" sz="1000">
              <a:solidFill>
                <a:schemeClr val="bg1"/>
              </a:solidFill>
              <a:effectLst>
                <a:outerShdw blurRad="38100" dist="38100" dir="2700000" algn="tl">
                  <a:srgbClr val="000000">
                    <a:alpha val="43137"/>
                  </a:srgbClr>
                </a:outerShdw>
              </a:effectLst>
            </a:endParaRPr>
          </a:p>
        </p:txBody>
      </p:sp>
      <p:pic>
        <p:nvPicPr>
          <p:cNvPr id="6" name="图片 5">
            <a:extLst>
              <a:ext uri="{FF2B5EF4-FFF2-40B4-BE49-F238E27FC236}">
                <a16:creationId xmlns:a16="http://schemas.microsoft.com/office/drawing/2014/main" id="{52A8CAF9-83B5-48F3-95C3-857155BA62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44949" y="4941168"/>
            <a:ext cx="2189882" cy="1642411"/>
          </a:xfrm>
          <a:prstGeom prst="rect">
            <a:avLst/>
          </a:prstGeom>
        </p:spPr>
      </p:pic>
      <p:sp>
        <p:nvSpPr>
          <p:cNvPr id="7" name="矩形 6">
            <a:extLst>
              <a:ext uri="{FF2B5EF4-FFF2-40B4-BE49-F238E27FC236}">
                <a16:creationId xmlns:a16="http://schemas.microsoft.com/office/drawing/2014/main" id="{EF9F0EB9-F37C-40C7-8A07-DAE67C126793}"/>
              </a:ext>
            </a:extLst>
          </p:cNvPr>
          <p:cNvSpPr/>
          <p:nvPr/>
        </p:nvSpPr>
        <p:spPr>
          <a:xfrm>
            <a:off x="3858072" y="4893621"/>
            <a:ext cx="7998567" cy="2031325"/>
          </a:xfrm>
          <a:prstGeom prst="rect">
            <a:avLst/>
          </a:prstGeom>
        </p:spPr>
        <p:txBody>
          <a:bodyPr wrap="square">
            <a:spAutoFit/>
          </a:bodyPr>
          <a:lstStyle/>
          <a:p>
            <a:pPr marL="285750" indent="-285750">
              <a:buFont typeface="Wingdings" panose="05000000000000000000" pitchFamily="2" charset="2"/>
              <a:buChar char="u"/>
            </a:pPr>
            <a:r>
              <a:rPr lang="zh-CN" altLang="en-US" b="1">
                <a:solidFill>
                  <a:schemeClr val="bg1"/>
                </a:solidFill>
                <a:effectLst>
                  <a:outerShdw blurRad="38100" dist="38100" dir="2700000" algn="tl">
                    <a:srgbClr val="000000">
                      <a:alpha val="43137"/>
                    </a:srgbClr>
                  </a:outerShdw>
                </a:effectLst>
                <a:latin typeface="+mj-ea"/>
              </a:rPr>
              <a:t>为患病猫使用饲管喂食是个高效的好办法，并不“悲惨”！</a:t>
            </a:r>
            <a:endParaRPr lang="en-US" altLang="zh-CN" b="1">
              <a:solidFill>
                <a:schemeClr val="bg1"/>
              </a:solidFill>
              <a:effectLst>
                <a:outerShdw blurRad="38100" dist="38100" dir="2700000" algn="tl">
                  <a:srgbClr val="000000">
                    <a:alpha val="43137"/>
                  </a:srgbClr>
                </a:outerShdw>
              </a:effectLst>
              <a:latin typeface="+mj-ea"/>
            </a:endParaRPr>
          </a:p>
          <a:p>
            <a:pPr marL="285750" indent="-285750">
              <a:buFont typeface="Wingdings" panose="05000000000000000000" pitchFamily="2" charset="2"/>
              <a:buChar char="u"/>
            </a:pPr>
            <a:r>
              <a:rPr lang="zh-CN" altLang="en-US" b="1">
                <a:solidFill>
                  <a:srgbClr val="FF0000"/>
                </a:solidFill>
                <a:effectLst>
                  <a:outerShdw blurRad="38100" dist="38100" dir="2700000" algn="tl">
                    <a:srgbClr val="000000">
                      <a:alpha val="43137"/>
                    </a:srgbClr>
                  </a:outerShdw>
                </a:effectLst>
                <a:latin typeface="+mj-ea"/>
              </a:rPr>
              <a:t>许多数肾病猫的死亡原因是不吃饭活活饿死的。</a:t>
            </a:r>
            <a:endParaRPr lang="en-US" altLang="zh-CN" b="1">
              <a:solidFill>
                <a:srgbClr val="FF0000"/>
              </a:solidFill>
              <a:effectLst>
                <a:outerShdw blurRad="38100" dist="38100" dir="2700000" algn="tl">
                  <a:srgbClr val="000000">
                    <a:alpha val="43137"/>
                  </a:srgbClr>
                </a:outerShdw>
              </a:effectLst>
              <a:latin typeface="+mj-ea"/>
            </a:endParaRPr>
          </a:p>
          <a:p>
            <a:pPr marL="285750" indent="-285750">
              <a:buFont typeface="Wingdings" panose="05000000000000000000" pitchFamily="2" charset="2"/>
              <a:buChar char="u"/>
            </a:pPr>
            <a:r>
              <a:rPr lang="zh-CN" altLang="en-US" b="1">
                <a:solidFill>
                  <a:schemeClr val="bg1"/>
                </a:solidFill>
                <a:effectLst>
                  <a:outerShdw blurRad="38100" dist="38100" dir="2700000" algn="tl">
                    <a:srgbClr val="000000">
                      <a:alpha val="43137"/>
                    </a:srgbClr>
                  </a:outerShdw>
                </a:effectLst>
                <a:latin typeface="+mj-ea"/>
              </a:rPr>
              <a:t>当猫食欲不佳，针筒强喂又份量不达标，药物也无效时，考虑饲管吧！</a:t>
            </a:r>
            <a:endParaRPr lang="en-US" altLang="zh-CN" b="1">
              <a:solidFill>
                <a:schemeClr val="bg1"/>
              </a:solidFill>
              <a:effectLst>
                <a:outerShdw blurRad="38100" dist="38100" dir="2700000" algn="tl">
                  <a:srgbClr val="000000">
                    <a:alpha val="43137"/>
                  </a:srgbClr>
                </a:outerShdw>
              </a:effectLst>
              <a:latin typeface="+mj-ea"/>
            </a:endParaRPr>
          </a:p>
          <a:p>
            <a:pPr marL="285750" indent="-285750">
              <a:buFont typeface="Wingdings" panose="05000000000000000000" pitchFamily="2" charset="2"/>
              <a:buChar char="u"/>
            </a:pPr>
            <a:r>
              <a:rPr lang="zh-CN" altLang="en-US" b="1">
                <a:solidFill>
                  <a:schemeClr val="bg1"/>
                </a:solidFill>
                <a:effectLst>
                  <a:outerShdw blurRad="38100" dist="38100" dir="2700000" algn="tl">
                    <a:srgbClr val="000000">
                      <a:alpha val="43137"/>
                    </a:srgbClr>
                  </a:outerShdw>
                </a:effectLst>
                <a:latin typeface="+mj-ea"/>
              </a:rPr>
              <a:t>切忌犹豫不决，病情太重就没机会手术了；跨入四期肾病前就该想想这个问题。</a:t>
            </a:r>
            <a:endParaRPr lang="en-US" altLang="zh-CN" b="1">
              <a:solidFill>
                <a:schemeClr val="bg1"/>
              </a:solidFill>
              <a:effectLst>
                <a:outerShdw blurRad="38100" dist="38100" dir="2700000" algn="tl">
                  <a:srgbClr val="000000">
                    <a:alpha val="43137"/>
                  </a:srgbClr>
                </a:outerShdw>
              </a:effectLst>
              <a:latin typeface="+mj-ea"/>
            </a:endParaRPr>
          </a:p>
          <a:p>
            <a:pPr marL="285750" indent="-285750">
              <a:buFont typeface="Wingdings" panose="05000000000000000000" pitchFamily="2" charset="2"/>
              <a:buChar char="u"/>
            </a:pPr>
            <a:r>
              <a:rPr lang="zh-CN" altLang="en-US" b="1">
                <a:solidFill>
                  <a:schemeClr val="bg1"/>
                </a:solidFill>
                <a:effectLst>
                  <a:outerShdw blurRad="38100" dist="38100" dir="2700000" algn="tl">
                    <a:srgbClr val="000000">
                      <a:alpha val="43137"/>
                    </a:srgbClr>
                  </a:outerShdw>
                </a:effectLst>
                <a:latin typeface="+mj-ea"/>
              </a:rPr>
              <a:t>优先选择食道饲（如左图小猫咪）甚至胃饲管；实在没有选择时才考虑鼻饲。</a:t>
            </a:r>
            <a:endParaRPr lang="en-US" altLang="zh-CN" b="1">
              <a:solidFill>
                <a:schemeClr val="bg1"/>
              </a:solidFill>
              <a:effectLst>
                <a:outerShdw blurRad="38100" dist="38100" dir="2700000" algn="tl">
                  <a:srgbClr val="000000">
                    <a:alpha val="43137"/>
                  </a:srgbClr>
                </a:outerShdw>
              </a:effectLst>
              <a:latin typeface="+mj-ea"/>
            </a:endParaRPr>
          </a:p>
        </p:txBody>
      </p:sp>
    </p:spTree>
    <p:extLst>
      <p:ext uri="{BB962C8B-B14F-4D97-AF65-F5344CB8AC3E}">
        <p14:creationId xmlns:p14="http://schemas.microsoft.com/office/powerpoint/2010/main" val="263311469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p:cNvPr>
          <p:cNvGrpSpPr/>
          <p:nvPr/>
        </p:nvGrpSpPr>
        <p:grpSpPr>
          <a:xfrm>
            <a:off x="2703513" y="526932"/>
            <a:ext cx="9488487" cy="1035882"/>
            <a:chOff x="8112223" y="330677"/>
            <a:chExt cx="4194115" cy="1035882"/>
          </a:xfrm>
          <a:effectLst>
            <a:outerShdw blurRad="50800" dist="38100" dir="5400000" algn="t" rotWithShape="0">
              <a:prstClr val="black">
                <a:alpha val="40000"/>
              </a:prstClr>
            </a:outerShdw>
          </a:effectLst>
        </p:grpSpPr>
        <p:sp>
          <p:nvSpPr>
            <p:cNvPr id="27"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8281096" y="330677"/>
              <a:ext cx="3967296" cy="985057"/>
              <a:chOff x="-461843" y="2729730"/>
              <a:chExt cx="4672947" cy="1377463"/>
            </a:xfrm>
          </p:grpSpPr>
          <p:sp>
            <p:nvSpPr>
              <p:cNvPr id="29"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1348278" y="3461620"/>
                <a:ext cx="2862826" cy="584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endParaRPr lang="en-US" altLang="zh-CN" sz="1600">
                  <a:solidFill>
                    <a:srgbClr val="010101"/>
                  </a:solidFill>
                  <a:latin typeface="+mn-lt"/>
                  <a:ea typeface="+mn-ea"/>
                  <a:cs typeface="+mn-ea"/>
                  <a:sym typeface="+mn-lt"/>
                </a:endParaRPr>
              </a:p>
            </p:txBody>
          </p:sp>
          <p:cxnSp>
            <p:nvCxnSpPr>
              <p:cNvPr id="31" name="直接连接符 30">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506334" y="3461620"/>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grpSp>
        <p:nvGrpSpPr>
          <p:cNvPr id="39939" name="组合 53"/>
          <p:cNvGrpSpPr>
            <a:grpSpLocks/>
          </p:cNvGrpSpPr>
          <p:nvPr/>
        </p:nvGrpSpPr>
        <p:grpSpPr bwMode="auto">
          <a:xfrm>
            <a:off x="2703513" y="2012663"/>
            <a:ext cx="8723312" cy="4376438"/>
            <a:chOff x="5103102" y="1820169"/>
            <a:chExt cx="6465867" cy="4057103"/>
          </a:xfrm>
        </p:grpSpPr>
        <p:sp>
          <p:nvSpPr>
            <p:cNvPr id="36" name="流程图: 过程 35">
              <a:extLst/>
            </p:cNvPr>
            <p:cNvSpPr/>
            <p:nvPr/>
          </p:nvSpPr>
          <p:spPr>
            <a:xfrm>
              <a:off x="5103102" y="2231503"/>
              <a:ext cx="6465867" cy="3645769"/>
            </a:xfrm>
            <a:prstGeom prst="flowChartProcess">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kern="0">
                <a:solidFill>
                  <a:sysClr val="windowText" lastClr="000000"/>
                </a:solidFill>
                <a:cs typeface="+mn-ea"/>
                <a:sym typeface="+mn-lt"/>
              </a:endParaRPr>
            </a:p>
          </p:txBody>
        </p:sp>
        <p:sp>
          <p:nvSpPr>
            <p:cNvPr id="37" name="矩形 3">
              <a:extLst/>
            </p:cNvPr>
            <p:cNvSpPr>
              <a:spLocks noChangeArrowheads="1"/>
            </p:cNvSpPr>
            <p:nvPr/>
          </p:nvSpPr>
          <p:spPr bwMode="auto">
            <a:xfrm>
              <a:off x="7701655" y="4711799"/>
              <a:ext cx="2584693" cy="311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Tx/>
                <a:buNone/>
                <a:defRPr/>
              </a:pPr>
              <a:endParaRPr lang="zh-CN" altLang="en-US" sz="1400" kern="0">
                <a:solidFill>
                  <a:schemeClr val="bg1">
                    <a:lumMod val="65000"/>
                  </a:schemeClr>
                </a:solidFill>
                <a:latin typeface="+mn-lt"/>
                <a:ea typeface="+mn-ea"/>
                <a:cs typeface="+mn-ea"/>
                <a:sym typeface="+mn-lt"/>
              </a:endParaRPr>
            </a:p>
          </p:txBody>
        </p:sp>
        <p:sp>
          <p:nvSpPr>
            <p:cNvPr id="39" name="矩形 38">
              <a:extLst/>
            </p:cNvPr>
            <p:cNvSpPr/>
            <p:nvPr/>
          </p:nvSpPr>
          <p:spPr>
            <a:xfrm>
              <a:off x="7665915" y="1820169"/>
              <a:ext cx="3216622" cy="599170"/>
            </a:xfrm>
            <a:prstGeom prst="rect">
              <a:avLst/>
            </a:prstGeom>
            <a:solidFill>
              <a:srgbClr val="FFFFFF"/>
            </a:solidFill>
          </p:spPr>
          <p:txBody>
            <a:bodyPr wrap="none">
              <a:spAutoFit/>
            </a:bodyPr>
            <a:lstStyle/>
            <a:p>
              <a:pPr eaLnBrk="1" fontAlgn="auto" hangingPunct="1">
                <a:spcBef>
                  <a:spcPts val="0"/>
                </a:spcBef>
                <a:spcAft>
                  <a:spcPts val="0"/>
                </a:spcAft>
                <a:defRPr/>
              </a:pPr>
              <a:r>
                <a:rPr lang="zh-CN" altLang="en-US" sz="3600" b="1" kern="0">
                  <a:solidFill>
                    <a:srgbClr val="4F4F4F"/>
                  </a:solidFill>
                  <a:latin typeface="+mn-lt"/>
                  <a:ea typeface="+mn-ea"/>
                  <a:cs typeface="+mn-ea"/>
                  <a:sym typeface="+mn-lt"/>
                </a:rPr>
                <a:t>为啥肾病猫会便秘？</a:t>
              </a:r>
            </a:p>
          </p:txBody>
        </p:sp>
        <p:sp>
          <p:nvSpPr>
            <p:cNvPr id="40" name="矩形 3">
              <a:extLst/>
            </p:cNvPr>
            <p:cNvSpPr>
              <a:spLocks noChangeArrowheads="1"/>
            </p:cNvSpPr>
            <p:nvPr/>
          </p:nvSpPr>
          <p:spPr bwMode="auto">
            <a:xfrm>
              <a:off x="7457550" y="2784726"/>
              <a:ext cx="3949643" cy="2767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None/>
                <a:defRPr/>
              </a:pPr>
              <a:endParaRPr lang="en-US" altLang="zh-CN" sz="1600" kern="0">
                <a:solidFill>
                  <a:schemeClr val="bg2">
                    <a:lumMod val="25000"/>
                  </a:schemeClr>
                </a:solidFill>
                <a:latin typeface="+mn-ea"/>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l"/>
                <a:defRPr/>
              </a:pPr>
              <a:r>
                <a:rPr lang="zh-CN" altLang="en-US" sz="2400" kern="0">
                  <a:solidFill>
                    <a:schemeClr val="bg2">
                      <a:lumMod val="25000"/>
                    </a:schemeClr>
                  </a:solidFill>
                  <a:latin typeface="+mn-ea"/>
                  <a:ea typeface="+mn-ea"/>
                  <a:cs typeface="+mn-ea"/>
                  <a:sym typeface="+mn-lt"/>
                </a:rPr>
                <a:t>便秘其实是体内脱水的表现</a:t>
              </a:r>
              <a:endParaRPr lang="en-US" altLang="zh-CN" sz="2400" kern="0">
                <a:solidFill>
                  <a:schemeClr val="bg2">
                    <a:lumMod val="25000"/>
                  </a:schemeClr>
                </a:solidFill>
                <a:latin typeface="+mn-ea"/>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l"/>
                <a:defRPr/>
              </a:pPr>
              <a:r>
                <a:rPr lang="zh-CN" altLang="en-US" sz="2400" kern="0">
                  <a:solidFill>
                    <a:schemeClr val="bg2">
                      <a:lumMod val="25000"/>
                    </a:schemeClr>
                  </a:solidFill>
                  <a:latin typeface="+mn-ea"/>
                  <a:ea typeface="+mn-ea"/>
                  <a:cs typeface="+mn-ea"/>
                  <a:sym typeface="+mn-lt"/>
                </a:rPr>
                <a:t>低血钾会造成便秘</a:t>
              </a:r>
              <a:endParaRPr lang="en-US" altLang="zh-CN" sz="2400" kern="0">
                <a:solidFill>
                  <a:schemeClr val="bg2">
                    <a:lumMod val="25000"/>
                  </a:schemeClr>
                </a:solidFill>
                <a:latin typeface="+mn-ea"/>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l"/>
                <a:defRPr/>
              </a:pPr>
              <a:r>
                <a:rPr lang="zh-CN" altLang="en-US" sz="2400" kern="0">
                  <a:solidFill>
                    <a:schemeClr val="bg2">
                      <a:lumMod val="25000"/>
                    </a:schemeClr>
                  </a:solidFill>
                  <a:latin typeface="+mn-ea"/>
                  <a:ea typeface="+mn-ea"/>
                  <a:cs typeface="+mn-ea"/>
                  <a:sym typeface="+mn-lt"/>
                </a:rPr>
                <a:t>高血钙会造成便秘</a:t>
              </a:r>
              <a:endParaRPr lang="en-US" altLang="zh-CN" sz="2400" kern="0">
                <a:solidFill>
                  <a:schemeClr val="bg2">
                    <a:lumMod val="25000"/>
                  </a:schemeClr>
                </a:solidFill>
                <a:latin typeface="+mn-ea"/>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l"/>
                <a:defRPr/>
              </a:pPr>
              <a:r>
                <a:rPr lang="zh-CN" altLang="en-US" sz="2400" kern="0">
                  <a:solidFill>
                    <a:schemeClr val="bg2">
                      <a:lumMod val="25000"/>
                    </a:schemeClr>
                  </a:solidFill>
                  <a:latin typeface="+mn-ea"/>
                  <a:ea typeface="+mn-ea"/>
                  <a:cs typeface="+mn-ea"/>
                  <a:sym typeface="+mn-lt"/>
                </a:rPr>
                <a:t>硫糖铝、碳酸镧之类的药物有时造成便秘</a:t>
              </a:r>
              <a:endParaRPr lang="en-US" altLang="zh-CN" sz="2400" kern="0">
                <a:solidFill>
                  <a:schemeClr val="bg2">
                    <a:lumMod val="25000"/>
                  </a:schemeClr>
                </a:solidFill>
                <a:latin typeface="+mn-ea"/>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l"/>
                <a:defRPr/>
              </a:pPr>
              <a:endParaRPr lang="en-US" altLang="zh-CN" sz="1800" kern="0">
                <a:solidFill>
                  <a:schemeClr val="bg2">
                    <a:lumMod val="25000"/>
                  </a:schemeClr>
                </a:solidFill>
                <a:latin typeface="+mn-ea"/>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l"/>
                <a:defRPr/>
              </a:pPr>
              <a:endParaRPr lang="en-US" altLang="zh-CN" sz="1800" kern="0">
                <a:solidFill>
                  <a:schemeClr val="bg2">
                    <a:lumMod val="25000"/>
                  </a:schemeClr>
                </a:solidFill>
                <a:latin typeface="+mn-ea"/>
                <a:ea typeface="+mn-ea"/>
                <a:cs typeface="+mn-ea"/>
                <a:sym typeface="+mn-lt"/>
              </a:endParaRPr>
            </a:p>
            <a:p>
              <a:pPr eaLnBrk="1" fontAlgn="auto" hangingPunct="1">
                <a:lnSpc>
                  <a:spcPct val="100000"/>
                </a:lnSpc>
                <a:spcBef>
                  <a:spcPct val="0"/>
                </a:spcBef>
                <a:spcAft>
                  <a:spcPts val="0"/>
                </a:spcAft>
                <a:buFontTx/>
                <a:buNone/>
                <a:defRPr/>
              </a:pPr>
              <a:endParaRPr lang="zh-CN" altLang="en-US" sz="1600" b="1" kern="0">
                <a:solidFill>
                  <a:schemeClr val="bg2">
                    <a:lumMod val="25000"/>
                  </a:schemeClr>
                </a:solidFill>
                <a:latin typeface="微软雅黑 Light" panose="020B0502040204020203" pitchFamily="34" charset="-122"/>
                <a:ea typeface="微软雅黑 Light" panose="020B0502040204020203" pitchFamily="34" charset="-122"/>
                <a:cs typeface="+mn-ea"/>
                <a:sym typeface="+mn-lt"/>
              </a:endParaRPr>
            </a:p>
          </p:txBody>
        </p:sp>
      </p:grpSp>
      <p:sp>
        <p:nvSpPr>
          <p:cNvPr id="2" name="文本框 1">
            <a:extLst>
              <a:ext uri="{FF2B5EF4-FFF2-40B4-BE49-F238E27FC236}">
                <a16:creationId xmlns:a16="http://schemas.microsoft.com/office/drawing/2014/main" id="{626E14C6-0CFE-4977-BC70-6856D56C0BC9}"/>
              </a:ext>
            </a:extLst>
          </p:cNvPr>
          <p:cNvSpPr txBox="1"/>
          <p:nvPr/>
        </p:nvSpPr>
        <p:spPr>
          <a:xfrm>
            <a:off x="6231079" y="788714"/>
            <a:ext cx="5980171" cy="523220"/>
          </a:xfrm>
          <a:prstGeom prst="rect">
            <a:avLst/>
          </a:prstGeom>
          <a:noFill/>
        </p:spPr>
        <p:txBody>
          <a:bodyPr wrap="square" rtlCol="0">
            <a:spAutoFit/>
          </a:bodyPr>
          <a:lstStyle/>
          <a:p>
            <a:r>
              <a:rPr lang="zh-CN" altLang="en-US" sz="2800" b="1">
                <a:latin typeface="+mj-ea"/>
                <a:ea typeface="+mj-ea"/>
              </a:rPr>
              <a:t>慢性肾病猫的治疗：便秘</a:t>
            </a:r>
          </a:p>
        </p:txBody>
      </p:sp>
      <p:pic>
        <p:nvPicPr>
          <p:cNvPr id="6" name="图片 5">
            <a:extLst>
              <a:ext uri="{FF2B5EF4-FFF2-40B4-BE49-F238E27FC236}">
                <a16:creationId xmlns:a16="http://schemas.microsoft.com/office/drawing/2014/main" id="{2D0ECEFC-45C1-45FC-A682-AA9645FEE6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8104" y="2908766"/>
            <a:ext cx="4811532" cy="2668077"/>
          </a:xfrm>
          <a:prstGeom prst="rect">
            <a:avLst/>
          </a:prstGeom>
        </p:spPr>
      </p:pic>
    </p:spTree>
    <p:extLst>
      <p:ext uri="{BB962C8B-B14F-4D97-AF65-F5344CB8AC3E}">
        <p14:creationId xmlns:p14="http://schemas.microsoft.com/office/powerpoint/2010/main" val="348643381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p:cNvPr>
          <p:cNvGrpSpPr/>
          <p:nvPr/>
        </p:nvGrpSpPr>
        <p:grpSpPr>
          <a:xfrm>
            <a:off x="4007769" y="534971"/>
            <a:ext cx="8162478" cy="1178915"/>
            <a:chOff x="7629599" y="187644"/>
            <a:chExt cx="4676739" cy="1178915"/>
          </a:xfrm>
          <a:effectLst>
            <a:outerShdw blurRad="50800" dist="38100" dir="5400000" algn="t" rotWithShape="0">
              <a:prstClr val="black">
                <a:alpha val="40000"/>
              </a:prstClr>
            </a:outerShdw>
          </a:effectLst>
        </p:grpSpPr>
        <p:sp>
          <p:nvSpPr>
            <p:cNvPr id="27" name="箭头: 五边形 6">
              <a:extLst/>
            </p:cNvPr>
            <p:cNvSpPr/>
            <p:nvPr/>
          </p:nvSpPr>
          <p:spPr>
            <a:xfrm flipH="1">
              <a:off x="7629599" y="404664"/>
              <a:ext cx="4676739"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7818029" y="187644"/>
              <a:ext cx="4436286" cy="1110187"/>
              <a:chOff x="-1007275" y="2529717"/>
              <a:chExt cx="5225356" cy="1552439"/>
            </a:xfrm>
          </p:grpSpPr>
          <p:sp>
            <p:nvSpPr>
              <p:cNvPr id="29" name="文本框 13">
                <a:extLst/>
              </p:cNvPr>
              <p:cNvSpPr txBox="1">
                <a:spLocks noChangeArrowheads="1"/>
              </p:cNvSpPr>
              <p:nvPr/>
            </p:nvSpPr>
            <p:spPr bwMode="auto">
              <a:xfrm>
                <a:off x="-1007275" y="2529717"/>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714609" y="3048121"/>
                <a:ext cx="3503472" cy="81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latin typeface="+mn-lt"/>
                    <a:ea typeface="+mn-ea"/>
                    <a:cs typeface="+mn-ea"/>
                    <a:sym typeface="+mn-lt"/>
                  </a:rPr>
                  <a:t>猫慢性肾病治疗：便秘问题</a:t>
                </a:r>
                <a:endParaRPr lang="en-US" altLang="zh-CN" sz="2400" b="1">
                  <a:solidFill>
                    <a:srgbClr val="010101"/>
                  </a:solidFill>
                  <a:latin typeface="+mn-lt"/>
                  <a:ea typeface="+mn-ea"/>
                  <a:cs typeface="+mn-ea"/>
                  <a:sym typeface="+mn-lt"/>
                </a:endParaRPr>
              </a:p>
            </p:txBody>
          </p:sp>
          <p:cxnSp>
            <p:nvCxnSpPr>
              <p:cNvPr id="31" name="直接连接符 30">
                <a:extLst/>
              </p:cNvPr>
              <p:cNvCxnSpPr>
                <a:cxnSpLocks/>
              </p:cNvCxnSpPr>
              <p:nvPr/>
            </p:nvCxnSpPr>
            <p:spPr>
              <a:xfrm flipH="1">
                <a:off x="-442778" y="3180446"/>
                <a:ext cx="468592" cy="706937"/>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174743" y="3436583"/>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cxnSp>
        <p:nvCxnSpPr>
          <p:cNvPr id="23" name="直接连接符 22">
            <a:extLst>
              <a:ext uri="{FF2B5EF4-FFF2-40B4-BE49-F238E27FC236}">
                <a16:creationId xmlns:a16="http://schemas.microsoft.com/office/drawing/2014/main" id="{A6ED08FA-2943-4D08-91B5-062B4352A4BC}"/>
              </a:ext>
            </a:extLst>
          </p:cNvPr>
          <p:cNvCxnSpPr/>
          <p:nvPr/>
        </p:nvCxnSpPr>
        <p:spPr>
          <a:xfrm flipH="1">
            <a:off x="4799856" y="3346982"/>
            <a:ext cx="19050" cy="1079500"/>
          </a:xfrm>
          <a:prstGeom prst="line">
            <a:avLst/>
          </a:prstGeom>
          <a:ln w="50800">
            <a:solidFill>
              <a:srgbClr val="4F4F4F"/>
            </a:soli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7B608218-4F2E-44A0-8E04-A0633D2811E6}"/>
              </a:ext>
            </a:extLst>
          </p:cNvPr>
          <p:cNvSpPr txBox="1"/>
          <p:nvPr/>
        </p:nvSpPr>
        <p:spPr>
          <a:xfrm>
            <a:off x="1775520" y="4949117"/>
            <a:ext cx="3024336" cy="588977"/>
          </a:xfrm>
          <a:prstGeom prst="rect">
            <a:avLst/>
          </a:prstGeom>
          <a:noFill/>
        </p:spPr>
        <p:txBody>
          <a:bodyPr wrap="square" rtlCol="0">
            <a:spAutoFit/>
          </a:bodyPr>
          <a:lstStyle/>
          <a:p>
            <a:endParaRPr lang="zh-CN" altLang="en-US"/>
          </a:p>
        </p:txBody>
      </p:sp>
      <p:sp>
        <p:nvSpPr>
          <p:cNvPr id="7" name="文本框 6">
            <a:extLst>
              <a:ext uri="{FF2B5EF4-FFF2-40B4-BE49-F238E27FC236}">
                <a16:creationId xmlns:a16="http://schemas.microsoft.com/office/drawing/2014/main" id="{63EEBA34-46FE-4602-BAF5-8D5D726F4CA9}"/>
              </a:ext>
            </a:extLst>
          </p:cNvPr>
          <p:cNvSpPr txBox="1"/>
          <p:nvPr/>
        </p:nvSpPr>
        <p:spPr>
          <a:xfrm>
            <a:off x="1775520" y="2879841"/>
            <a:ext cx="2776686" cy="2246769"/>
          </a:xfrm>
          <a:prstGeom prst="rect">
            <a:avLst/>
          </a:prstGeom>
          <a:noFill/>
        </p:spPr>
        <p:txBody>
          <a:bodyPr wrap="square" rtlCol="0">
            <a:spAutoFit/>
          </a:bodyPr>
          <a:lstStyle/>
          <a:p>
            <a:pPr marL="285750" indent="-285750">
              <a:buFont typeface="Wingdings" panose="05000000000000000000" pitchFamily="2" charset="2"/>
              <a:buChar char="u"/>
            </a:pPr>
            <a:r>
              <a:rPr lang="zh-CN" altLang="en-US" sz="1600">
                <a:latin typeface="+mj-ea"/>
                <a:ea typeface="+mj-ea"/>
              </a:rPr>
              <a:t>步态笨拙</a:t>
            </a:r>
            <a:endParaRPr lang="en-US" altLang="zh-CN" sz="1600">
              <a:latin typeface="+mj-ea"/>
              <a:ea typeface="+mj-ea"/>
            </a:endParaRPr>
          </a:p>
          <a:p>
            <a:pPr marL="285750" indent="-285750">
              <a:buFont typeface="Wingdings" panose="05000000000000000000" pitchFamily="2" charset="2"/>
              <a:buChar char="u"/>
            </a:pPr>
            <a:r>
              <a:rPr lang="zh-CN" altLang="en-US" sz="1600">
                <a:latin typeface="+mj-ea"/>
                <a:ea typeface="+mj-ea"/>
              </a:rPr>
              <a:t>食欲忽然下降</a:t>
            </a:r>
            <a:endParaRPr lang="en-US" altLang="zh-CN" sz="1600">
              <a:latin typeface="+mj-ea"/>
              <a:ea typeface="+mj-ea"/>
            </a:endParaRPr>
          </a:p>
          <a:p>
            <a:pPr marL="285750" indent="-285750">
              <a:buFont typeface="Wingdings" panose="05000000000000000000" pitchFamily="2" charset="2"/>
              <a:buChar char="u"/>
            </a:pPr>
            <a:r>
              <a:rPr lang="zh-CN" altLang="en-US" sz="1600">
                <a:latin typeface="+mj-ea"/>
                <a:ea typeface="+mj-ea"/>
              </a:rPr>
              <a:t>排便频率小于</a:t>
            </a:r>
            <a:r>
              <a:rPr lang="en-US" altLang="zh-CN" sz="1600">
                <a:latin typeface="+mj-ea"/>
                <a:ea typeface="+mj-ea"/>
              </a:rPr>
              <a:t>3</a:t>
            </a:r>
            <a:r>
              <a:rPr lang="zh-CN" altLang="en-US" sz="1600">
                <a:latin typeface="+mj-ea"/>
                <a:ea typeface="+mj-ea"/>
              </a:rPr>
              <a:t>次</a:t>
            </a:r>
            <a:r>
              <a:rPr lang="en-US" altLang="zh-CN" sz="1600">
                <a:latin typeface="+mj-ea"/>
                <a:ea typeface="+mj-ea"/>
              </a:rPr>
              <a:t>/</a:t>
            </a:r>
            <a:r>
              <a:rPr lang="zh-CN" altLang="en-US" sz="1600">
                <a:latin typeface="+mj-ea"/>
                <a:ea typeface="+mj-ea"/>
              </a:rPr>
              <a:t>周</a:t>
            </a:r>
            <a:endParaRPr lang="en-US" altLang="zh-CN" sz="1600">
              <a:latin typeface="+mj-ea"/>
              <a:ea typeface="+mj-ea"/>
            </a:endParaRPr>
          </a:p>
          <a:p>
            <a:pPr marL="285750" indent="-285750">
              <a:buFont typeface="Wingdings" panose="05000000000000000000" pitchFamily="2" charset="2"/>
              <a:buChar char="u"/>
            </a:pPr>
            <a:r>
              <a:rPr lang="zh-CN" altLang="en-US" sz="1600">
                <a:latin typeface="+mj-ea"/>
                <a:ea typeface="+mj-ea"/>
              </a:rPr>
              <a:t>呕吐</a:t>
            </a:r>
            <a:endParaRPr lang="en-US" altLang="zh-CN" sz="1600">
              <a:latin typeface="+mj-ea"/>
              <a:ea typeface="+mj-ea"/>
            </a:endParaRPr>
          </a:p>
          <a:p>
            <a:pPr marL="285750" indent="-285750">
              <a:buFont typeface="Wingdings" panose="05000000000000000000" pitchFamily="2" charset="2"/>
              <a:buChar char="u"/>
            </a:pPr>
            <a:r>
              <a:rPr lang="zh-CN" altLang="en-US" sz="1600">
                <a:latin typeface="+mj-ea"/>
                <a:ea typeface="+mj-ea"/>
              </a:rPr>
              <a:t>老呆在猫砂盆里</a:t>
            </a:r>
            <a:endParaRPr lang="en-US" altLang="zh-CN" sz="1600">
              <a:latin typeface="+mj-ea"/>
              <a:ea typeface="+mj-ea"/>
            </a:endParaRPr>
          </a:p>
          <a:p>
            <a:pPr marL="285750" indent="-285750">
              <a:buFont typeface="Wingdings" panose="05000000000000000000" pitchFamily="2" charset="2"/>
              <a:buChar char="u"/>
            </a:pPr>
            <a:r>
              <a:rPr lang="zh-CN" altLang="en-US" sz="1600">
                <a:latin typeface="+mj-ea"/>
                <a:ea typeface="+mj-ea"/>
              </a:rPr>
              <a:t>拉稀屎、水便</a:t>
            </a:r>
            <a:endParaRPr lang="en-US" altLang="zh-CN" sz="1600">
              <a:latin typeface="+mj-ea"/>
              <a:ea typeface="+mj-ea"/>
            </a:endParaRPr>
          </a:p>
          <a:p>
            <a:pPr marL="285750" indent="-285750">
              <a:buFont typeface="Wingdings" panose="05000000000000000000" pitchFamily="2" charset="2"/>
              <a:buChar char="u"/>
            </a:pPr>
            <a:r>
              <a:rPr lang="zh-CN" altLang="en-US" sz="1600">
                <a:latin typeface="+mj-ea"/>
                <a:ea typeface="+mj-ea"/>
              </a:rPr>
              <a:t>大便比以前更为干燥</a:t>
            </a:r>
            <a:endParaRPr lang="en-US" altLang="zh-CN" sz="1600">
              <a:latin typeface="+mj-ea"/>
              <a:ea typeface="+mj-ea"/>
            </a:endParaRPr>
          </a:p>
          <a:p>
            <a:r>
              <a:rPr lang="zh-CN" altLang="en-US" sz="1200">
                <a:latin typeface="+mj-ea"/>
                <a:ea typeface="+mj-ea"/>
              </a:rPr>
              <a:t>  （注意，吃肉的猫大便本来就干）</a:t>
            </a:r>
            <a:endParaRPr lang="en-US" altLang="zh-CN" sz="1200">
              <a:latin typeface="+mj-ea"/>
              <a:ea typeface="+mj-ea"/>
            </a:endParaRPr>
          </a:p>
          <a:p>
            <a:pPr marL="285750" indent="-285750">
              <a:buFont typeface="Wingdings" panose="05000000000000000000" pitchFamily="2" charset="2"/>
              <a:buChar char="u"/>
            </a:pPr>
            <a:endParaRPr lang="en-US" altLang="zh-CN" sz="1600">
              <a:solidFill>
                <a:srgbClr val="C00000"/>
              </a:solidFill>
              <a:latin typeface="+mj-ea"/>
              <a:ea typeface="+mj-ea"/>
            </a:endParaRPr>
          </a:p>
        </p:txBody>
      </p:sp>
      <p:sp>
        <p:nvSpPr>
          <p:cNvPr id="2" name="矩形 1">
            <a:extLst>
              <a:ext uri="{FF2B5EF4-FFF2-40B4-BE49-F238E27FC236}">
                <a16:creationId xmlns:a16="http://schemas.microsoft.com/office/drawing/2014/main" id="{2CEE2396-1540-4707-8AA7-2A4EC961424D}"/>
              </a:ext>
            </a:extLst>
          </p:cNvPr>
          <p:cNvSpPr/>
          <p:nvPr/>
        </p:nvSpPr>
        <p:spPr>
          <a:xfrm>
            <a:off x="1771775" y="2331936"/>
            <a:ext cx="1415772" cy="461665"/>
          </a:xfrm>
          <a:prstGeom prst="rect">
            <a:avLst/>
          </a:prstGeom>
        </p:spPr>
        <p:txBody>
          <a:bodyPr wrap="none">
            <a:spAutoFit/>
          </a:bodyPr>
          <a:lstStyle/>
          <a:p>
            <a:r>
              <a:rPr lang="zh-CN" altLang="en-US" sz="2400" b="1">
                <a:effectLst>
                  <a:outerShdw blurRad="38100" dist="38100" dir="2700000" algn="tl">
                    <a:srgbClr val="000000">
                      <a:alpha val="43137"/>
                    </a:srgbClr>
                  </a:outerShdw>
                </a:effectLst>
                <a:latin typeface="+mj-ea"/>
                <a:ea typeface="+mj-ea"/>
              </a:rPr>
              <a:t>发现便秘</a:t>
            </a:r>
            <a:endParaRPr lang="zh-CN" altLang="en-US" sz="2400">
              <a:effectLst>
                <a:outerShdw blurRad="38100" dist="38100" dir="2700000" algn="tl">
                  <a:srgbClr val="000000">
                    <a:alpha val="43137"/>
                  </a:srgbClr>
                </a:outerShdw>
              </a:effectLst>
              <a:latin typeface="+mj-ea"/>
              <a:ea typeface="+mj-ea"/>
            </a:endParaRPr>
          </a:p>
        </p:txBody>
      </p:sp>
      <p:pic>
        <p:nvPicPr>
          <p:cNvPr id="8" name="图片 7">
            <a:extLst>
              <a:ext uri="{FF2B5EF4-FFF2-40B4-BE49-F238E27FC236}">
                <a16:creationId xmlns:a16="http://schemas.microsoft.com/office/drawing/2014/main" id="{51A9CA6A-5A6F-45D2-8D8B-C8230E6DC41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90361" y="2993146"/>
            <a:ext cx="1859191" cy="1423811"/>
          </a:xfrm>
          <a:prstGeom prst="rect">
            <a:avLst/>
          </a:prstGeom>
        </p:spPr>
      </p:pic>
      <p:sp>
        <p:nvSpPr>
          <p:cNvPr id="9" name="文本框 8">
            <a:extLst>
              <a:ext uri="{FF2B5EF4-FFF2-40B4-BE49-F238E27FC236}">
                <a16:creationId xmlns:a16="http://schemas.microsoft.com/office/drawing/2014/main" id="{879A4F16-3400-46CD-8BCC-D0E6795CA1EC}"/>
              </a:ext>
            </a:extLst>
          </p:cNvPr>
          <p:cNvSpPr txBox="1"/>
          <p:nvPr/>
        </p:nvSpPr>
        <p:spPr>
          <a:xfrm>
            <a:off x="8875739" y="4487452"/>
            <a:ext cx="2088434" cy="923330"/>
          </a:xfrm>
          <a:prstGeom prst="rect">
            <a:avLst/>
          </a:prstGeom>
          <a:noFill/>
        </p:spPr>
        <p:txBody>
          <a:bodyPr wrap="square" rtlCol="0">
            <a:spAutoFit/>
          </a:bodyPr>
          <a:lstStyle/>
          <a:p>
            <a:r>
              <a:rPr lang="zh-CN" altLang="en-US" b="1">
                <a:solidFill>
                  <a:srgbClr val="C00000"/>
                </a:solidFill>
                <a:effectLst>
                  <a:outerShdw blurRad="38100" dist="38100" dir="2700000" algn="tl">
                    <a:srgbClr val="000000">
                      <a:alpha val="43137"/>
                    </a:srgbClr>
                  </a:outerShdw>
                </a:effectLst>
                <a:latin typeface="+mj-ea"/>
                <a:ea typeface="+mj-ea"/>
              </a:rPr>
              <a:t>不要给猫使用磷酸钠盐灌肠，可能导致生命危险！</a:t>
            </a:r>
          </a:p>
        </p:txBody>
      </p:sp>
      <p:sp>
        <p:nvSpPr>
          <p:cNvPr id="10" name="矩形 9">
            <a:extLst>
              <a:ext uri="{FF2B5EF4-FFF2-40B4-BE49-F238E27FC236}">
                <a16:creationId xmlns:a16="http://schemas.microsoft.com/office/drawing/2014/main" id="{61B89F8A-79EB-408F-B723-E50575ADE002}"/>
              </a:ext>
            </a:extLst>
          </p:cNvPr>
          <p:cNvSpPr/>
          <p:nvPr/>
        </p:nvSpPr>
        <p:spPr>
          <a:xfrm>
            <a:off x="5557414" y="5243605"/>
            <a:ext cx="2656496" cy="584775"/>
          </a:xfrm>
          <a:prstGeom prst="rect">
            <a:avLst/>
          </a:prstGeom>
        </p:spPr>
        <p:txBody>
          <a:bodyPr wrap="none">
            <a:spAutoFit/>
          </a:bodyPr>
          <a:lstStyle/>
          <a:p>
            <a:r>
              <a:rPr lang="zh-CN" altLang="en-US" sz="3200" b="1">
                <a:solidFill>
                  <a:schemeClr val="tx1">
                    <a:lumMod val="85000"/>
                    <a:lumOff val="15000"/>
                  </a:schemeClr>
                </a:solidFill>
                <a:effectLst>
                  <a:outerShdw blurRad="38100" dist="38100" dir="2700000" algn="tl">
                    <a:srgbClr val="000000">
                      <a:alpha val="43137"/>
                    </a:srgbClr>
                  </a:outerShdw>
                </a:effectLst>
                <a:latin typeface="+mj-ea"/>
                <a:ea typeface="+mj-ea"/>
              </a:rPr>
              <a:t>严重便秘救急</a:t>
            </a:r>
          </a:p>
        </p:txBody>
      </p:sp>
      <p:sp>
        <p:nvSpPr>
          <p:cNvPr id="12" name="文本框 11">
            <a:extLst>
              <a:ext uri="{FF2B5EF4-FFF2-40B4-BE49-F238E27FC236}">
                <a16:creationId xmlns:a16="http://schemas.microsoft.com/office/drawing/2014/main" id="{17D89E8F-685D-4530-AE46-BE54570DB197}"/>
              </a:ext>
            </a:extLst>
          </p:cNvPr>
          <p:cNvSpPr txBox="1"/>
          <p:nvPr/>
        </p:nvSpPr>
        <p:spPr>
          <a:xfrm>
            <a:off x="5241430" y="3035564"/>
            <a:ext cx="3293318" cy="2308324"/>
          </a:xfrm>
          <a:prstGeom prst="rect">
            <a:avLst/>
          </a:prstGeom>
          <a:noFill/>
        </p:spPr>
        <p:txBody>
          <a:bodyPr wrap="square" rtlCol="0">
            <a:spAutoFit/>
          </a:bodyPr>
          <a:lstStyle/>
          <a:p>
            <a:pPr marL="285750" indent="-285750">
              <a:buFont typeface="Wingdings" panose="05000000000000000000" pitchFamily="2" charset="2"/>
              <a:buChar char="ü"/>
            </a:pPr>
            <a:r>
              <a:rPr lang="zh-CN" altLang="en-US">
                <a:latin typeface="+mn-ea"/>
                <a:ea typeface="+mn-ea"/>
              </a:rPr>
              <a:t>药店购买液体石蜡灌肠</a:t>
            </a:r>
            <a:endParaRPr lang="en-US" altLang="zh-CN">
              <a:latin typeface="+mn-ea"/>
              <a:ea typeface="+mn-ea"/>
            </a:endParaRPr>
          </a:p>
          <a:p>
            <a:pPr marL="285750" indent="-285750">
              <a:buFont typeface="Wingdings" panose="05000000000000000000" pitchFamily="2" charset="2"/>
              <a:buChar char="ü"/>
            </a:pPr>
            <a:r>
              <a:rPr lang="zh-CN" altLang="en-US">
                <a:latin typeface="+mn-ea"/>
                <a:ea typeface="+mn-ea"/>
              </a:rPr>
              <a:t>温水加蜂蜜</a:t>
            </a:r>
            <a:r>
              <a:rPr lang="en-US" altLang="zh-CN">
                <a:latin typeface="+mn-ea"/>
                <a:ea typeface="+mn-ea"/>
              </a:rPr>
              <a:t>1ml</a:t>
            </a:r>
            <a:r>
              <a:rPr lang="zh-CN" altLang="en-US">
                <a:latin typeface="+mn-ea"/>
                <a:ea typeface="+mn-ea"/>
              </a:rPr>
              <a:t>灌肠</a:t>
            </a:r>
            <a:endParaRPr lang="en-US" altLang="zh-CN">
              <a:latin typeface="+mn-ea"/>
              <a:ea typeface="+mn-ea"/>
            </a:endParaRPr>
          </a:p>
          <a:p>
            <a:pPr marL="285750" indent="-285750">
              <a:buFont typeface="Wingdings" panose="05000000000000000000" pitchFamily="2" charset="2"/>
              <a:buChar char="ü"/>
            </a:pPr>
            <a:r>
              <a:rPr lang="zh-CN" altLang="en-US">
                <a:latin typeface="+mn-ea"/>
                <a:ea typeface="+mn-ea"/>
              </a:rPr>
              <a:t>开塞露灌肠</a:t>
            </a:r>
            <a:r>
              <a:rPr lang="zh-CN" altLang="en-US" sz="1000">
                <a:latin typeface="+mn-ea"/>
                <a:ea typeface="+mn-ea"/>
              </a:rPr>
              <a:t>（较为强力，请去医院处理）</a:t>
            </a:r>
            <a:endParaRPr lang="en-US" altLang="zh-CN" sz="1000">
              <a:latin typeface="+mn-ea"/>
              <a:ea typeface="+mn-ea"/>
            </a:endParaRPr>
          </a:p>
          <a:p>
            <a:pPr marL="285750" indent="-285750">
              <a:buFont typeface="Wingdings" panose="05000000000000000000" pitchFamily="2" charset="2"/>
              <a:buChar char="ü"/>
            </a:pPr>
            <a:r>
              <a:rPr lang="zh-CN" altLang="en-US">
                <a:latin typeface="+mn-ea"/>
                <a:ea typeface="+mn-ea"/>
              </a:rPr>
              <a:t>乳果糖 </a:t>
            </a:r>
            <a:r>
              <a:rPr lang="en-US" altLang="zh-CN">
                <a:latin typeface="+mn-ea"/>
                <a:ea typeface="+mn-ea"/>
              </a:rPr>
              <a:t>0.5ml/kg </a:t>
            </a:r>
            <a:r>
              <a:rPr lang="zh-CN" altLang="en-US">
                <a:latin typeface="+mn-ea"/>
                <a:ea typeface="+mn-ea"/>
              </a:rPr>
              <a:t>一天两次或者</a:t>
            </a:r>
            <a:r>
              <a:rPr lang="en-US" altLang="zh-CN">
                <a:latin typeface="+mn-ea"/>
                <a:ea typeface="+mn-ea"/>
              </a:rPr>
              <a:t>1ml/kg</a:t>
            </a:r>
            <a:r>
              <a:rPr lang="zh-CN" altLang="en-US">
                <a:latin typeface="+mn-ea"/>
                <a:ea typeface="+mn-ea"/>
              </a:rPr>
              <a:t>一天一次；可以口服也可以灌肠。</a:t>
            </a:r>
            <a:endParaRPr lang="en-US" altLang="zh-CN">
              <a:latin typeface="+mn-ea"/>
              <a:ea typeface="+mn-ea"/>
            </a:endParaRPr>
          </a:p>
          <a:p>
            <a:pPr marL="285750" indent="-285750">
              <a:buFont typeface="Wingdings" panose="05000000000000000000" pitchFamily="2" charset="2"/>
              <a:buChar char="ü"/>
            </a:pPr>
            <a:r>
              <a:rPr lang="zh-CN" altLang="en-US">
                <a:latin typeface="+mn-ea"/>
                <a:ea typeface="+mn-ea"/>
              </a:rPr>
              <a:t>补液</a:t>
            </a:r>
            <a:endParaRPr lang="en-US" altLang="zh-CN">
              <a:latin typeface="+mn-ea"/>
              <a:ea typeface="+mn-ea"/>
            </a:endParaRPr>
          </a:p>
          <a:p>
            <a:endParaRPr lang="en-US" altLang="zh-CN"/>
          </a:p>
        </p:txBody>
      </p:sp>
    </p:spTree>
    <p:extLst>
      <p:ext uri="{BB962C8B-B14F-4D97-AF65-F5344CB8AC3E}">
        <p14:creationId xmlns:p14="http://schemas.microsoft.com/office/powerpoint/2010/main" val="168767944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p:cNvPr>
          <p:cNvGrpSpPr/>
          <p:nvPr/>
        </p:nvGrpSpPr>
        <p:grpSpPr>
          <a:xfrm>
            <a:off x="4007769" y="534971"/>
            <a:ext cx="8162478" cy="1178915"/>
            <a:chOff x="7629599" y="187644"/>
            <a:chExt cx="4676739" cy="1178915"/>
          </a:xfrm>
          <a:effectLst>
            <a:outerShdw blurRad="50800" dist="38100" dir="5400000" algn="t" rotWithShape="0">
              <a:prstClr val="black">
                <a:alpha val="40000"/>
              </a:prstClr>
            </a:outerShdw>
          </a:effectLst>
        </p:grpSpPr>
        <p:sp>
          <p:nvSpPr>
            <p:cNvPr id="27" name="箭头: 五边形 6">
              <a:extLst/>
            </p:cNvPr>
            <p:cNvSpPr/>
            <p:nvPr/>
          </p:nvSpPr>
          <p:spPr>
            <a:xfrm flipH="1">
              <a:off x="7629599" y="404664"/>
              <a:ext cx="4676739"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7818029" y="187644"/>
              <a:ext cx="4436286" cy="1110187"/>
              <a:chOff x="-1007275" y="2529717"/>
              <a:chExt cx="5225356" cy="1552439"/>
            </a:xfrm>
          </p:grpSpPr>
          <p:sp>
            <p:nvSpPr>
              <p:cNvPr id="29" name="文本框 13">
                <a:extLst/>
              </p:cNvPr>
              <p:cNvSpPr txBox="1">
                <a:spLocks noChangeArrowheads="1"/>
              </p:cNvSpPr>
              <p:nvPr/>
            </p:nvSpPr>
            <p:spPr bwMode="auto">
              <a:xfrm>
                <a:off x="-1007275" y="2529717"/>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714609" y="3048121"/>
                <a:ext cx="3503472" cy="81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latin typeface="+mn-lt"/>
                    <a:ea typeface="+mn-ea"/>
                    <a:cs typeface="+mn-ea"/>
                    <a:sym typeface="+mn-lt"/>
                  </a:rPr>
                  <a:t>猫慢性肾病治疗：便秘问题</a:t>
                </a:r>
                <a:endParaRPr lang="en-US" altLang="zh-CN" sz="2400" b="1">
                  <a:solidFill>
                    <a:srgbClr val="010101"/>
                  </a:solidFill>
                  <a:latin typeface="+mn-lt"/>
                  <a:ea typeface="+mn-ea"/>
                  <a:cs typeface="+mn-ea"/>
                  <a:sym typeface="+mn-lt"/>
                </a:endParaRPr>
              </a:p>
            </p:txBody>
          </p:sp>
          <p:cxnSp>
            <p:nvCxnSpPr>
              <p:cNvPr id="31" name="直接连接符 30">
                <a:extLst/>
              </p:cNvPr>
              <p:cNvCxnSpPr>
                <a:cxnSpLocks/>
              </p:cNvCxnSpPr>
              <p:nvPr/>
            </p:nvCxnSpPr>
            <p:spPr>
              <a:xfrm flipH="1">
                <a:off x="-442778" y="3180446"/>
                <a:ext cx="468592" cy="706937"/>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174743" y="3436583"/>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cxnSp>
        <p:nvCxnSpPr>
          <p:cNvPr id="23" name="直接连接符 22">
            <a:extLst>
              <a:ext uri="{FF2B5EF4-FFF2-40B4-BE49-F238E27FC236}">
                <a16:creationId xmlns:a16="http://schemas.microsoft.com/office/drawing/2014/main" id="{A6ED08FA-2943-4D08-91B5-062B4352A4BC}"/>
              </a:ext>
            </a:extLst>
          </p:cNvPr>
          <p:cNvCxnSpPr/>
          <p:nvPr/>
        </p:nvCxnSpPr>
        <p:spPr>
          <a:xfrm flipH="1">
            <a:off x="5501225" y="3275174"/>
            <a:ext cx="19050" cy="1079500"/>
          </a:xfrm>
          <a:prstGeom prst="line">
            <a:avLst/>
          </a:prstGeom>
          <a:ln w="50800">
            <a:solidFill>
              <a:srgbClr val="4F4F4F"/>
            </a:soli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7B608218-4F2E-44A0-8E04-A0633D2811E6}"/>
              </a:ext>
            </a:extLst>
          </p:cNvPr>
          <p:cNvSpPr txBox="1"/>
          <p:nvPr/>
        </p:nvSpPr>
        <p:spPr>
          <a:xfrm>
            <a:off x="1775520" y="4949117"/>
            <a:ext cx="3024336" cy="588977"/>
          </a:xfrm>
          <a:prstGeom prst="rect">
            <a:avLst/>
          </a:prstGeom>
          <a:noFill/>
        </p:spPr>
        <p:txBody>
          <a:bodyPr wrap="square" rtlCol="0">
            <a:spAutoFit/>
          </a:bodyPr>
          <a:lstStyle/>
          <a:p>
            <a:endParaRPr lang="zh-CN" altLang="en-US"/>
          </a:p>
        </p:txBody>
      </p:sp>
      <p:sp>
        <p:nvSpPr>
          <p:cNvPr id="10" name="矩形 9">
            <a:extLst>
              <a:ext uri="{FF2B5EF4-FFF2-40B4-BE49-F238E27FC236}">
                <a16:creationId xmlns:a16="http://schemas.microsoft.com/office/drawing/2014/main" id="{61B89F8A-79EB-408F-B723-E50575ADE002}"/>
              </a:ext>
            </a:extLst>
          </p:cNvPr>
          <p:cNvSpPr/>
          <p:nvPr/>
        </p:nvSpPr>
        <p:spPr>
          <a:xfrm>
            <a:off x="479376" y="3091649"/>
            <a:ext cx="4896544" cy="1446550"/>
          </a:xfrm>
          <a:prstGeom prst="rect">
            <a:avLst/>
          </a:prstGeom>
        </p:spPr>
        <p:txBody>
          <a:bodyPr wrap="square">
            <a:spAutoFit/>
          </a:bodyPr>
          <a:lstStyle/>
          <a:p>
            <a:r>
              <a:rPr lang="zh-CN" altLang="en-US" sz="4400" b="1">
                <a:solidFill>
                  <a:schemeClr val="tx1">
                    <a:lumMod val="85000"/>
                    <a:lumOff val="15000"/>
                  </a:schemeClr>
                </a:solidFill>
                <a:effectLst>
                  <a:outerShdw blurRad="38100" dist="38100" dir="2700000" algn="tl">
                    <a:srgbClr val="000000">
                      <a:alpha val="43137"/>
                    </a:srgbClr>
                  </a:outerShdw>
                </a:effectLst>
                <a:latin typeface="宋体" panose="02010600030101010101" pitchFamily="2" charset="-122"/>
              </a:rPr>
              <a:t>如何对付病猫长期习惯性便秘？</a:t>
            </a:r>
          </a:p>
        </p:txBody>
      </p:sp>
      <p:sp>
        <p:nvSpPr>
          <p:cNvPr id="12" name="文本框 11">
            <a:extLst>
              <a:ext uri="{FF2B5EF4-FFF2-40B4-BE49-F238E27FC236}">
                <a16:creationId xmlns:a16="http://schemas.microsoft.com/office/drawing/2014/main" id="{17D89E8F-685D-4530-AE46-BE54570DB197}"/>
              </a:ext>
            </a:extLst>
          </p:cNvPr>
          <p:cNvSpPr txBox="1"/>
          <p:nvPr/>
        </p:nvSpPr>
        <p:spPr>
          <a:xfrm>
            <a:off x="6023992" y="2145388"/>
            <a:ext cx="3528392" cy="5416868"/>
          </a:xfrm>
          <a:prstGeom prst="rect">
            <a:avLst/>
          </a:prstGeom>
          <a:noFill/>
        </p:spPr>
        <p:txBody>
          <a:bodyPr wrap="square" rtlCol="0">
            <a:spAutoFit/>
          </a:bodyPr>
          <a:lstStyle/>
          <a:p>
            <a:pPr marL="285750" indent="-285750">
              <a:buFont typeface="Wingdings" panose="05000000000000000000" pitchFamily="2" charset="2"/>
              <a:buChar char="ü"/>
            </a:pPr>
            <a:r>
              <a:rPr lang="zh-CN" altLang="en-US">
                <a:latin typeface="+mn-ea"/>
                <a:ea typeface="+mn-ea"/>
              </a:rPr>
              <a:t>多吃湿粮！也可以考虑皮下补液。化毛膏化毛片提供的油脂和纤维也可以对付便秘。</a:t>
            </a:r>
            <a:endParaRPr lang="en-US" altLang="zh-CN">
              <a:latin typeface="+mn-ea"/>
              <a:ea typeface="+mn-ea"/>
            </a:endParaRPr>
          </a:p>
          <a:p>
            <a:endParaRPr lang="en-US" altLang="zh-CN">
              <a:latin typeface="+mn-ea"/>
              <a:ea typeface="+mn-ea"/>
            </a:endParaRPr>
          </a:p>
          <a:p>
            <a:pPr marL="285750" indent="-285750">
              <a:buFont typeface="Wingdings" panose="05000000000000000000" pitchFamily="2" charset="2"/>
              <a:buChar char="ü"/>
            </a:pPr>
            <a:r>
              <a:rPr lang="zh-CN" altLang="en-US">
                <a:latin typeface="+mn-ea"/>
                <a:ea typeface="+mn-ea"/>
              </a:rPr>
              <a:t>如果有低血钾、高血钙，尽快治疗。</a:t>
            </a:r>
            <a:endParaRPr lang="en-US" altLang="zh-CN">
              <a:latin typeface="+mn-ea"/>
              <a:ea typeface="+mn-ea"/>
            </a:endParaRPr>
          </a:p>
          <a:p>
            <a:endParaRPr lang="en-US" altLang="zh-CN">
              <a:latin typeface="+mn-ea"/>
              <a:ea typeface="+mn-ea"/>
            </a:endParaRPr>
          </a:p>
          <a:p>
            <a:pPr marL="285750" indent="-285750">
              <a:buFont typeface="Wingdings" panose="05000000000000000000" pitchFamily="2" charset="2"/>
              <a:buChar char="ü"/>
            </a:pPr>
            <a:r>
              <a:rPr lang="zh-CN" altLang="en-US">
                <a:latin typeface="+mn-ea"/>
                <a:ea typeface="+mn-ea"/>
              </a:rPr>
              <a:t>增加纤维摄入，但没矫正脱水这么做会加剧病情。</a:t>
            </a:r>
            <a:endParaRPr lang="en-US" altLang="zh-CN">
              <a:latin typeface="+mn-ea"/>
              <a:ea typeface="+mn-ea"/>
            </a:endParaRPr>
          </a:p>
          <a:p>
            <a:pPr marL="285750" indent="-285750">
              <a:buFont typeface="Wingdings" panose="05000000000000000000" pitchFamily="2" charset="2"/>
              <a:buChar char="ü"/>
            </a:pPr>
            <a:endParaRPr lang="en-US" altLang="zh-CN">
              <a:latin typeface="+mn-ea"/>
              <a:ea typeface="+mn-ea"/>
            </a:endParaRPr>
          </a:p>
          <a:p>
            <a:pPr marL="285750" indent="-285750">
              <a:buFont typeface="Wingdings" panose="05000000000000000000" pitchFamily="2" charset="2"/>
              <a:buChar char="ü"/>
            </a:pPr>
            <a:r>
              <a:rPr lang="zh-CN" altLang="en-US" sz="2000" b="1">
                <a:latin typeface="+mn-ea"/>
                <a:ea typeface="+mn-ea"/>
              </a:rPr>
              <a:t>乳果糖 </a:t>
            </a:r>
            <a:endParaRPr lang="en-US" altLang="zh-CN" sz="2000" b="1">
              <a:latin typeface="+mn-ea"/>
              <a:ea typeface="+mn-ea"/>
            </a:endParaRPr>
          </a:p>
          <a:p>
            <a:pPr lvl="1"/>
            <a:r>
              <a:rPr lang="en-US" altLang="zh-CN" sz="1200">
                <a:latin typeface="+mn-ea"/>
                <a:ea typeface="+mn-ea"/>
              </a:rPr>
              <a:t>0.5ml/kg </a:t>
            </a:r>
            <a:r>
              <a:rPr lang="zh-CN" altLang="en-US" sz="1200">
                <a:latin typeface="+mn-ea"/>
                <a:ea typeface="+mn-ea"/>
              </a:rPr>
              <a:t>一天</a:t>
            </a:r>
            <a:r>
              <a:rPr lang="en-US" altLang="zh-CN" sz="1200">
                <a:latin typeface="+mn-ea"/>
                <a:ea typeface="+mn-ea"/>
              </a:rPr>
              <a:t>2-3</a:t>
            </a:r>
            <a:r>
              <a:rPr lang="zh-CN" altLang="en-US" sz="1200">
                <a:latin typeface="+mn-ea"/>
                <a:ea typeface="+mn-ea"/>
              </a:rPr>
              <a:t>次</a:t>
            </a:r>
            <a:endParaRPr lang="en-US" altLang="zh-CN" sz="1200">
              <a:latin typeface="+mn-ea"/>
              <a:ea typeface="+mn-ea"/>
            </a:endParaRPr>
          </a:p>
          <a:p>
            <a:endParaRPr lang="en-US" altLang="zh-CN">
              <a:latin typeface="+mn-ea"/>
              <a:ea typeface="+mn-ea"/>
            </a:endParaRPr>
          </a:p>
          <a:p>
            <a:pPr marL="285750" indent="-285750">
              <a:buFont typeface="Wingdings" panose="05000000000000000000" pitchFamily="2" charset="2"/>
              <a:buChar char="ü"/>
            </a:pPr>
            <a:r>
              <a:rPr lang="zh-CN" altLang="en-US" b="1">
                <a:latin typeface="+mn-ea"/>
                <a:ea typeface="+mn-ea"/>
              </a:rPr>
              <a:t>聚</a:t>
            </a:r>
            <a:r>
              <a:rPr lang="zh-CN" altLang="en-US" sz="2000" b="1">
                <a:latin typeface="+mn-ea"/>
                <a:ea typeface="+mn-ea"/>
              </a:rPr>
              <a:t>乙二醇</a:t>
            </a:r>
            <a:r>
              <a:rPr lang="en-US" altLang="zh-CN" sz="2000" b="1">
                <a:latin typeface="+mn-ea"/>
                <a:ea typeface="+mn-ea"/>
              </a:rPr>
              <a:t>4</a:t>
            </a:r>
            <a:r>
              <a:rPr lang="en-US" altLang="zh-CN" b="1">
                <a:latin typeface="+mn-ea"/>
                <a:ea typeface="+mn-ea"/>
              </a:rPr>
              <a:t>000</a:t>
            </a:r>
            <a:r>
              <a:rPr lang="zh-CN" altLang="en-US" b="1">
                <a:latin typeface="+mn-ea"/>
                <a:ea typeface="+mn-ea"/>
              </a:rPr>
              <a:t>散</a:t>
            </a:r>
            <a:endParaRPr lang="en-US" altLang="zh-CN" b="1">
              <a:latin typeface="+mn-ea"/>
              <a:ea typeface="+mn-ea"/>
            </a:endParaRPr>
          </a:p>
          <a:p>
            <a:pPr lvl="1"/>
            <a:r>
              <a:rPr lang="en-US" altLang="zh-CN" sz="1200">
                <a:latin typeface="+mn-ea"/>
                <a:ea typeface="+mn-ea"/>
              </a:rPr>
              <a:t>1/8</a:t>
            </a:r>
            <a:r>
              <a:rPr lang="zh-CN" altLang="en-US" sz="1200">
                <a:latin typeface="+mn-ea"/>
                <a:ea typeface="+mn-ea"/>
              </a:rPr>
              <a:t>茶勺（</a:t>
            </a:r>
            <a:r>
              <a:rPr lang="en-US" altLang="zh-CN" sz="1200">
                <a:latin typeface="+mn-ea"/>
                <a:ea typeface="+mn-ea"/>
              </a:rPr>
              <a:t>0.6ml</a:t>
            </a:r>
            <a:r>
              <a:rPr lang="zh-CN" altLang="en-US" sz="1200">
                <a:latin typeface="+mn-ea"/>
                <a:ea typeface="+mn-ea"/>
              </a:rPr>
              <a:t>）做成溶液一天一次，若三天无效则两次；依旧无效剂量加倍</a:t>
            </a:r>
            <a:endParaRPr lang="en-US" altLang="zh-CN" sz="1200">
              <a:latin typeface="+mn-ea"/>
              <a:ea typeface="+mn-ea"/>
            </a:endParaRPr>
          </a:p>
          <a:p>
            <a:pPr lvl="1"/>
            <a:endParaRPr lang="en-US" altLang="zh-CN" sz="1200">
              <a:latin typeface="+mn-ea"/>
              <a:ea typeface="+mn-ea"/>
            </a:endParaRPr>
          </a:p>
          <a:p>
            <a:pPr lvl="1"/>
            <a:endParaRPr lang="en-US" altLang="zh-CN" sz="1200">
              <a:latin typeface="+mn-ea"/>
              <a:ea typeface="+mn-ea"/>
            </a:endParaRPr>
          </a:p>
          <a:p>
            <a:pPr lvl="1"/>
            <a:endParaRPr lang="en-US" altLang="zh-CN" sz="1200">
              <a:latin typeface="+mn-ea"/>
              <a:ea typeface="+mn-ea"/>
            </a:endParaRPr>
          </a:p>
          <a:p>
            <a:pPr lvl="1"/>
            <a:endParaRPr lang="en-US" altLang="zh-CN">
              <a:latin typeface="+mn-ea"/>
              <a:ea typeface="+mn-ea"/>
            </a:endParaRPr>
          </a:p>
          <a:p>
            <a:pPr marL="285750" indent="-285750">
              <a:buFont typeface="Wingdings" panose="05000000000000000000" pitchFamily="2" charset="2"/>
              <a:buChar char="ü"/>
            </a:pPr>
            <a:endParaRPr lang="en-US" altLang="zh-CN"/>
          </a:p>
        </p:txBody>
      </p:sp>
      <p:pic>
        <p:nvPicPr>
          <p:cNvPr id="4" name="图片 3">
            <a:extLst>
              <a:ext uri="{FF2B5EF4-FFF2-40B4-BE49-F238E27FC236}">
                <a16:creationId xmlns:a16="http://schemas.microsoft.com/office/drawing/2014/main" id="{E591822A-0622-4292-AEBC-6C6FB810FD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69945" y="2852936"/>
            <a:ext cx="2613150" cy="2613150"/>
          </a:xfrm>
          <a:prstGeom prst="rect">
            <a:avLst/>
          </a:prstGeom>
        </p:spPr>
      </p:pic>
    </p:spTree>
    <p:extLst>
      <p:ext uri="{BB962C8B-B14F-4D97-AF65-F5344CB8AC3E}">
        <p14:creationId xmlns:p14="http://schemas.microsoft.com/office/powerpoint/2010/main" val="59560408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p:cNvPr>
          <p:cNvGrpSpPr/>
          <p:nvPr/>
        </p:nvGrpSpPr>
        <p:grpSpPr>
          <a:xfrm>
            <a:off x="4850109" y="678004"/>
            <a:ext cx="7320137" cy="1035882"/>
            <a:chOff x="8112223" y="330677"/>
            <a:chExt cx="4194115" cy="1035882"/>
          </a:xfrm>
          <a:effectLst>
            <a:outerShdw blurRad="50800" dist="38100" dir="5400000" algn="t" rotWithShape="0">
              <a:prstClr val="black">
                <a:alpha val="40000"/>
              </a:prstClr>
            </a:outerShdw>
          </a:effectLst>
        </p:grpSpPr>
        <p:sp>
          <p:nvSpPr>
            <p:cNvPr id="27"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8281096" y="330677"/>
              <a:ext cx="3973218" cy="985057"/>
              <a:chOff x="-461843" y="2729730"/>
              <a:chExt cx="4679923" cy="1377463"/>
            </a:xfrm>
          </p:grpSpPr>
          <p:sp>
            <p:nvSpPr>
              <p:cNvPr id="29"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1355254" y="3048121"/>
                <a:ext cx="2862826" cy="81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latin typeface="+mn-lt"/>
                    <a:ea typeface="+mn-ea"/>
                    <a:cs typeface="+mn-ea"/>
                    <a:sym typeface="+mn-lt"/>
                  </a:rPr>
                  <a:t>猫慢性肾病：纤维补充</a:t>
                </a:r>
                <a:endParaRPr lang="en-US" altLang="zh-CN" sz="2400" b="1">
                  <a:solidFill>
                    <a:srgbClr val="010101"/>
                  </a:solidFill>
                  <a:latin typeface="+mn-lt"/>
                  <a:ea typeface="+mn-ea"/>
                  <a:cs typeface="+mn-ea"/>
                  <a:sym typeface="+mn-lt"/>
                </a:endParaRPr>
              </a:p>
            </p:txBody>
          </p:sp>
          <p:cxnSp>
            <p:nvCxnSpPr>
              <p:cNvPr id="31" name="直接连接符 30">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506334" y="3461620"/>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grpSp>
        <p:nvGrpSpPr>
          <p:cNvPr id="37893" name="组合 1"/>
          <p:cNvGrpSpPr>
            <a:grpSpLocks/>
          </p:cNvGrpSpPr>
          <p:nvPr/>
        </p:nvGrpSpPr>
        <p:grpSpPr bwMode="auto">
          <a:xfrm>
            <a:off x="1100977" y="2564904"/>
            <a:ext cx="4865878" cy="2973190"/>
            <a:chOff x="6931323" y="2608336"/>
            <a:chExt cx="4500246" cy="2972408"/>
          </a:xfrm>
        </p:grpSpPr>
        <p:grpSp>
          <p:nvGrpSpPr>
            <p:cNvPr id="37894" name="组合 14"/>
            <p:cNvGrpSpPr>
              <a:grpSpLocks/>
            </p:cNvGrpSpPr>
            <p:nvPr/>
          </p:nvGrpSpPr>
          <p:grpSpPr bwMode="auto">
            <a:xfrm>
              <a:off x="6931323" y="2608336"/>
              <a:ext cx="4500246" cy="718135"/>
              <a:chOff x="3936148" y="1692543"/>
              <a:chExt cx="4500246" cy="718135"/>
            </a:xfrm>
          </p:grpSpPr>
          <p:sp>
            <p:nvSpPr>
              <p:cNvPr id="55" name="文本框 66">
                <a:extLst/>
              </p:cNvPr>
              <p:cNvSpPr txBox="1">
                <a:spLocks noChangeArrowheads="1"/>
              </p:cNvSpPr>
              <p:nvPr/>
            </p:nvSpPr>
            <p:spPr bwMode="auto">
              <a:xfrm>
                <a:off x="3966308" y="1692543"/>
                <a:ext cx="4258964" cy="461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spcBef>
                    <a:spcPts val="0"/>
                  </a:spcBef>
                  <a:spcAft>
                    <a:spcPts val="0"/>
                  </a:spcAft>
                  <a:defRPr/>
                </a:pPr>
                <a:endParaRPr lang="zh-CN" altLang="en-US" sz="2400" b="1" kern="0">
                  <a:solidFill>
                    <a:srgbClr val="4F4F4F"/>
                  </a:solidFill>
                  <a:latin typeface="+mn-lt"/>
                  <a:ea typeface="+mn-ea"/>
                  <a:cs typeface="+mn-ea"/>
                  <a:sym typeface="+mn-lt"/>
                </a:endParaRPr>
              </a:p>
            </p:txBody>
          </p:sp>
          <p:sp>
            <p:nvSpPr>
              <p:cNvPr id="56" name="矩形 55">
                <a:extLst/>
              </p:cNvPr>
              <p:cNvSpPr/>
              <p:nvPr/>
            </p:nvSpPr>
            <p:spPr>
              <a:xfrm>
                <a:off x="3936148" y="2133752"/>
                <a:ext cx="4500246" cy="276926"/>
              </a:xfrm>
              <a:prstGeom prst="rect">
                <a:avLst/>
              </a:prstGeom>
            </p:spPr>
            <p:txBody>
              <a:bodyPr>
                <a:spAutoFit/>
              </a:bodyPr>
              <a:lstStyle/>
              <a:p>
                <a:pPr eaLnBrk="1" fontAlgn="auto" hangingPunct="1">
                  <a:spcBef>
                    <a:spcPts val="0"/>
                  </a:spcBef>
                  <a:spcAft>
                    <a:spcPts val="0"/>
                  </a:spcAft>
                  <a:defRPr/>
                </a:pPr>
                <a:endParaRPr lang="zh-CN" altLang="en-US" sz="1200" kern="0">
                  <a:solidFill>
                    <a:srgbClr val="4F4F4F"/>
                  </a:solidFill>
                  <a:latin typeface="+mn-lt"/>
                  <a:ea typeface="+mn-ea"/>
                  <a:cs typeface="+mn-ea"/>
                  <a:sym typeface="+mn-lt"/>
                </a:endParaRPr>
              </a:p>
            </p:txBody>
          </p:sp>
        </p:grpSp>
        <p:sp>
          <p:nvSpPr>
            <p:cNvPr id="53" name="矩形 3">
              <a:extLst/>
            </p:cNvPr>
            <p:cNvSpPr>
              <a:spLocks noChangeArrowheads="1"/>
            </p:cNvSpPr>
            <p:nvPr/>
          </p:nvSpPr>
          <p:spPr bwMode="auto">
            <a:xfrm>
              <a:off x="6931323" y="4487442"/>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sp>
          <p:nvSpPr>
            <p:cNvPr id="54" name="矩形 3">
              <a:extLst/>
            </p:cNvPr>
            <p:cNvSpPr>
              <a:spLocks noChangeArrowheads="1"/>
            </p:cNvSpPr>
            <p:nvPr/>
          </p:nvSpPr>
          <p:spPr bwMode="auto">
            <a:xfrm>
              <a:off x="6931323" y="5273048"/>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grpSp>
      <p:sp>
        <p:nvSpPr>
          <p:cNvPr id="19" name="文本框 18">
            <a:extLst>
              <a:ext uri="{FF2B5EF4-FFF2-40B4-BE49-F238E27FC236}">
                <a16:creationId xmlns:a16="http://schemas.microsoft.com/office/drawing/2014/main" id="{AEE01461-EC3B-414C-A38D-6413179E4729}"/>
              </a:ext>
            </a:extLst>
          </p:cNvPr>
          <p:cNvSpPr txBox="1"/>
          <p:nvPr/>
        </p:nvSpPr>
        <p:spPr>
          <a:xfrm>
            <a:off x="6479416" y="2691339"/>
            <a:ext cx="3600400" cy="2926486"/>
          </a:xfrm>
          <a:prstGeom prst="rect">
            <a:avLst/>
          </a:prstGeom>
          <a:noFill/>
        </p:spPr>
        <p:txBody>
          <a:bodyPr wrap="square" rtlCol="0">
            <a:spAutoFit/>
          </a:bodyPr>
          <a:lstStyle/>
          <a:p>
            <a:endParaRPr lang="zh-CN" altLang="en-US"/>
          </a:p>
        </p:txBody>
      </p:sp>
      <p:sp>
        <p:nvSpPr>
          <p:cNvPr id="5" name="文本框 4">
            <a:extLst>
              <a:ext uri="{FF2B5EF4-FFF2-40B4-BE49-F238E27FC236}">
                <a16:creationId xmlns:a16="http://schemas.microsoft.com/office/drawing/2014/main" id="{48D59AAB-31AD-4E45-A027-B78180DBC380}"/>
              </a:ext>
            </a:extLst>
          </p:cNvPr>
          <p:cNvSpPr txBox="1"/>
          <p:nvPr/>
        </p:nvSpPr>
        <p:spPr>
          <a:xfrm>
            <a:off x="1546685" y="4786828"/>
            <a:ext cx="3646613" cy="830997"/>
          </a:xfrm>
          <a:prstGeom prst="rect">
            <a:avLst/>
          </a:prstGeom>
          <a:noFill/>
        </p:spPr>
        <p:txBody>
          <a:bodyPr wrap="square" rtlCol="0">
            <a:spAutoFit/>
          </a:bodyPr>
          <a:lstStyle/>
          <a:p>
            <a:r>
              <a:rPr lang="en-US" altLang="zh-CN" sz="2400" b="1"/>
              <a:t>Now </a:t>
            </a:r>
            <a:r>
              <a:rPr lang="zh-CN" altLang="en-US" sz="2400" b="1"/>
              <a:t>洋车前子壳胶囊</a:t>
            </a:r>
            <a:r>
              <a:rPr lang="en-US" altLang="zh-CN" sz="2400" b="1"/>
              <a:t>500mg</a:t>
            </a:r>
            <a:r>
              <a:rPr lang="zh-CN" altLang="en-US" sz="2400" b="1"/>
              <a:t>版</a:t>
            </a:r>
            <a:endParaRPr lang="en-US" altLang="zh-CN" sz="1200">
              <a:latin typeface="+mj-ea"/>
              <a:ea typeface="+mj-ea"/>
            </a:endParaRPr>
          </a:p>
        </p:txBody>
      </p:sp>
      <p:sp>
        <p:nvSpPr>
          <p:cNvPr id="20" name="文本框 19">
            <a:extLst>
              <a:ext uri="{FF2B5EF4-FFF2-40B4-BE49-F238E27FC236}">
                <a16:creationId xmlns:a16="http://schemas.microsoft.com/office/drawing/2014/main" id="{D87A80B3-FA72-4CDE-A1FD-B5CE5EB3F44C}"/>
              </a:ext>
            </a:extLst>
          </p:cNvPr>
          <p:cNvSpPr txBox="1"/>
          <p:nvPr/>
        </p:nvSpPr>
        <p:spPr>
          <a:xfrm>
            <a:off x="5436193" y="2523036"/>
            <a:ext cx="6121195" cy="2585323"/>
          </a:xfrm>
          <a:prstGeom prst="rect">
            <a:avLst/>
          </a:prstGeom>
          <a:noFill/>
        </p:spPr>
        <p:txBody>
          <a:bodyPr wrap="square" rtlCol="0">
            <a:spAutoFit/>
          </a:bodyPr>
          <a:lstStyle/>
          <a:p>
            <a:pPr marL="800100" lvl="1" indent="-342900">
              <a:buFont typeface="Wingdings" panose="05000000000000000000" pitchFamily="2" charset="2"/>
              <a:buChar char="n"/>
            </a:pP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b="1">
                <a:solidFill>
                  <a:schemeClr val="tx1">
                    <a:lumMod val="85000"/>
                    <a:lumOff val="15000"/>
                  </a:schemeClr>
                </a:solidFill>
                <a:effectLst>
                  <a:outerShdw blurRad="38100" dist="38100" dir="2700000" algn="tl">
                    <a:srgbClr val="000000">
                      <a:alpha val="43137"/>
                    </a:srgbClr>
                  </a:outerShdw>
                </a:effectLst>
                <a:latin typeface="+mj-ea"/>
                <a:ea typeface="+mj-ea"/>
              </a:rPr>
              <a:t>养车前子壳兼带可溶、不可溶酵纤维</a:t>
            </a: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b="1">
                <a:solidFill>
                  <a:schemeClr val="tx1">
                    <a:lumMod val="85000"/>
                    <a:lumOff val="15000"/>
                  </a:schemeClr>
                </a:solidFill>
                <a:effectLst>
                  <a:outerShdw blurRad="38100" dist="38100" dir="2700000" algn="tl">
                    <a:srgbClr val="000000">
                      <a:alpha val="43137"/>
                    </a:srgbClr>
                  </a:outerShdw>
                </a:effectLst>
                <a:latin typeface="+mj-ea"/>
                <a:ea typeface="+mj-ea"/>
              </a:rPr>
              <a:t>剂量从</a:t>
            </a:r>
            <a:r>
              <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rPr>
              <a:t>1/2</a:t>
            </a:r>
            <a:r>
              <a:rPr lang="zh-CN" altLang="en-US" b="1">
                <a:solidFill>
                  <a:schemeClr val="tx1">
                    <a:lumMod val="85000"/>
                    <a:lumOff val="15000"/>
                  </a:schemeClr>
                </a:solidFill>
                <a:effectLst>
                  <a:outerShdw blurRad="38100" dist="38100" dir="2700000" algn="tl">
                    <a:srgbClr val="000000">
                      <a:alpha val="43137"/>
                    </a:srgbClr>
                  </a:outerShdw>
                </a:effectLst>
                <a:latin typeface="+mj-ea"/>
                <a:ea typeface="+mj-ea"/>
              </a:rPr>
              <a:t>粒尝试，最多</a:t>
            </a:r>
            <a:r>
              <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rPr>
              <a:t>1</a:t>
            </a:r>
            <a:r>
              <a:rPr lang="zh-CN" altLang="en-US" b="1">
                <a:solidFill>
                  <a:schemeClr val="tx1">
                    <a:lumMod val="85000"/>
                    <a:lumOff val="15000"/>
                  </a:schemeClr>
                </a:solidFill>
                <a:effectLst>
                  <a:outerShdw blurRad="38100" dist="38100" dir="2700000" algn="tl">
                    <a:srgbClr val="000000">
                      <a:alpha val="43137"/>
                    </a:srgbClr>
                  </a:outerShdw>
                </a:effectLst>
                <a:latin typeface="+mj-ea"/>
                <a:ea typeface="+mj-ea"/>
              </a:rPr>
              <a:t>粒，可治疗便秘</a:t>
            </a: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b="1">
                <a:solidFill>
                  <a:schemeClr val="accent2">
                    <a:lumMod val="75000"/>
                  </a:schemeClr>
                </a:solidFill>
                <a:effectLst>
                  <a:outerShdw blurRad="38100" dist="38100" dir="2700000" algn="tl">
                    <a:srgbClr val="000000">
                      <a:alpha val="43137"/>
                    </a:srgbClr>
                  </a:outerShdw>
                </a:effectLst>
                <a:latin typeface="+mj-ea"/>
                <a:ea typeface="+mj-ea"/>
              </a:rPr>
              <a:t>可</a:t>
            </a:r>
            <a:r>
              <a:rPr lang="en-US" altLang="zh-CN" b="1">
                <a:solidFill>
                  <a:schemeClr val="accent2">
                    <a:lumMod val="75000"/>
                  </a:schemeClr>
                </a:solidFill>
                <a:effectLst>
                  <a:outerShdw blurRad="38100" dist="38100" dir="2700000" algn="tl">
                    <a:srgbClr val="000000">
                      <a:alpha val="43137"/>
                    </a:srgbClr>
                  </a:outerShdw>
                </a:effectLst>
                <a:latin typeface="+mj-ea"/>
                <a:ea typeface="+mj-ea"/>
              </a:rPr>
              <a:t>iherb</a:t>
            </a:r>
            <a:r>
              <a:rPr lang="zh-CN" altLang="en-US" b="1">
                <a:solidFill>
                  <a:schemeClr val="accent2">
                    <a:lumMod val="75000"/>
                  </a:schemeClr>
                </a:solidFill>
                <a:effectLst>
                  <a:outerShdw blurRad="38100" dist="38100" dir="2700000" algn="tl">
                    <a:srgbClr val="000000">
                      <a:alpha val="43137"/>
                    </a:srgbClr>
                  </a:outerShdw>
                </a:effectLst>
                <a:latin typeface="+mj-ea"/>
                <a:ea typeface="+mj-ea"/>
              </a:rPr>
              <a:t>购买，或任意其它品牌养车前子壳胶囊</a:t>
            </a:r>
            <a:endParaRPr lang="en-US" altLang="zh-CN" b="1">
              <a:solidFill>
                <a:schemeClr val="accent2">
                  <a:lumMod val="7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b="1">
                <a:solidFill>
                  <a:schemeClr val="tx1">
                    <a:lumMod val="85000"/>
                    <a:lumOff val="15000"/>
                  </a:schemeClr>
                </a:solidFill>
                <a:effectLst>
                  <a:outerShdw blurRad="38100" dist="38100" dir="2700000" algn="tl">
                    <a:srgbClr val="000000">
                      <a:alpha val="43137"/>
                    </a:srgbClr>
                  </a:outerShdw>
                </a:effectLst>
                <a:latin typeface="+mj-ea"/>
                <a:ea typeface="+mj-ea"/>
              </a:rPr>
              <a:t>忌与其它药物同服，会影响药效</a:t>
            </a: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endParaRPr lang="en-US" altLang="zh-CN" b="1">
              <a:solidFill>
                <a:schemeClr val="tx1">
                  <a:lumMod val="85000"/>
                  <a:lumOff val="15000"/>
                </a:schemeClr>
              </a:solidFill>
              <a:effectLst>
                <a:outerShdw blurRad="38100" dist="38100" dir="2700000" algn="tl">
                  <a:srgbClr val="000000">
                    <a:alpha val="43137"/>
                  </a:srgbClr>
                </a:outerShdw>
              </a:effectLst>
              <a:latin typeface="+mj-ea"/>
              <a:ea typeface="+mj-ea"/>
            </a:endParaRPr>
          </a:p>
          <a:p>
            <a:pPr marL="800100" lvl="1" indent="-342900">
              <a:buFont typeface="Wingdings" panose="05000000000000000000" pitchFamily="2" charset="2"/>
              <a:buChar char="n"/>
            </a:pPr>
            <a:r>
              <a:rPr lang="zh-CN" altLang="en-US" b="1">
                <a:solidFill>
                  <a:srgbClr val="C00000"/>
                </a:solidFill>
                <a:effectLst>
                  <a:outerShdw blurRad="38100" dist="38100" dir="2700000" algn="tl">
                    <a:srgbClr val="000000">
                      <a:alpha val="43137"/>
                    </a:srgbClr>
                  </a:outerShdw>
                </a:effectLst>
                <a:latin typeface="+mj-ea"/>
                <a:ea typeface="+mj-ea"/>
              </a:rPr>
              <a:t>服用纤维请先保证猫有充足水份摄入！</a:t>
            </a:r>
            <a:endParaRPr lang="en-US" altLang="zh-CN" sz="1400" b="1">
              <a:solidFill>
                <a:schemeClr val="tx1">
                  <a:lumMod val="85000"/>
                  <a:lumOff val="15000"/>
                </a:schemeClr>
              </a:solidFill>
              <a:effectLst>
                <a:outerShdw blurRad="38100" dist="38100" dir="2700000" algn="tl">
                  <a:srgbClr val="000000">
                    <a:alpha val="43137"/>
                  </a:srgbClr>
                </a:outerShdw>
              </a:effectLst>
              <a:latin typeface="+mj-ea"/>
              <a:ea typeface="+mj-ea"/>
            </a:endParaRPr>
          </a:p>
        </p:txBody>
      </p:sp>
      <p:sp>
        <p:nvSpPr>
          <p:cNvPr id="22" name="文本框 21">
            <a:extLst>
              <a:ext uri="{FF2B5EF4-FFF2-40B4-BE49-F238E27FC236}">
                <a16:creationId xmlns:a16="http://schemas.microsoft.com/office/drawing/2014/main" id="{8680B877-2955-48DE-9D87-E34A49E6BB54}"/>
              </a:ext>
            </a:extLst>
          </p:cNvPr>
          <p:cNvSpPr txBox="1"/>
          <p:nvPr/>
        </p:nvSpPr>
        <p:spPr>
          <a:xfrm>
            <a:off x="3593421" y="2093085"/>
            <a:ext cx="7975187" cy="584775"/>
          </a:xfrm>
          <a:prstGeom prst="rect">
            <a:avLst/>
          </a:prstGeom>
          <a:noFill/>
        </p:spPr>
        <p:txBody>
          <a:bodyPr wrap="square" rtlCol="0">
            <a:spAutoFit/>
          </a:bodyPr>
          <a:lstStyle/>
          <a:p>
            <a:pPr lvl="1"/>
            <a:endParaRPr lang="en-US" altLang="zh-CN" sz="1600" b="1">
              <a:solidFill>
                <a:schemeClr val="bg1">
                  <a:lumMod val="95000"/>
                </a:schemeClr>
              </a:solidFill>
              <a:effectLst>
                <a:outerShdw blurRad="38100" dist="38100" dir="2700000" algn="tl">
                  <a:srgbClr val="000000">
                    <a:alpha val="43137"/>
                  </a:srgbClr>
                </a:outerShdw>
              </a:effectLst>
              <a:latin typeface="+mj-ea"/>
              <a:ea typeface="+mj-ea"/>
            </a:endParaRPr>
          </a:p>
          <a:p>
            <a:pPr lvl="1"/>
            <a:endParaRPr lang="en-US" altLang="zh-CN" sz="1600" b="1">
              <a:solidFill>
                <a:schemeClr val="bg1"/>
              </a:solidFill>
              <a:effectLst>
                <a:outerShdw blurRad="38100" dist="38100" dir="2700000" algn="tl">
                  <a:srgbClr val="000000">
                    <a:alpha val="43137"/>
                  </a:srgbClr>
                </a:outerShdw>
              </a:effectLst>
              <a:latin typeface="+mj-ea"/>
              <a:ea typeface="+mj-ea"/>
            </a:endParaRPr>
          </a:p>
        </p:txBody>
      </p:sp>
      <p:cxnSp>
        <p:nvCxnSpPr>
          <p:cNvPr id="23" name="直接连接符 22">
            <a:extLst>
              <a:ext uri="{FF2B5EF4-FFF2-40B4-BE49-F238E27FC236}">
                <a16:creationId xmlns:a16="http://schemas.microsoft.com/office/drawing/2014/main" id="{A6ED08FA-2943-4D08-91B5-062B4352A4BC}"/>
              </a:ext>
            </a:extLst>
          </p:cNvPr>
          <p:cNvCxnSpPr/>
          <p:nvPr/>
        </p:nvCxnSpPr>
        <p:spPr>
          <a:xfrm flipH="1">
            <a:off x="5641447" y="3159730"/>
            <a:ext cx="19050" cy="1079500"/>
          </a:xfrm>
          <a:prstGeom prst="line">
            <a:avLst/>
          </a:prstGeom>
          <a:ln w="50800">
            <a:solidFill>
              <a:srgbClr val="4F4F4F"/>
            </a:solidFill>
          </a:ln>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159910AE-8816-495C-9FB3-02748849EF9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28468" y="2262823"/>
            <a:ext cx="2413496" cy="2413496"/>
          </a:xfrm>
          <a:prstGeom prst="rect">
            <a:avLst/>
          </a:prstGeom>
        </p:spPr>
      </p:pic>
    </p:spTree>
    <p:extLst>
      <p:ext uri="{BB962C8B-B14F-4D97-AF65-F5344CB8AC3E}">
        <p14:creationId xmlns:p14="http://schemas.microsoft.com/office/powerpoint/2010/main" val="50274450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p:cNvPr>
          <p:cNvGrpSpPr/>
          <p:nvPr/>
        </p:nvGrpSpPr>
        <p:grpSpPr>
          <a:xfrm>
            <a:off x="2703513" y="526932"/>
            <a:ext cx="9488487" cy="1035882"/>
            <a:chOff x="8112223" y="330677"/>
            <a:chExt cx="4194115" cy="1035882"/>
          </a:xfrm>
          <a:effectLst>
            <a:outerShdw blurRad="50800" dist="38100" dir="5400000" algn="t" rotWithShape="0">
              <a:prstClr val="black">
                <a:alpha val="40000"/>
              </a:prstClr>
            </a:outerShdw>
          </a:effectLst>
        </p:grpSpPr>
        <p:sp>
          <p:nvSpPr>
            <p:cNvPr id="27"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8281096" y="330677"/>
              <a:ext cx="3967296" cy="985057"/>
              <a:chOff x="-461843" y="2729730"/>
              <a:chExt cx="4672947" cy="1377463"/>
            </a:xfrm>
          </p:grpSpPr>
          <p:sp>
            <p:nvSpPr>
              <p:cNvPr id="29"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1348278" y="3461620"/>
                <a:ext cx="2862826" cy="584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endParaRPr lang="en-US" altLang="zh-CN" sz="1600">
                  <a:solidFill>
                    <a:srgbClr val="010101"/>
                  </a:solidFill>
                  <a:latin typeface="+mn-lt"/>
                  <a:ea typeface="+mn-ea"/>
                  <a:cs typeface="+mn-ea"/>
                  <a:sym typeface="+mn-lt"/>
                </a:endParaRPr>
              </a:p>
            </p:txBody>
          </p:sp>
          <p:cxnSp>
            <p:nvCxnSpPr>
              <p:cNvPr id="31" name="直接连接符 30">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506334" y="3461620"/>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grpSp>
        <p:nvGrpSpPr>
          <p:cNvPr id="39939" name="组合 53"/>
          <p:cNvGrpSpPr>
            <a:grpSpLocks/>
          </p:cNvGrpSpPr>
          <p:nvPr/>
        </p:nvGrpSpPr>
        <p:grpSpPr bwMode="auto">
          <a:xfrm>
            <a:off x="2703513" y="2050965"/>
            <a:ext cx="8723311" cy="4338135"/>
            <a:chOff x="5103102" y="1855677"/>
            <a:chExt cx="6465867" cy="4021595"/>
          </a:xfrm>
        </p:grpSpPr>
        <p:sp>
          <p:nvSpPr>
            <p:cNvPr id="36" name="流程图: 过程 35">
              <a:extLst/>
            </p:cNvPr>
            <p:cNvSpPr/>
            <p:nvPr/>
          </p:nvSpPr>
          <p:spPr>
            <a:xfrm>
              <a:off x="5103102" y="2231503"/>
              <a:ext cx="6465867" cy="3645769"/>
            </a:xfrm>
            <a:prstGeom prst="flowChartProcess">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kern="0">
                <a:solidFill>
                  <a:sysClr val="windowText" lastClr="000000"/>
                </a:solidFill>
                <a:cs typeface="+mn-ea"/>
                <a:sym typeface="+mn-lt"/>
              </a:endParaRPr>
            </a:p>
          </p:txBody>
        </p:sp>
        <p:sp>
          <p:nvSpPr>
            <p:cNvPr id="37" name="矩形 3">
              <a:extLst/>
            </p:cNvPr>
            <p:cNvSpPr>
              <a:spLocks noChangeArrowheads="1"/>
            </p:cNvSpPr>
            <p:nvPr/>
          </p:nvSpPr>
          <p:spPr bwMode="auto">
            <a:xfrm>
              <a:off x="7701655" y="4711799"/>
              <a:ext cx="2584693" cy="311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Tx/>
                <a:buNone/>
                <a:defRPr/>
              </a:pPr>
              <a:endParaRPr lang="zh-CN" altLang="en-US" sz="1400" kern="0">
                <a:solidFill>
                  <a:schemeClr val="bg1">
                    <a:lumMod val="65000"/>
                  </a:schemeClr>
                </a:solidFill>
                <a:latin typeface="+mn-lt"/>
                <a:ea typeface="+mn-ea"/>
                <a:cs typeface="+mn-ea"/>
                <a:sym typeface="+mn-lt"/>
              </a:endParaRPr>
            </a:p>
          </p:txBody>
        </p:sp>
        <p:sp>
          <p:nvSpPr>
            <p:cNvPr id="39" name="矩形 38">
              <a:extLst/>
            </p:cNvPr>
            <p:cNvSpPr/>
            <p:nvPr/>
          </p:nvSpPr>
          <p:spPr>
            <a:xfrm>
              <a:off x="6980800" y="1855677"/>
              <a:ext cx="4243204" cy="599170"/>
            </a:xfrm>
            <a:prstGeom prst="rect">
              <a:avLst/>
            </a:prstGeom>
            <a:solidFill>
              <a:srgbClr val="FFFFFF"/>
            </a:solidFill>
          </p:spPr>
          <p:txBody>
            <a:bodyPr wrap="none">
              <a:spAutoFit/>
            </a:bodyPr>
            <a:lstStyle/>
            <a:p>
              <a:pPr eaLnBrk="1" fontAlgn="auto" hangingPunct="1">
                <a:spcBef>
                  <a:spcPts val="0"/>
                </a:spcBef>
                <a:spcAft>
                  <a:spcPts val="0"/>
                </a:spcAft>
                <a:defRPr/>
              </a:pPr>
              <a:r>
                <a:rPr lang="zh-CN" altLang="en-US" sz="3600" b="1" kern="0">
                  <a:solidFill>
                    <a:srgbClr val="4F4F4F"/>
                  </a:solidFill>
                  <a:latin typeface="+mn-lt"/>
                  <a:ea typeface="+mn-ea"/>
                  <a:cs typeface="+mn-ea"/>
                  <a:sym typeface="+mn-lt"/>
                </a:rPr>
                <a:t>为啥肾病猫老是拉稀软便？</a:t>
              </a:r>
            </a:p>
          </p:txBody>
        </p:sp>
        <p:sp>
          <p:nvSpPr>
            <p:cNvPr id="40" name="矩形 3">
              <a:extLst/>
            </p:cNvPr>
            <p:cNvSpPr>
              <a:spLocks noChangeArrowheads="1"/>
            </p:cNvSpPr>
            <p:nvPr/>
          </p:nvSpPr>
          <p:spPr bwMode="auto">
            <a:xfrm>
              <a:off x="7617671" y="2830673"/>
              <a:ext cx="3949643" cy="2853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None/>
                <a:defRPr/>
              </a:pPr>
              <a:endParaRPr lang="en-US" altLang="zh-CN" sz="1600" kern="0">
                <a:solidFill>
                  <a:schemeClr val="bg2">
                    <a:lumMod val="25000"/>
                  </a:schemeClr>
                </a:solidFill>
                <a:latin typeface="+mn-ea"/>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l"/>
                <a:defRPr/>
              </a:pPr>
              <a:r>
                <a:rPr lang="zh-CN" altLang="en-US" sz="2400" b="1" kern="0">
                  <a:solidFill>
                    <a:srgbClr val="C00000"/>
                  </a:solidFill>
                  <a:latin typeface="+mn-ea"/>
                  <a:ea typeface="+mn-ea"/>
                  <a:cs typeface="+mn-ea"/>
                  <a:sym typeface="+mn-lt"/>
                </a:rPr>
                <a:t>尿毒症毒素改变了肠道环境</a:t>
              </a:r>
              <a:endParaRPr lang="en-US" altLang="zh-CN" sz="2400" b="1" kern="0">
                <a:solidFill>
                  <a:srgbClr val="C00000"/>
                </a:solidFill>
                <a:latin typeface="+mn-ea"/>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l"/>
                <a:defRPr/>
              </a:pPr>
              <a:r>
                <a:rPr lang="zh-CN" altLang="en-US" sz="2400" kern="0">
                  <a:solidFill>
                    <a:schemeClr val="bg2">
                      <a:lumMod val="25000"/>
                    </a:schemeClr>
                  </a:solidFill>
                  <a:latin typeface="+mn-ea"/>
                  <a:ea typeface="+mn-ea"/>
                  <a:cs typeface="+mn-ea"/>
                  <a:sym typeface="+mn-lt"/>
                </a:rPr>
                <a:t>实际是便秘</a:t>
              </a:r>
              <a:endParaRPr lang="en-US" altLang="zh-CN" sz="2400" kern="0">
                <a:solidFill>
                  <a:schemeClr val="bg2">
                    <a:lumMod val="25000"/>
                  </a:schemeClr>
                </a:solidFill>
                <a:latin typeface="+mn-ea"/>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l"/>
                <a:defRPr/>
              </a:pPr>
              <a:r>
                <a:rPr lang="zh-CN" altLang="en-US" sz="2400" kern="0">
                  <a:solidFill>
                    <a:schemeClr val="bg2">
                      <a:lumMod val="25000"/>
                    </a:schemeClr>
                  </a:solidFill>
                  <a:latin typeface="+mn-ea"/>
                  <a:ea typeface="+mn-ea"/>
                  <a:cs typeface="+mn-ea"/>
                  <a:sym typeface="+mn-lt"/>
                </a:rPr>
                <a:t>肠道出血</a:t>
              </a:r>
              <a:endParaRPr lang="en-US" altLang="zh-CN" sz="2400" kern="0">
                <a:solidFill>
                  <a:schemeClr val="bg2">
                    <a:lumMod val="25000"/>
                  </a:schemeClr>
                </a:solidFill>
                <a:latin typeface="+mn-ea"/>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l"/>
                <a:defRPr/>
              </a:pPr>
              <a:r>
                <a:rPr lang="zh-CN" altLang="en-US" sz="2400" kern="0">
                  <a:solidFill>
                    <a:schemeClr val="bg2">
                      <a:lumMod val="25000"/>
                    </a:schemeClr>
                  </a:solidFill>
                  <a:latin typeface="+mn-ea"/>
                  <a:ea typeface="+mn-ea"/>
                  <a:cs typeface="+mn-ea"/>
                  <a:sym typeface="+mn-lt"/>
                </a:rPr>
                <a:t>新的饮食不耐受</a:t>
              </a:r>
              <a:endParaRPr lang="en-US" altLang="zh-CN" sz="2400" kern="0">
                <a:solidFill>
                  <a:schemeClr val="bg2">
                    <a:lumMod val="25000"/>
                  </a:schemeClr>
                </a:solidFill>
                <a:latin typeface="+mn-ea"/>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l"/>
                <a:defRPr/>
              </a:pPr>
              <a:r>
                <a:rPr lang="zh-CN" altLang="en-US" sz="2400" kern="0">
                  <a:solidFill>
                    <a:schemeClr val="bg2">
                      <a:lumMod val="25000"/>
                    </a:schemeClr>
                  </a:solidFill>
                  <a:latin typeface="+mn-ea"/>
                  <a:ea typeface="+mn-ea"/>
                  <a:cs typeface="+mn-ea"/>
                  <a:sym typeface="+mn-lt"/>
                </a:rPr>
                <a:t>钾补充剂可能造成软便</a:t>
              </a:r>
              <a:endParaRPr lang="en-US" altLang="zh-CN" sz="2400" kern="0">
                <a:solidFill>
                  <a:schemeClr val="bg2">
                    <a:lumMod val="25000"/>
                  </a:schemeClr>
                </a:solidFill>
                <a:latin typeface="+mn-ea"/>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l"/>
                <a:defRPr/>
              </a:pPr>
              <a:endParaRPr lang="en-US" altLang="zh-CN" sz="2400" kern="0">
                <a:solidFill>
                  <a:schemeClr val="bg2">
                    <a:lumMod val="25000"/>
                  </a:schemeClr>
                </a:solidFill>
                <a:latin typeface="+mn-ea"/>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l"/>
                <a:defRPr/>
              </a:pPr>
              <a:endParaRPr lang="en-US" altLang="zh-CN" sz="1800" kern="0">
                <a:solidFill>
                  <a:schemeClr val="bg2">
                    <a:lumMod val="25000"/>
                  </a:schemeClr>
                </a:solidFill>
                <a:latin typeface="+mn-ea"/>
                <a:ea typeface="+mn-ea"/>
                <a:cs typeface="+mn-ea"/>
                <a:sym typeface="+mn-lt"/>
              </a:endParaRPr>
            </a:p>
            <a:p>
              <a:pPr eaLnBrk="1" fontAlgn="auto" hangingPunct="1">
                <a:lnSpc>
                  <a:spcPct val="100000"/>
                </a:lnSpc>
                <a:spcBef>
                  <a:spcPct val="0"/>
                </a:spcBef>
                <a:spcAft>
                  <a:spcPts val="0"/>
                </a:spcAft>
                <a:buFontTx/>
                <a:buNone/>
                <a:defRPr/>
              </a:pPr>
              <a:endParaRPr lang="zh-CN" altLang="en-US" sz="1600" b="1" kern="0">
                <a:solidFill>
                  <a:schemeClr val="bg2">
                    <a:lumMod val="25000"/>
                  </a:schemeClr>
                </a:solidFill>
                <a:latin typeface="微软雅黑 Light" panose="020B0502040204020203" pitchFamily="34" charset="-122"/>
                <a:ea typeface="微软雅黑 Light" panose="020B0502040204020203" pitchFamily="34" charset="-122"/>
                <a:cs typeface="+mn-ea"/>
                <a:sym typeface="+mn-lt"/>
              </a:endParaRPr>
            </a:p>
          </p:txBody>
        </p:sp>
      </p:grpSp>
      <p:sp>
        <p:nvSpPr>
          <p:cNvPr id="2" name="文本框 1">
            <a:extLst>
              <a:ext uri="{FF2B5EF4-FFF2-40B4-BE49-F238E27FC236}">
                <a16:creationId xmlns:a16="http://schemas.microsoft.com/office/drawing/2014/main" id="{626E14C6-0CFE-4977-BC70-6856D56C0BC9}"/>
              </a:ext>
            </a:extLst>
          </p:cNvPr>
          <p:cNvSpPr txBox="1"/>
          <p:nvPr/>
        </p:nvSpPr>
        <p:spPr>
          <a:xfrm>
            <a:off x="6231079" y="788714"/>
            <a:ext cx="5980171" cy="523220"/>
          </a:xfrm>
          <a:prstGeom prst="rect">
            <a:avLst/>
          </a:prstGeom>
          <a:noFill/>
        </p:spPr>
        <p:txBody>
          <a:bodyPr wrap="square" rtlCol="0">
            <a:spAutoFit/>
          </a:bodyPr>
          <a:lstStyle/>
          <a:p>
            <a:r>
              <a:rPr lang="zh-CN" altLang="en-US" sz="2800" b="1">
                <a:latin typeface="+mj-ea"/>
                <a:ea typeface="+mj-ea"/>
              </a:rPr>
              <a:t>慢性肾病猫的治疗：腹泻</a:t>
            </a:r>
          </a:p>
        </p:txBody>
      </p:sp>
      <p:pic>
        <p:nvPicPr>
          <p:cNvPr id="5" name="图片 4">
            <a:extLst>
              <a:ext uri="{FF2B5EF4-FFF2-40B4-BE49-F238E27FC236}">
                <a16:creationId xmlns:a16="http://schemas.microsoft.com/office/drawing/2014/main" id="{3D092193-2163-4F22-B91F-DD50DBF62C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3352" y="2716098"/>
            <a:ext cx="5117354" cy="3413275"/>
          </a:xfrm>
          <a:prstGeom prst="rect">
            <a:avLst/>
          </a:prstGeom>
        </p:spPr>
      </p:pic>
    </p:spTree>
    <p:extLst>
      <p:ext uri="{BB962C8B-B14F-4D97-AF65-F5344CB8AC3E}">
        <p14:creationId xmlns:p14="http://schemas.microsoft.com/office/powerpoint/2010/main" val="156616698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FD6B492B-C78D-4E78-9543-832E588DA7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33319" y="2661776"/>
            <a:ext cx="2736928" cy="2657469"/>
          </a:xfrm>
          <a:prstGeom prst="rect">
            <a:avLst/>
          </a:prstGeom>
        </p:spPr>
      </p:pic>
      <p:grpSp>
        <p:nvGrpSpPr>
          <p:cNvPr id="17" name="组合 16">
            <a:extLst/>
          </p:cNvPr>
          <p:cNvGrpSpPr/>
          <p:nvPr/>
        </p:nvGrpSpPr>
        <p:grpSpPr>
          <a:xfrm>
            <a:off x="4007769" y="534971"/>
            <a:ext cx="8162478" cy="1178915"/>
            <a:chOff x="7629599" y="187644"/>
            <a:chExt cx="4676739" cy="1178915"/>
          </a:xfrm>
          <a:effectLst>
            <a:outerShdw blurRad="50800" dist="38100" dir="5400000" algn="t" rotWithShape="0">
              <a:prstClr val="black">
                <a:alpha val="40000"/>
              </a:prstClr>
            </a:outerShdw>
          </a:effectLst>
        </p:grpSpPr>
        <p:sp>
          <p:nvSpPr>
            <p:cNvPr id="27" name="箭头: 五边形 6">
              <a:extLst/>
            </p:cNvPr>
            <p:cNvSpPr/>
            <p:nvPr/>
          </p:nvSpPr>
          <p:spPr>
            <a:xfrm flipH="1">
              <a:off x="7629599" y="404664"/>
              <a:ext cx="4676739"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7818029" y="187644"/>
              <a:ext cx="4436286" cy="1110187"/>
              <a:chOff x="-1007275" y="2529717"/>
              <a:chExt cx="5225356" cy="1552439"/>
            </a:xfrm>
          </p:grpSpPr>
          <p:sp>
            <p:nvSpPr>
              <p:cNvPr id="29" name="文本框 13">
                <a:extLst/>
              </p:cNvPr>
              <p:cNvSpPr txBox="1">
                <a:spLocks noChangeArrowheads="1"/>
              </p:cNvSpPr>
              <p:nvPr/>
            </p:nvSpPr>
            <p:spPr bwMode="auto">
              <a:xfrm>
                <a:off x="-1007275" y="2529717"/>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714609" y="3048121"/>
                <a:ext cx="3503472" cy="81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latin typeface="+mn-lt"/>
                    <a:ea typeface="+mn-ea"/>
                    <a:cs typeface="+mn-ea"/>
                    <a:sym typeface="+mn-lt"/>
                  </a:rPr>
                  <a:t>猫慢性肾病治疗</a:t>
                </a:r>
                <a:r>
                  <a:rPr lang="en-US" altLang="zh-CN" sz="2400" b="1">
                    <a:solidFill>
                      <a:srgbClr val="010101"/>
                    </a:solidFill>
                    <a:latin typeface="+mn-lt"/>
                    <a:ea typeface="+mn-ea"/>
                    <a:cs typeface="+mn-ea"/>
                    <a:sym typeface="+mn-lt"/>
                  </a:rPr>
                  <a:t>:</a:t>
                </a:r>
                <a:r>
                  <a:rPr lang="zh-CN" altLang="en-US" sz="2400" b="1">
                    <a:solidFill>
                      <a:srgbClr val="010101"/>
                    </a:solidFill>
                    <a:latin typeface="+mn-lt"/>
                    <a:ea typeface="+mn-ea"/>
                    <a:cs typeface="+mn-ea"/>
                    <a:sym typeface="+mn-lt"/>
                  </a:rPr>
                  <a:t>腹泻</a:t>
                </a:r>
                <a:endParaRPr lang="en-US" altLang="zh-CN" sz="2400" b="1">
                  <a:solidFill>
                    <a:srgbClr val="010101"/>
                  </a:solidFill>
                  <a:latin typeface="+mn-lt"/>
                  <a:ea typeface="+mn-ea"/>
                  <a:cs typeface="+mn-ea"/>
                  <a:sym typeface="+mn-lt"/>
                </a:endParaRPr>
              </a:p>
            </p:txBody>
          </p:sp>
          <p:cxnSp>
            <p:nvCxnSpPr>
              <p:cNvPr id="31" name="直接连接符 30">
                <a:extLst/>
              </p:cNvPr>
              <p:cNvCxnSpPr>
                <a:cxnSpLocks/>
              </p:cNvCxnSpPr>
              <p:nvPr/>
            </p:nvCxnSpPr>
            <p:spPr>
              <a:xfrm flipH="1">
                <a:off x="-442778" y="3180446"/>
                <a:ext cx="468592" cy="706937"/>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174743" y="3436583"/>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cxnSp>
        <p:nvCxnSpPr>
          <p:cNvPr id="23" name="直接连接符 22">
            <a:extLst>
              <a:ext uri="{FF2B5EF4-FFF2-40B4-BE49-F238E27FC236}">
                <a16:creationId xmlns:a16="http://schemas.microsoft.com/office/drawing/2014/main" id="{A6ED08FA-2943-4D08-91B5-062B4352A4BC}"/>
              </a:ext>
            </a:extLst>
          </p:cNvPr>
          <p:cNvCxnSpPr/>
          <p:nvPr/>
        </p:nvCxnSpPr>
        <p:spPr>
          <a:xfrm flipH="1">
            <a:off x="5951984" y="3212976"/>
            <a:ext cx="19050" cy="1079500"/>
          </a:xfrm>
          <a:prstGeom prst="line">
            <a:avLst/>
          </a:prstGeom>
          <a:ln w="50800">
            <a:solidFill>
              <a:srgbClr val="4F4F4F"/>
            </a:soli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7B608218-4F2E-44A0-8E04-A0633D2811E6}"/>
              </a:ext>
            </a:extLst>
          </p:cNvPr>
          <p:cNvSpPr txBox="1"/>
          <p:nvPr/>
        </p:nvSpPr>
        <p:spPr>
          <a:xfrm>
            <a:off x="1775520" y="4949117"/>
            <a:ext cx="3024336" cy="588977"/>
          </a:xfrm>
          <a:prstGeom prst="rect">
            <a:avLst/>
          </a:prstGeom>
          <a:noFill/>
        </p:spPr>
        <p:txBody>
          <a:bodyPr wrap="square" rtlCol="0">
            <a:spAutoFit/>
          </a:bodyPr>
          <a:lstStyle/>
          <a:p>
            <a:endParaRPr lang="zh-CN" altLang="en-US"/>
          </a:p>
        </p:txBody>
      </p:sp>
      <p:sp>
        <p:nvSpPr>
          <p:cNvPr id="3" name="文本框 2">
            <a:extLst>
              <a:ext uri="{FF2B5EF4-FFF2-40B4-BE49-F238E27FC236}">
                <a16:creationId xmlns:a16="http://schemas.microsoft.com/office/drawing/2014/main" id="{89AC16F3-24A8-41BB-AEF9-4055B0DAF1B5}"/>
              </a:ext>
            </a:extLst>
          </p:cNvPr>
          <p:cNvSpPr txBox="1"/>
          <p:nvPr/>
        </p:nvSpPr>
        <p:spPr>
          <a:xfrm>
            <a:off x="983432" y="2420888"/>
            <a:ext cx="2141190" cy="3456384"/>
          </a:xfrm>
          <a:prstGeom prst="rect">
            <a:avLst/>
          </a:prstGeom>
          <a:noFill/>
        </p:spPr>
        <p:txBody>
          <a:bodyPr wrap="square" rtlCol="0">
            <a:spAutoFit/>
          </a:bodyPr>
          <a:lstStyle/>
          <a:p>
            <a:endParaRPr lang="zh-CN" altLang="en-US"/>
          </a:p>
        </p:txBody>
      </p:sp>
      <p:sp>
        <p:nvSpPr>
          <p:cNvPr id="4" name="文本框 3">
            <a:extLst>
              <a:ext uri="{FF2B5EF4-FFF2-40B4-BE49-F238E27FC236}">
                <a16:creationId xmlns:a16="http://schemas.microsoft.com/office/drawing/2014/main" id="{2973D6D9-FAB9-4311-A1AA-1F53108CC07D}"/>
              </a:ext>
            </a:extLst>
          </p:cNvPr>
          <p:cNvSpPr txBox="1"/>
          <p:nvPr/>
        </p:nvSpPr>
        <p:spPr>
          <a:xfrm>
            <a:off x="6192537" y="2076660"/>
            <a:ext cx="3291232" cy="4524315"/>
          </a:xfrm>
          <a:prstGeom prst="rect">
            <a:avLst/>
          </a:prstGeom>
          <a:noFill/>
        </p:spPr>
        <p:txBody>
          <a:bodyPr wrap="square" rtlCol="0">
            <a:spAutoFit/>
          </a:bodyPr>
          <a:lstStyle/>
          <a:p>
            <a:endParaRPr lang="en-US" altLang="zh-CN" b="1">
              <a:latin typeface="+mn-ea"/>
              <a:ea typeface="+mn-ea"/>
            </a:endParaRPr>
          </a:p>
          <a:p>
            <a:pPr marL="285750" indent="-285750">
              <a:buFont typeface="Wingdings" panose="05000000000000000000" pitchFamily="2" charset="2"/>
              <a:buChar char="u"/>
            </a:pPr>
            <a:r>
              <a:rPr lang="zh-CN" altLang="en-US" b="1">
                <a:latin typeface="+mn-ea"/>
                <a:ea typeface="+mn-ea"/>
              </a:rPr>
              <a:t>考虑降低膳食蛋白质，减少含氮代谢物对肠道菌群与酸碱值的影响。</a:t>
            </a:r>
            <a:endParaRPr lang="en-US" altLang="zh-CN" b="1">
              <a:latin typeface="+mn-ea"/>
              <a:ea typeface="+mn-ea"/>
            </a:endParaRPr>
          </a:p>
          <a:p>
            <a:pPr marL="285750" indent="-285750">
              <a:buFont typeface="Wingdings" panose="05000000000000000000" pitchFamily="2" charset="2"/>
              <a:buChar char="u"/>
            </a:pPr>
            <a:r>
              <a:rPr lang="zh-CN" altLang="en-US" b="1">
                <a:latin typeface="+mn-ea"/>
                <a:ea typeface="+mn-ea"/>
              </a:rPr>
              <a:t>如果猫非常消瘦，请放弃上一条建议</a:t>
            </a:r>
            <a:endParaRPr lang="en-US" altLang="zh-CN" b="1">
              <a:latin typeface="+mn-ea"/>
              <a:ea typeface="+mn-ea"/>
            </a:endParaRPr>
          </a:p>
          <a:p>
            <a:endParaRPr lang="en-US" altLang="zh-CN" b="1">
              <a:latin typeface="+mn-ea"/>
              <a:ea typeface="+mn-ea"/>
            </a:endParaRPr>
          </a:p>
          <a:p>
            <a:pPr marL="285750" indent="-285750">
              <a:buFont typeface="Wingdings" panose="05000000000000000000" pitchFamily="2" charset="2"/>
              <a:buChar char="u"/>
            </a:pPr>
            <a:r>
              <a:rPr lang="zh-CN" altLang="en-US" b="1">
                <a:latin typeface="+mn-ea"/>
                <a:ea typeface="+mn-ea"/>
              </a:rPr>
              <a:t>尝试其它饮食</a:t>
            </a:r>
            <a:endParaRPr lang="en-US" altLang="zh-CN" b="1">
              <a:latin typeface="+mn-ea"/>
              <a:ea typeface="+mn-ea"/>
            </a:endParaRPr>
          </a:p>
          <a:p>
            <a:pPr marL="285750" indent="-285750">
              <a:buFont typeface="Wingdings" panose="05000000000000000000" pitchFamily="2" charset="2"/>
              <a:buChar char="u"/>
            </a:pPr>
            <a:r>
              <a:rPr lang="zh-CN" altLang="en-US" b="1">
                <a:latin typeface="+mn-ea"/>
                <a:ea typeface="+mn-ea"/>
              </a:rPr>
              <a:t>添加纤维素</a:t>
            </a:r>
            <a:r>
              <a:rPr lang="zh-CN" altLang="en-US" sz="1400" b="1">
                <a:latin typeface="+mn-ea"/>
                <a:ea typeface="+mn-ea"/>
              </a:rPr>
              <a:t>（如洋车前子壳粉）</a:t>
            </a:r>
            <a:endParaRPr lang="en-US" altLang="zh-CN" b="1">
              <a:latin typeface="+mn-ea"/>
              <a:ea typeface="+mn-ea"/>
            </a:endParaRPr>
          </a:p>
          <a:p>
            <a:pPr marL="285750" indent="-285750">
              <a:buFont typeface="Wingdings" panose="05000000000000000000" pitchFamily="2" charset="2"/>
              <a:buChar char="u"/>
            </a:pPr>
            <a:r>
              <a:rPr lang="zh-CN" altLang="en-US" b="1">
                <a:latin typeface="+mn-ea"/>
                <a:ea typeface="+mn-ea"/>
              </a:rPr>
              <a:t>考虑滑榆皮粉</a:t>
            </a:r>
            <a:endParaRPr lang="en-US" altLang="zh-CN" b="1">
              <a:latin typeface="+mn-ea"/>
              <a:ea typeface="+mn-ea"/>
            </a:endParaRPr>
          </a:p>
          <a:p>
            <a:pPr marL="285750" indent="-285750">
              <a:buFont typeface="Wingdings" panose="05000000000000000000" pitchFamily="2" charset="2"/>
              <a:buChar char="u"/>
            </a:pPr>
            <a:r>
              <a:rPr lang="zh-CN" altLang="en-US" b="1">
                <a:latin typeface="+mn-ea"/>
                <a:ea typeface="+mn-ea"/>
              </a:rPr>
              <a:t>尝试益生菌</a:t>
            </a:r>
            <a:endParaRPr lang="en-US" altLang="zh-CN" b="1">
              <a:latin typeface="+mn-ea"/>
              <a:ea typeface="+mn-ea"/>
            </a:endParaRPr>
          </a:p>
          <a:p>
            <a:pPr marL="285750" indent="-285750">
              <a:buFont typeface="Wingdings" panose="05000000000000000000" pitchFamily="2" charset="2"/>
              <a:buChar char="u"/>
            </a:pPr>
            <a:r>
              <a:rPr lang="zh-CN" altLang="en-US" b="1">
                <a:latin typeface="+mn-ea"/>
                <a:ea typeface="+mn-ea"/>
              </a:rPr>
              <a:t>高岭土</a:t>
            </a:r>
            <a:r>
              <a:rPr lang="en-US" altLang="zh-CN" b="1">
                <a:latin typeface="+mn-ea"/>
                <a:ea typeface="+mn-ea"/>
              </a:rPr>
              <a:t>/</a:t>
            </a:r>
            <a:r>
              <a:rPr lang="zh-CN" altLang="en-US" b="1">
                <a:latin typeface="+mn-ea"/>
                <a:ea typeface="+mn-ea"/>
              </a:rPr>
              <a:t>蒙脱石散</a:t>
            </a:r>
            <a:endParaRPr lang="en-US" altLang="zh-CN" b="1">
              <a:latin typeface="+mn-ea"/>
              <a:ea typeface="+mn-ea"/>
            </a:endParaRPr>
          </a:p>
          <a:p>
            <a:pPr marL="285750" indent="-285750">
              <a:buFont typeface="Wingdings" panose="05000000000000000000" pitchFamily="2" charset="2"/>
              <a:buChar char="u"/>
            </a:pPr>
            <a:r>
              <a:rPr lang="zh-CN" altLang="en-US" b="1">
                <a:solidFill>
                  <a:srgbClr val="C00000"/>
                </a:solidFill>
                <a:latin typeface="+mn-ea"/>
                <a:ea typeface="+mn-ea"/>
              </a:rPr>
              <a:t>排查是否并发</a:t>
            </a:r>
            <a:r>
              <a:rPr lang="en-US" altLang="zh-CN" b="1">
                <a:solidFill>
                  <a:srgbClr val="C00000"/>
                </a:solidFill>
                <a:latin typeface="+mn-ea"/>
                <a:ea typeface="+mn-ea"/>
              </a:rPr>
              <a:t>IBD/</a:t>
            </a:r>
            <a:r>
              <a:rPr lang="zh-CN" altLang="en-US" b="1">
                <a:solidFill>
                  <a:srgbClr val="C00000"/>
                </a:solidFill>
                <a:latin typeface="+mn-ea"/>
                <a:ea typeface="+mn-ea"/>
              </a:rPr>
              <a:t>甲亢</a:t>
            </a:r>
            <a:r>
              <a:rPr lang="en-US" altLang="zh-CN" b="1">
                <a:solidFill>
                  <a:srgbClr val="C00000"/>
                </a:solidFill>
                <a:latin typeface="+mn-ea"/>
                <a:ea typeface="+mn-ea"/>
              </a:rPr>
              <a:t>/</a:t>
            </a:r>
            <a:r>
              <a:rPr lang="zh-CN" altLang="en-US" b="1">
                <a:solidFill>
                  <a:srgbClr val="C00000"/>
                </a:solidFill>
                <a:latin typeface="+mn-ea"/>
                <a:ea typeface="+mn-ea"/>
              </a:rPr>
              <a:t>胰腺炎</a:t>
            </a:r>
            <a:endParaRPr lang="en-US" altLang="zh-CN" b="1">
              <a:solidFill>
                <a:srgbClr val="C00000"/>
              </a:solidFill>
              <a:latin typeface="+mn-ea"/>
              <a:ea typeface="+mn-ea"/>
            </a:endParaRPr>
          </a:p>
          <a:p>
            <a:pPr marL="285750" indent="-285750">
              <a:buFont typeface="Wingdings" panose="05000000000000000000" pitchFamily="2" charset="2"/>
              <a:buChar char="u"/>
            </a:pPr>
            <a:endParaRPr lang="en-US" altLang="zh-CN" b="1">
              <a:latin typeface="+mn-ea"/>
              <a:ea typeface="+mn-ea"/>
            </a:endParaRPr>
          </a:p>
          <a:p>
            <a:pPr marL="285750" indent="-285750">
              <a:buFont typeface="Wingdings" panose="05000000000000000000" pitchFamily="2" charset="2"/>
              <a:buChar char="u"/>
            </a:pPr>
            <a:endParaRPr lang="en-US" altLang="zh-CN" b="1">
              <a:latin typeface="+mn-ea"/>
              <a:ea typeface="+mn-ea"/>
            </a:endParaRPr>
          </a:p>
        </p:txBody>
      </p:sp>
      <p:sp>
        <p:nvSpPr>
          <p:cNvPr id="11" name="文本框 10">
            <a:extLst>
              <a:ext uri="{FF2B5EF4-FFF2-40B4-BE49-F238E27FC236}">
                <a16:creationId xmlns:a16="http://schemas.microsoft.com/office/drawing/2014/main" id="{9C6EAAAC-2054-4AEC-BBA6-84036AAC94E9}"/>
              </a:ext>
            </a:extLst>
          </p:cNvPr>
          <p:cNvSpPr txBox="1"/>
          <p:nvPr/>
        </p:nvSpPr>
        <p:spPr>
          <a:xfrm>
            <a:off x="2420439" y="3207021"/>
            <a:ext cx="3021987" cy="1200329"/>
          </a:xfrm>
          <a:prstGeom prst="rect">
            <a:avLst/>
          </a:prstGeom>
          <a:noFill/>
        </p:spPr>
        <p:txBody>
          <a:bodyPr wrap="square" rtlCol="0">
            <a:spAutoFit/>
          </a:bodyPr>
          <a:lstStyle/>
          <a:p>
            <a:r>
              <a:rPr lang="zh-CN" altLang="en-US" sz="3600" b="1">
                <a:effectLst>
                  <a:outerShdw blurRad="38100" dist="38100" dir="2700000" algn="tl">
                    <a:srgbClr val="000000">
                      <a:alpha val="43137"/>
                    </a:srgbClr>
                  </a:outerShdw>
                </a:effectLst>
              </a:rPr>
              <a:t>肾病猫腹泻总比便秘强</a:t>
            </a:r>
            <a:r>
              <a:rPr lang="en-US" altLang="zh-CN" sz="3600" b="1">
                <a:effectLst>
                  <a:outerShdw blurRad="38100" dist="38100" dir="2700000" algn="tl">
                    <a:srgbClr val="000000">
                      <a:alpha val="43137"/>
                    </a:srgbClr>
                  </a:outerShdw>
                </a:effectLst>
              </a:rPr>
              <a:t>——</a:t>
            </a:r>
            <a:endParaRPr lang="zh-CN" altLang="en-US" sz="3600" b="1">
              <a:effectLst>
                <a:outerShdw blurRad="38100" dist="38100" dir="2700000" algn="tl">
                  <a:srgbClr val="000000">
                    <a:alpha val="43137"/>
                  </a:srgbClr>
                </a:outerShdw>
              </a:effectLst>
            </a:endParaRPr>
          </a:p>
        </p:txBody>
      </p:sp>
      <p:sp>
        <p:nvSpPr>
          <p:cNvPr id="15" name="矩形 14">
            <a:extLst>
              <a:ext uri="{FF2B5EF4-FFF2-40B4-BE49-F238E27FC236}">
                <a16:creationId xmlns:a16="http://schemas.microsoft.com/office/drawing/2014/main" id="{04D6AD8E-268F-4634-A4EB-82F888690C25}"/>
              </a:ext>
            </a:extLst>
          </p:cNvPr>
          <p:cNvSpPr/>
          <p:nvPr/>
        </p:nvSpPr>
        <p:spPr>
          <a:xfrm>
            <a:off x="1080909" y="4407350"/>
            <a:ext cx="4489360" cy="923330"/>
          </a:xfrm>
          <a:prstGeom prst="rect">
            <a:avLst/>
          </a:prstGeom>
        </p:spPr>
        <p:txBody>
          <a:bodyPr wrap="square">
            <a:spAutoFit/>
          </a:bodyPr>
          <a:lstStyle/>
          <a:p>
            <a:r>
              <a:rPr lang="zh-CN" altLang="en-US" b="1">
                <a:effectLst>
                  <a:outerShdw blurRad="38100" dist="38100" dir="2700000" algn="tl">
                    <a:srgbClr val="000000">
                      <a:alpha val="43137"/>
                    </a:srgbClr>
                  </a:outerShdw>
                </a:effectLst>
              </a:rPr>
              <a:t>如果猫病情属于三期肾病及以上，那么有不小的几率腹泻来自尿毒症毒素积聚。论及治本，我们能做的不多。</a:t>
            </a:r>
            <a:endParaRPr lang="zh-CN" altLang="en-US"/>
          </a:p>
        </p:txBody>
      </p:sp>
      <p:sp>
        <p:nvSpPr>
          <p:cNvPr id="7" name="文本框 6">
            <a:extLst>
              <a:ext uri="{FF2B5EF4-FFF2-40B4-BE49-F238E27FC236}">
                <a16:creationId xmlns:a16="http://schemas.microsoft.com/office/drawing/2014/main" id="{ADDFC8C4-5D8E-455F-9628-69FB6C359862}"/>
              </a:ext>
            </a:extLst>
          </p:cNvPr>
          <p:cNvSpPr txBox="1"/>
          <p:nvPr/>
        </p:nvSpPr>
        <p:spPr>
          <a:xfrm>
            <a:off x="10156370" y="5159891"/>
            <a:ext cx="1440160" cy="523220"/>
          </a:xfrm>
          <a:prstGeom prst="rect">
            <a:avLst/>
          </a:prstGeom>
          <a:noFill/>
        </p:spPr>
        <p:txBody>
          <a:bodyPr wrap="square" rtlCol="0">
            <a:spAutoFit/>
          </a:bodyPr>
          <a:lstStyle/>
          <a:p>
            <a:r>
              <a:rPr lang="zh-CN" altLang="en-US" sz="1400">
                <a:solidFill>
                  <a:schemeClr val="accent2">
                    <a:lumMod val="75000"/>
                  </a:schemeClr>
                </a:solidFill>
                <a:latin typeface="+mj-ea"/>
                <a:ea typeface="+mj-ea"/>
              </a:rPr>
              <a:t>卖的有点贵，不过比较不难吃。</a:t>
            </a:r>
          </a:p>
        </p:txBody>
      </p:sp>
    </p:spTree>
    <p:extLst>
      <p:ext uri="{BB962C8B-B14F-4D97-AF65-F5344CB8AC3E}">
        <p14:creationId xmlns:p14="http://schemas.microsoft.com/office/powerpoint/2010/main" val="24812592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p:cNvPr>
          <p:cNvGrpSpPr/>
          <p:nvPr/>
        </p:nvGrpSpPr>
        <p:grpSpPr>
          <a:xfrm>
            <a:off x="2703513" y="526932"/>
            <a:ext cx="9488487" cy="1035882"/>
            <a:chOff x="8112223" y="330677"/>
            <a:chExt cx="4194115" cy="1035882"/>
          </a:xfrm>
          <a:effectLst>
            <a:outerShdw blurRad="50800" dist="38100" dir="5400000" algn="t" rotWithShape="0">
              <a:prstClr val="black">
                <a:alpha val="40000"/>
              </a:prstClr>
            </a:outerShdw>
          </a:effectLst>
        </p:grpSpPr>
        <p:sp>
          <p:nvSpPr>
            <p:cNvPr id="27" name="箭头: 五边形 6">
              <a:extLst/>
            </p:cNvPr>
            <p:cNvSpPr/>
            <p:nvPr/>
          </p:nvSpPr>
          <p:spPr>
            <a:xfrm flipH="1">
              <a:off x="8112223" y="404664"/>
              <a:ext cx="4194115"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8281096" y="330677"/>
              <a:ext cx="3967296" cy="985057"/>
              <a:chOff x="-461843" y="2729730"/>
              <a:chExt cx="4672947" cy="1377463"/>
            </a:xfrm>
          </p:grpSpPr>
          <p:sp>
            <p:nvSpPr>
              <p:cNvPr id="29" name="文本框 13">
                <a:extLst/>
              </p:cNvPr>
              <p:cNvSpPr txBox="1">
                <a:spLocks noChangeArrowheads="1"/>
              </p:cNvSpPr>
              <p:nvPr/>
            </p:nvSpPr>
            <p:spPr bwMode="auto">
              <a:xfrm>
                <a:off x="-461843" y="2729730"/>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1348278" y="3461620"/>
                <a:ext cx="2862826" cy="584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endParaRPr lang="en-US" altLang="zh-CN" sz="1600">
                  <a:solidFill>
                    <a:srgbClr val="010101"/>
                  </a:solidFill>
                  <a:latin typeface="+mn-lt"/>
                  <a:ea typeface="+mn-ea"/>
                  <a:cs typeface="+mn-ea"/>
                  <a:sym typeface="+mn-lt"/>
                </a:endParaRPr>
              </a:p>
            </p:txBody>
          </p:sp>
          <p:cxnSp>
            <p:nvCxnSpPr>
              <p:cNvPr id="31" name="直接连接符 30">
                <a:extLst/>
              </p:cNvPr>
              <p:cNvCxnSpPr>
                <a:cxnSpLocks/>
              </p:cNvCxnSpPr>
              <p:nvPr/>
            </p:nvCxnSpPr>
            <p:spPr>
              <a:xfrm flipH="1">
                <a:off x="171732" y="3184068"/>
                <a:ext cx="468592" cy="70693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506334" y="3461620"/>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grpSp>
        <p:nvGrpSpPr>
          <p:cNvPr id="39939" name="组合 53"/>
          <p:cNvGrpSpPr>
            <a:grpSpLocks/>
          </p:cNvGrpSpPr>
          <p:nvPr/>
        </p:nvGrpSpPr>
        <p:grpSpPr bwMode="auto">
          <a:xfrm>
            <a:off x="2703513" y="2056280"/>
            <a:ext cx="8723312" cy="4443957"/>
            <a:chOff x="5103102" y="1860604"/>
            <a:chExt cx="6465867" cy="4119696"/>
          </a:xfrm>
        </p:grpSpPr>
        <p:sp>
          <p:nvSpPr>
            <p:cNvPr id="36" name="流程图: 过程 35">
              <a:extLst/>
            </p:cNvPr>
            <p:cNvSpPr/>
            <p:nvPr/>
          </p:nvSpPr>
          <p:spPr>
            <a:xfrm>
              <a:off x="5103102" y="2231503"/>
              <a:ext cx="6465867" cy="3645769"/>
            </a:xfrm>
            <a:prstGeom prst="flowChartProcess">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kern="0">
                <a:solidFill>
                  <a:sysClr val="windowText" lastClr="000000"/>
                </a:solidFill>
                <a:cs typeface="+mn-ea"/>
                <a:sym typeface="+mn-lt"/>
              </a:endParaRPr>
            </a:p>
          </p:txBody>
        </p:sp>
        <p:sp>
          <p:nvSpPr>
            <p:cNvPr id="37" name="矩形 3">
              <a:extLst/>
            </p:cNvPr>
            <p:cNvSpPr>
              <a:spLocks noChangeArrowheads="1"/>
            </p:cNvSpPr>
            <p:nvPr/>
          </p:nvSpPr>
          <p:spPr bwMode="auto">
            <a:xfrm>
              <a:off x="7701655" y="4711799"/>
              <a:ext cx="2584693" cy="311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Tx/>
                <a:buNone/>
                <a:defRPr/>
              </a:pPr>
              <a:endParaRPr lang="zh-CN" altLang="en-US" sz="1400" kern="0">
                <a:solidFill>
                  <a:schemeClr val="bg1">
                    <a:lumMod val="65000"/>
                  </a:schemeClr>
                </a:solidFill>
                <a:latin typeface="+mn-lt"/>
                <a:ea typeface="+mn-ea"/>
                <a:cs typeface="+mn-ea"/>
                <a:sym typeface="+mn-lt"/>
              </a:endParaRPr>
            </a:p>
          </p:txBody>
        </p:sp>
        <p:sp>
          <p:nvSpPr>
            <p:cNvPr id="39" name="矩形 38">
              <a:extLst/>
            </p:cNvPr>
            <p:cNvSpPr/>
            <p:nvPr/>
          </p:nvSpPr>
          <p:spPr>
            <a:xfrm>
              <a:off x="7244056" y="1860604"/>
              <a:ext cx="3901009" cy="599170"/>
            </a:xfrm>
            <a:prstGeom prst="rect">
              <a:avLst/>
            </a:prstGeom>
            <a:solidFill>
              <a:srgbClr val="FFFFFF"/>
            </a:solidFill>
          </p:spPr>
          <p:txBody>
            <a:bodyPr wrap="none">
              <a:spAutoFit/>
            </a:bodyPr>
            <a:lstStyle/>
            <a:p>
              <a:pPr eaLnBrk="1" fontAlgn="auto" hangingPunct="1">
                <a:spcBef>
                  <a:spcPts val="0"/>
                </a:spcBef>
                <a:spcAft>
                  <a:spcPts val="0"/>
                </a:spcAft>
                <a:defRPr/>
              </a:pPr>
              <a:r>
                <a:rPr lang="zh-CN" altLang="en-US" sz="3600" b="1" kern="0">
                  <a:solidFill>
                    <a:srgbClr val="4F4F4F"/>
                  </a:solidFill>
                  <a:latin typeface="+mn-lt"/>
                  <a:ea typeface="+mn-ea"/>
                  <a:cs typeface="+mn-ea"/>
                  <a:sym typeface="+mn-lt"/>
                </a:rPr>
                <a:t>为啥肾病猫老是吐呢？！</a:t>
              </a:r>
            </a:p>
          </p:txBody>
        </p:sp>
        <p:sp>
          <p:nvSpPr>
            <p:cNvPr id="40" name="矩形 3">
              <a:extLst/>
            </p:cNvPr>
            <p:cNvSpPr>
              <a:spLocks noChangeArrowheads="1"/>
            </p:cNvSpPr>
            <p:nvPr/>
          </p:nvSpPr>
          <p:spPr bwMode="auto">
            <a:xfrm>
              <a:off x="7457550" y="2784726"/>
              <a:ext cx="3949643" cy="3195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None/>
                <a:defRPr/>
              </a:pPr>
              <a:endParaRPr lang="en-US" altLang="zh-CN" sz="1600" kern="0">
                <a:solidFill>
                  <a:schemeClr val="bg2">
                    <a:lumMod val="25000"/>
                  </a:schemeClr>
                </a:solidFill>
                <a:latin typeface="+mn-ea"/>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l"/>
                <a:defRPr/>
              </a:pPr>
              <a:r>
                <a:rPr lang="zh-CN" altLang="en-US" sz="2400" kern="0">
                  <a:solidFill>
                    <a:schemeClr val="bg2">
                      <a:lumMod val="25000"/>
                    </a:schemeClr>
                  </a:solidFill>
                  <a:latin typeface="+mn-ea"/>
                  <a:ea typeface="+mn-ea"/>
                  <a:cs typeface="+mn-ea"/>
                  <a:sym typeface="+mn-lt"/>
                </a:rPr>
                <a:t>肾病使得胃酸分泌异常</a:t>
              </a:r>
              <a:endParaRPr lang="en-US" altLang="zh-CN" sz="2400" kern="0">
                <a:solidFill>
                  <a:schemeClr val="bg2">
                    <a:lumMod val="25000"/>
                  </a:schemeClr>
                </a:solidFill>
                <a:latin typeface="+mn-ea"/>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l"/>
                <a:defRPr/>
              </a:pPr>
              <a:r>
                <a:rPr lang="zh-CN" altLang="en-US" sz="2400" b="1" kern="0">
                  <a:solidFill>
                    <a:srgbClr val="C00000"/>
                  </a:solidFill>
                  <a:latin typeface="+mn-ea"/>
                  <a:ea typeface="+mn-ea"/>
                  <a:cs typeface="+mn-ea"/>
                  <a:sym typeface="+mn-lt"/>
                </a:rPr>
                <a:t>尿毒症毒素</a:t>
              </a:r>
              <a:endParaRPr lang="en-US" altLang="zh-CN" sz="2400" b="1" kern="0">
                <a:solidFill>
                  <a:srgbClr val="C00000"/>
                </a:solidFill>
                <a:latin typeface="+mn-ea"/>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l"/>
                <a:defRPr/>
              </a:pPr>
              <a:r>
                <a:rPr lang="zh-CN" altLang="en-US" sz="2400" kern="0">
                  <a:solidFill>
                    <a:schemeClr val="bg2">
                      <a:lumMod val="25000"/>
                    </a:schemeClr>
                  </a:solidFill>
                  <a:latin typeface="+mn-ea"/>
                  <a:ea typeface="+mn-ea"/>
                  <a:cs typeface="+mn-ea"/>
                  <a:sym typeface="+mn-lt"/>
                </a:rPr>
                <a:t>过度补液和心脏问题会导致呕吐</a:t>
              </a:r>
              <a:endParaRPr lang="en-US" altLang="zh-CN" sz="2400" kern="0">
                <a:solidFill>
                  <a:schemeClr val="bg2">
                    <a:lumMod val="25000"/>
                  </a:schemeClr>
                </a:solidFill>
                <a:latin typeface="+mn-ea"/>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l"/>
                <a:defRPr/>
              </a:pPr>
              <a:r>
                <a:rPr lang="zh-CN" altLang="en-US" sz="2400" kern="0">
                  <a:solidFill>
                    <a:schemeClr val="bg2">
                      <a:lumMod val="25000"/>
                    </a:schemeClr>
                  </a:solidFill>
                  <a:latin typeface="+mn-ea"/>
                  <a:ea typeface="+mn-ea"/>
                  <a:cs typeface="+mn-ea"/>
                  <a:sym typeface="+mn-lt"/>
                </a:rPr>
                <a:t>高血磷会导致恶心、呕吐</a:t>
              </a:r>
              <a:endParaRPr lang="en-US" altLang="zh-CN" sz="2400" kern="0">
                <a:solidFill>
                  <a:schemeClr val="bg2">
                    <a:lumMod val="25000"/>
                  </a:schemeClr>
                </a:solidFill>
                <a:latin typeface="+mn-ea"/>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l"/>
                <a:defRPr/>
              </a:pPr>
              <a:r>
                <a:rPr lang="zh-CN" altLang="en-US" sz="2400" kern="0">
                  <a:solidFill>
                    <a:schemeClr val="bg2">
                      <a:lumMod val="25000"/>
                    </a:schemeClr>
                  </a:solidFill>
                  <a:latin typeface="+mn-ea"/>
                  <a:ea typeface="+mn-ea"/>
                  <a:cs typeface="+mn-ea"/>
                  <a:sym typeface="+mn-lt"/>
                </a:rPr>
                <a:t>代谢性酸中毒会导致恶心、呕吐</a:t>
              </a:r>
              <a:endParaRPr lang="en-US" altLang="zh-CN" sz="2400" kern="0">
                <a:solidFill>
                  <a:schemeClr val="bg2">
                    <a:lumMod val="25000"/>
                  </a:schemeClr>
                </a:solidFill>
                <a:latin typeface="+mn-ea"/>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l"/>
                <a:defRPr/>
              </a:pPr>
              <a:r>
                <a:rPr lang="zh-CN" altLang="en-US" sz="2400" kern="0">
                  <a:solidFill>
                    <a:schemeClr val="bg2">
                      <a:lumMod val="25000"/>
                    </a:schemeClr>
                  </a:solidFill>
                  <a:latin typeface="+mn-ea"/>
                  <a:ea typeface="+mn-ea"/>
                  <a:cs typeface="+mn-ea"/>
                  <a:sym typeface="+mn-lt"/>
                </a:rPr>
                <a:t>贫血</a:t>
              </a:r>
              <a:endParaRPr lang="en-US" altLang="zh-CN" sz="2400" kern="0">
                <a:solidFill>
                  <a:schemeClr val="bg2">
                    <a:lumMod val="25000"/>
                  </a:schemeClr>
                </a:solidFill>
                <a:latin typeface="+mn-ea"/>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l"/>
                <a:defRPr/>
              </a:pPr>
              <a:r>
                <a:rPr lang="zh-CN" altLang="en-US" sz="2400" kern="0">
                  <a:solidFill>
                    <a:schemeClr val="bg2">
                      <a:lumMod val="25000"/>
                    </a:schemeClr>
                  </a:solidFill>
                  <a:latin typeface="+mn-ea"/>
                  <a:ea typeface="+mn-ea"/>
                  <a:cs typeface="+mn-ea"/>
                  <a:sym typeface="+mn-lt"/>
                </a:rPr>
                <a:t>其它，我懒得写了</a:t>
              </a:r>
              <a:r>
                <a:rPr lang="en-US" altLang="zh-CN" sz="2400" kern="0">
                  <a:solidFill>
                    <a:schemeClr val="bg2">
                      <a:lumMod val="25000"/>
                    </a:schemeClr>
                  </a:solidFill>
                  <a:latin typeface="+mn-ea"/>
                  <a:ea typeface="+mn-ea"/>
                  <a:cs typeface="+mn-ea"/>
                  <a:sym typeface="+mn-lt"/>
                </a:rPr>
                <a:t>…</a:t>
              </a:r>
              <a:endParaRPr lang="en-US" altLang="zh-CN" sz="1800" kern="0">
                <a:solidFill>
                  <a:schemeClr val="bg2">
                    <a:lumMod val="25000"/>
                  </a:schemeClr>
                </a:solidFill>
                <a:latin typeface="+mn-ea"/>
                <a:ea typeface="+mn-ea"/>
                <a:cs typeface="+mn-ea"/>
                <a:sym typeface="+mn-lt"/>
              </a:endParaRPr>
            </a:p>
            <a:p>
              <a:pPr marL="342900" indent="-342900" eaLnBrk="1" fontAlgn="auto" hangingPunct="1">
                <a:lnSpc>
                  <a:spcPct val="100000"/>
                </a:lnSpc>
                <a:spcBef>
                  <a:spcPct val="0"/>
                </a:spcBef>
                <a:spcAft>
                  <a:spcPts val="0"/>
                </a:spcAft>
                <a:buFont typeface="Wingdings" panose="05000000000000000000" pitchFamily="2" charset="2"/>
                <a:buChar char="l"/>
                <a:defRPr/>
              </a:pPr>
              <a:endParaRPr lang="en-US" altLang="zh-CN" sz="1800" kern="0">
                <a:solidFill>
                  <a:schemeClr val="bg2">
                    <a:lumMod val="25000"/>
                  </a:schemeClr>
                </a:solidFill>
                <a:latin typeface="+mn-ea"/>
                <a:ea typeface="+mn-ea"/>
                <a:cs typeface="+mn-ea"/>
                <a:sym typeface="+mn-lt"/>
              </a:endParaRPr>
            </a:p>
            <a:p>
              <a:pPr eaLnBrk="1" fontAlgn="auto" hangingPunct="1">
                <a:lnSpc>
                  <a:spcPct val="100000"/>
                </a:lnSpc>
                <a:spcBef>
                  <a:spcPct val="0"/>
                </a:spcBef>
                <a:spcAft>
                  <a:spcPts val="0"/>
                </a:spcAft>
                <a:buFontTx/>
                <a:buNone/>
                <a:defRPr/>
              </a:pPr>
              <a:endParaRPr lang="zh-CN" altLang="en-US" sz="1600" b="1" kern="0">
                <a:solidFill>
                  <a:schemeClr val="bg2">
                    <a:lumMod val="25000"/>
                  </a:schemeClr>
                </a:solidFill>
                <a:latin typeface="微软雅黑 Light" panose="020B0502040204020203" pitchFamily="34" charset="-122"/>
                <a:ea typeface="微软雅黑 Light" panose="020B0502040204020203" pitchFamily="34" charset="-122"/>
                <a:cs typeface="+mn-ea"/>
                <a:sym typeface="+mn-lt"/>
              </a:endParaRPr>
            </a:p>
          </p:txBody>
        </p:sp>
      </p:grpSp>
      <p:sp>
        <p:nvSpPr>
          <p:cNvPr id="2" name="文本框 1">
            <a:extLst>
              <a:ext uri="{FF2B5EF4-FFF2-40B4-BE49-F238E27FC236}">
                <a16:creationId xmlns:a16="http://schemas.microsoft.com/office/drawing/2014/main" id="{626E14C6-0CFE-4977-BC70-6856D56C0BC9}"/>
              </a:ext>
            </a:extLst>
          </p:cNvPr>
          <p:cNvSpPr txBox="1"/>
          <p:nvPr/>
        </p:nvSpPr>
        <p:spPr>
          <a:xfrm>
            <a:off x="6231079" y="788714"/>
            <a:ext cx="5980171" cy="523220"/>
          </a:xfrm>
          <a:prstGeom prst="rect">
            <a:avLst/>
          </a:prstGeom>
          <a:noFill/>
        </p:spPr>
        <p:txBody>
          <a:bodyPr wrap="square" rtlCol="0">
            <a:spAutoFit/>
          </a:bodyPr>
          <a:lstStyle/>
          <a:p>
            <a:r>
              <a:rPr lang="zh-CN" altLang="en-US" sz="2800" b="1">
                <a:latin typeface="+mj-ea"/>
                <a:ea typeface="+mj-ea"/>
              </a:rPr>
              <a:t>慢性肾病猫的治疗：呕吐</a:t>
            </a:r>
          </a:p>
        </p:txBody>
      </p:sp>
      <p:pic>
        <p:nvPicPr>
          <p:cNvPr id="4" name="图片 3">
            <a:extLst>
              <a:ext uri="{FF2B5EF4-FFF2-40B4-BE49-F238E27FC236}">
                <a16:creationId xmlns:a16="http://schemas.microsoft.com/office/drawing/2014/main" id="{0D4B1197-624E-4F34-AF7E-6CEF8FCD04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4161" y="2688781"/>
            <a:ext cx="5029526" cy="3118895"/>
          </a:xfrm>
          <a:prstGeom prst="rect">
            <a:avLst/>
          </a:prstGeom>
        </p:spPr>
      </p:pic>
    </p:spTree>
    <p:extLst>
      <p:ext uri="{BB962C8B-B14F-4D97-AF65-F5344CB8AC3E}">
        <p14:creationId xmlns:p14="http://schemas.microsoft.com/office/powerpoint/2010/main" val="277473412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959595"/>
        </a:solidFill>
        <a:effectLst/>
      </p:bgPr>
    </p:bg>
    <p:spTree>
      <p:nvGrpSpPr>
        <p:cNvPr id="1" name=""/>
        <p:cNvGrpSpPr/>
        <p:nvPr/>
      </p:nvGrpSpPr>
      <p:grpSpPr>
        <a:xfrm>
          <a:off x="0" y="0"/>
          <a:ext cx="0" cy="0"/>
          <a:chOff x="0" y="0"/>
          <a:chExt cx="0" cy="0"/>
        </a:xfrm>
      </p:grpSpPr>
      <p:pic>
        <p:nvPicPr>
          <p:cNvPr id="3" name="图片 2">
            <a:extLst/>
          </p:cNvPr>
          <p:cNvPicPr>
            <a:picLocks noChangeAspect="1"/>
          </p:cNvPicPr>
          <p:nvPr/>
        </p:nvPicPr>
        <p:blipFill rotWithShape="1">
          <a:blip r:embed="rId3">
            <a:duotone>
              <a:prstClr val="black"/>
              <a:schemeClr val="accent3">
                <a:tint val="45000"/>
                <a:satMod val="400000"/>
              </a:schemeClr>
            </a:duotone>
            <a:extLst>
              <a:ext uri="{28A0092B-C50C-407E-A947-70E740481C1C}">
                <a14:useLocalDpi xmlns:a14="http://schemas.microsoft.com/office/drawing/2010/main" val="0"/>
              </a:ext>
            </a:extLst>
          </a:blip>
          <a:srcRect l="17921"/>
          <a:stretch/>
        </p:blipFill>
        <p:spPr>
          <a:xfrm>
            <a:off x="0" y="0"/>
            <a:ext cx="10007080" cy="6858000"/>
          </a:xfrm>
          <a:prstGeom prst="rect">
            <a:avLst/>
          </a:prstGeom>
        </p:spPr>
      </p:pic>
      <p:sp>
        <p:nvSpPr>
          <p:cNvPr id="20" name="箭头: 五边形 6">
            <a:extLst/>
          </p:cNvPr>
          <p:cNvSpPr/>
          <p:nvPr/>
        </p:nvSpPr>
        <p:spPr>
          <a:xfrm rot="10800000" flipH="1">
            <a:off x="0" y="404813"/>
            <a:ext cx="9048328" cy="1344612"/>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grpSp>
        <p:nvGrpSpPr>
          <p:cNvPr id="35845" name="组合 22"/>
          <p:cNvGrpSpPr>
            <a:grpSpLocks/>
          </p:cNvGrpSpPr>
          <p:nvPr/>
        </p:nvGrpSpPr>
        <p:grpSpPr bwMode="auto">
          <a:xfrm>
            <a:off x="196850" y="404813"/>
            <a:ext cx="7699349" cy="1120775"/>
            <a:chOff x="-101400" y="2876417"/>
            <a:chExt cx="6487959" cy="1120760"/>
          </a:xfrm>
        </p:grpSpPr>
        <p:sp>
          <p:nvSpPr>
            <p:cNvPr id="25613" name="文本框 13">
              <a:extLst/>
            </p:cNvPr>
            <p:cNvSpPr txBox="1">
              <a:spLocks noChangeArrowheads="1"/>
            </p:cNvSpPr>
            <p:nvPr/>
          </p:nvSpPr>
          <p:spPr bwMode="auto">
            <a:xfrm>
              <a:off x="-101400" y="2876417"/>
              <a:ext cx="1343079" cy="825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600" b="1">
                  <a:solidFill>
                    <a:srgbClr val="010101"/>
                  </a:solidFill>
                  <a:latin typeface="+mn-lt"/>
                  <a:ea typeface="+mn-ea"/>
                  <a:cs typeface="+mn-ea"/>
                  <a:sym typeface="+mn-lt"/>
                </a:rPr>
                <a:t>PART</a:t>
              </a:r>
            </a:p>
          </p:txBody>
        </p:sp>
        <p:sp>
          <p:nvSpPr>
            <p:cNvPr id="25614" name="文本框 14">
              <a:extLst/>
            </p:cNvPr>
            <p:cNvSpPr txBox="1">
              <a:spLocks noChangeArrowheads="1"/>
            </p:cNvSpPr>
            <p:nvPr/>
          </p:nvSpPr>
          <p:spPr bwMode="auto">
            <a:xfrm>
              <a:off x="2321225" y="3201919"/>
              <a:ext cx="4065334" cy="662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b="1">
                  <a:solidFill>
                    <a:srgbClr val="010101"/>
                  </a:solidFill>
                  <a:latin typeface="+mn-ea"/>
                  <a:ea typeface="+mn-ea"/>
                  <a:cs typeface="+mn-ea"/>
                  <a:sym typeface="+mn-lt"/>
                </a:rPr>
                <a:t>慢性肾病猫呕吐没那么简单</a:t>
              </a:r>
              <a:endParaRPr lang="en-US" altLang="zh-CN" b="1">
                <a:solidFill>
                  <a:srgbClr val="010101"/>
                </a:solidFill>
                <a:latin typeface="+mn-ea"/>
                <a:ea typeface="+mn-ea"/>
                <a:cs typeface="+mn-ea"/>
                <a:sym typeface="+mn-lt"/>
              </a:endParaRPr>
            </a:p>
          </p:txBody>
        </p:sp>
        <p:cxnSp>
          <p:nvCxnSpPr>
            <p:cNvPr id="24" name="直接连接符 23">
              <a:extLst/>
            </p:cNvPr>
            <p:cNvCxnSpPr>
              <a:cxnSpLocks/>
            </p:cNvCxnSpPr>
            <p:nvPr/>
          </p:nvCxnSpPr>
          <p:spPr>
            <a:xfrm flipH="1">
              <a:off x="489876" y="3171688"/>
              <a:ext cx="1074196" cy="722302"/>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5616" name="矩形 20">
              <a:extLst/>
            </p:cNvPr>
            <p:cNvSpPr>
              <a:spLocks noChangeArrowheads="1"/>
            </p:cNvSpPr>
            <p:nvPr/>
          </p:nvSpPr>
          <p:spPr bwMode="auto">
            <a:xfrm>
              <a:off x="618298" y="3473309"/>
              <a:ext cx="1577182" cy="523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lvl="1">
                <a:lnSpc>
                  <a:spcPct val="100000"/>
                </a:lnSpc>
                <a:spcBef>
                  <a:spcPct val="0"/>
                </a:spcBef>
                <a:buFontTx/>
                <a:buNone/>
                <a:defRPr/>
              </a:pPr>
              <a:r>
                <a:rPr lang="en-US" altLang="zh-CN" sz="2800" b="1">
                  <a:solidFill>
                    <a:srgbClr val="010101"/>
                  </a:solidFill>
                  <a:latin typeface="+mn-lt"/>
                  <a:ea typeface="+mn-ea"/>
                  <a:cs typeface="+mn-ea"/>
                  <a:sym typeface="+mn-lt"/>
                </a:rPr>
                <a:t>THREE</a:t>
              </a:r>
              <a:endParaRPr lang="zh-CN" altLang="en-US" sz="1400">
                <a:latin typeface="+mn-lt"/>
                <a:ea typeface="+mn-ea"/>
                <a:cs typeface="+mn-ea"/>
                <a:sym typeface="+mn-lt"/>
              </a:endParaRPr>
            </a:p>
          </p:txBody>
        </p:sp>
      </p:grpSp>
      <p:sp>
        <p:nvSpPr>
          <p:cNvPr id="2" name="文本框 1">
            <a:extLst>
              <a:ext uri="{FF2B5EF4-FFF2-40B4-BE49-F238E27FC236}">
                <a16:creationId xmlns:a16="http://schemas.microsoft.com/office/drawing/2014/main" id="{8C167C1C-50B6-46B8-B24A-9CB126B44CCC}"/>
              </a:ext>
            </a:extLst>
          </p:cNvPr>
          <p:cNvSpPr txBox="1"/>
          <p:nvPr/>
        </p:nvSpPr>
        <p:spPr>
          <a:xfrm>
            <a:off x="1050925" y="2708920"/>
            <a:ext cx="10242674" cy="2400657"/>
          </a:xfrm>
          <a:prstGeom prst="rect">
            <a:avLst/>
          </a:prstGeom>
          <a:noFill/>
        </p:spPr>
        <p:txBody>
          <a:bodyPr wrap="square" rtlCol="0">
            <a:spAutoFit/>
          </a:bodyPr>
          <a:lstStyle/>
          <a:p>
            <a:r>
              <a:rPr lang="zh-CN" altLang="en-US" sz="9600">
                <a:solidFill>
                  <a:schemeClr val="bg1"/>
                </a:solidFill>
                <a:effectLst>
                  <a:outerShdw blurRad="38100" dist="38100" dir="2700000" algn="tl">
                    <a:srgbClr val="000000">
                      <a:alpha val="43137"/>
                    </a:srgbClr>
                  </a:outerShdw>
                </a:effectLst>
              </a:rPr>
              <a:t>恶心？胃酸过多？</a:t>
            </a:r>
            <a:endParaRPr lang="en-US" altLang="zh-CN" sz="11500">
              <a:solidFill>
                <a:schemeClr val="bg1"/>
              </a:solidFill>
              <a:effectLst>
                <a:outerShdw blurRad="38100" dist="38100" dir="2700000" algn="tl">
                  <a:srgbClr val="000000">
                    <a:alpha val="43137"/>
                  </a:srgbClr>
                </a:outerShdw>
              </a:effectLst>
            </a:endParaRPr>
          </a:p>
          <a:p>
            <a:pPr marL="457200" indent="-457200">
              <a:buFont typeface="Wingdings" panose="05000000000000000000" pitchFamily="2" charset="2"/>
              <a:buChar char="u"/>
            </a:pPr>
            <a:endParaRPr lang="en-US" altLang="zh-CN" sz="2800" b="1">
              <a:solidFill>
                <a:schemeClr val="bg1"/>
              </a:solidFill>
              <a:effectLst>
                <a:outerShdw blurRad="38100" dist="38100" dir="2700000" algn="tl">
                  <a:srgbClr val="000000">
                    <a:alpha val="43137"/>
                  </a:srgbClr>
                </a:outerShdw>
              </a:effectLst>
              <a:latin typeface="+mj-ea"/>
              <a:ea typeface="+mj-ea"/>
            </a:endParaRPr>
          </a:p>
          <a:p>
            <a:pPr marL="742950" lvl="1" indent="-285750">
              <a:buFont typeface="Wingdings" panose="05000000000000000000" pitchFamily="2" charset="2"/>
              <a:buChar char="u"/>
            </a:pPr>
            <a:endParaRPr lang="en-US" altLang="zh-CN" sz="1600" b="1">
              <a:solidFill>
                <a:schemeClr val="bg1"/>
              </a:solidFill>
              <a:effectLst>
                <a:outerShdw blurRad="38100" dist="38100" dir="2700000" algn="tl">
                  <a:srgbClr val="000000">
                    <a:alpha val="43137"/>
                  </a:srgbClr>
                </a:outerShdw>
              </a:effectLst>
              <a:latin typeface="+mj-ea"/>
              <a:ea typeface="+mj-ea"/>
            </a:endParaRPr>
          </a:p>
          <a:p>
            <a:endParaRPr lang="zh-CN" altLang="en-US" sz="1000">
              <a:solidFill>
                <a:schemeClr val="bg1"/>
              </a:solidFill>
              <a:effectLst>
                <a:outerShdw blurRad="38100" dist="38100" dir="2700000" algn="tl">
                  <a:srgbClr val="000000">
                    <a:alpha val="43137"/>
                  </a:srgbClr>
                </a:outerShdw>
              </a:effectLst>
            </a:endParaRPr>
          </a:p>
        </p:txBody>
      </p:sp>
      <p:sp>
        <p:nvSpPr>
          <p:cNvPr id="7" name="矩形 6">
            <a:extLst>
              <a:ext uri="{FF2B5EF4-FFF2-40B4-BE49-F238E27FC236}">
                <a16:creationId xmlns:a16="http://schemas.microsoft.com/office/drawing/2014/main" id="{EF9F0EB9-F37C-40C7-8A07-DAE67C126793}"/>
              </a:ext>
            </a:extLst>
          </p:cNvPr>
          <p:cNvSpPr/>
          <p:nvPr/>
        </p:nvSpPr>
        <p:spPr>
          <a:xfrm>
            <a:off x="1811685" y="5390133"/>
            <a:ext cx="7998567" cy="1200329"/>
          </a:xfrm>
          <a:prstGeom prst="rect">
            <a:avLst/>
          </a:prstGeom>
        </p:spPr>
        <p:txBody>
          <a:bodyPr wrap="square">
            <a:spAutoFit/>
          </a:bodyPr>
          <a:lstStyle/>
          <a:p>
            <a:pPr marL="285750" indent="-285750">
              <a:buFont typeface="Wingdings" panose="05000000000000000000" pitchFamily="2" charset="2"/>
              <a:buChar char="u"/>
            </a:pPr>
            <a:r>
              <a:rPr lang="zh-CN" altLang="en-US" b="1">
                <a:solidFill>
                  <a:schemeClr val="bg1"/>
                </a:solidFill>
                <a:effectLst>
                  <a:outerShdw blurRad="38100" dist="38100" dir="2700000" algn="tl">
                    <a:srgbClr val="000000">
                      <a:alpha val="43137"/>
                    </a:srgbClr>
                  </a:outerShdw>
                </a:effectLst>
                <a:latin typeface="+mj-ea"/>
              </a:rPr>
              <a:t>肾病猫几乎都会吐，但原因各异</a:t>
            </a:r>
            <a:endParaRPr lang="en-US" altLang="zh-CN" b="1">
              <a:solidFill>
                <a:schemeClr val="bg1"/>
              </a:solidFill>
              <a:effectLst>
                <a:outerShdw blurRad="38100" dist="38100" dir="2700000" algn="tl">
                  <a:srgbClr val="000000">
                    <a:alpha val="43137"/>
                  </a:srgbClr>
                </a:outerShdw>
              </a:effectLst>
              <a:latin typeface="+mj-ea"/>
            </a:endParaRPr>
          </a:p>
          <a:p>
            <a:pPr marL="285750" indent="-285750">
              <a:buFont typeface="Wingdings" panose="05000000000000000000" pitchFamily="2" charset="2"/>
              <a:buChar char="u"/>
            </a:pPr>
            <a:r>
              <a:rPr lang="zh-CN" altLang="en-US" b="1">
                <a:solidFill>
                  <a:schemeClr val="bg1"/>
                </a:solidFill>
                <a:effectLst>
                  <a:outerShdw blurRad="38100" dist="38100" dir="2700000" algn="tl">
                    <a:srgbClr val="000000">
                      <a:alpha val="43137"/>
                    </a:srgbClr>
                  </a:outerShdw>
                </a:effectLst>
                <a:latin typeface="+mj-ea"/>
              </a:rPr>
              <a:t>有时缘由是来自胃酸分泌异常</a:t>
            </a:r>
            <a:endParaRPr lang="en-US" altLang="zh-CN" b="1">
              <a:solidFill>
                <a:schemeClr val="bg1"/>
              </a:solidFill>
              <a:effectLst>
                <a:outerShdw blurRad="38100" dist="38100" dir="2700000" algn="tl">
                  <a:srgbClr val="000000">
                    <a:alpha val="43137"/>
                  </a:srgbClr>
                </a:outerShdw>
              </a:effectLst>
              <a:latin typeface="+mj-ea"/>
            </a:endParaRPr>
          </a:p>
          <a:p>
            <a:pPr marL="285750" indent="-285750">
              <a:buFont typeface="Wingdings" panose="05000000000000000000" pitchFamily="2" charset="2"/>
              <a:buChar char="u"/>
            </a:pPr>
            <a:r>
              <a:rPr lang="zh-CN" altLang="en-US" b="1">
                <a:solidFill>
                  <a:schemeClr val="bg1"/>
                </a:solidFill>
                <a:effectLst>
                  <a:outerShdw blurRad="38100" dist="38100" dir="2700000" algn="tl">
                    <a:srgbClr val="000000">
                      <a:alpha val="43137"/>
                    </a:srgbClr>
                  </a:outerShdw>
                </a:effectLst>
                <a:latin typeface="+mj-ea"/>
              </a:rPr>
              <a:t>有时是尿毒症毒素、血磷、酸中毒导致的恶心、难受而吐</a:t>
            </a:r>
            <a:endParaRPr lang="en-US" altLang="zh-CN" b="1">
              <a:solidFill>
                <a:schemeClr val="bg1"/>
              </a:solidFill>
              <a:effectLst>
                <a:outerShdw blurRad="38100" dist="38100" dir="2700000" algn="tl">
                  <a:srgbClr val="000000">
                    <a:alpha val="43137"/>
                  </a:srgbClr>
                </a:outerShdw>
              </a:effectLst>
              <a:latin typeface="+mj-ea"/>
            </a:endParaRPr>
          </a:p>
          <a:p>
            <a:pPr marL="285750" indent="-285750">
              <a:buFont typeface="Wingdings" panose="05000000000000000000" pitchFamily="2" charset="2"/>
              <a:buChar char="u"/>
            </a:pPr>
            <a:r>
              <a:rPr lang="zh-CN" altLang="en-US" b="1">
                <a:solidFill>
                  <a:schemeClr val="bg1"/>
                </a:solidFill>
                <a:effectLst>
                  <a:outerShdw blurRad="38100" dist="38100" dir="2700000" algn="tl">
                    <a:srgbClr val="000000">
                      <a:alpha val="43137"/>
                    </a:srgbClr>
                  </a:outerShdw>
                </a:effectLst>
                <a:latin typeface="+mj-ea"/>
              </a:rPr>
              <a:t>用药存在差异</a:t>
            </a:r>
            <a:endParaRPr lang="en-US" altLang="zh-CN" b="1">
              <a:solidFill>
                <a:schemeClr val="bg1"/>
              </a:solidFill>
              <a:effectLst>
                <a:outerShdw blurRad="38100" dist="38100" dir="2700000" algn="tl">
                  <a:srgbClr val="000000">
                    <a:alpha val="43137"/>
                  </a:srgbClr>
                </a:outerShdw>
              </a:effectLst>
              <a:latin typeface="+mj-ea"/>
            </a:endParaRPr>
          </a:p>
        </p:txBody>
      </p:sp>
      <p:sp>
        <p:nvSpPr>
          <p:cNvPr id="4" name="文本框 3">
            <a:extLst>
              <a:ext uri="{FF2B5EF4-FFF2-40B4-BE49-F238E27FC236}">
                <a16:creationId xmlns:a16="http://schemas.microsoft.com/office/drawing/2014/main" id="{705849F6-70C9-4546-8BEB-A8EF5CB364D8}"/>
              </a:ext>
            </a:extLst>
          </p:cNvPr>
          <p:cNvSpPr txBox="1"/>
          <p:nvPr/>
        </p:nvSpPr>
        <p:spPr>
          <a:xfrm>
            <a:off x="1415553" y="4219253"/>
            <a:ext cx="8136904" cy="461665"/>
          </a:xfrm>
          <a:prstGeom prst="rect">
            <a:avLst/>
          </a:prstGeom>
          <a:noFill/>
        </p:spPr>
        <p:txBody>
          <a:bodyPr wrap="square" rtlCol="0">
            <a:spAutoFit/>
          </a:bodyPr>
          <a:lstStyle/>
          <a:p>
            <a:r>
              <a:rPr lang="zh-CN" altLang="en-US" sz="2400" b="1">
                <a:solidFill>
                  <a:schemeClr val="bg1"/>
                </a:solidFill>
                <a:effectLst>
                  <a:outerShdw blurRad="38100" dist="38100" dir="2700000" algn="tl">
                    <a:srgbClr val="000000">
                      <a:alpha val="43137"/>
                    </a:srgbClr>
                  </a:outerShdw>
                </a:effectLst>
                <a:latin typeface="Bahnschrift Light Condensed" panose="020B0502040204020203" pitchFamily="34" charset="0"/>
              </a:rPr>
              <a:t>（</a:t>
            </a:r>
            <a:r>
              <a:rPr lang="en-US" altLang="zh-CN" sz="2400" b="1">
                <a:solidFill>
                  <a:schemeClr val="bg1"/>
                </a:solidFill>
                <a:effectLst>
                  <a:outerShdw blurRad="38100" dist="38100" dir="2700000" algn="tl">
                    <a:srgbClr val="000000">
                      <a:alpha val="43137"/>
                    </a:srgbClr>
                  </a:outerShdw>
                </a:effectLst>
                <a:latin typeface="Bahnschrift Light Condensed" panose="020B0502040204020203" pitchFamily="34" charset="0"/>
              </a:rPr>
              <a:t>nausea</a:t>
            </a:r>
            <a:r>
              <a:rPr lang="zh-CN" altLang="en-US" sz="2400" b="1">
                <a:solidFill>
                  <a:schemeClr val="bg1"/>
                </a:solidFill>
                <a:effectLst>
                  <a:outerShdw blurRad="38100" dist="38100" dir="2700000" algn="tl">
                    <a:srgbClr val="000000">
                      <a:alpha val="43137"/>
                    </a:srgbClr>
                  </a:outerShdw>
                </a:effectLst>
                <a:latin typeface="Bahnschrift Light Condensed" panose="020B0502040204020203" pitchFamily="34" charset="0"/>
              </a:rPr>
              <a:t>）                                                                                （</a:t>
            </a:r>
            <a:r>
              <a:rPr lang="en-US" altLang="zh-CN" sz="2400" b="1">
                <a:solidFill>
                  <a:schemeClr val="bg1"/>
                </a:solidFill>
                <a:effectLst>
                  <a:outerShdw blurRad="38100" dist="38100" dir="2700000" algn="tl">
                    <a:srgbClr val="000000">
                      <a:alpha val="43137"/>
                    </a:srgbClr>
                  </a:outerShdw>
                </a:effectLst>
                <a:latin typeface="Bahnschrift Light Condensed" panose="020B0502040204020203" pitchFamily="34" charset="0"/>
              </a:rPr>
              <a:t>gastric hyperacidity</a:t>
            </a:r>
            <a:r>
              <a:rPr lang="zh-CN" altLang="en-US" sz="2400" b="1">
                <a:solidFill>
                  <a:schemeClr val="bg1"/>
                </a:solidFill>
                <a:effectLst>
                  <a:outerShdw blurRad="38100" dist="38100" dir="2700000" algn="tl">
                    <a:srgbClr val="000000">
                      <a:alpha val="43137"/>
                    </a:srgbClr>
                  </a:outerShdw>
                </a:effectLst>
                <a:latin typeface="Bahnschrift Light Condensed" panose="020B0502040204020203" pitchFamily="34" charset="0"/>
              </a:rPr>
              <a:t>）                                                         </a:t>
            </a:r>
          </a:p>
        </p:txBody>
      </p:sp>
    </p:spTree>
    <p:extLst>
      <p:ext uri="{BB962C8B-B14F-4D97-AF65-F5344CB8AC3E}">
        <p14:creationId xmlns:p14="http://schemas.microsoft.com/office/powerpoint/2010/main" val="124243131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p:cNvPr>
          <p:cNvGrpSpPr/>
          <p:nvPr/>
        </p:nvGrpSpPr>
        <p:grpSpPr>
          <a:xfrm>
            <a:off x="4007769" y="534971"/>
            <a:ext cx="8162478" cy="1178915"/>
            <a:chOff x="7629599" y="187644"/>
            <a:chExt cx="4676739" cy="1178915"/>
          </a:xfrm>
          <a:effectLst>
            <a:outerShdw blurRad="50800" dist="38100" dir="5400000" algn="t" rotWithShape="0">
              <a:prstClr val="black">
                <a:alpha val="40000"/>
              </a:prstClr>
            </a:outerShdw>
          </a:effectLst>
        </p:grpSpPr>
        <p:sp>
          <p:nvSpPr>
            <p:cNvPr id="27" name="箭头: 五边形 6">
              <a:extLst/>
            </p:cNvPr>
            <p:cNvSpPr/>
            <p:nvPr/>
          </p:nvSpPr>
          <p:spPr>
            <a:xfrm flipH="1">
              <a:off x="7629599" y="404664"/>
              <a:ext cx="4676739"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7818029" y="187644"/>
              <a:ext cx="4436286" cy="1110187"/>
              <a:chOff x="-1007275" y="2529717"/>
              <a:chExt cx="5225356" cy="1552439"/>
            </a:xfrm>
          </p:grpSpPr>
          <p:sp>
            <p:nvSpPr>
              <p:cNvPr id="29" name="文本框 13">
                <a:extLst/>
              </p:cNvPr>
              <p:cNvSpPr txBox="1">
                <a:spLocks noChangeArrowheads="1"/>
              </p:cNvSpPr>
              <p:nvPr/>
            </p:nvSpPr>
            <p:spPr bwMode="auto">
              <a:xfrm>
                <a:off x="-1007275" y="2529717"/>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714609" y="3048121"/>
                <a:ext cx="3503472" cy="81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latin typeface="+mn-lt"/>
                    <a:ea typeface="+mn-ea"/>
                    <a:cs typeface="+mn-ea"/>
                    <a:sym typeface="+mn-lt"/>
                  </a:rPr>
                  <a:t>猫慢性肾病治疗</a:t>
                </a:r>
                <a:r>
                  <a:rPr lang="en-US" altLang="zh-CN" sz="2400" b="1">
                    <a:solidFill>
                      <a:srgbClr val="010101"/>
                    </a:solidFill>
                    <a:latin typeface="+mn-lt"/>
                    <a:ea typeface="+mn-ea"/>
                    <a:cs typeface="+mn-ea"/>
                    <a:sym typeface="+mn-lt"/>
                  </a:rPr>
                  <a:t>:</a:t>
                </a:r>
                <a:r>
                  <a:rPr lang="zh-CN" altLang="en-US" sz="2400" b="1">
                    <a:solidFill>
                      <a:srgbClr val="010101"/>
                    </a:solidFill>
                    <a:latin typeface="+mn-lt"/>
                    <a:ea typeface="+mn-ea"/>
                    <a:cs typeface="+mn-ea"/>
                    <a:sym typeface="+mn-lt"/>
                  </a:rPr>
                  <a:t>呕吐与恶心</a:t>
                </a:r>
                <a:endParaRPr lang="en-US" altLang="zh-CN" sz="2400" b="1">
                  <a:solidFill>
                    <a:srgbClr val="010101"/>
                  </a:solidFill>
                  <a:latin typeface="+mn-lt"/>
                  <a:ea typeface="+mn-ea"/>
                  <a:cs typeface="+mn-ea"/>
                  <a:sym typeface="+mn-lt"/>
                </a:endParaRPr>
              </a:p>
            </p:txBody>
          </p:sp>
          <p:cxnSp>
            <p:nvCxnSpPr>
              <p:cNvPr id="31" name="直接连接符 30">
                <a:extLst/>
              </p:cNvPr>
              <p:cNvCxnSpPr>
                <a:cxnSpLocks/>
              </p:cNvCxnSpPr>
              <p:nvPr/>
            </p:nvCxnSpPr>
            <p:spPr>
              <a:xfrm flipH="1">
                <a:off x="-442778" y="3180446"/>
                <a:ext cx="468592" cy="706937"/>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174743" y="3436583"/>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cxnSp>
        <p:nvCxnSpPr>
          <p:cNvPr id="23" name="直接连接符 22">
            <a:extLst>
              <a:ext uri="{FF2B5EF4-FFF2-40B4-BE49-F238E27FC236}">
                <a16:creationId xmlns:a16="http://schemas.microsoft.com/office/drawing/2014/main" id="{A6ED08FA-2943-4D08-91B5-062B4352A4BC}"/>
              </a:ext>
            </a:extLst>
          </p:cNvPr>
          <p:cNvCxnSpPr/>
          <p:nvPr/>
        </p:nvCxnSpPr>
        <p:spPr>
          <a:xfrm flipH="1">
            <a:off x="5951984" y="3212976"/>
            <a:ext cx="19050" cy="1079500"/>
          </a:xfrm>
          <a:prstGeom prst="line">
            <a:avLst/>
          </a:prstGeom>
          <a:ln w="50800">
            <a:solidFill>
              <a:srgbClr val="4F4F4F"/>
            </a:soli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7B608218-4F2E-44A0-8E04-A0633D2811E6}"/>
              </a:ext>
            </a:extLst>
          </p:cNvPr>
          <p:cNvSpPr txBox="1"/>
          <p:nvPr/>
        </p:nvSpPr>
        <p:spPr>
          <a:xfrm>
            <a:off x="1775520" y="4949117"/>
            <a:ext cx="3024336" cy="588977"/>
          </a:xfrm>
          <a:prstGeom prst="rect">
            <a:avLst/>
          </a:prstGeom>
          <a:noFill/>
        </p:spPr>
        <p:txBody>
          <a:bodyPr wrap="square" rtlCol="0">
            <a:spAutoFit/>
          </a:bodyPr>
          <a:lstStyle/>
          <a:p>
            <a:endParaRPr lang="zh-CN" altLang="en-US"/>
          </a:p>
        </p:txBody>
      </p:sp>
      <p:sp>
        <p:nvSpPr>
          <p:cNvPr id="3" name="文本框 2">
            <a:extLst>
              <a:ext uri="{FF2B5EF4-FFF2-40B4-BE49-F238E27FC236}">
                <a16:creationId xmlns:a16="http://schemas.microsoft.com/office/drawing/2014/main" id="{89AC16F3-24A8-41BB-AEF9-4055B0DAF1B5}"/>
              </a:ext>
            </a:extLst>
          </p:cNvPr>
          <p:cNvSpPr txBox="1"/>
          <p:nvPr/>
        </p:nvSpPr>
        <p:spPr>
          <a:xfrm>
            <a:off x="983432" y="2420888"/>
            <a:ext cx="2141190" cy="3456384"/>
          </a:xfrm>
          <a:prstGeom prst="rect">
            <a:avLst/>
          </a:prstGeom>
          <a:noFill/>
        </p:spPr>
        <p:txBody>
          <a:bodyPr wrap="square" rtlCol="0">
            <a:spAutoFit/>
          </a:bodyPr>
          <a:lstStyle/>
          <a:p>
            <a:endParaRPr lang="zh-CN" altLang="en-US"/>
          </a:p>
        </p:txBody>
      </p:sp>
      <p:sp>
        <p:nvSpPr>
          <p:cNvPr id="4" name="文本框 3">
            <a:extLst>
              <a:ext uri="{FF2B5EF4-FFF2-40B4-BE49-F238E27FC236}">
                <a16:creationId xmlns:a16="http://schemas.microsoft.com/office/drawing/2014/main" id="{2973D6D9-FAB9-4311-A1AA-1F53108CC07D}"/>
              </a:ext>
            </a:extLst>
          </p:cNvPr>
          <p:cNvSpPr txBox="1"/>
          <p:nvPr/>
        </p:nvSpPr>
        <p:spPr>
          <a:xfrm>
            <a:off x="6348017" y="2121774"/>
            <a:ext cx="2607144" cy="3416320"/>
          </a:xfrm>
          <a:prstGeom prst="rect">
            <a:avLst/>
          </a:prstGeom>
          <a:noFill/>
        </p:spPr>
        <p:txBody>
          <a:bodyPr wrap="square" rtlCol="0">
            <a:spAutoFit/>
          </a:bodyPr>
          <a:lstStyle/>
          <a:p>
            <a:endParaRPr lang="en-US" altLang="zh-CN" b="1">
              <a:latin typeface="+mn-ea"/>
              <a:ea typeface="+mn-ea"/>
            </a:endParaRPr>
          </a:p>
          <a:p>
            <a:pPr marL="285750" indent="-285750">
              <a:buFont typeface="Wingdings" panose="05000000000000000000" pitchFamily="2" charset="2"/>
              <a:buChar char="u"/>
            </a:pPr>
            <a:r>
              <a:rPr lang="zh-CN" altLang="en-US" b="1">
                <a:latin typeface="+mn-ea"/>
                <a:ea typeface="+mn-ea"/>
              </a:rPr>
              <a:t>看着水盆、饭碗不动</a:t>
            </a:r>
            <a:endParaRPr lang="en-US" altLang="zh-CN" b="1">
              <a:latin typeface="+mn-ea"/>
              <a:ea typeface="+mn-ea"/>
            </a:endParaRPr>
          </a:p>
          <a:p>
            <a:pPr marL="285750" indent="-285750">
              <a:buFont typeface="Wingdings" panose="05000000000000000000" pitchFamily="2" charset="2"/>
              <a:buChar char="u"/>
            </a:pPr>
            <a:r>
              <a:rPr lang="zh-CN" altLang="en-US" b="1">
                <a:latin typeface="+mn-ea"/>
                <a:ea typeface="+mn-ea"/>
              </a:rPr>
              <a:t>磨牙</a:t>
            </a:r>
            <a:endParaRPr lang="en-US" altLang="zh-CN" b="1">
              <a:latin typeface="+mn-ea"/>
              <a:ea typeface="+mn-ea"/>
            </a:endParaRPr>
          </a:p>
          <a:p>
            <a:pPr marL="285750" indent="-285750">
              <a:buFont typeface="Wingdings" panose="05000000000000000000" pitchFamily="2" charset="2"/>
              <a:buChar char="u"/>
            </a:pPr>
            <a:r>
              <a:rPr lang="zh-CN" altLang="en-US" b="1">
                <a:latin typeface="+mn-ea"/>
                <a:ea typeface="+mn-ea"/>
              </a:rPr>
              <a:t>食欲差</a:t>
            </a:r>
            <a:endParaRPr lang="en-US" altLang="zh-CN" b="1">
              <a:latin typeface="+mn-ea"/>
              <a:ea typeface="+mn-ea"/>
            </a:endParaRPr>
          </a:p>
          <a:p>
            <a:pPr marL="285750" indent="-285750">
              <a:buFont typeface="Wingdings" panose="05000000000000000000" pitchFamily="2" charset="2"/>
              <a:buChar char="u"/>
            </a:pPr>
            <a:r>
              <a:rPr lang="zh-CN" altLang="en-US" b="1">
                <a:latin typeface="+mn-ea"/>
                <a:ea typeface="+mn-ea"/>
              </a:rPr>
              <a:t>夜晚嚎叫</a:t>
            </a:r>
            <a:endParaRPr lang="en-US" altLang="zh-CN" b="1">
              <a:latin typeface="+mn-ea"/>
              <a:ea typeface="+mn-ea"/>
            </a:endParaRPr>
          </a:p>
          <a:p>
            <a:pPr marL="285750" indent="-285750">
              <a:buFont typeface="Wingdings" panose="05000000000000000000" pitchFamily="2" charset="2"/>
              <a:buChar char="u"/>
            </a:pPr>
            <a:r>
              <a:rPr lang="zh-CN" altLang="en-US" b="1">
                <a:latin typeface="+mn-ea"/>
                <a:ea typeface="+mn-ea"/>
              </a:rPr>
              <a:t>老是舔嘴</a:t>
            </a:r>
            <a:endParaRPr lang="en-US" altLang="zh-CN" b="1">
              <a:latin typeface="+mn-ea"/>
              <a:ea typeface="+mn-ea"/>
            </a:endParaRPr>
          </a:p>
          <a:p>
            <a:pPr marL="285750" indent="-285750">
              <a:buFont typeface="Wingdings" panose="05000000000000000000" pitchFamily="2" charset="2"/>
              <a:buChar char="u"/>
            </a:pPr>
            <a:r>
              <a:rPr lang="zh-CN" altLang="en-US" b="1">
                <a:latin typeface="+mn-ea"/>
                <a:ea typeface="+mn-ea"/>
              </a:rPr>
              <a:t>流口水不停</a:t>
            </a:r>
            <a:endParaRPr lang="en-US" altLang="zh-CN" b="1">
              <a:latin typeface="+mn-ea"/>
              <a:ea typeface="+mn-ea"/>
            </a:endParaRPr>
          </a:p>
          <a:p>
            <a:pPr marL="285750" indent="-285750">
              <a:buFont typeface="Wingdings" panose="05000000000000000000" pitchFamily="2" charset="2"/>
              <a:buChar char="u"/>
            </a:pPr>
            <a:r>
              <a:rPr lang="zh-CN" altLang="en-US" b="1">
                <a:latin typeface="+mn-ea"/>
                <a:ea typeface="+mn-ea"/>
              </a:rPr>
              <a:t>吐泡沫、清水</a:t>
            </a:r>
            <a:endParaRPr lang="en-US" altLang="zh-CN" b="1">
              <a:latin typeface="+mn-ea"/>
              <a:ea typeface="+mn-ea"/>
            </a:endParaRPr>
          </a:p>
          <a:p>
            <a:pPr marL="285750" indent="-285750">
              <a:buFont typeface="Wingdings" panose="05000000000000000000" pitchFamily="2" charset="2"/>
              <a:buChar char="u"/>
            </a:pPr>
            <a:r>
              <a:rPr lang="zh-CN" altLang="en-US" b="1">
                <a:latin typeface="+mn-ea"/>
                <a:ea typeface="+mn-ea"/>
              </a:rPr>
              <a:t>蜷缩在水盆边上</a:t>
            </a:r>
            <a:endParaRPr lang="en-US" altLang="zh-CN" b="1">
              <a:latin typeface="+mn-ea"/>
              <a:ea typeface="+mn-ea"/>
            </a:endParaRPr>
          </a:p>
          <a:p>
            <a:pPr marL="285750" indent="-285750">
              <a:buFont typeface="Wingdings" panose="05000000000000000000" pitchFamily="2" charset="2"/>
              <a:buChar char="u"/>
            </a:pPr>
            <a:r>
              <a:rPr lang="zh-CN" altLang="en-US" b="1">
                <a:latin typeface="+mn-ea"/>
                <a:ea typeface="+mn-ea"/>
              </a:rPr>
              <a:t>只吃稀的不吃干的</a:t>
            </a:r>
            <a:endParaRPr lang="en-US" altLang="zh-CN" b="1">
              <a:latin typeface="+mn-ea"/>
              <a:ea typeface="+mn-ea"/>
            </a:endParaRPr>
          </a:p>
          <a:p>
            <a:pPr marL="285750" indent="-285750">
              <a:buFont typeface="Wingdings" panose="05000000000000000000" pitchFamily="2" charset="2"/>
              <a:buChar char="u"/>
            </a:pPr>
            <a:r>
              <a:rPr lang="zh-CN" altLang="en-US" b="1">
                <a:latin typeface="+mn-ea"/>
                <a:ea typeface="+mn-ea"/>
              </a:rPr>
              <a:t>以不舒服的姿势硬撑身体</a:t>
            </a:r>
            <a:r>
              <a:rPr lang="zh-CN" altLang="en-US" sz="1600">
                <a:latin typeface="+mn-ea"/>
                <a:ea typeface="+mn-ea"/>
              </a:rPr>
              <a:t>（如右图）</a:t>
            </a:r>
            <a:endParaRPr lang="zh-CN" altLang="en-US">
              <a:latin typeface="+mn-ea"/>
              <a:ea typeface="+mn-ea"/>
            </a:endParaRPr>
          </a:p>
        </p:txBody>
      </p:sp>
      <p:sp>
        <p:nvSpPr>
          <p:cNvPr id="11" name="文本框 10">
            <a:extLst>
              <a:ext uri="{FF2B5EF4-FFF2-40B4-BE49-F238E27FC236}">
                <a16:creationId xmlns:a16="http://schemas.microsoft.com/office/drawing/2014/main" id="{9C6EAAAC-2054-4AEC-BBA6-84036AAC94E9}"/>
              </a:ext>
            </a:extLst>
          </p:cNvPr>
          <p:cNvSpPr txBox="1"/>
          <p:nvPr/>
        </p:nvSpPr>
        <p:spPr>
          <a:xfrm>
            <a:off x="2420439" y="3207021"/>
            <a:ext cx="3021987" cy="1200329"/>
          </a:xfrm>
          <a:prstGeom prst="rect">
            <a:avLst/>
          </a:prstGeom>
          <a:noFill/>
        </p:spPr>
        <p:txBody>
          <a:bodyPr wrap="square" rtlCol="0">
            <a:spAutoFit/>
          </a:bodyPr>
          <a:lstStyle/>
          <a:p>
            <a:r>
              <a:rPr lang="zh-CN" altLang="en-US" sz="3600" b="1">
                <a:effectLst>
                  <a:outerShdw blurRad="38100" dist="38100" dir="2700000" algn="tl">
                    <a:srgbClr val="000000">
                      <a:alpha val="43137"/>
                    </a:srgbClr>
                  </a:outerShdw>
                </a:effectLst>
              </a:rPr>
              <a:t>猫恶心、难受的常见表现有</a:t>
            </a:r>
          </a:p>
        </p:txBody>
      </p:sp>
      <p:pic>
        <p:nvPicPr>
          <p:cNvPr id="14" name="图片 13">
            <a:extLst>
              <a:ext uri="{FF2B5EF4-FFF2-40B4-BE49-F238E27FC236}">
                <a16:creationId xmlns:a16="http://schemas.microsoft.com/office/drawing/2014/main" id="{DD70D643-0553-4F86-ABE0-CE48096232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83769" y="3212976"/>
            <a:ext cx="2374202" cy="1904360"/>
          </a:xfrm>
          <a:prstGeom prst="rect">
            <a:avLst/>
          </a:prstGeom>
        </p:spPr>
      </p:pic>
      <p:sp>
        <p:nvSpPr>
          <p:cNvPr id="15" name="矩形 14">
            <a:extLst>
              <a:ext uri="{FF2B5EF4-FFF2-40B4-BE49-F238E27FC236}">
                <a16:creationId xmlns:a16="http://schemas.microsoft.com/office/drawing/2014/main" id="{04D6AD8E-268F-4634-A4EB-82F888690C25}"/>
              </a:ext>
            </a:extLst>
          </p:cNvPr>
          <p:cNvSpPr/>
          <p:nvPr/>
        </p:nvSpPr>
        <p:spPr>
          <a:xfrm>
            <a:off x="1080909" y="4407350"/>
            <a:ext cx="4489360" cy="646331"/>
          </a:xfrm>
          <a:prstGeom prst="rect">
            <a:avLst/>
          </a:prstGeom>
        </p:spPr>
        <p:txBody>
          <a:bodyPr wrap="square">
            <a:spAutoFit/>
          </a:bodyPr>
          <a:lstStyle/>
          <a:p>
            <a:r>
              <a:rPr lang="zh-CN" altLang="en-US" b="1">
                <a:effectLst>
                  <a:outerShdw blurRad="38100" dist="38100" dir="2700000" algn="tl">
                    <a:srgbClr val="000000">
                      <a:alpha val="43137"/>
                    </a:srgbClr>
                  </a:outerShdw>
                </a:effectLst>
              </a:rPr>
              <a:t>如果猫病情属于三期肾病及以上，那么有不小的几率这些表现来自尿毒症毒素积聚</a:t>
            </a:r>
            <a:endParaRPr lang="zh-CN" altLang="en-US"/>
          </a:p>
        </p:txBody>
      </p:sp>
    </p:spTree>
    <p:extLst>
      <p:ext uri="{BB962C8B-B14F-4D97-AF65-F5344CB8AC3E}">
        <p14:creationId xmlns:p14="http://schemas.microsoft.com/office/powerpoint/2010/main" val="246814556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ADEA34A8-32DD-408D-968F-4EF7E6000A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32904" y="2413496"/>
            <a:ext cx="2614135" cy="2614135"/>
          </a:xfrm>
          <a:prstGeom prst="rect">
            <a:avLst/>
          </a:prstGeom>
        </p:spPr>
      </p:pic>
      <p:grpSp>
        <p:nvGrpSpPr>
          <p:cNvPr id="17" name="组合 16">
            <a:extLst/>
          </p:cNvPr>
          <p:cNvGrpSpPr/>
          <p:nvPr/>
        </p:nvGrpSpPr>
        <p:grpSpPr>
          <a:xfrm>
            <a:off x="4029522" y="30628"/>
            <a:ext cx="8162478" cy="1178915"/>
            <a:chOff x="7629599" y="187644"/>
            <a:chExt cx="4676739" cy="1178915"/>
          </a:xfrm>
          <a:effectLst>
            <a:outerShdw blurRad="50800" dist="38100" dir="5400000" algn="t" rotWithShape="0">
              <a:prstClr val="black">
                <a:alpha val="40000"/>
              </a:prstClr>
            </a:outerShdw>
          </a:effectLst>
        </p:grpSpPr>
        <p:sp>
          <p:nvSpPr>
            <p:cNvPr id="27" name="箭头: 五边形 6">
              <a:extLst/>
            </p:cNvPr>
            <p:cNvSpPr/>
            <p:nvPr/>
          </p:nvSpPr>
          <p:spPr>
            <a:xfrm flipH="1">
              <a:off x="7629599" y="404664"/>
              <a:ext cx="4676739"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7818029" y="187644"/>
              <a:ext cx="4436286" cy="1110187"/>
              <a:chOff x="-1007275" y="2529717"/>
              <a:chExt cx="5225356" cy="1552439"/>
            </a:xfrm>
          </p:grpSpPr>
          <p:sp>
            <p:nvSpPr>
              <p:cNvPr id="29" name="文本框 13">
                <a:extLst/>
              </p:cNvPr>
              <p:cNvSpPr txBox="1">
                <a:spLocks noChangeArrowheads="1"/>
              </p:cNvSpPr>
              <p:nvPr/>
            </p:nvSpPr>
            <p:spPr bwMode="auto">
              <a:xfrm>
                <a:off x="-1007275" y="2529717"/>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714609" y="3048121"/>
                <a:ext cx="3503472" cy="81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latin typeface="+mj-ea"/>
                    <a:ea typeface="+mj-ea"/>
                    <a:cs typeface="+mn-ea"/>
                    <a:sym typeface="+mn-lt"/>
                  </a:rPr>
                  <a:t>猫慢性肾病止吐（一）</a:t>
                </a:r>
                <a:endParaRPr lang="en-US" altLang="zh-CN" sz="2400" b="1">
                  <a:solidFill>
                    <a:srgbClr val="010101"/>
                  </a:solidFill>
                  <a:latin typeface="+mj-ea"/>
                  <a:ea typeface="+mj-ea"/>
                  <a:cs typeface="+mn-ea"/>
                  <a:sym typeface="+mn-lt"/>
                </a:endParaRPr>
              </a:p>
            </p:txBody>
          </p:sp>
          <p:cxnSp>
            <p:nvCxnSpPr>
              <p:cNvPr id="31" name="直接连接符 30">
                <a:extLst/>
              </p:cNvPr>
              <p:cNvCxnSpPr>
                <a:cxnSpLocks/>
              </p:cNvCxnSpPr>
              <p:nvPr/>
            </p:nvCxnSpPr>
            <p:spPr>
              <a:xfrm flipH="1">
                <a:off x="-442778" y="3180446"/>
                <a:ext cx="468592" cy="706937"/>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174743" y="3436583"/>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grpSp>
        <p:nvGrpSpPr>
          <p:cNvPr id="37893" name="组合 1"/>
          <p:cNvGrpSpPr>
            <a:grpSpLocks/>
          </p:cNvGrpSpPr>
          <p:nvPr/>
        </p:nvGrpSpPr>
        <p:grpSpPr bwMode="auto">
          <a:xfrm>
            <a:off x="1100977" y="2564904"/>
            <a:ext cx="4865878" cy="2973190"/>
            <a:chOff x="6931323" y="2608336"/>
            <a:chExt cx="4500246" cy="2972408"/>
          </a:xfrm>
        </p:grpSpPr>
        <p:grpSp>
          <p:nvGrpSpPr>
            <p:cNvPr id="37894" name="组合 14"/>
            <p:cNvGrpSpPr>
              <a:grpSpLocks/>
            </p:cNvGrpSpPr>
            <p:nvPr/>
          </p:nvGrpSpPr>
          <p:grpSpPr bwMode="auto">
            <a:xfrm>
              <a:off x="6931323" y="2608336"/>
              <a:ext cx="4500246" cy="718135"/>
              <a:chOff x="3936148" y="1692543"/>
              <a:chExt cx="4500246" cy="718135"/>
            </a:xfrm>
          </p:grpSpPr>
          <p:sp>
            <p:nvSpPr>
              <p:cNvPr id="55" name="文本框 66">
                <a:extLst/>
              </p:cNvPr>
              <p:cNvSpPr txBox="1">
                <a:spLocks noChangeArrowheads="1"/>
              </p:cNvSpPr>
              <p:nvPr/>
            </p:nvSpPr>
            <p:spPr bwMode="auto">
              <a:xfrm>
                <a:off x="3966308" y="1692543"/>
                <a:ext cx="4258964" cy="461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spcBef>
                    <a:spcPts val="0"/>
                  </a:spcBef>
                  <a:spcAft>
                    <a:spcPts val="0"/>
                  </a:spcAft>
                  <a:defRPr/>
                </a:pPr>
                <a:endParaRPr lang="zh-CN" altLang="en-US" sz="2400" b="1" kern="0">
                  <a:solidFill>
                    <a:srgbClr val="4F4F4F"/>
                  </a:solidFill>
                  <a:latin typeface="+mn-lt"/>
                  <a:ea typeface="+mn-ea"/>
                  <a:cs typeface="+mn-ea"/>
                  <a:sym typeface="+mn-lt"/>
                </a:endParaRPr>
              </a:p>
            </p:txBody>
          </p:sp>
          <p:sp>
            <p:nvSpPr>
              <p:cNvPr id="56" name="矩形 55">
                <a:extLst/>
              </p:cNvPr>
              <p:cNvSpPr/>
              <p:nvPr/>
            </p:nvSpPr>
            <p:spPr>
              <a:xfrm>
                <a:off x="3936148" y="2133752"/>
                <a:ext cx="4500246" cy="276926"/>
              </a:xfrm>
              <a:prstGeom prst="rect">
                <a:avLst/>
              </a:prstGeom>
            </p:spPr>
            <p:txBody>
              <a:bodyPr>
                <a:spAutoFit/>
              </a:bodyPr>
              <a:lstStyle/>
              <a:p>
                <a:pPr eaLnBrk="1" fontAlgn="auto" hangingPunct="1">
                  <a:spcBef>
                    <a:spcPts val="0"/>
                  </a:spcBef>
                  <a:spcAft>
                    <a:spcPts val="0"/>
                  </a:spcAft>
                  <a:defRPr/>
                </a:pPr>
                <a:endParaRPr lang="zh-CN" altLang="en-US" sz="1200" kern="0">
                  <a:solidFill>
                    <a:srgbClr val="4F4F4F"/>
                  </a:solidFill>
                  <a:latin typeface="+mn-lt"/>
                  <a:ea typeface="+mn-ea"/>
                  <a:cs typeface="+mn-ea"/>
                  <a:sym typeface="+mn-lt"/>
                </a:endParaRPr>
              </a:p>
            </p:txBody>
          </p:sp>
        </p:grpSp>
        <p:sp>
          <p:nvSpPr>
            <p:cNvPr id="53" name="矩形 3">
              <a:extLst/>
            </p:cNvPr>
            <p:cNvSpPr>
              <a:spLocks noChangeArrowheads="1"/>
            </p:cNvSpPr>
            <p:nvPr/>
          </p:nvSpPr>
          <p:spPr bwMode="auto">
            <a:xfrm>
              <a:off x="6931323" y="4487442"/>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sp>
          <p:nvSpPr>
            <p:cNvPr id="54" name="矩形 3">
              <a:extLst/>
            </p:cNvPr>
            <p:cNvSpPr>
              <a:spLocks noChangeArrowheads="1"/>
            </p:cNvSpPr>
            <p:nvPr/>
          </p:nvSpPr>
          <p:spPr bwMode="auto">
            <a:xfrm>
              <a:off x="6931323" y="5273048"/>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grpSp>
      <p:sp>
        <p:nvSpPr>
          <p:cNvPr id="5" name="文本框 4">
            <a:extLst>
              <a:ext uri="{FF2B5EF4-FFF2-40B4-BE49-F238E27FC236}">
                <a16:creationId xmlns:a16="http://schemas.microsoft.com/office/drawing/2014/main" id="{48D59AAB-31AD-4E45-A027-B78180DBC380}"/>
              </a:ext>
            </a:extLst>
          </p:cNvPr>
          <p:cNvSpPr txBox="1"/>
          <p:nvPr/>
        </p:nvSpPr>
        <p:spPr>
          <a:xfrm>
            <a:off x="5144538" y="1868696"/>
            <a:ext cx="4190049" cy="707886"/>
          </a:xfrm>
          <a:prstGeom prst="rect">
            <a:avLst/>
          </a:prstGeom>
          <a:noFill/>
        </p:spPr>
        <p:txBody>
          <a:bodyPr wrap="square" rtlCol="0">
            <a:spAutoFit/>
          </a:bodyPr>
          <a:lstStyle/>
          <a:p>
            <a:r>
              <a:rPr lang="zh-CN" altLang="en-US" sz="4000" b="1">
                <a:latin typeface="宋体" panose="02010600030101010101" pitchFamily="2" charset="-122"/>
              </a:rPr>
              <a:t>法莫替丁</a:t>
            </a:r>
            <a:endParaRPr lang="en-US" altLang="zh-CN" sz="1100">
              <a:latin typeface="+mn-ea"/>
              <a:ea typeface="+mn-ea"/>
            </a:endParaRPr>
          </a:p>
        </p:txBody>
      </p:sp>
      <p:cxnSp>
        <p:nvCxnSpPr>
          <p:cNvPr id="23" name="直接连接符 22">
            <a:extLst>
              <a:ext uri="{FF2B5EF4-FFF2-40B4-BE49-F238E27FC236}">
                <a16:creationId xmlns:a16="http://schemas.microsoft.com/office/drawing/2014/main" id="{A6ED08FA-2943-4D08-91B5-062B4352A4BC}"/>
              </a:ext>
            </a:extLst>
          </p:cNvPr>
          <p:cNvCxnSpPr/>
          <p:nvPr/>
        </p:nvCxnSpPr>
        <p:spPr>
          <a:xfrm flipH="1">
            <a:off x="8185922" y="3277156"/>
            <a:ext cx="19050" cy="1079500"/>
          </a:xfrm>
          <a:prstGeom prst="line">
            <a:avLst/>
          </a:prstGeom>
          <a:ln w="50800">
            <a:solidFill>
              <a:srgbClr val="4F4F4F"/>
            </a:soli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7B608218-4F2E-44A0-8E04-A0633D2811E6}"/>
              </a:ext>
            </a:extLst>
          </p:cNvPr>
          <p:cNvSpPr txBox="1"/>
          <p:nvPr/>
        </p:nvSpPr>
        <p:spPr>
          <a:xfrm>
            <a:off x="1775520" y="4949117"/>
            <a:ext cx="3024336" cy="588977"/>
          </a:xfrm>
          <a:prstGeom prst="rect">
            <a:avLst/>
          </a:prstGeom>
          <a:noFill/>
        </p:spPr>
        <p:txBody>
          <a:bodyPr wrap="square" rtlCol="0">
            <a:spAutoFit/>
          </a:bodyPr>
          <a:lstStyle/>
          <a:p>
            <a:endParaRPr lang="zh-CN" altLang="en-US"/>
          </a:p>
        </p:txBody>
      </p:sp>
      <p:sp>
        <p:nvSpPr>
          <p:cNvPr id="7" name="文本框 6">
            <a:extLst>
              <a:ext uri="{FF2B5EF4-FFF2-40B4-BE49-F238E27FC236}">
                <a16:creationId xmlns:a16="http://schemas.microsoft.com/office/drawing/2014/main" id="{63EEBA34-46FE-4602-BAF5-8D5D726F4CA9}"/>
              </a:ext>
            </a:extLst>
          </p:cNvPr>
          <p:cNvSpPr txBox="1"/>
          <p:nvPr/>
        </p:nvSpPr>
        <p:spPr>
          <a:xfrm>
            <a:off x="4495503" y="5179039"/>
            <a:ext cx="3615258" cy="1323439"/>
          </a:xfrm>
          <a:prstGeom prst="rect">
            <a:avLst/>
          </a:prstGeom>
          <a:noFill/>
        </p:spPr>
        <p:txBody>
          <a:bodyPr wrap="square" rtlCol="0">
            <a:spAutoFit/>
          </a:bodyPr>
          <a:lstStyle/>
          <a:p>
            <a:pPr marL="285750" indent="-285750">
              <a:buFont typeface="Wingdings" panose="05000000000000000000" pitchFamily="2" charset="2"/>
              <a:buChar char="u"/>
            </a:pPr>
            <a:r>
              <a:rPr lang="zh-CN" altLang="en-US" sz="1600">
                <a:latin typeface="+mj-ea"/>
                <a:ea typeface="+mj-ea"/>
              </a:rPr>
              <a:t>本身</a:t>
            </a:r>
            <a:r>
              <a:rPr lang="zh-CN" altLang="en-US" sz="1600" u="sng">
                <a:latin typeface="+mj-ea"/>
                <a:ea typeface="+mj-ea"/>
              </a:rPr>
              <a:t>不止吐</a:t>
            </a:r>
            <a:r>
              <a:rPr lang="zh-CN" altLang="en-US" sz="1600">
                <a:latin typeface="+mj-ea"/>
                <a:ea typeface="+mj-ea"/>
              </a:rPr>
              <a:t>只是遏制胃酸分泌</a:t>
            </a:r>
            <a:endParaRPr lang="en-US" altLang="zh-CN" sz="1600">
              <a:latin typeface="+mj-ea"/>
              <a:ea typeface="+mj-ea"/>
            </a:endParaRPr>
          </a:p>
          <a:p>
            <a:pPr marL="285750" indent="-285750">
              <a:buFont typeface="Wingdings" panose="05000000000000000000" pitchFamily="2" charset="2"/>
              <a:buChar char="u"/>
            </a:pPr>
            <a:r>
              <a:rPr lang="zh-CN" altLang="en-US" sz="1600">
                <a:latin typeface="+mj-ea"/>
                <a:ea typeface="+mj-ea"/>
              </a:rPr>
              <a:t>最终效果不如奥美拉唑，但起效快</a:t>
            </a:r>
            <a:endParaRPr lang="en-US" altLang="zh-CN" sz="1600">
              <a:latin typeface="+mj-ea"/>
              <a:ea typeface="+mj-ea"/>
            </a:endParaRPr>
          </a:p>
          <a:p>
            <a:pPr marL="285750" indent="-285750">
              <a:buFont typeface="Wingdings" panose="05000000000000000000" pitchFamily="2" charset="2"/>
              <a:buChar char="u"/>
            </a:pPr>
            <a:r>
              <a:rPr lang="en-US" altLang="zh-CN" sz="1600">
                <a:latin typeface="+mj-ea"/>
                <a:ea typeface="+mj-ea"/>
              </a:rPr>
              <a:t>2.5mg</a:t>
            </a:r>
            <a:r>
              <a:rPr lang="zh-CN" altLang="en-US" sz="1600">
                <a:latin typeface="+mj-ea"/>
                <a:ea typeface="+mj-ea"/>
              </a:rPr>
              <a:t>一天一次到两次。</a:t>
            </a:r>
            <a:endParaRPr lang="en-US" altLang="zh-CN" sz="1600">
              <a:latin typeface="+mj-ea"/>
              <a:ea typeface="+mj-ea"/>
            </a:endParaRPr>
          </a:p>
          <a:p>
            <a:pPr marL="285750" indent="-285750">
              <a:buFont typeface="Wingdings" panose="05000000000000000000" pitchFamily="2" charset="2"/>
              <a:buChar char="u"/>
            </a:pPr>
            <a:r>
              <a:rPr lang="zh-CN" altLang="en-US" sz="1600">
                <a:solidFill>
                  <a:srgbClr val="C00000"/>
                </a:solidFill>
                <a:latin typeface="+mn-ea"/>
                <a:ea typeface="+mn-ea"/>
              </a:rPr>
              <a:t>不建议长期用</a:t>
            </a:r>
            <a:endParaRPr lang="en-US" altLang="zh-CN" sz="1600">
              <a:solidFill>
                <a:srgbClr val="C00000"/>
              </a:solidFill>
              <a:latin typeface="+mn-ea"/>
              <a:ea typeface="+mn-ea"/>
            </a:endParaRPr>
          </a:p>
          <a:p>
            <a:pPr marL="285750" indent="-285750">
              <a:buFont typeface="Wingdings" panose="05000000000000000000" pitchFamily="2" charset="2"/>
              <a:buChar char="u"/>
            </a:pPr>
            <a:endParaRPr lang="en-US" altLang="zh-CN" sz="1600">
              <a:solidFill>
                <a:srgbClr val="C00000"/>
              </a:solidFill>
              <a:latin typeface="+mj-ea"/>
              <a:ea typeface="+mj-ea"/>
            </a:endParaRPr>
          </a:p>
        </p:txBody>
      </p:sp>
      <p:sp>
        <p:nvSpPr>
          <p:cNvPr id="25" name="文本框 24">
            <a:extLst>
              <a:ext uri="{FF2B5EF4-FFF2-40B4-BE49-F238E27FC236}">
                <a16:creationId xmlns:a16="http://schemas.microsoft.com/office/drawing/2014/main" id="{0C690C9A-3DF6-4C1B-8F02-DC3259D902C2}"/>
              </a:ext>
            </a:extLst>
          </p:cNvPr>
          <p:cNvSpPr txBox="1"/>
          <p:nvPr/>
        </p:nvSpPr>
        <p:spPr>
          <a:xfrm>
            <a:off x="8904312" y="1857018"/>
            <a:ext cx="4190049" cy="707886"/>
          </a:xfrm>
          <a:prstGeom prst="rect">
            <a:avLst/>
          </a:prstGeom>
          <a:noFill/>
        </p:spPr>
        <p:txBody>
          <a:bodyPr wrap="square" rtlCol="0">
            <a:spAutoFit/>
          </a:bodyPr>
          <a:lstStyle/>
          <a:p>
            <a:r>
              <a:rPr lang="zh-CN" altLang="en-US" sz="4000" b="1">
                <a:latin typeface="宋体" panose="02010600030101010101" pitchFamily="2" charset="-122"/>
              </a:rPr>
              <a:t>滑榆皮粉</a:t>
            </a:r>
            <a:endParaRPr lang="en-US" altLang="zh-CN" sz="1100">
              <a:latin typeface="+mn-ea"/>
              <a:ea typeface="+mn-ea"/>
            </a:endParaRPr>
          </a:p>
        </p:txBody>
      </p:sp>
      <p:sp>
        <p:nvSpPr>
          <p:cNvPr id="33" name="文本框 32">
            <a:extLst>
              <a:ext uri="{FF2B5EF4-FFF2-40B4-BE49-F238E27FC236}">
                <a16:creationId xmlns:a16="http://schemas.microsoft.com/office/drawing/2014/main" id="{05B0E13C-121F-4266-9F85-395D41445F24}"/>
              </a:ext>
            </a:extLst>
          </p:cNvPr>
          <p:cNvSpPr txBox="1"/>
          <p:nvPr/>
        </p:nvSpPr>
        <p:spPr>
          <a:xfrm>
            <a:off x="8544272" y="5086626"/>
            <a:ext cx="3215550" cy="1323439"/>
          </a:xfrm>
          <a:prstGeom prst="rect">
            <a:avLst/>
          </a:prstGeom>
          <a:noFill/>
        </p:spPr>
        <p:txBody>
          <a:bodyPr wrap="square" rtlCol="0">
            <a:spAutoFit/>
          </a:bodyPr>
          <a:lstStyle/>
          <a:p>
            <a:pPr marL="285750" indent="-285750">
              <a:buFont typeface="Wingdings" panose="05000000000000000000" pitchFamily="2" charset="2"/>
              <a:buChar char="u"/>
            </a:pPr>
            <a:r>
              <a:rPr lang="zh-CN" altLang="en-US" sz="1600">
                <a:latin typeface="+mj-ea"/>
                <a:ea typeface="+mj-ea"/>
              </a:rPr>
              <a:t>有轻微抗炎效果的植物粉剂</a:t>
            </a:r>
            <a:endParaRPr lang="en-US" altLang="zh-CN" sz="1600">
              <a:latin typeface="+mj-ea"/>
              <a:ea typeface="+mj-ea"/>
            </a:endParaRPr>
          </a:p>
          <a:p>
            <a:pPr marL="285750" indent="-285750">
              <a:buFont typeface="Wingdings" panose="05000000000000000000" pitchFamily="2" charset="2"/>
              <a:buChar char="u"/>
            </a:pPr>
            <a:r>
              <a:rPr lang="zh-CN" altLang="en-US" sz="1600">
                <a:latin typeface="+mj-ea"/>
                <a:ea typeface="+mj-ea"/>
              </a:rPr>
              <a:t>对付</a:t>
            </a:r>
            <a:r>
              <a:rPr lang="zh-CN" altLang="en-US" sz="1600">
                <a:solidFill>
                  <a:srgbClr val="C00000"/>
                </a:solidFill>
                <a:latin typeface="+mj-ea"/>
                <a:ea typeface="+mj-ea"/>
              </a:rPr>
              <a:t>口腔溃疡、腹泻</a:t>
            </a:r>
            <a:r>
              <a:rPr lang="zh-CN" altLang="en-US" sz="1600">
                <a:latin typeface="+mj-ea"/>
                <a:ea typeface="+mj-ea"/>
              </a:rPr>
              <a:t>及反酸呕吐恶心有效</a:t>
            </a:r>
            <a:endParaRPr lang="en-US" altLang="zh-CN" sz="1600">
              <a:latin typeface="+mj-ea"/>
              <a:ea typeface="+mj-ea"/>
            </a:endParaRPr>
          </a:p>
          <a:p>
            <a:pPr marL="285750" indent="-285750">
              <a:buFont typeface="Wingdings" panose="05000000000000000000" pitchFamily="2" charset="2"/>
              <a:buChar char="u"/>
            </a:pPr>
            <a:r>
              <a:rPr lang="zh-CN" altLang="en-US" sz="1600">
                <a:latin typeface="+mj-ea"/>
                <a:ea typeface="+mj-ea"/>
              </a:rPr>
              <a:t>具体请见</a:t>
            </a:r>
            <a:r>
              <a:rPr lang="zh-CN" altLang="en-US" sz="1600" b="1">
                <a:latin typeface="+mj-ea"/>
                <a:ea typeface="+mj-ea"/>
              </a:rPr>
              <a:t>公众号</a:t>
            </a:r>
            <a:r>
              <a:rPr lang="en-US" altLang="zh-CN" sz="1600" b="1">
                <a:latin typeface="+mj-ea"/>
                <a:ea typeface="+mj-ea"/>
              </a:rPr>
              <a:t>RawMeat</a:t>
            </a:r>
            <a:r>
              <a:rPr lang="zh-CN" altLang="en-US" sz="1600">
                <a:latin typeface="+mj-ea"/>
                <a:ea typeface="+mj-ea"/>
              </a:rPr>
              <a:t>，关键词榆树皮</a:t>
            </a:r>
            <a:r>
              <a:rPr lang="en-US" altLang="zh-CN" sz="1600">
                <a:latin typeface="+mj-ea"/>
                <a:ea typeface="+mj-ea"/>
              </a:rPr>
              <a:t>/seb</a:t>
            </a:r>
          </a:p>
        </p:txBody>
      </p:sp>
      <p:pic>
        <p:nvPicPr>
          <p:cNvPr id="9" name="图片 8">
            <a:extLst>
              <a:ext uri="{FF2B5EF4-FFF2-40B4-BE49-F238E27FC236}">
                <a16:creationId xmlns:a16="http://schemas.microsoft.com/office/drawing/2014/main" id="{8089622E-4C3A-47B6-8B66-61F0873BE9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79977" y="2625962"/>
            <a:ext cx="2111046" cy="2399606"/>
          </a:xfrm>
          <a:prstGeom prst="rect">
            <a:avLst/>
          </a:prstGeom>
        </p:spPr>
      </p:pic>
      <p:sp>
        <p:nvSpPr>
          <p:cNvPr id="34" name="文本框 33">
            <a:extLst>
              <a:ext uri="{FF2B5EF4-FFF2-40B4-BE49-F238E27FC236}">
                <a16:creationId xmlns:a16="http://schemas.microsoft.com/office/drawing/2014/main" id="{F8AAF7F0-DC89-4B83-BE91-268052CAC453}"/>
              </a:ext>
            </a:extLst>
          </p:cNvPr>
          <p:cNvSpPr txBox="1"/>
          <p:nvPr/>
        </p:nvSpPr>
        <p:spPr>
          <a:xfrm>
            <a:off x="905312" y="1916710"/>
            <a:ext cx="4190049" cy="707886"/>
          </a:xfrm>
          <a:prstGeom prst="rect">
            <a:avLst/>
          </a:prstGeom>
          <a:noFill/>
        </p:spPr>
        <p:txBody>
          <a:bodyPr wrap="square" rtlCol="0">
            <a:spAutoFit/>
          </a:bodyPr>
          <a:lstStyle/>
          <a:p>
            <a:r>
              <a:rPr lang="zh-CN" altLang="en-US" sz="4000" b="1">
                <a:latin typeface="宋体" panose="02010600030101010101" pitchFamily="2" charset="-122"/>
              </a:rPr>
              <a:t>奥美拉唑</a:t>
            </a:r>
            <a:endParaRPr lang="en-US" altLang="zh-CN" sz="1100">
              <a:latin typeface="+mn-ea"/>
              <a:ea typeface="+mn-ea"/>
            </a:endParaRPr>
          </a:p>
        </p:txBody>
      </p:sp>
      <p:sp>
        <p:nvSpPr>
          <p:cNvPr id="35" name="文本框 34">
            <a:extLst>
              <a:ext uri="{FF2B5EF4-FFF2-40B4-BE49-F238E27FC236}">
                <a16:creationId xmlns:a16="http://schemas.microsoft.com/office/drawing/2014/main" id="{D5533436-32F2-48AB-A3B6-5F09CC92E1B2}"/>
              </a:ext>
            </a:extLst>
          </p:cNvPr>
          <p:cNvSpPr txBox="1"/>
          <p:nvPr/>
        </p:nvSpPr>
        <p:spPr>
          <a:xfrm>
            <a:off x="530563" y="5230317"/>
            <a:ext cx="3814305" cy="1323439"/>
          </a:xfrm>
          <a:prstGeom prst="rect">
            <a:avLst/>
          </a:prstGeom>
          <a:noFill/>
        </p:spPr>
        <p:txBody>
          <a:bodyPr wrap="square" rtlCol="0">
            <a:spAutoFit/>
          </a:bodyPr>
          <a:lstStyle/>
          <a:p>
            <a:pPr marL="285750" indent="-285750">
              <a:buFont typeface="Wingdings" panose="05000000000000000000" pitchFamily="2" charset="2"/>
              <a:buChar char="u"/>
            </a:pPr>
            <a:r>
              <a:rPr lang="zh-CN" altLang="en-US" sz="1600">
                <a:latin typeface="+mj-ea"/>
                <a:ea typeface="+mj-ea"/>
              </a:rPr>
              <a:t>本身</a:t>
            </a:r>
            <a:r>
              <a:rPr lang="zh-CN" altLang="en-US" sz="1600" u="sng">
                <a:latin typeface="+mj-ea"/>
                <a:ea typeface="+mj-ea"/>
              </a:rPr>
              <a:t>不止吐</a:t>
            </a:r>
            <a:r>
              <a:rPr lang="zh-CN" altLang="en-US" sz="1600">
                <a:latin typeface="+mj-ea"/>
                <a:ea typeface="+mj-ea"/>
              </a:rPr>
              <a:t>只是遏制胃酸分泌</a:t>
            </a:r>
            <a:endParaRPr lang="en-US" altLang="zh-CN" sz="1600">
              <a:latin typeface="+mj-ea"/>
              <a:ea typeface="+mj-ea"/>
            </a:endParaRPr>
          </a:p>
          <a:p>
            <a:pPr marL="285750" indent="-285750">
              <a:buFont typeface="Wingdings" panose="05000000000000000000" pitchFamily="2" charset="2"/>
              <a:buChar char="u"/>
            </a:pPr>
            <a:r>
              <a:rPr lang="zh-CN" altLang="en-US" sz="1600">
                <a:latin typeface="+mj-ea"/>
                <a:ea typeface="+mj-ea"/>
              </a:rPr>
              <a:t>最终效果最好，但一些猫得一周才有见效。</a:t>
            </a:r>
            <a:endParaRPr lang="en-US" altLang="zh-CN" sz="1600">
              <a:latin typeface="+mj-ea"/>
              <a:ea typeface="+mj-ea"/>
            </a:endParaRPr>
          </a:p>
          <a:p>
            <a:pPr marL="285750" indent="-285750">
              <a:buFont typeface="Wingdings" panose="05000000000000000000" pitchFamily="2" charset="2"/>
              <a:buChar char="u"/>
            </a:pPr>
            <a:r>
              <a:rPr lang="en-US" altLang="zh-CN" sz="1600">
                <a:latin typeface="+mj-ea"/>
                <a:ea typeface="+mj-ea"/>
              </a:rPr>
              <a:t>0.7mg/kg </a:t>
            </a:r>
            <a:r>
              <a:rPr lang="zh-CN" altLang="en-US" sz="1600">
                <a:latin typeface="+mj-ea"/>
                <a:ea typeface="+mj-ea"/>
              </a:rPr>
              <a:t>一天</a:t>
            </a:r>
            <a:r>
              <a:rPr lang="zh-CN" altLang="en-US" sz="1600" b="1">
                <a:latin typeface="+mj-ea"/>
                <a:ea typeface="+mj-ea"/>
              </a:rPr>
              <a:t>两</a:t>
            </a:r>
            <a:r>
              <a:rPr lang="zh-CN" altLang="en-US" sz="1600">
                <a:latin typeface="+mj-ea"/>
                <a:ea typeface="+mj-ea"/>
              </a:rPr>
              <a:t>次</a:t>
            </a:r>
            <a:endParaRPr lang="en-US" altLang="zh-CN" sz="1600">
              <a:latin typeface="+mj-ea"/>
              <a:ea typeface="+mj-ea"/>
            </a:endParaRPr>
          </a:p>
          <a:p>
            <a:pPr marL="285750" indent="-285750">
              <a:buFont typeface="Wingdings" panose="05000000000000000000" pitchFamily="2" charset="2"/>
              <a:buChar char="u"/>
            </a:pPr>
            <a:r>
              <a:rPr lang="zh-CN" altLang="en-US" sz="1600">
                <a:solidFill>
                  <a:srgbClr val="C00000"/>
                </a:solidFill>
                <a:latin typeface="+mj-ea"/>
                <a:ea typeface="+mj-ea"/>
              </a:rPr>
              <a:t>不建议长期用</a:t>
            </a:r>
            <a:endParaRPr lang="en-US" altLang="zh-CN" sz="1600">
              <a:solidFill>
                <a:srgbClr val="C00000"/>
              </a:solidFill>
              <a:latin typeface="+mj-ea"/>
              <a:ea typeface="+mj-ea"/>
            </a:endParaRPr>
          </a:p>
        </p:txBody>
      </p:sp>
      <p:pic>
        <p:nvPicPr>
          <p:cNvPr id="14" name="图片 13">
            <a:extLst>
              <a:ext uri="{FF2B5EF4-FFF2-40B4-BE49-F238E27FC236}">
                <a16:creationId xmlns:a16="http://schemas.microsoft.com/office/drawing/2014/main" id="{BC3BF9D6-5BA3-4C9D-BF17-9411059E457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863" y="2866298"/>
            <a:ext cx="2742906" cy="2057180"/>
          </a:xfrm>
          <a:prstGeom prst="rect">
            <a:avLst/>
          </a:prstGeom>
        </p:spPr>
      </p:pic>
    </p:spTree>
    <p:extLst>
      <p:ext uri="{BB962C8B-B14F-4D97-AF65-F5344CB8AC3E}">
        <p14:creationId xmlns:p14="http://schemas.microsoft.com/office/powerpoint/2010/main" val="364976709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87096EEA-50F6-4EB1-B238-068B9EAA7C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3321" y="2982163"/>
            <a:ext cx="2339241" cy="1791444"/>
          </a:xfrm>
          <a:prstGeom prst="rect">
            <a:avLst/>
          </a:prstGeom>
        </p:spPr>
      </p:pic>
      <p:pic>
        <p:nvPicPr>
          <p:cNvPr id="4" name="图片 3">
            <a:extLst>
              <a:ext uri="{FF2B5EF4-FFF2-40B4-BE49-F238E27FC236}">
                <a16:creationId xmlns:a16="http://schemas.microsoft.com/office/drawing/2014/main" id="{AADDC797-C3AC-4D7A-ACE4-DABA5F7312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68909" y="2572392"/>
            <a:ext cx="2610986" cy="2610986"/>
          </a:xfrm>
          <a:prstGeom prst="rect">
            <a:avLst/>
          </a:prstGeom>
        </p:spPr>
      </p:pic>
      <p:grpSp>
        <p:nvGrpSpPr>
          <p:cNvPr id="17" name="组合 16">
            <a:extLst/>
          </p:cNvPr>
          <p:cNvGrpSpPr/>
          <p:nvPr/>
        </p:nvGrpSpPr>
        <p:grpSpPr>
          <a:xfrm>
            <a:off x="4007769" y="534971"/>
            <a:ext cx="8162478" cy="1178915"/>
            <a:chOff x="7629599" y="187644"/>
            <a:chExt cx="4676739" cy="1178915"/>
          </a:xfrm>
          <a:effectLst>
            <a:outerShdw blurRad="50800" dist="38100" dir="5400000" algn="t" rotWithShape="0">
              <a:prstClr val="black">
                <a:alpha val="40000"/>
              </a:prstClr>
            </a:outerShdw>
          </a:effectLst>
        </p:grpSpPr>
        <p:sp>
          <p:nvSpPr>
            <p:cNvPr id="27" name="箭头: 五边形 6">
              <a:extLst/>
            </p:cNvPr>
            <p:cNvSpPr/>
            <p:nvPr/>
          </p:nvSpPr>
          <p:spPr>
            <a:xfrm flipH="1">
              <a:off x="7629599" y="404664"/>
              <a:ext cx="4676739" cy="96189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600">
                <a:cs typeface="+mn-ea"/>
                <a:sym typeface="+mn-lt"/>
              </a:endParaRPr>
            </a:p>
          </p:txBody>
        </p:sp>
        <p:grpSp>
          <p:nvGrpSpPr>
            <p:cNvPr id="28" name="组合 22">
              <a:extLst/>
            </p:cNvPr>
            <p:cNvGrpSpPr>
              <a:grpSpLocks/>
            </p:cNvGrpSpPr>
            <p:nvPr/>
          </p:nvGrpSpPr>
          <p:grpSpPr bwMode="auto">
            <a:xfrm>
              <a:off x="7818029" y="187644"/>
              <a:ext cx="4436286" cy="1110187"/>
              <a:chOff x="-1007275" y="2529717"/>
              <a:chExt cx="5225356" cy="1552439"/>
            </a:xfrm>
          </p:grpSpPr>
          <p:sp>
            <p:nvSpPr>
              <p:cNvPr id="29" name="文本框 13">
                <a:extLst/>
              </p:cNvPr>
              <p:cNvSpPr txBox="1">
                <a:spLocks noChangeArrowheads="1"/>
              </p:cNvSpPr>
              <p:nvPr/>
            </p:nvSpPr>
            <p:spPr bwMode="auto">
              <a:xfrm>
                <a:off x="-1007275" y="2529717"/>
                <a:ext cx="1647713" cy="10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200" b="1">
                    <a:solidFill>
                      <a:srgbClr val="010101"/>
                    </a:solidFill>
                    <a:latin typeface="+mn-lt"/>
                    <a:ea typeface="+mn-ea"/>
                    <a:cs typeface="+mn-ea"/>
                    <a:sym typeface="+mn-lt"/>
                  </a:rPr>
                  <a:t>PART</a:t>
                </a:r>
              </a:p>
            </p:txBody>
          </p:sp>
          <p:sp>
            <p:nvSpPr>
              <p:cNvPr id="30" name="文本框 14">
                <a:extLst/>
              </p:cNvPr>
              <p:cNvSpPr txBox="1">
                <a:spLocks noChangeArrowheads="1"/>
              </p:cNvSpPr>
              <p:nvPr/>
            </p:nvSpPr>
            <p:spPr bwMode="auto">
              <a:xfrm>
                <a:off x="714609" y="3048121"/>
                <a:ext cx="3503472" cy="811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sz="2400" b="1">
                    <a:solidFill>
                      <a:srgbClr val="010101"/>
                    </a:solidFill>
                    <a:latin typeface="+mn-lt"/>
                    <a:ea typeface="+mn-ea"/>
                    <a:cs typeface="+mn-ea"/>
                    <a:sym typeface="+mn-lt"/>
                  </a:rPr>
                  <a:t>猫慢性肾病止吐</a:t>
                </a:r>
                <a:r>
                  <a:rPr lang="en-US" altLang="zh-CN" sz="2400" b="1">
                    <a:solidFill>
                      <a:srgbClr val="010101"/>
                    </a:solidFill>
                    <a:latin typeface="+mn-lt"/>
                    <a:ea typeface="+mn-ea"/>
                    <a:cs typeface="+mn-ea"/>
                    <a:sym typeface="+mn-lt"/>
                  </a:rPr>
                  <a:t>(</a:t>
                </a:r>
                <a:r>
                  <a:rPr lang="zh-CN" altLang="en-US" sz="2400" b="1">
                    <a:solidFill>
                      <a:srgbClr val="010101"/>
                    </a:solidFill>
                    <a:latin typeface="+mn-lt"/>
                    <a:ea typeface="+mn-ea"/>
                    <a:cs typeface="+mn-ea"/>
                    <a:sym typeface="+mn-lt"/>
                  </a:rPr>
                  <a:t>二）</a:t>
                </a:r>
                <a:endParaRPr lang="en-US" altLang="zh-CN" sz="2400" b="1">
                  <a:solidFill>
                    <a:srgbClr val="010101"/>
                  </a:solidFill>
                  <a:latin typeface="+mn-lt"/>
                  <a:ea typeface="+mn-ea"/>
                  <a:cs typeface="+mn-ea"/>
                  <a:sym typeface="+mn-lt"/>
                </a:endParaRPr>
              </a:p>
            </p:txBody>
          </p:sp>
          <p:cxnSp>
            <p:nvCxnSpPr>
              <p:cNvPr id="31" name="直接连接符 30">
                <a:extLst/>
              </p:cNvPr>
              <p:cNvCxnSpPr>
                <a:cxnSpLocks/>
              </p:cNvCxnSpPr>
              <p:nvPr/>
            </p:nvCxnSpPr>
            <p:spPr>
              <a:xfrm flipH="1">
                <a:off x="-442778" y="3180446"/>
                <a:ext cx="468592" cy="706937"/>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矩形 20">
                <a:extLst/>
              </p:cNvPr>
              <p:cNvSpPr>
                <a:spLocks noChangeArrowheads="1"/>
              </p:cNvSpPr>
              <p:nvPr/>
            </p:nvSpPr>
            <p:spPr bwMode="auto">
              <a:xfrm>
                <a:off x="-174743" y="3436583"/>
                <a:ext cx="828884" cy="645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010101"/>
                    </a:solidFill>
                    <a:latin typeface="+mn-lt"/>
                    <a:ea typeface="+mn-ea"/>
                    <a:cs typeface="+mn-ea"/>
                    <a:sym typeface="+mn-lt"/>
                  </a:rPr>
                  <a:t>THREE</a:t>
                </a:r>
                <a:endParaRPr lang="zh-CN" altLang="en-US" sz="1200">
                  <a:latin typeface="+mn-lt"/>
                  <a:ea typeface="+mn-ea"/>
                  <a:cs typeface="+mn-ea"/>
                  <a:sym typeface="+mn-lt"/>
                </a:endParaRPr>
              </a:p>
            </p:txBody>
          </p:sp>
        </p:grpSp>
      </p:grpSp>
      <p:grpSp>
        <p:nvGrpSpPr>
          <p:cNvPr id="37893" name="组合 1"/>
          <p:cNvGrpSpPr>
            <a:grpSpLocks/>
          </p:cNvGrpSpPr>
          <p:nvPr/>
        </p:nvGrpSpPr>
        <p:grpSpPr bwMode="auto">
          <a:xfrm>
            <a:off x="1100977" y="2564904"/>
            <a:ext cx="4865878" cy="2973190"/>
            <a:chOff x="6931323" y="2608336"/>
            <a:chExt cx="4500246" cy="2972408"/>
          </a:xfrm>
        </p:grpSpPr>
        <p:grpSp>
          <p:nvGrpSpPr>
            <p:cNvPr id="37894" name="组合 14"/>
            <p:cNvGrpSpPr>
              <a:grpSpLocks/>
            </p:cNvGrpSpPr>
            <p:nvPr/>
          </p:nvGrpSpPr>
          <p:grpSpPr bwMode="auto">
            <a:xfrm>
              <a:off x="6931323" y="2608336"/>
              <a:ext cx="4500246" cy="718135"/>
              <a:chOff x="3936148" y="1692543"/>
              <a:chExt cx="4500246" cy="718135"/>
            </a:xfrm>
          </p:grpSpPr>
          <p:sp>
            <p:nvSpPr>
              <p:cNvPr id="55" name="文本框 66">
                <a:extLst/>
              </p:cNvPr>
              <p:cNvSpPr txBox="1">
                <a:spLocks noChangeArrowheads="1"/>
              </p:cNvSpPr>
              <p:nvPr/>
            </p:nvSpPr>
            <p:spPr bwMode="auto">
              <a:xfrm>
                <a:off x="3966308" y="1692543"/>
                <a:ext cx="4258964" cy="461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Calibri" panose="020F0502020204030204" pitchFamily="34" charset="0"/>
                    <a:ea typeface="宋体" panose="02010600030101010101" pitchFamily="2" charset="-122"/>
                  </a:defRPr>
                </a:lvl1pPr>
                <a:lvl2pPr marL="742950" indent="-285750">
                  <a:defRPr sz="1300">
                    <a:solidFill>
                      <a:schemeClr val="tx1"/>
                    </a:solidFill>
                    <a:latin typeface="Calibri" panose="020F0502020204030204" pitchFamily="34" charset="0"/>
                    <a:ea typeface="宋体" panose="02010600030101010101" pitchFamily="2" charset="-122"/>
                  </a:defRPr>
                </a:lvl2pPr>
                <a:lvl3pPr marL="1143000" indent="-228600">
                  <a:defRPr sz="1300">
                    <a:solidFill>
                      <a:schemeClr val="tx1"/>
                    </a:solidFill>
                    <a:latin typeface="Calibri" panose="020F0502020204030204" pitchFamily="34" charset="0"/>
                    <a:ea typeface="宋体" panose="02010600030101010101" pitchFamily="2" charset="-122"/>
                  </a:defRPr>
                </a:lvl3pPr>
                <a:lvl4pPr marL="1600200" indent="-228600">
                  <a:defRPr sz="1300">
                    <a:solidFill>
                      <a:schemeClr val="tx1"/>
                    </a:solidFill>
                    <a:latin typeface="Calibri" panose="020F0502020204030204" pitchFamily="34" charset="0"/>
                    <a:ea typeface="宋体" panose="02010600030101010101" pitchFamily="2" charset="-122"/>
                  </a:defRPr>
                </a:lvl4pPr>
                <a:lvl5pPr marL="2057400" indent="-228600">
                  <a:defRPr sz="1300">
                    <a:solidFill>
                      <a:schemeClr val="tx1"/>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eaLnBrk="1" fontAlgn="auto" hangingPunct="1">
                  <a:spcBef>
                    <a:spcPts val="0"/>
                  </a:spcBef>
                  <a:spcAft>
                    <a:spcPts val="0"/>
                  </a:spcAft>
                  <a:defRPr/>
                </a:pPr>
                <a:endParaRPr lang="zh-CN" altLang="en-US" sz="2400" b="1" kern="0">
                  <a:solidFill>
                    <a:srgbClr val="4F4F4F"/>
                  </a:solidFill>
                  <a:latin typeface="+mn-lt"/>
                  <a:ea typeface="+mn-ea"/>
                  <a:cs typeface="+mn-ea"/>
                  <a:sym typeface="+mn-lt"/>
                </a:endParaRPr>
              </a:p>
            </p:txBody>
          </p:sp>
          <p:sp>
            <p:nvSpPr>
              <p:cNvPr id="56" name="矩形 55">
                <a:extLst/>
              </p:cNvPr>
              <p:cNvSpPr/>
              <p:nvPr/>
            </p:nvSpPr>
            <p:spPr>
              <a:xfrm>
                <a:off x="3936148" y="2133752"/>
                <a:ext cx="4500246" cy="276926"/>
              </a:xfrm>
              <a:prstGeom prst="rect">
                <a:avLst/>
              </a:prstGeom>
            </p:spPr>
            <p:txBody>
              <a:bodyPr>
                <a:spAutoFit/>
              </a:bodyPr>
              <a:lstStyle/>
              <a:p>
                <a:pPr eaLnBrk="1" fontAlgn="auto" hangingPunct="1">
                  <a:spcBef>
                    <a:spcPts val="0"/>
                  </a:spcBef>
                  <a:spcAft>
                    <a:spcPts val="0"/>
                  </a:spcAft>
                  <a:defRPr/>
                </a:pPr>
                <a:endParaRPr lang="zh-CN" altLang="en-US" sz="1200" kern="0">
                  <a:solidFill>
                    <a:srgbClr val="4F4F4F"/>
                  </a:solidFill>
                  <a:latin typeface="+mn-lt"/>
                  <a:ea typeface="+mn-ea"/>
                  <a:cs typeface="+mn-ea"/>
                  <a:sym typeface="+mn-lt"/>
                </a:endParaRPr>
              </a:p>
            </p:txBody>
          </p:sp>
        </p:grpSp>
        <p:sp>
          <p:nvSpPr>
            <p:cNvPr id="53" name="矩形 3">
              <a:extLst/>
            </p:cNvPr>
            <p:cNvSpPr>
              <a:spLocks noChangeArrowheads="1"/>
            </p:cNvSpPr>
            <p:nvPr/>
          </p:nvSpPr>
          <p:spPr bwMode="auto">
            <a:xfrm>
              <a:off x="6931323" y="4487442"/>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sp>
          <p:nvSpPr>
            <p:cNvPr id="54" name="矩形 3">
              <a:extLst/>
            </p:cNvPr>
            <p:cNvSpPr>
              <a:spLocks noChangeArrowheads="1"/>
            </p:cNvSpPr>
            <p:nvPr/>
          </p:nvSpPr>
          <p:spPr bwMode="auto">
            <a:xfrm>
              <a:off x="6931323" y="5273048"/>
              <a:ext cx="4470086" cy="30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400" kern="0">
                <a:solidFill>
                  <a:srgbClr val="4F4F4F"/>
                </a:solidFill>
                <a:latin typeface="+mn-lt"/>
                <a:ea typeface="+mn-ea"/>
                <a:cs typeface="+mn-ea"/>
                <a:sym typeface="+mn-lt"/>
              </a:endParaRPr>
            </a:p>
          </p:txBody>
        </p:sp>
      </p:grpSp>
      <p:sp>
        <p:nvSpPr>
          <p:cNvPr id="5" name="文本框 4">
            <a:extLst>
              <a:ext uri="{FF2B5EF4-FFF2-40B4-BE49-F238E27FC236}">
                <a16:creationId xmlns:a16="http://schemas.microsoft.com/office/drawing/2014/main" id="{48D59AAB-31AD-4E45-A027-B78180DBC380}"/>
              </a:ext>
            </a:extLst>
          </p:cNvPr>
          <p:cNvSpPr txBox="1"/>
          <p:nvPr/>
        </p:nvSpPr>
        <p:spPr>
          <a:xfrm>
            <a:off x="1341058" y="2125472"/>
            <a:ext cx="4190049" cy="707886"/>
          </a:xfrm>
          <a:prstGeom prst="rect">
            <a:avLst/>
          </a:prstGeom>
          <a:noFill/>
        </p:spPr>
        <p:txBody>
          <a:bodyPr wrap="square" rtlCol="0">
            <a:spAutoFit/>
          </a:bodyPr>
          <a:lstStyle/>
          <a:p>
            <a:r>
              <a:rPr lang="zh-CN" altLang="en-US" sz="4000" b="1">
                <a:latin typeface="宋体" panose="02010600030101010101" pitchFamily="2" charset="-122"/>
              </a:rPr>
              <a:t>止吐宁</a:t>
            </a:r>
            <a:r>
              <a:rPr lang="zh-CN" altLang="en-US" sz="1100" b="1">
                <a:latin typeface="+mn-ea"/>
                <a:ea typeface="+mn-ea"/>
              </a:rPr>
              <a:t>（</a:t>
            </a:r>
            <a:r>
              <a:rPr lang="zh-CN" altLang="en-US" sz="1100">
                <a:latin typeface="+mn-ea"/>
                <a:ea typeface="+mn-ea"/>
              </a:rPr>
              <a:t>马罗匹坦</a:t>
            </a:r>
            <a:r>
              <a:rPr lang="en-US" altLang="zh-CN" sz="1100">
                <a:latin typeface="+mn-ea"/>
                <a:ea typeface="+mn-ea"/>
              </a:rPr>
              <a:t>/</a:t>
            </a:r>
            <a:r>
              <a:rPr lang="zh-CN" altLang="en-US" sz="1100">
                <a:latin typeface="+mn-ea"/>
                <a:ea typeface="+mn-ea"/>
              </a:rPr>
              <a:t>赛瑞宁）</a:t>
            </a:r>
            <a:endParaRPr lang="en-US" altLang="zh-CN" sz="1100">
              <a:latin typeface="+mn-ea"/>
              <a:ea typeface="+mn-ea"/>
            </a:endParaRPr>
          </a:p>
        </p:txBody>
      </p:sp>
      <p:cxnSp>
        <p:nvCxnSpPr>
          <p:cNvPr id="23" name="直接连接符 22">
            <a:extLst>
              <a:ext uri="{FF2B5EF4-FFF2-40B4-BE49-F238E27FC236}">
                <a16:creationId xmlns:a16="http://schemas.microsoft.com/office/drawing/2014/main" id="{A6ED08FA-2943-4D08-91B5-062B4352A4BC}"/>
              </a:ext>
            </a:extLst>
          </p:cNvPr>
          <p:cNvCxnSpPr/>
          <p:nvPr/>
        </p:nvCxnSpPr>
        <p:spPr>
          <a:xfrm flipH="1">
            <a:off x="5719530" y="3168168"/>
            <a:ext cx="19050" cy="1079500"/>
          </a:xfrm>
          <a:prstGeom prst="line">
            <a:avLst/>
          </a:prstGeom>
          <a:ln w="50800">
            <a:solidFill>
              <a:srgbClr val="4F4F4F"/>
            </a:soli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7B608218-4F2E-44A0-8E04-A0633D2811E6}"/>
              </a:ext>
            </a:extLst>
          </p:cNvPr>
          <p:cNvSpPr txBox="1"/>
          <p:nvPr/>
        </p:nvSpPr>
        <p:spPr>
          <a:xfrm>
            <a:off x="1775520" y="4949117"/>
            <a:ext cx="3024336" cy="588977"/>
          </a:xfrm>
          <a:prstGeom prst="rect">
            <a:avLst/>
          </a:prstGeom>
          <a:noFill/>
        </p:spPr>
        <p:txBody>
          <a:bodyPr wrap="square" rtlCol="0">
            <a:spAutoFit/>
          </a:bodyPr>
          <a:lstStyle/>
          <a:p>
            <a:endParaRPr lang="zh-CN" altLang="en-US"/>
          </a:p>
        </p:txBody>
      </p:sp>
      <p:sp>
        <p:nvSpPr>
          <p:cNvPr id="7" name="文本框 6">
            <a:extLst>
              <a:ext uri="{FF2B5EF4-FFF2-40B4-BE49-F238E27FC236}">
                <a16:creationId xmlns:a16="http://schemas.microsoft.com/office/drawing/2014/main" id="{63EEBA34-46FE-4602-BAF5-8D5D726F4CA9}"/>
              </a:ext>
            </a:extLst>
          </p:cNvPr>
          <p:cNvSpPr txBox="1"/>
          <p:nvPr/>
        </p:nvSpPr>
        <p:spPr>
          <a:xfrm>
            <a:off x="918252" y="5051587"/>
            <a:ext cx="6624736" cy="1077218"/>
          </a:xfrm>
          <a:prstGeom prst="rect">
            <a:avLst/>
          </a:prstGeom>
          <a:noFill/>
        </p:spPr>
        <p:txBody>
          <a:bodyPr wrap="square" rtlCol="0">
            <a:spAutoFit/>
          </a:bodyPr>
          <a:lstStyle/>
          <a:p>
            <a:pPr marL="285750" indent="-285750">
              <a:buFont typeface="Wingdings" panose="05000000000000000000" pitchFamily="2" charset="2"/>
              <a:buChar char="u"/>
            </a:pPr>
            <a:r>
              <a:rPr lang="zh-CN" altLang="en-US" sz="1600">
                <a:latin typeface="+mj-ea"/>
                <a:ea typeface="+mj-ea"/>
              </a:rPr>
              <a:t>止吐药，遏制恶心感</a:t>
            </a:r>
            <a:endParaRPr lang="en-US" altLang="zh-CN" sz="1600">
              <a:latin typeface="+mj-ea"/>
              <a:ea typeface="+mj-ea"/>
            </a:endParaRPr>
          </a:p>
          <a:p>
            <a:pPr marL="285750" indent="-285750">
              <a:buFont typeface="Wingdings" panose="05000000000000000000" pitchFamily="2" charset="2"/>
              <a:buChar char="u"/>
            </a:pPr>
            <a:r>
              <a:rPr lang="zh-CN" altLang="en-US" sz="1600">
                <a:latin typeface="+mj-ea"/>
                <a:ea typeface="+mj-ea"/>
              </a:rPr>
              <a:t>有注射剂也有口服片，多为医院专供</a:t>
            </a:r>
            <a:endParaRPr lang="en-US" altLang="zh-CN" sz="1600">
              <a:latin typeface="+mj-ea"/>
              <a:ea typeface="+mj-ea"/>
            </a:endParaRPr>
          </a:p>
          <a:p>
            <a:pPr marL="285750" indent="-285750">
              <a:buFont typeface="Wingdings" panose="05000000000000000000" pitchFamily="2" charset="2"/>
              <a:buChar char="u"/>
            </a:pPr>
            <a:r>
              <a:rPr lang="zh-CN" altLang="en-US" sz="1600">
                <a:latin typeface="+mj-ea"/>
                <a:ea typeface="+mj-ea"/>
              </a:rPr>
              <a:t>普通渠道购买偏贵</a:t>
            </a:r>
            <a:endParaRPr lang="en-US" altLang="zh-CN" sz="1600">
              <a:latin typeface="+mj-ea"/>
              <a:ea typeface="+mj-ea"/>
            </a:endParaRPr>
          </a:p>
          <a:p>
            <a:pPr marL="285750" indent="-285750">
              <a:buFont typeface="Wingdings" panose="05000000000000000000" pitchFamily="2" charset="2"/>
              <a:buChar char="u"/>
            </a:pPr>
            <a:r>
              <a:rPr lang="en-US" altLang="zh-CN" sz="1600">
                <a:latin typeface="+mj-ea"/>
                <a:ea typeface="+mj-ea"/>
              </a:rPr>
              <a:t>1mg/kg</a:t>
            </a:r>
            <a:r>
              <a:rPr lang="zh-CN" altLang="en-US" sz="1600">
                <a:latin typeface="+mj-ea"/>
                <a:ea typeface="+mj-ea"/>
              </a:rPr>
              <a:t>一天一次</a:t>
            </a:r>
            <a:endParaRPr lang="en-US" altLang="zh-CN" sz="1600">
              <a:latin typeface="+mj-ea"/>
              <a:ea typeface="+mj-ea"/>
            </a:endParaRPr>
          </a:p>
        </p:txBody>
      </p:sp>
      <p:sp>
        <p:nvSpPr>
          <p:cNvPr id="25" name="文本框 24">
            <a:extLst>
              <a:ext uri="{FF2B5EF4-FFF2-40B4-BE49-F238E27FC236}">
                <a16:creationId xmlns:a16="http://schemas.microsoft.com/office/drawing/2014/main" id="{0C690C9A-3DF6-4C1B-8F02-DC3259D902C2}"/>
              </a:ext>
            </a:extLst>
          </p:cNvPr>
          <p:cNvSpPr txBox="1"/>
          <p:nvPr/>
        </p:nvSpPr>
        <p:spPr>
          <a:xfrm>
            <a:off x="7752184" y="2210961"/>
            <a:ext cx="4190049" cy="707886"/>
          </a:xfrm>
          <a:prstGeom prst="rect">
            <a:avLst/>
          </a:prstGeom>
          <a:noFill/>
        </p:spPr>
        <p:txBody>
          <a:bodyPr wrap="square" rtlCol="0">
            <a:spAutoFit/>
          </a:bodyPr>
          <a:lstStyle/>
          <a:p>
            <a:r>
              <a:rPr lang="zh-CN" altLang="en-US" sz="4000" b="1">
                <a:latin typeface="宋体" panose="02010600030101010101" pitchFamily="2" charset="-122"/>
              </a:rPr>
              <a:t>昂丹司琼</a:t>
            </a:r>
            <a:endParaRPr lang="en-US" altLang="zh-CN" sz="1100">
              <a:latin typeface="+mn-ea"/>
              <a:ea typeface="+mn-ea"/>
            </a:endParaRPr>
          </a:p>
        </p:txBody>
      </p:sp>
      <p:sp>
        <p:nvSpPr>
          <p:cNvPr id="33" name="文本框 32">
            <a:extLst>
              <a:ext uri="{FF2B5EF4-FFF2-40B4-BE49-F238E27FC236}">
                <a16:creationId xmlns:a16="http://schemas.microsoft.com/office/drawing/2014/main" id="{05B0E13C-121F-4266-9F85-395D41445F24}"/>
              </a:ext>
            </a:extLst>
          </p:cNvPr>
          <p:cNvSpPr txBox="1"/>
          <p:nvPr/>
        </p:nvSpPr>
        <p:spPr>
          <a:xfrm>
            <a:off x="7633751" y="4722485"/>
            <a:ext cx="4730040" cy="1323439"/>
          </a:xfrm>
          <a:prstGeom prst="rect">
            <a:avLst/>
          </a:prstGeom>
          <a:noFill/>
        </p:spPr>
        <p:txBody>
          <a:bodyPr wrap="square" rtlCol="0">
            <a:spAutoFit/>
          </a:bodyPr>
          <a:lstStyle/>
          <a:p>
            <a:pPr marL="285750" indent="-285750">
              <a:buFont typeface="Wingdings" panose="05000000000000000000" pitchFamily="2" charset="2"/>
              <a:buChar char="u"/>
            </a:pPr>
            <a:r>
              <a:rPr lang="zh-CN" altLang="en-US" sz="1600">
                <a:latin typeface="+mj-ea"/>
                <a:ea typeface="+mj-ea"/>
              </a:rPr>
              <a:t>止吐药物，遏制恶心感</a:t>
            </a:r>
            <a:endParaRPr lang="en-US" altLang="zh-CN" sz="1600">
              <a:latin typeface="+mj-ea"/>
              <a:ea typeface="+mj-ea"/>
            </a:endParaRPr>
          </a:p>
          <a:p>
            <a:pPr marL="285750" indent="-285750">
              <a:buFont typeface="Wingdings" panose="05000000000000000000" pitchFamily="2" charset="2"/>
              <a:buChar char="u"/>
            </a:pPr>
            <a:r>
              <a:rPr lang="zh-CN" altLang="en-US" sz="1600">
                <a:latin typeface="+mj-ea"/>
                <a:ea typeface="+mj-ea"/>
              </a:rPr>
              <a:t>存在阵痛效果</a:t>
            </a:r>
            <a:endParaRPr lang="en-US" altLang="zh-CN" sz="1600">
              <a:latin typeface="+mj-ea"/>
              <a:ea typeface="+mj-ea"/>
            </a:endParaRPr>
          </a:p>
          <a:p>
            <a:pPr marL="285750" indent="-285750">
              <a:buFont typeface="Wingdings" panose="05000000000000000000" pitchFamily="2" charset="2"/>
              <a:buChar char="u"/>
            </a:pPr>
            <a:r>
              <a:rPr lang="zh-CN" altLang="en-US" sz="1600">
                <a:latin typeface="+mj-ea"/>
                <a:ea typeface="+mj-ea"/>
              </a:rPr>
              <a:t>相对便宜方便购买</a:t>
            </a:r>
            <a:endParaRPr lang="en-US" altLang="zh-CN" sz="1600">
              <a:latin typeface="+mj-ea"/>
              <a:ea typeface="+mj-ea"/>
            </a:endParaRPr>
          </a:p>
          <a:p>
            <a:pPr marL="285750" indent="-285750">
              <a:buFont typeface="Wingdings" panose="05000000000000000000" pitchFamily="2" charset="2"/>
              <a:buChar char="u"/>
            </a:pPr>
            <a:r>
              <a:rPr lang="zh-CN" altLang="en-US" sz="1600">
                <a:latin typeface="+mj-ea"/>
                <a:ea typeface="+mj-ea"/>
              </a:rPr>
              <a:t>剂量为</a:t>
            </a:r>
            <a:r>
              <a:rPr lang="en-US" altLang="zh-CN" sz="1600">
                <a:latin typeface="+mj-ea"/>
                <a:ea typeface="+mj-ea"/>
              </a:rPr>
              <a:t>0.5mg/kg</a:t>
            </a:r>
            <a:r>
              <a:rPr lang="zh-CN" altLang="en-US" sz="1600">
                <a:latin typeface="+mj-ea"/>
                <a:ea typeface="+mj-ea"/>
              </a:rPr>
              <a:t>一天两次</a:t>
            </a:r>
            <a:endParaRPr lang="en-US" altLang="zh-CN" sz="1600">
              <a:latin typeface="+mj-ea"/>
              <a:ea typeface="+mj-ea"/>
            </a:endParaRPr>
          </a:p>
          <a:p>
            <a:pPr marL="285750" indent="-285750">
              <a:buFont typeface="Wingdings" panose="05000000000000000000" pitchFamily="2" charset="2"/>
              <a:buChar char="u"/>
            </a:pPr>
            <a:r>
              <a:rPr lang="zh-CN" altLang="en-US" sz="1600">
                <a:solidFill>
                  <a:srgbClr val="C00000"/>
                </a:solidFill>
                <a:latin typeface="+mj-ea"/>
                <a:ea typeface="+mj-ea"/>
              </a:rPr>
              <a:t>有低几率引起嗜睡、便秘与低血压。</a:t>
            </a:r>
            <a:endParaRPr lang="en-US" altLang="zh-CN" sz="1600">
              <a:solidFill>
                <a:srgbClr val="C00000"/>
              </a:solidFill>
              <a:latin typeface="+mj-ea"/>
              <a:ea typeface="+mj-ea"/>
            </a:endParaRPr>
          </a:p>
        </p:txBody>
      </p:sp>
      <p:sp>
        <p:nvSpPr>
          <p:cNvPr id="12" name="文本框 11">
            <a:extLst>
              <a:ext uri="{FF2B5EF4-FFF2-40B4-BE49-F238E27FC236}">
                <a16:creationId xmlns:a16="http://schemas.microsoft.com/office/drawing/2014/main" id="{78BC4DEF-20E3-4D37-8012-99C9436E0D2C}"/>
              </a:ext>
            </a:extLst>
          </p:cNvPr>
          <p:cNvSpPr txBox="1"/>
          <p:nvPr/>
        </p:nvSpPr>
        <p:spPr>
          <a:xfrm>
            <a:off x="949818" y="6054828"/>
            <a:ext cx="2520280" cy="369332"/>
          </a:xfrm>
          <a:prstGeom prst="rect">
            <a:avLst/>
          </a:prstGeom>
          <a:noFill/>
        </p:spPr>
        <p:txBody>
          <a:bodyPr wrap="square" rtlCol="0">
            <a:spAutoFit/>
          </a:bodyPr>
          <a:lstStyle/>
          <a:p>
            <a:r>
              <a:rPr lang="zh-CN" altLang="en-US" b="1">
                <a:solidFill>
                  <a:srgbClr val="C00000"/>
                </a:solidFill>
                <a:latin typeface="+mj-ea"/>
                <a:ea typeface="+mj-ea"/>
              </a:rPr>
              <a:t>请在医师指导下用药</a:t>
            </a:r>
          </a:p>
        </p:txBody>
      </p:sp>
      <p:sp>
        <p:nvSpPr>
          <p:cNvPr id="34" name="文本框 33">
            <a:extLst>
              <a:ext uri="{FF2B5EF4-FFF2-40B4-BE49-F238E27FC236}">
                <a16:creationId xmlns:a16="http://schemas.microsoft.com/office/drawing/2014/main" id="{3D720AE8-0792-4083-BE77-AB2408E880CF}"/>
              </a:ext>
            </a:extLst>
          </p:cNvPr>
          <p:cNvSpPr txBox="1"/>
          <p:nvPr/>
        </p:nvSpPr>
        <p:spPr>
          <a:xfrm>
            <a:off x="7752184" y="5978430"/>
            <a:ext cx="2520280" cy="369332"/>
          </a:xfrm>
          <a:prstGeom prst="rect">
            <a:avLst/>
          </a:prstGeom>
          <a:noFill/>
        </p:spPr>
        <p:txBody>
          <a:bodyPr wrap="square" rtlCol="0">
            <a:spAutoFit/>
          </a:bodyPr>
          <a:lstStyle/>
          <a:p>
            <a:r>
              <a:rPr lang="zh-CN" altLang="en-US" b="1">
                <a:solidFill>
                  <a:srgbClr val="C00000"/>
                </a:solidFill>
                <a:latin typeface="+mj-ea"/>
                <a:ea typeface="+mj-ea"/>
              </a:rPr>
              <a:t>请在医师指导下用药</a:t>
            </a:r>
          </a:p>
        </p:txBody>
      </p:sp>
    </p:spTree>
    <p:extLst>
      <p:ext uri="{BB962C8B-B14F-4D97-AF65-F5344CB8AC3E}">
        <p14:creationId xmlns:p14="http://schemas.microsoft.com/office/powerpoint/2010/main" val="118946086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959595"/>
        </a:solidFill>
        <a:effectLst/>
      </p:bgPr>
    </p:bg>
    <p:spTree>
      <p:nvGrpSpPr>
        <p:cNvPr id="1" name=""/>
        <p:cNvGrpSpPr/>
        <p:nvPr/>
      </p:nvGrpSpPr>
      <p:grpSpPr>
        <a:xfrm>
          <a:off x="0" y="0"/>
          <a:ext cx="0" cy="0"/>
          <a:chOff x="0" y="0"/>
          <a:chExt cx="0" cy="0"/>
        </a:xfrm>
      </p:grpSpPr>
      <p:pic>
        <p:nvPicPr>
          <p:cNvPr id="3" name="图片 2">
            <a:extLst/>
          </p:cNvPr>
          <p:cNvPicPr>
            <a:picLocks noChangeAspect="1"/>
          </p:cNvPicPr>
          <p:nvPr/>
        </p:nvPicPr>
        <p:blipFill rotWithShape="1">
          <a:blip r:embed="rId3">
            <a:duotone>
              <a:prstClr val="black"/>
              <a:schemeClr val="accent3">
                <a:tint val="45000"/>
                <a:satMod val="400000"/>
              </a:schemeClr>
            </a:duotone>
            <a:extLst>
              <a:ext uri="{28A0092B-C50C-407E-A947-70E740481C1C}">
                <a14:useLocalDpi xmlns:a14="http://schemas.microsoft.com/office/drawing/2010/main" val="0"/>
              </a:ext>
            </a:extLst>
          </a:blip>
          <a:srcRect l="17921"/>
          <a:stretch/>
        </p:blipFill>
        <p:spPr>
          <a:xfrm>
            <a:off x="0" y="0"/>
            <a:ext cx="10007080" cy="6858000"/>
          </a:xfrm>
          <a:prstGeom prst="rect">
            <a:avLst/>
          </a:prstGeom>
        </p:spPr>
      </p:pic>
      <p:sp>
        <p:nvSpPr>
          <p:cNvPr id="20" name="箭头: 五边形 6">
            <a:extLst/>
          </p:cNvPr>
          <p:cNvSpPr/>
          <p:nvPr/>
        </p:nvSpPr>
        <p:spPr>
          <a:xfrm rot="10800000" flipH="1">
            <a:off x="0" y="404813"/>
            <a:ext cx="9048328" cy="1344612"/>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grpSp>
        <p:nvGrpSpPr>
          <p:cNvPr id="35845" name="组合 22"/>
          <p:cNvGrpSpPr>
            <a:grpSpLocks/>
          </p:cNvGrpSpPr>
          <p:nvPr/>
        </p:nvGrpSpPr>
        <p:grpSpPr bwMode="auto">
          <a:xfrm>
            <a:off x="196850" y="404813"/>
            <a:ext cx="7699349" cy="1120775"/>
            <a:chOff x="-101400" y="2876417"/>
            <a:chExt cx="6487959" cy="1120760"/>
          </a:xfrm>
        </p:grpSpPr>
        <p:sp>
          <p:nvSpPr>
            <p:cNvPr id="25613" name="文本框 13">
              <a:extLst/>
            </p:cNvPr>
            <p:cNvSpPr txBox="1">
              <a:spLocks noChangeArrowheads="1"/>
            </p:cNvSpPr>
            <p:nvPr/>
          </p:nvSpPr>
          <p:spPr bwMode="auto">
            <a:xfrm>
              <a:off x="-101400" y="2876417"/>
              <a:ext cx="1343079" cy="825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en-US" altLang="zh-CN" sz="3600" b="1">
                  <a:solidFill>
                    <a:srgbClr val="010101"/>
                  </a:solidFill>
                  <a:latin typeface="+mn-lt"/>
                  <a:ea typeface="+mn-ea"/>
                  <a:cs typeface="+mn-ea"/>
                  <a:sym typeface="+mn-lt"/>
                </a:rPr>
                <a:t>PART</a:t>
              </a:r>
            </a:p>
          </p:txBody>
        </p:sp>
        <p:sp>
          <p:nvSpPr>
            <p:cNvPr id="25614" name="文本框 14">
              <a:extLst/>
            </p:cNvPr>
            <p:cNvSpPr txBox="1">
              <a:spLocks noChangeArrowheads="1"/>
            </p:cNvSpPr>
            <p:nvPr/>
          </p:nvSpPr>
          <p:spPr bwMode="auto">
            <a:xfrm>
              <a:off x="2321225" y="3201919"/>
              <a:ext cx="4065334" cy="662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b="1">
                  <a:solidFill>
                    <a:srgbClr val="010101"/>
                  </a:solidFill>
                  <a:latin typeface="+mn-ea"/>
                  <a:ea typeface="+mn-ea"/>
                  <a:cs typeface="+mn-ea"/>
                  <a:sym typeface="+mn-lt"/>
                </a:rPr>
                <a:t>透析，做还是不做？</a:t>
              </a:r>
              <a:endParaRPr lang="en-US" altLang="zh-CN" b="1">
                <a:solidFill>
                  <a:srgbClr val="010101"/>
                </a:solidFill>
                <a:latin typeface="+mn-ea"/>
                <a:ea typeface="+mn-ea"/>
                <a:cs typeface="+mn-ea"/>
                <a:sym typeface="+mn-lt"/>
              </a:endParaRPr>
            </a:p>
          </p:txBody>
        </p:sp>
        <p:cxnSp>
          <p:nvCxnSpPr>
            <p:cNvPr id="24" name="直接连接符 23">
              <a:extLst/>
            </p:cNvPr>
            <p:cNvCxnSpPr>
              <a:cxnSpLocks/>
            </p:cNvCxnSpPr>
            <p:nvPr/>
          </p:nvCxnSpPr>
          <p:spPr>
            <a:xfrm flipH="1">
              <a:off x="489876" y="3171688"/>
              <a:ext cx="1074196" cy="722302"/>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5616" name="矩形 20">
              <a:extLst/>
            </p:cNvPr>
            <p:cNvSpPr>
              <a:spLocks noChangeArrowheads="1"/>
            </p:cNvSpPr>
            <p:nvPr/>
          </p:nvSpPr>
          <p:spPr bwMode="auto">
            <a:xfrm>
              <a:off x="618298" y="3473309"/>
              <a:ext cx="1577182" cy="523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lvl="1">
                <a:lnSpc>
                  <a:spcPct val="100000"/>
                </a:lnSpc>
                <a:spcBef>
                  <a:spcPct val="0"/>
                </a:spcBef>
                <a:buFontTx/>
                <a:buNone/>
                <a:defRPr/>
              </a:pPr>
              <a:r>
                <a:rPr lang="en-US" altLang="zh-CN" sz="2800" b="1">
                  <a:solidFill>
                    <a:srgbClr val="010101"/>
                  </a:solidFill>
                  <a:latin typeface="+mn-lt"/>
                  <a:ea typeface="+mn-ea"/>
                  <a:cs typeface="+mn-ea"/>
                  <a:sym typeface="+mn-lt"/>
                </a:rPr>
                <a:t>THREE</a:t>
              </a:r>
              <a:endParaRPr lang="zh-CN" altLang="en-US" sz="1400">
                <a:latin typeface="+mn-lt"/>
                <a:ea typeface="+mn-ea"/>
                <a:cs typeface="+mn-ea"/>
                <a:sym typeface="+mn-lt"/>
              </a:endParaRPr>
            </a:p>
          </p:txBody>
        </p:sp>
      </p:grpSp>
      <p:sp>
        <p:nvSpPr>
          <p:cNvPr id="2" name="文本框 1">
            <a:extLst>
              <a:ext uri="{FF2B5EF4-FFF2-40B4-BE49-F238E27FC236}">
                <a16:creationId xmlns:a16="http://schemas.microsoft.com/office/drawing/2014/main" id="{8C167C1C-50B6-46B8-B24A-9CB126B44CCC}"/>
              </a:ext>
            </a:extLst>
          </p:cNvPr>
          <p:cNvSpPr txBox="1"/>
          <p:nvPr/>
        </p:nvSpPr>
        <p:spPr>
          <a:xfrm>
            <a:off x="1343472" y="2711148"/>
            <a:ext cx="11089232" cy="1969770"/>
          </a:xfrm>
          <a:prstGeom prst="rect">
            <a:avLst/>
          </a:prstGeom>
          <a:noFill/>
        </p:spPr>
        <p:txBody>
          <a:bodyPr wrap="square" rtlCol="0">
            <a:spAutoFit/>
          </a:bodyPr>
          <a:lstStyle/>
          <a:p>
            <a:r>
              <a:rPr lang="zh-CN" altLang="en-US" sz="9600">
                <a:solidFill>
                  <a:schemeClr val="bg1"/>
                </a:solidFill>
                <a:effectLst>
                  <a:outerShdw blurRad="38100" dist="38100" dir="2700000" algn="tl">
                    <a:srgbClr val="000000">
                      <a:alpha val="43137"/>
                    </a:srgbClr>
                  </a:outerShdw>
                </a:effectLst>
              </a:rPr>
              <a:t>透析？不透析？</a:t>
            </a:r>
            <a:endParaRPr lang="en-US" altLang="zh-CN" sz="2800" b="1">
              <a:solidFill>
                <a:schemeClr val="bg1"/>
              </a:solidFill>
              <a:effectLst>
                <a:outerShdw blurRad="38100" dist="38100" dir="2700000" algn="tl">
                  <a:srgbClr val="000000">
                    <a:alpha val="43137"/>
                  </a:srgbClr>
                </a:outerShdw>
              </a:effectLst>
              <a:latin typeface="+mj-ea"/>
              <a:ea typeface="+mj-ea"/>
            </a:endParaRPr>
          </a:p>
          <a:p>
            <a:pPr marL="742950" lvl="1" indent="-285750">
              <a:buFont typeface="Wingdings" panose="05000000000000000000" pitchFamily="2" charset="2"/>
              <a:buChar char="u"/>
            </a:pPr>
            <a:endParaRPr lang="en-US" altLang="zh-CN" sz="1600" b="1">
              <a:solidFill>
                <a:schemeClr val="bg1"/>
              </a:solidFill>
              <a:effectLst>
                <a:outerShdw blurRad="38100" dist="38100" dir="2700000" algn="tl">
                  <a:srgbClr val="000000">
                    <a:alpha val="43137"/>
                  </a:srgbClr>
                </a:outerShdw>
              </a:effectLst>
              <a:latin typeface="+mj-ea"/>
              <a:ea typeface="+mj-ea"/>
            </a:endParaRPr>
          </a:p>
          <a:p>
            <a:endParaRPr lang="zh-CN" altLang="en-US" sz="1000">
              <a:solidFill>
                <a:schemeClr val="bg1"/>
              </a:solidFill>
              <a:effectLst>
                <a:outerShdw blurRad="38100" dist="38100" dir="2700000" algn="tl">
                  <a:srgbClr val="000000">
                    <a:alpha val="43137"/>
                  </a:srgbClr>
                </a:outerShdw>
              </a:effectLst>
            </a:endParaRPr>
          </a:p>
        </p:txBody>
      </p:sp>
      <p:sp>
        <p:nvSpPr>
          <p:cNvPr id="7" name="矩形 6">
            <a:extLst>
              <a:ext uri="{FF2B5EF4-FFF2-40B4-BE49-F238E27FC236}">
                <a16:creationId xmlns:a16="http://schemas.microsoft.com/office/drawing/2014/main" id="{EF9F0EB9-F37C-40C7-8A07-DAE67C126793}"/>
              </a:ext>
            </a:extLst>
          </p:cNvPr>
          <p:cNvSpPr/>
          <p:nvPr/>
        </p:nvSpPr>
        <p:spPr>
          <a:xfrm>
            <a:off x="1811685" y="5390133"/>
            <a:ext cx="7998567" cy="1754326"/>
          </a:xfrm>
          <a:prstGeom prst="rect">
            <a:avLst/>
          </a:prstGeom>
        </p:spPr>
        <p:txBody>
          <a:bodyPr wrap="square">
            <a:spAutoFit/>
          </a:bodyPr>
          <a:lstStyle/>
          <a:p>
            <a:pPr marL="285750" indent="-285750">
              <a:buFont typeface="Wingdings" panose="05000000000000000000" pitchFamily="2" charset="2"/>
              <a:buChar char="u"/>
            </a:pPr>
            <a:r>
              <a:rPr lang="zh-CN" altLang="en-US" b="1">
                <a:solidFill>
                  <a:schemeClr val="bg1"/>
                </a:solidFill>
                <a:effectLst>
                  <a:outerShdw blurRad="38100" dist="38100" dir="2700000" algn="tl">
                    <a:srgbClr val="000000">
                      <a:alpha val="43137"/>
                    </a:srgbClr>
                  </a:outerShdw>
                </a:effectLst>
                <a:latin typeface="+mj-ea"/>
              </a:rPr>
              <a:t>简单划分，动物透析有腹透与血透</a:t>
            </a:r>
            <a:r>
              <a:rPr lang="zh-CN" altLang="en-US" sz="1000" b="1">
                <a:solidFill>
                  <a:schemeClr val="bg1"/>
                </a:solidFill>
                <a:effectLst>
                  <a:outerShdw blurRad="38100" dist="38100" dir="2700000" algn="tl">
                    <a:srgbClr val="000000">
                      <a:alpha val="43137"/>
                    </a:srgbClr>
                  </a:outerShdw>
                </a:effectLst>
                <a:latin typeface="+mj-ea"/>
              </a:rPr>
              <a:t>（别和我叨叨</a:t>
            </a:r>
            <a:r>
              <a:rPr lang="en-US" altLang="zh-CN" sz="1000" b="1">
                <a:solidFill>
                  <a:schemeClr val="bg1"/>
                </a:solidFill>
                <a:effectLst>
                  <a:outerShdw blurRad="38100" dist="38100" dir="2700000" algn="tl">
                    <a:srgbClr val="000000">
                      <a:alpha val="43137"/>
                    </a:srgbClr>
                  </a:outerShdw>
                </a:effectLst>
                <a:latin typeface="+mj-ea"/>
              </a:rPr>
              <a:t>crrt…)</a:t>
            </a:r>
          </a:p>
          <a:p>
            <a:pPr marL="285750" indent="-285750">
              <a:buFont typeface="Wingdings" panose="05000000000000000000" pitchFamily="2" charset="2"/>
              <a:buChar char="u"/>
            </a:pPr>
            <a:r>
              <a:rPr lang="zh-CN" altLang="en-US" b="1">
                <a:solidFill>
                  <a:schemeClr val="bg1"/>
                </a:solidFill>
                <a:effectLst>
                  <a:outerShdw blurRad="38100" dist="38100" dir="2700000" algn="tl">
                    <a:srgbClr val="000000">
                      <a:alpha val="43137"/>
                    </a:srgbClr>
                  </a:outerShdw>
                </a:effectLst>
                <a:latin typeface="+mj-ea"/>
              </a:rPr>
              <a:t>猫进行透析需要</a:t>
            </a:r>
            <a:r>
              <a:rPr lang="zh-CN" altLang="en-US" b="1">
                <a:solidFill>
                  <a:srgbClr val="C00000"/>
                </a:solidFill>
                <a:effectLst>
                  <a:outerShdw blurRad="38100" dist="38100" dir="2700000" algn="tl">
                    <a:srgbClr val="000000">
                      <a:alpha val="43137"/>
                    </a:srgbClr>
                  </a:outerShdw>
                </a:effectLst>
                <a:latin typeface="+mj-ea"/>
              </a:rPr>
              <a:t>麻醉</a:t>
            </a:r>
            <a:r>
              <a:rPr lang="zh-CN" altLang="en-US" b="1">
                <a:solidFill>
                  <a:schemeClr val="bg1"/>
                </a:solidFill>
                <a:effectLst>
                  <a:outerShdw blurRad="38100" dist="38100" dir="2700000" algn="tl">
                    <a:srgbClr val="000000">
                      <a:alpha val="43137"/>
                    </a:srgbClr>
                  </a:outerShdw>
                </a:effectLst>
                <a:latin typeface="+mj-ea"/>
              </a:rPr>
              <a:t>，除非已经处于危急情况极为虚弱</a:t>
            </a:r>
            <a:endParaRPr lang="en-US" altLang="zh-CN" b="1">
              <a:solidFill>
                <a:schemeClr val="bg1"/>
              </a:solidFill>
              <a:effectLst>
                <a:outerShdw blurRad="38100" dist="38100" dir="2700000" algn="tl">
                  <a:srgbClr val="000000">
                    <a:alpha val="43137"/>
                  </a:srgbClr>
                </a:outerShdw>
              </a:effectLst>
              <a:latin typeface="+mj-ea"/>
            </a:endParaRPr>
          </a:p>
          <a:p>
            <a:pPr marL="285750" indent="-285750">
              <a:buFont typeface="Wingdings" panose="05000000000000000000" pitchFamily="2" charset="2"/>
              <a:buChar char="u"/>
            </a:pPr>
            <a:r>
              <a:rPr lang="zh-CN" altLang="en-US" b="1">
                <a:solidFill>
                  <a:schemeClr val="bg1"/>
                </a:solidFill>
                <a:effectLst>
                  <a:outerShdw blurRad="38100" dist="38100" dir="2700000" algn="tl">
                    <a:srgbClr val="000000">
                      <a:alpha val="43137"/>
                    </a:srgbClr>
                  </a:outerShdw>
                </a:effectLst>
                <a:latin typeface="+mj-ea"/>
              </a:rPr>
              <a:t>给肾病猫做透析理论上和现实中都存在掣肘</a:t>
            </a:r>
            <a:endParaRPr lang="en-US" altLang="zh-CN" b="1">
              <a:solidFill>
                <a:schemeClr val="bg1"/>
              </a:solidFill>
              <a:effectLst>
                <a:outerShdw blurRad="38100" dist="38100" dir="2700000" algn="tl">
                  <a:srgbClr val="000000">
                    <a:alpha val="43137"/>
                  </a:srgbClr>
                </a:outerShdw>
              </a:effectLst>
              <a:latin typeface="+mj-ea"/>
            </a:endParaRPr>
          </a:p>
          <a:p>
            <a:pPr marL="285750" indent="-285750">
              <a:buFont typeface="Wingdings" panose="05000000000000000000" pitchFamily="2" charset="2"/>
              <a:buChar char="u"/>
            </a:pPr>
            <a:r>
              <a:rPr lang="zh-CN" altLang="en-US" b="1">
                <a:solidFill>
                  <a:schemeClr val="bg1"/>
                </a:solidFill>
                <a:effectLst>
                  <a:outerShdw blurRad="38100" dist="38100" dir="2700000" algn="tl">
                    <a:srgbClr val="000000">
                      <a:alpha val="43137"/>
                    </a:srgbClr>
                  </a:outerShdw>
                </a:effectLst>
                <a:latin typeface="+mj-ea"/>
              </a:rPr>
              <a:t>过度美化透析，将人透析的日常维护效果投射给猫并不罕见</a:t>
            </a:r>
            <a:endParaRPr lang="en-US" altLang="zh-CN" b="1">
              <a:solidFill>
                <a:schemeClr val="bg1"/>
              </a:solidFill>
              <a:effectLst>
                <a:outerShdw blurRad="38100" dist="38100" dir="2700000" algn="tl">
                  <a:srgbClr val="000000">
                    <a:alpha val="43137"/>
                  </a:srgbClr>
                </a:outerShdw>
              </a:effectLst>
              <a:latin typeface="+mj-ea"/>
            </a:endParaRPr>
          </a:p>
          <a:p>
            <a:endParaRPr lang="en-US" altLang="zh-CN" b="1">
              <a:solidFill>
                <a:schemeClr val="bg1"/>
              </a:solidFill>
              <a:effectLst>
                <a:outerShdw blurRad="38100" dist="38100" dir="2700000" algn="tl">
                  <a:srgbClr val="000000">
                    <a:alpha val="43137"/>
                  </a:srgbClr>
                </a:outerShdw>
              </a:effectLst>
              <a:latin typeface="+mj-ea"/>
            </a:endParaRPr>
          </a:p>
          <a:p>
            <a:endParaRPr lang="en-US" altLang="zh-CN" b="1">
              <a:solidFill>
                <a:schemeClr val="bg1"/>
              </a:solidFill>
              <a:effectLst>
                <a:outerShdw blurRad="38100" dist="38100" dir="2700000" algn="tl">
                  <a:srgbClr val="000000">
                    <a:alpha val="43137"/>
                  </a:srgbClr>
                </a:outerShdw>
              </a:effectLst>
              <a:latin typeface="+mj-ea"/>
            </a:endParaRPr>
          </a:p>
        </p:txBody>
      </p:sp>
    </p:spTree>
    <p:extLst>
      <p:ext uri="{BB962C8B-B14F-4D97-AF65-F5344CB8AC3E}">
        <p14:creationId xmlns:p14="http://schemas.microsoft.com/office/powerpoint/2010/main" val="142856038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45058" name="组合 8"/>
          <p:cNvGrpSpPr>
            <a:grpSpLocks/>
          </p:cNvGrpSpPr>
          <p:nvPr/>
        </p:nvGrpSpPr>
        <p:grpSpPr bwMode="auto">
          <a:xfrm>
            <a:off x="2927350" y="2368550"/>
            <a:ext cx="6935788" cy="2120900"/>
            <a:chOff x="2783632" y="2568251"/>
            <a:chExt cx="6935391" cy="2121547"/>
          </a:xfrm>
        </p:grpSpPr>
        <p:sp>
          <p:nvSpPr>
            <p:cNvPr id="6" name="文本框 13">
              <a:extLst/>
            </p:cNvPr>
            <p:cNvSpPr txBox="1">
              <a:spLocks noChangeArrowheads="1"/>
            </p:cNvSpPr>
            <p:nvPr/>
          </p:nvSpPr>
          <p:spPr bwMode="auto">
            <a:xfrm>
              <a:off x="2783632" y="2568251"/>
              <a:ext cx="6935391" cy="1721375"/>
            </a:xfrm>
            <a:prstGeom prst="rect">
              <a:avLst/>
            </a:prstGeom>
            <a:noFill/>
            <a:ln>
              <a:noFill/>
            </a:ln>
            <a:effectLst>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r" eaLnBrk="1" hangingPunct="1">
                <a:lnSpc>
                  <a:spcPct val="150000"/>
                </a:lnSpc>
                <a:spcBef>
                  <a:spcPct val="0"/>
                </a:spcBef>
                <a:buFontTx/>
                <a:buNone/>
                <a:defRPr/>
              </a:pPr>
              <a:r>
                <a:rPr lang="en-US" altLang="zh-CN" sz="8000" b="1">
                  <a:solidFill>
                    <a:srgbClr val="FFFF00"/>
                  </a:solidFill>
                  <a:latin typeface="+mn-lt"/>
                  <a:ea typeface="+mn-ea"/>
                  <a:cs typeface="+mn-ea"/>
                  <a:sym typeface="+mn-lt"/>
                </a:rPr>
                <a:t>THANK YOU</a:t>
              </a:r>
              <a:endParaRPr lang="zh-CN" altLang="zh-CN" sz="8000" b="1">
                <a:solidFill>
                  <a:srgbClr val="FFFF00"/>
                </a:solidFill>
                <a:latin typeface="+mn-lt"/>
                <a:ea typeface="+mn-ea"/>
                <a:cs typeface="+mn-ea"/>
                <a:sym typeface="+mn-lt"/>
              </a:endParaRPr>
            </a:p>
          </p:txBody>
        </p:sp>
        <p:sp>
          <p:nvSpPr>
            <p:cNvPr id="7" name="文本框 6">
              <a:extLst/>
            </p:cNvPr>
            <p:cNvSpPr txBox="1"/>
            <p:nvPr/>
          </p:nvSpPr>
          <p:spPr bwMode="auto">
            <a:xfrm>
              <a:off x="3478917" y="4289626"/>
              <a:ext cx="5544821" cy="400172"/>
            </a:xfrm>
            <a:prstGeom prst="rect">
              <a:avLst/>
            </a:prstGeom>
            <a:noFill/>
            <a:effectLst>
              <a:outerShdw blurRad="50800" dist="38100" dir="16200000" rotWithShape="0">
                <a:prstClr val="black">
                  <a:alpha val="40000"/>
                </a:prstClr>
              </a:outerShdw>
            </a:effectLst>
          </p:spPr>
          <p:txBody>
            <a:bodyPr>
              <a:spAutoFit/>
            </a:bodyPr>
            <a:lstStyle/>
            <a:p>
              <a:pPr algn="dist" eaLnBrk="1" fontAlgn="auto" hangingPunct="1">
                <a:spcBef>
                  <a:spcPts val="0"/>
                </a:spcBef>
                <a:spcAft>
                  <a:spcPts val="0"/>
                </a:spcAft>
                <a:defRPr/>
              </a:pPr>
              <a:r>
                <a:rPr lang="zh-CN" altLang="en-US" sz="2000" b="1" kern="0">
                  <a:solidFill>
                    <a:schemeClr val="bg1"/>
                  </a:solidFill>
                  <a:latin typeface="+mn-lt"/>
                  <a:ea typeface="+mn-ea"/>
                  <a:cs typeface="+mn-ea"/>
                  <a:sym typeface="+mn-lt"/>
                </a:rPr>
                <a:t>谢谢观看</a:t>
              </a:r>
            </a:p>
          </p:txBody>
        </p:sp>
      </p:grpSp>
      <p:sp>
        <p:nvSpPr>
          <p:cNvPr id="5" name="文本框 21">
            <a:extLst>
              <a:ext uri="{FF2B5EF4-FFF2-40B4-BE49-F238E27FC236}">
                <a16:creationId xmlns:a16="http://schemas.microsoft.com/office/drawing/2014/main" id="{6A1E270A-B05D-40EC-9EA1-80C803A804AE}"/>
              </a:ext>
            </a:extLst>
          </p:cNvPr>
          <p:cNvSpPr txBox="1">
            <a:spLocks noChangeArrowheads="1"/>
          </p:cNvSpPr>
          <p:nvPr/>
        </p:nvSpPr>
        <p:spPr bwMode="auto">
          <a:xfrm>
            <a:off x="9120336" y="5013176"/>
            <a:ext cx="2782888" cy="88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r" eaLnBrk="1" hangingPunct="1">
              <a:lnSpc>
                <a:spcPct val="150000"/>
              </a:lnSpc>
              <a:spcBef>
                <a:spcPct val="0"/>
              </a:spcBef>
              <a:buFontTx/>
              <a:buNone/>
              <a:defRPr/>
            </a:pPr>
            <a:r>
              <a:rPr lang="zh-CN" altLang="en-US" sz="1800" b="1">
                <a:solidFill>
                  <a:srgbClr val="0F0F0F"/>
                </a:solidFill>
                <a:latin typeface="等线" panose="02010600030101010101" pitchFamily="2" charset="-122"/>
                <a:ea typeface="等线" panose="02010600030101010101" pitchFamily="2" charset="-122"/>
                <a:cs typeface="+mn-ea"/>
                <a:sym typeface="+mn-lt"/>
              </a:rPr>
              <a:t>厨子</a:t>
            </a:r>
            <a:r>
              <a:rPr lang="en-US" altLang="zh-CN" sz="1800" b="1">
                <a:solidFill>
                  <a:srgbClr val="0F0F0F"/>
                </a:solidFill>
                <a:latin typeface="等线" panose="02010600030101010101" pitchFamily="2" charset="-122"/>
                <a:ea typeface="等线" panose="02010600030101010101" pitchFamily="2" charset="-122"/>
                <a:cs typeface="+mn-ea"/>
                <a:sym typeface="+mn-lt"/>
              </a:rPr>
              <a:t>@</a:t>
            </a:r>
            <a:r>
              <a:rPr lang="zh-CN" altLang="en-US" sz="1800" b="1">
                <a:solidFill>
                  <a:srgbClr val="0F0F0F"/>
                </a:solidFill>
                <a:latin typeface="等线" panose="02010600030101010101" pitchFamily="2" charset="-122"/>
                <a:ea typeface="等线" panose="02010600030101010101" pitchFamily="2" charset="-122"/>
                <a:cs typeface="+mn-ea"/>
                <a:sym typeface="+mn-lt"/>
              </a:rPr>
              <a:t>公众号</a:t>
            </a:r>
            <a:r>
              <a:rPr lang="en-US" altLang="zh-CN" sz="1800" b="1">
                <a:solidFill>
                  <a:srgbClr val="0F0F0F"/>
                </a:solidFill>
                <a:latin typeface="等线" panose="02010600030101010101" pitchFamily="2" charset="-122"/>
                <a:ea typeface="等线" panose="02010600030101010101" pitchFamily="2" charset="-122"/>
                <a:cs typeface="+mn-ea"/>
                <a:sym typeface="+mn-lt"/>
              </a:rPr>
              <a:t>Raw Meat</a:t>
            </a:r>
          </a:p>
          <a:p>
            <a:pPr algn="r" eaLnBrk="1" hangingPunct="1">
              <a:lnSpc>
                <a:spcPct val="150000"/>
              </a:lnSpc>
              <a:spcBef>
                <a:spcPct val="0"/>
              </a:spcBef>
              <a:buFontTx/>
              <a:buNone/>
              <a:defRPr/>
            </a:pPr>
            <a:r>
              <a:rPr lang="en-US" altLang="zh-CN" sz="1800" b="1">
                <a:solidFill>
                  <a:srgbClr val="0F0F0F"/>
                </a:solidFill>
                <a:latin typeface="等线" panose="02010600030101010101" pitchFamily="2" charset="-122"/>
                <a:ea typeface="等线" panose="02010600030101010101" pitchFamily="2" charset="-122"/>
                <a:cs typeface="+mn-ea"/>
                <a:sym typeface="+mn-lt"/>
              </a:rPr>
              <a:t>2018 Aug</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3" name="箭头: 五边形 6">
            <a:extLst/>
          </p:cNvPr>
          <p:cNvSpPr/>
          <p:nvPr/>
        </p:nvSpPr>
        <p:spPr>
          <a:xfrm rot="10800000" flipH="1">
            <a:off x="0" y="1052512"/>
            <a:ext cx="7751763" cy="4464719"/>
          </a:xfrm>
          <a:prstGeom prst="homePlate">
            <a:avLst>
              <a:gd name="adj" fmla="val 32692"/>
            </a:avLst>
          </a:prstGeom>
          <a:solidFill>
            <a:srgbClr val="FFFF00">
              <a:alpha val="6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sp>
        <p:nvSpPr>
          <p:cNvPr id="14" name="箭头: 五边形 6">
            <a:extLst/>
          </p:cNvPr>
          <p:cNvSpPr/>
          <p:nvPr/>
        </p:nvSpPr>
        <p:spPr>
          <a:xfrm rot="10800000" flipH="1">
            <a:off x="0" y="1052512"/>
            <a:ext cx="6616700" cy="4968775"/>
          </a:xfrm>
          <a:prstGeom prst="homePlate">
            <a:avLst>
              <a:gd name="adj" fmla="val 32692"/>
            </a:avLst>
          </a:prstGeom>
          <a:solidFill>
            <a:srgbClr val="FFFF00">
              <a:alpha val="80000"/>
            </a:srgb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sp>
        <p:nvSpPr>
          <p:cNvPr id="15" name="箭头: 五边形 6">
            <a:extLst/>
          </p:cNvPr>
          <p:cNvSpPr/>
          <p:nvPr/>
        </p:nvSpPr>
        <p:spPr>
          <a:xfrm rot="10800000" flipH="1">
            <a:off x="0" y="1052511"/>
            <a:ext cx="5434013" cy="5400824"/>
          </a:xfrm>
          <a:prstGeom prst="homePlate">
            <a:avLst>
              <a:gd name="adj" fmla="val 32692"/>
            </a:avLst>
          </a:prstGeom>
          <a:solidFill>
            <a:srgbClr val="FFFF00"/>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cs typeface="+mn-ea"/>
              <a:sym typeface="+mn-lt"/>
            </a:endParaRPr>
          </a:p>
        </p:txBody>
      </p:sp>
      <p:sp>
        <p:nvSpPr>
          <p:cNvPr id="24581" name="矩形 15">
            <a:extLst/>
          </p:cNvPr>
          <p:cNvSpPr>
            <a:spLocks noChangeArrowheads="1"/>
          </p:cNvSpPr>
          <p:nvPr/>
        </p:nvSpPr>
        <p:spPr bwMode="auto">
          <a:xfrm>
            <a:off x="84138" y="2503488"/>
            <a:ext cx="430169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defRPr/>
            </a:pPr>
            <a:r>
              <a:rPr lang="en-US" altLang="zh-CN" sz="5400">
                <a:latin typeface="+mn-lt"/>
                <a:ea typeface="+mn-ea"/>
                <a:cs typeface="+mn-ea"/>
                <a:sym typeface="+mn-lt"/>
              </a:rPr>
              <a:t>PART FOUR </a:t>
            </a:r>
          </a:p>
        </p:txBody>
      </p:sp>
      <p:sp>
        <p:nvSpPr>
          <p:cNvPr id="24582" name="文本框 16">
            <a:extLst/>
          </p:cNvPr>
          <p:cNvSpPr txBox="1">
            <a:spLocks noChangeArrowheads="1"/>
          </p:cNvSpPr>
          <p:nvPr/>
        </p:nvSpPr>
        <p:spPr bwMode="auto">
          <a:xfrm>
            <a:off x="130175" y="3429000"/>
            <a:ext cx="4037013" cy="661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spcBef>
                <a:spcPct val="0"/>
              </a:spcBef>
              <a:buFontTx/>
              <a:buNone/>
              <a:defRPr/>
            </a:pPr>
            <a:r>
              <a:rPr lang="zh-CN" altLang="en-US" b="1">
                <a:solidFill>
                  <a:srgbClr val="010101"/>
                </a:solidFill>
                <a:latin typeface="+mn-lt"/>
                <a:ea typeface="+mn-ea"/>
                <a:cs typeface="+mn-ea"/>
                <a:sym typeface="+mn-lt"/>
              </a:rPr>
              <a:t>慢性肾病猫的营养管理</a:t>
            </a:r>
            <a:endParaRPr lang="en-US" altLang="zh-CN" b="1">
              <a:solidFill>
                <a:srgbClr val="010101"/>
              </a:solidFill>
              <a:latin typeface="+mn-lt"/>
              <a:ea typeface="+mn-ea"/>
              <a:cs typeface="+mn-ea"/>
              <a:sym typeface="+mn-lt"/>
            </a:endParaRPr>
          </a:p>
        </p:txBody>
      </p:sp>
      <p:cxnSp>
        <p:nvCxnSpPr>
          <p:cNvPr id="18" name="直接连接符 17">
            <a:extLst/>
          </p:cNvPr>
          <p:cNvCxnSpPr/>
          <p:nvPr/>
        </p:nvCxnSpPr>
        <p:spPr>
          <a:xfrm>
            <a:off x="84138" y="3519488"/>
            <a:ext cx="408305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025F76F0-D925-4474-8490-0EAD869C904F}"/>
              </a:ext>
            </a:extLst>
          </p:cNvPr>
          <p:cNvSpPr txBox="1"/>
          <p:nvPr/>
        </p:nvSpPr>
        <p:spPr>
          <a:xfrm>
            <a:off x="84138" y="4509143"/>
            <a:ext cx="4037012" cy="2031325"/>
          </a:xfrm>
          <a:prstGeom prst="rect">
            <a:avLst/>
          </a:prstGeom>
          <a:noFill/>
        </p:spPr>
        <p:txBody>
          <a:bodyPr wrap="square" rtlCol="0">
            <a:spAutoFit/>
          </a:bodyPr>
          <a:lstStyle/>
          <a:p>
            <a:pPr marL="285750" indent="-285750">
              <a:buFont typeface="Wingdings" panose="05000000000000000000" pitchFamily="2" charset="2"/>
              <a:buChar char="l"/>
            </a:pPr>
            <a:r>
              <a:rPr lang="zh-CN" altLang="en-US">
                <a:latin typeface="+mj-ea"/>
                <a:ea typeface="+mj-ea"/>
              </a:rPr>
              <a:t>处方粮神奇在哪？</a:t>
            </a:r>
            <a:endParaRPr lang="en-US" altLang="zh-CN">
              <a:latin typeface="+mj-ea"/>
              <a:ea typeface="+mj-ea"/>
            </a:endParaRPr>
          </a:p>
          <a:p>
            <a:pPr marL="285750" indent="-285750">
              <a:buFont typeface="Wingdings" panose="05000000000000000000" pitchFamily="2" charset="2"/>
              <a:buChar char="l"/>
            </a:pPr>
            <a:r>
              <a:rPr lang="zh-CN" altLang="en-US">
                <a:latin typeface="+mj-ea"/>
                <a:ea typeface="+mj-ea"/>
              </a:rPr>
              <a:t>慢性肾病猫的营养误区？</a:t>
            </a:r>
            <a:endParaRPr lang="en-US" altLang="zh-CN">
              <a:latin typeface="+mj-ea"/>
              <a:ea typeface="+mj-ea"/>
            </a:endParaRPr>
          </a:p>
          <a:p>
            <a:pPr marL="285750" indent="-285750">
              <a:buFont typeface="Wingdings" panose="05000000000000000000" pitchFamily="2" charset="2"/>
              <a:buChar char="l"/>
            </a:pPr>
            <a:r>
              <a:rPr lang="zh-CN" altLang="en-US">
                <a:latin typeface="+mj-ea"/>
                <a:ea typeface="+mj-ea"/>
              </a:rPr>
              <a:t>各阶段肾病饮食方向建议</a:t>
            </a:r>
            <a:endParaRPr lang="en-US" altLang="zh-CN">
              <a:latin typeface="+mj-ea"/>
              <a:ea typeface="+mj-ea"/>
            </a:endParaRPr>
          </a:p>
          <a:p>
            <a:pPr marL="285750" indent="-285750">
              <a:buFont typeface="Wingdings" panose="05000000000000000000" pitchFamily="2" charset="2"/>
              <a:buChar char="l"/>
            </a:pPr>
            <a:r>
              <a:rPr lang="zh-CN" altLang="en-US">
                <a:latin typeface="+mj-ea"/>
                <a:ea typeface="+mj-ea"/>
              </a:rPr>
              <a:t>低磷含量商品粮一览</a:t>
            </a:r>
            <a:endParaRPr lang="en-US" altLang="zh-CN">
              <a:latin typeface="+mj-ea"/>
              <a:ea typeface="+mj-ea"/>
            </a:endParaRPr>
          </a:p>
          <a:p>
            <a:pPr marL="285750" indent="-285750">
              <a:buFont typeface="Wingdings" panose="05000000000000000000" pitchFamily="2" charset="2"/>
              <a:buChar char="l"/>
            </a:pPr>
            <a:endParaRPr lang="en-US" altLang="zh-CN">
              <a:latin typeface="+mj-ea"/>
              <a:ea typeface="+mj-ea"/>
            </a:endParaRPr>
          </a:p>
          <a:p>
            <a:endParaRPr lang="en-US" altLang="zh-CN">
              <a:latin typeface="+mj-ea"/>
              <a:ea typeface="+mj-ea"/>
            </a:endParaRPr>
          </a:p>
          <a:p>
            <a:endParaRPr lang="en-US" altLang="zh-CN"/>
          </a:p>
        </p:txBody>
      </p:sp>
    </p:spTree>
  </p:cSld>
  <p:clrMapOvr>
    <a:masterClrMapping/>
  </p:clrMapOvr>
</p:sld>
</file>

<file path=ppt/theme/theme1.xml><?xml version="1.0" encoding="utf-8"?>
<a:theme xmlns:a="http://schemas.openxmlformats.org/drawingml/2006/main" name="默认设计模板">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02qevoh">
      <a:majorFont>
        <a:latin typeface="Arial" panose="020F0302020204030204"/>
        <a:ea typeface="Microsoft YaHei"/>
        <a:cs typeface=""/>
      </a:majorFont>
      <a:minorFont>
        <a:latin typeface="Arial" panose="020F0502020204030204"/>
        <a:ea typeface="Microsoft YaHei"/>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23471</TotalTime>
  <Words>12659</Words>
  <Application>Microsoft Office PowerPoint</Application>
  <PresentationFormat>宽屏</PresentationFormat>
  <Paragraphs>2042</Paragraphs>
  <Slides>114</Slides>
  <Notes>77</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114</vt:i4>
      </vt:variant>
    </vt:vector>
  </HeadingPairs>
  <TitlesOfParts>
    <vt:vector size="129" baseType="lpstr">
      <vt:lpstr>等线</vt:lpstr>
      <vt:lpstr>方正姚体</vt:lpstr>
      <vt:lpstr>华文中宋</vt:lpstr>
      <vt:lpstr>宋体</vt:lpstr>
      <vt:lpstr>微软雅黑</vt:lpstr>
      <vt:lpstr>微软雅黑</vt:lpstr>
      <vt:lpstr>微软雅黑 Light</vt:lpstr>
      <vt:lpstr>Arial</vt:lpstr>
      <vt:lpstr>Bahnschrift Light Condensed</vt:lpstr>
      <vt:lpstr>Calibri</vt:lpstr>
      <vt:lpstr>Calibri Light</vt:lpstr>
      <vt:lpstr>Impact</vt:lpstr>
      <vt:lpstr>Wingdings</vt:lpstr>
      <vt:lpstr>默认设计模板</vt:lpstr>
      <vt:lpstr>Chart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厨子@RawMeat</dc:creator>
  <cp:keywords>公众号RawMeat</cp:keywords>
  <cp:lastModifiedBy>pc</cp:lastModifiedBy>
  <cp:revision>459</cp:revision>
  <dcterms:created xsi:type="dcterms:W3CDTF">2018-05-21T15:56:42Z</dcterms:created>
  <dcterms:modified xsi:type="dcterms:W3CDTF">2018-10-22T08:45:36Z</dcterms:modified>
  <cp:contentStatus>最终状态</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2052-8.1.0.2424</vt:lpwstr>
  </property>
  <property fmtid="{D5CDD505-2E9C-101B-9397-08002B2CF9AE}" pid="3" name="_MarkAsFinal">
    <vt:bool>true</vt:bool>
  </property>
</Properties>
</file>